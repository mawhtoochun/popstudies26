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rts/chart2.xml" ContentType="application/vnd.openxmlformats-officedocument.drawingml.chart+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114"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Value</c:v>
                </c:pt>
              </c:strCache>
            </c:strRef>
          </c:tx>
          <c:spPr>
            <a:solidFill>
              <a:srgbClr val="0E7C7B"/>
            </a:solidFill>
            <a:effectLst/>
          </c:spPr>
          <c:invertIfNegative val="0"/>
          <c:dLbls>
            <c:numFmt formatCode="#,##0" sourceLinked="0"/>
            <c:spPr>
              <a:noFill/>
              <a:ln>
                <a:noFill/>
              </a:ln>
              <a:effectLst/>
            </c:spPr>
            <c:txPr>
              <a:bodyPr/>
              <a:lstStyle/>
              <a:p>
                <a:pPr>
                  <a:defRPr sz="1200" b="0" i="0" u="none" strike="noStrike">
                    <a:solidFill>
                      <a:srgbClr val="1723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India</c:v>
                </c:pt>
                <c:pt idx="1">
                  <c:v>Mexico</c:v>
                </c:pt>
                <c:pt idx="2">
                  <c:v>China</c:v>
                </c:pt>
                <c:pt idx="3">
                  <c:v>Philippines</c:v>
                </c:pt>
                <c:pt idx="4">
                  <c:v>Pakistan</c:v>
                </c:pt>
              </c:strCache>
            </c:strRef>
          </c:cat>
          <c:val>
            <c:numRef>
              <c:f>Sheet1!$B$2:$B$6</c:f>
              <c:numCache>
                <c:formatCode>General</c:formatCode>
                <c:ptCount val="5"/>
                <c:pt idx="0">
                  <c:v>129.1</c:v>
                </c:pt>
                <c:pt idx="1">
                  <c:v>68</c:v>
                </c:pt>
                <c:pt idx="2">
                  <c:v>48</c:v>
                </c:pt>
                <c:pt idx="3">
                  <c:v>40</c:v>
                </c:pt>
                <c:pt idx="4">
                  <c:v>33</c:v>
                </c:pt>
              </c:numCache>
            </c:numRef>
          </c:val>
          <c:extLst>
            <c:ext xmlns:c16="http://schemas.microsoft.com/office/drawing/2014/chart" uri="{C3380CC4-5D6E-409C-BE32-E72D297353CC}">
              <c16:uniqueId val="{00000000-E10F-4B25-8EC5-080AD2B2A21E}"/>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7233A"/>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Value</c:v>
                </c:pt>
              </c:strCache>
            </c:strRef>
          </c:tx>
          <c:spPr>
            <a:ln w="38100" cap="flat">
              <a:solidFill>
                <a:srgbClr val="0E7C7B"/>
              </a:solidFill>
              <a:prstDash val="solid"/>
              <a:round/>
            </a:ln>
            <a:effectLst/>
          </c:spPr>
          <c:marker>
            <c:symbol val="circle"/>
            <c:size val="8"/>
            <c:spPr>
              <a:solidFill>
                <a:srgbClr val="0E7C7B"/>
              </a:solidFill>
              <a:ln w="9525" cap="flat">
                <a:solidFill>
                  <a:srgbClr val="0E7C7B"/>
                </a:solidFill>
                <a:prstDash val="solid"/>
                <a:round/>
              </a:ln>
              <a:effectLst/>
            </c:spPr>
          </c:marker>
          <c:dLbls>
            <c:numFmt formatCode="#,##0" sourceLinked="0"/>
            <c:spPr>
              <a:noFill/>
              <a:ln>
                <a:noFill/>
              </a:ln>
              <a:effectLst/>
            </c:spPr>
            <c:txPr>
              <a:bodyPr/>
              <a:lstStyle/>
              <a:p>
                <a:pPr>
                  <a:defRPr sz="1200" b="0" i="0" u="none" strike="noStrike">
                    <a:solidFill>
                      <a:srgbClr val="17233A"/>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1950</c:v>
                </c:pt>
                <c:pt idx="1">
                  <c:v>2025</c:v>
                </c:pt>
                <c:pt idx="2">
                  <c:v>2050 (proj.)</c:v>
                </c:pt>
              </c:strCache>
            </c:strRef>
          </c:cat>
          <c:val>
            <c:numRef>
              <c:f>Sheet1!$B$2:$B$4</c:f>
              <c:numCache>
                <c:formatCode>General</c:formatCode>
                <c:ptCount val="3"/>
                <c:pt idx="0">
                  <c:v>20</c:v>
                </c:pt>
                <c:pt idx="1">
                  <c:v>45</c:v>
                </c:pt>
                <c:pt idx="2">
                  <c:v>68</c:v>
                </c:pt>
              </c:numCache>
            </c:numRef>
          </c:val>
          <c:smooth val="0"/>
          <c:extLst>
            <c:ext xmlns:c16="http://schemas.microsoft.com/office/drawing/2014/chart" uri="{C3380CC4-5D6E-409C-BE32-E72D297353CC}">
              <c16:uniqueId val="{00000000-2372-4FAA-925A-04B53A910864}"/>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7233A"/>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9146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2.png"/><Relationship Id="rId7"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7.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7.png"/></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hyperlink" Target="https://doi.org/10.1073/pnas.1408439111" TargetMode="External"/><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D33"/>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029200" cy="5029200"/>
          </a:xfrm>
          <a:prstGeom prst="ellipse">
            <a:avLst/>
          </a:prstGeom>
          <a:solidFill>
            <a:srgbClr val="1B2A4A">
              <a:alpha val="60000"/>
            </a:srgbClr>
          </a:solidFill>
          <a:ln/>
        </p:spPr>
      </p:sp>
      <p:sp>
        <p:nvSpPr>
          <p:cNvPr id="3" name="Shape 1"/>
          <p:cNvSpPr/>
          <p:nvPr/>
        </p:nvSpPr>
        <p:spPr>
          <a:xfrm>
            <a:off x="-1645920" y="4206240"/>
            <a:ext cx="4206240" cy="4206240"/>
          </a:xfrm>
          <a:prstGeom prst="ellipse">
            <a:avLst/>
          </a:prstGeom>
          <a:solidFill>
            <a:srgbClr val="0E7C7B">
              <a:alpha val="45000"/>
            </a:srgbClr>
          </a:solidFill>
          <a:ln/>
        </p:spPr>
      </p:sp>
      <p:sp>
        <p:nvSpPr>
          <p:cNvPr id="4" name="Shape 2"/>
          <p:cNvSpPr/>
          <p:nvPr/>
        </p:nvSpPr>
        <p:spPr>
          <a:xfrm>
            <a:off x="685800" y="640080"/>
            <a:ext cx="914400" cy="914400"/>
          </a:xfrm>
          <a:prstGeom prst="ellipse">
            <a:avLst/>
          </a:prstGeom>
          <a:solidFill>
            <a:srgbClr val="0E7C7B"/>
          </a:solidFill>
          <a:ln/>
        </p:spPr>
      </p:sp>
      <p:pic>
        <p:nvPicPr>
          <p:cNvPr id="5" name="Image 0" descr="/sessions/blissful-modest-newton/mnt/outputs/scratch/build/icons/globe.png"/>
          <p:cNvPicPr>
            <a:picLocks noChangeAspect="1"/>
          </p:cNvPicPr>
          <p:nvPr/>
        </p:nvPicPr>
        <p:blipFill>
          <a:blip r:embed="rId3"/>
          <a:stretch>
            <a:fillRect/>
          </a:stretch>
        </p:blipFill>
        <p:spPr>
          <a:xfrm>
            <a:off x="859536" y="813816"/>
            <a:ext cx="566928" cy="566928"/>
          </a:xfrm>
          <a:prstGeom prst="rect">
            <a:avLst/>
          </a:prstGeom>
        </p:spPr>
      </p:pic>
      <p:sp>
        <p:nvSpPr>
          <p:cNvPr id="6" name="Text 3"/>
          <p:cNvSpPr txBox="1"/>
          <p:nvPr/>
        </p:nvSpPr>
        <p:spPr>
          <a:xfrm>
            <a:off x="685800" y="1874520"/>
            <a:ext cx="9601200" cy="365760"/>
          </a:xfrm>
          <a:prstGeom prst="rect">
            <a:avLst/>
          </a:prstGeom>
          <a:noFill/>
          <a:ln/>
        </p:spPr>
        <p:txBody>
          <a:bodyPr wrap="square" lIns="0" tIns="0" rIns="0" bIns="0" rtlCol="0" anchor="ctr"/>
          <a:lstStyle/>
          <a:p>
            <a:pPr marL="0" indent="0">
              <a:buNone/>
            </a:pPr>
            <a:r>
              <a:rPr lang="en-US" sz="1500" b="1" kern="0" spc="200" dirty="0">
                <a:solidFill>
                  <a:srgbClr val="C9D6E8"/>
                </a:solidFill>
                <a:latin typeface="Calibri" pitchFamily="34" charset="0"/>
                <a:ea typeface="Calibri" pitchFamily="34" charset="-122"/>
                <a:cs typeface="Calibri" pitchFamily="34" charset="-120"/>
              </a:rPr>
              <a:t>SESSION 8   |   COURSE 5140602</a:t>
            </a:r>
            <a:endParaRPr lang="en-US" sz="1500" dirty="0"/>
          </a:p>
        </p:txBody>
      </p:sp>
      <p:sp>
        <p:nvSpPr>
          <p:cNvPr id="7" name="Text 4"/>
          <p:cNvSpPr txBox="1"/>
          <p:nvPr/>
        </p:nvSpPr>
        <p:spPr>
          <a:xfrm>
            <a:off x="685800" y="2286000"/>
            <a:ext cx="10332720" cy="1737360"/>
          </a:xfrm>
          <a:prstGeom prst="rect">
            <a:avLst/>
          </a:prstGeom>
          <a:noFill/>
          <a:ln/>
        </p:spPr>
        <p:txBody>
          <a:bodyPr wrap="square" lIns="0" tIns="0" rIns="0" bIns="0"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Migration and Urbanization in a</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Connected World</a:t>
            </a:r>
            <a:endParaRPr lang="en-US" sz="4400" dirty="0"/>
          </a:p>
        </p:txBody>
      </p:sp>
      <p:sp>
        <p:nvSpPr>
          <p:cNvPr id="8" name="Text 5"/>
          <p:cNvSpPr txBox="1"/>
          <p:nvPr/>
        </p:nvSpPr>
        <p:spPr>
          <a:xfrm>
            <a:off x="685800" y="4160520"/>
            <a:ext cx="10332720" cy="365760"/>
          </a:xfrm>
          <a:prstGeom prst="rect">
            <a:avLst/>
          </a:prstGeom>
          <a:noFill/>
          <a:ln/>
        </p:spPr>
        <p:txBody>
          <a:bodyPr wrap="square" lIns="0" tIns="0" rIns="0" bIns="0" rtlCol="0" anchor="ctr"/>
          <a:lstStyle/>
          <a:p>
            <a:pPr marL="0" indent="0">
              <a:buNone/>
            </a:pPr>
            <a:r>
              <a:rPr lang="en-US" sz="1600" dirty="0">
                <a:solidFill>
                  <a:srgbClr val="C9D6E8"/>
                </a:solidFill>
                <a:latin typeface="Calibri" pitchFamily="34" charset="0"/>
                <a:ea typeface="Calibri" pitchFamily="34" charset="-122"/>
                <a:cs typeface="Calibri" pitchFamily="34" charset="-120"/>
              </a:rPr>
              <a:t>Fundamental Demographic Analysis  |  College of Population Studies, Chulalongkorn University</a:t>
            </a:r>
            <a:endParaRPr lang="en-US" sz="1600" dirty="0"/>
          </a:p>
        </p:txBody>
      </p:sp>
      <p:sp>
        <p:nvSpPr>
          <p:cNvPr id="9" name="Text 6"/>
          <p:cNvSpPr txBox="1"/>
          <p:nvPr/>
        </p:nvSpPr>
        <p:spPr>
          <a:xfrm>
            <a:off x="685800" y="5806440"/>
            <a:ext cx="7772400" cy="320040"/>
          </a:xfrm>
          <a:prstGeom prst="rect">
            <a:avLst/>
          </a:prstGeom>
          <a:noFill/>
          <a:ln/>
        </p:spPr>
        <p:txBody>
          <a:bodyPr wrap="square" lIns="0" tIns="0" rIns="0" bIns="0" rtlCol="0" anchor="ctr"/>
          <a:lstStyle/>
          <a:p>
            <a:pPr marL="0" indent="0">
              <a:buNone/>
            </a:pPr>
            <a:r>
              <a:rPr lang="en-US" sz="1300" dirty="0">
                <a:solidFill>
                  <a:srgbClr val="C9D6E8"/>
                </a:solidFill>
                <a:latin typeface="Calibri" pitchFamily="34" charset="0"/>
                <a:ea typeface="Calibri" pitchFamily="34" charset="-122"/>
                <a:cs typeface="Calibri" pitchFamily="34" charset="-120"/>
              </a:rPr>
              <a:t>Instructor: Assoc. Prof. Dr. Ruttiya Bhula-or</a:t>
            </a:r>
            <a:endParaRPr lang="en-US" sz="1300" dirty="0"/>
          </a:p>
        </p:txBody>
      </p:sp>
      <p:sp>
        <p:nvSpPr>
          <p:cNvPr id="11" name="Text 8"/>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C9D6E8"/>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12" name="Text 9"/>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C9D6E8"/>
                </a:solidFill>
                <a:latin typeface="Calibri" pitchFamily="34" charset="0"/>
                <a:ea typeface="Calibri" pitchFamily="34" charset="-122"/>
                <a:cs typeface="Calibri" pitchFamily="34" charset="-120"/>
              </a:rPr>
              <a:t>1 / 57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LEARNING OBJECTIVES</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By the End of This Session, You Will Be Able To…</a:t>
            </a:r>
            <a:endParaRPr lang="en-US" sz="2900" dirty="0"/>
          </a:p>
        </p:txBody>
      </p:sp>
      <p:sp>
        <p:nvSpPr>
          <p:cNvPr id="4" name="Shape 2"/>
          <p:cNvSpPr/>
          <p:nvPr/>
        </p:nvSpPr>
        <p:spPr>
          <a:xfrm>
            <a:off x="502920" y="1508760"/>
            <a:ext cx="5440680" cy="1417320"/>
          </a:xfrm>
          <a:prstGeom prst="roundRect">
            <a:avLst>
              <a:gd name="adj" fmla="val 5806"/>
            </a:avLst>
          </a:prstGeom>
          <a:solidFill>
            <a:srgbClr val="F3F6FA"/>
          </a:solidFill>
          <a:ln/>
        </p:spPr>
      </p:sp>
      <p:sp>
        <p:nvSpPr>
          <p:cNvPr id="5" name="Shape 3"/>
          <p:cNvSpPr/>
          <p:nvPr/>
        </p:nvSpPr>
        <p:spPr>
          <a:xfrm>
            <a:off x="731520" y="1783080"/>
            <a:ext cx="868680" cy="868680"/>
          </a:xfrm>
          <a:prstGeom prst="ellipse">
            <a:avLst/>
          </a:prstGeom>
          <a:solidFill>
            <a:srgbClr val="1B2A4A"/>
          </a:solidFill>
          <a:ln/>
        </p:spPr>
      </p:sp>
      <p:pic>
        <p:nvPicPr>
          <p:cNvPr id="6" name="Image 0" descr="/sessions/blissful-modest-newton/mnt/outputs/scratch/build/icons/arrows.png"/>
          <p:cNvPicPr>
            <a:picLocks noChangeAspect="1"/>
          </p:cNvPicPr>
          <p:nvPr/>
        </p:nvPicPr>
        <p:blipFill>
          <a:blip r:embed="rId3"/>
          <a:stretch>
            <a:fillRect/>
          </a:stretch>
        </p:blipFill>
        <p:spPr>
          <a:xfrm>
            <a:off x="922630" y="1974190"/>
            <a:ext cx="486461" cy="486461"/>
          </a:xfrm>
          <a:prstGeom prst="rect">
            <a:avLst/>
          </a:prstGeom>
        </p:spPr>
      </p:pic>
      <p:sp>
        <p:nvSpPr>
          <p:cNvPr id="7" name="Text 4"/>
          <p:cNvSpPr txBox="1"/>
          <p:nvPr/>
        </p:nvSpPr>
        <p:spPr>
          <a:xfrm>
            <a:off x="1783080" y="1618488"/>
            <a:ext cx="3931920" cy="1197864"/>
          </a:xfrm>
          <a:prstGeom prst="rect">
            <a:avLst/>
          </a:prstGeom>
          <a:noFill/>
          <a:ln/>
        </p:spPr>
        <p:txBody>
          <a:bodyPr wrap="square" lIns="0" tIns="0" rIns="0" bIns="0" rtlCol="0" anchor="ctr"/>
          <a:lstStyle/>
          <a:p>
            <a:pPr marL="0" indent="0">
              <a:lnSpc>
                <a:spcPct val="112000"/>
              </a:lnSpc>
              <a:buNone/>
            </a:pPr>
            <a:r>
              <a:rPr lang="en-US" sz="1350" dirty="0">
                <a:solidFill>
                  <a:srgbClr val="17233A"/>
                </a:solidFill>
                <a:latin typeface="Calibri" pitchFamily="34" charset="0"/>
                <a:ea typeface="Calibri" pitchFamily="34" charset="-122"/>
                <a:cs typeface="Calibri" pitchFamily="34" charset="-120"/>
              </a:rPr>
              <a:t>Define migration, emigration, immigration, and change of residence precisely, and identify which side of a move each term describes.</a:t>
            </a:r>
            <a:endParaRPr lang="en-US" sz="1350" dirty="0"/>
          </a:p>
        </p:txBody>
      </p:sp>
      <p:sp>
        <p:nvSpPr>
          <p:cNvPr id="8" name="Shape 5"/>
          <p:cNvSpPr/>
          <p:nvPr/>
        </p:nvSpPr>
        <p:spPr>
          <a:xfrm>
            <a:off x="6263640" y="1508760"/>
            <a:ext cx="5440680" cy="1417320"/>
          </a:xfrm>
          <a:prstGeom prst="roundRect">
            <a:avLst>
              <a:gd name="adj" fmla="val 5806"/>
            </a:avLst>
          </a:prstGeom>
          <a:solidFill>
            <a:srgbClr val="E7EEF7"/>
          </a:solidFill>
          <a:ln/>
        </p:spPr>
      </p:sp>
      <p:sp>
        <p:nvSpPr>
          <p:cNvPr id="9" name="Shape 6"/>
          <p:cNvSpPr/>
          <p:nvPr/>
        </p:nvSpPr>
        <p:spPr>
          <a:xfrm>
            <a:off x="6492240" y="1783080"/>
            <a:ext cx="868680" cy="868680"/>
          </a:xfrm>
          <a:prstGeom prst="ellipse">
            <a:avLst/>
          </a:prstGeom>
          <a:solidFill>
            <a:srgbClr val="0E7C7B"/>
          </a:solidFill>
          <a:ln/>
        </p:spPr>
      </p:sp>
      <p:pic>
        <p:nvPicPr>
          <p:cNvPr id="10" name="Image 1" descr="/sessions/blissful-modest-newton/mnt/outputs/scratch/build/icons/chart.png"/>
          <p:cNvPicPr>
            <a:picLocks noChangeAspect="1"/>
          </p:cNvPicPr>
          <p:nvPr/>
        </p:nvPicPr>
        <p:blipFill>
          <a:blip r:embed="rId4"/>
          <a:stretch>
            <a:fillRect/>
          </a:stretch>
        </p:blipFill>
        <p:spPr>
          <a:xfrm>
            <a:off x="6683350" y="1974190"/>
            <a:ext cx="486461" cy="486461"/>
          </a:xfrm>
          <a:prstGeom prst="rect">
            <a:avLst/>
          </a:prstGeom>
        </p:spPr>
      </p:pic>
      <p:sp>
        <p:nvSpPr>
          <p:cNvPr id="11" name="Text 7"/>
          <p:cNvSpPr txBox="1"/>
          <p:nvPr/>
        </p:nvSpPr>
        <p:spPr>
          <a:xfrm>
            <a:off x="7543800" y="1618488"/>
            <a:ext cx="3931920" cy="1197864"/>
          </a:xfrm>
          <a:prstGeom prst="rect">
            <a:avLst/>
          </a:prstGeom>
          <a:noFill/>
          <a:ln/>
        </p:spPr>
        <p:txBody>
          <a:bodyPr wrap="square" lIns="0" tIns="0" rIns="0" bIns="0" rtlCol="0" anchor="ctr"/>
          <a:lstStyle/>
          <a:p>
            <a:pPr marL="0" indent="0">
              <a:lnSpc>
                <a:spcPct val="112000"/>
              </a:lnSpc>
              <a:buNone/>
            </a:pPr>
            <a:r>
              <a:rPr lang="en-US" sz="1350" dirty="0">
                <a:solidFill>
                  <a:srgbClr val="17233A"/>
                </a:solidFill>
                <a:latin typeface="Calibri" pitchFamily="34" charset="0"/>
                <a:ea typeface="Calibri" pitchFamily="34" charset="-122"/>
                <a:cs typeface="Calibri" pitchFamily="34" charset="-120"/>
              </a:rPr>
              <a:t>Compute and interpret gross/net migration, and emigration/immigration/net migration rates from real data.</a:t>
            </a:r>
            <a:endParaRPr lang="en-US" sz="1350" dirty="0"/>
          </a:p>
        </p:txBody>
      </p:sp>
      <p:sp>
        <p:nvSpPr>
          <p:cNvPr id="12" name="Shape 8"/>
          <p:cNvSpPr/>
          <p:nvPr/>
        </p:nvSpPr>
        <p:spPr>
          <a:xfrm>
            <a:off x="502920" y="3182112"/>
            <a:ext cx="5440680" cy="1417320"/>
          </a:xfrm>
          <a:prstGeom prst="roundRect">
            <a:avLst>
              <a:gd name="adj" fmla="val 5806"/>
            </a:avLst>
          </a:prstGeom>
          <a:solidFill>
            <a:srgbClr val="F3F6FA"/>
          </a:solidFill>
          <a:ln/>
        </p:spPr>
      </p:sp>
      <p:sp>
        <p:nvSpPr>
          <p:cNvPr id="13" name="Shape 9"/>
          <p:cNvSpPr/>
          <p:nvPr/>
        </p:nvSpPr>
        <p:spPr>
          <a:xfrm>
            <a:off x="731520" y="3456432"/>
            <a:ext cx="868680" cy="868680"/>
          </a:xfrm>
          <a:prstGeom prst="ellipse">
            <a:avLst/>
          </a:prstGeom>
          <a:solidFill>
            <a:srgbClr val="1B2A4A"/>
          </a:solidFill>
          <a:ln/>
        </p:spPr>
      </p:sp>
      <p:pic>
        <p:nvPicPr>
          <p:cNvPr id="14" name="Image 2" descr="/sessions/blissful-modest-newton/mnt/outputs/scratch/build/icons/cap.png"/>
          <p:cNvPicPr>
            <a:picLocks noChangeAspect="1"/>
          </p:cNvPicPr>
          <p:nvPr/>
        </p:nvPicPr>
        <p:blipFill>
          <a:blip r:embed="rId5"/>
          <a:stretch>
            <a:fillRect/>
          </a:stretch>
        </p:blipFill>
        <p:spPr>
          <a:xfrm>
            <a:off x="922630" y="3647542"/>
            <a:ext cx="486461" cy="486461"/>
          </a:xfrm>
          <a:prstGeom prst="rect">
            <a:avLst/>
          </a:prstGeom>
        </p:spPr>
      </p:pic>
      <p:sp>
        <p:nvSpPr>
          <p:cNvPr id="15" name="Text 10"/>
          <p:cNvSpPr txBox="1"/>
          <p:nvPr/>
        </p:nvSpPr>
        <p:spPr>
          <a:xfrm>
            <a:off x="1783080" y="3291840"/>
            <a:ext cx="3931920" cy="1197864"/>
          </a:xfrm>
          <a:prstGeom prst="rect">
            <a:avLst/>
          </a:prstGeom>
          <a:noFill/>
          <a:ln/>
        </p:spPr>
        <p:txBody>
          <a:bodyPr wrap="square" lIns="0" tIns="0" rIns="0" bIns="0" rtlCol="0" anchor="ctr"/>
          <a:lstStyle/>
          <a:p>
            <a:pPr marL="0" indent="0">
              <a:lnSpc>
                <a:spcPct val="112000"/>
              </a:lnSpc>
              <a:buNone/>
            </a:pPr>
            <a:r>
              <a:rPr lang="en-US" sz="1350" dirty="0">
                <a:solidFill>
                  <a:srgbClr val="17233A"/>
                </a:solidFill>
                <a:latin typeface="Calibri" pitchFamily="34" charset="0"/>
                <a:ea typeface="Calibri" pitchFamily="34" charset="-122"/>
                <a:cs typeface="Calibri" pitchFamily="34" charset="-120"/>
              </a:rPr>
              <a:t>Explain migration selectivity and “brain drain” with current Thai and global evidence.</a:t>
            </a:r>
            <a:endParaRPr lang="en-US" sz="1350" dirty="0"/>
          </a:p>
        </p:txBody>
      </p:sp>
      <p:sp>
        <p:nvSpPr>
          <p:cNvPr id="16" name="Shape 11"/>
          <p:cNvSpPr/>
          <p:nvPr/>
        </p:nvSpPr>
        <p:spPr>
          <a:xfrm>
            <a:off x="6263640" y="3182112"/>
            <a:ext cx="5440680" cy="1417320"/>
          </a:xfrm>
          <a:prstGeom prst="roundRect">
            <a:avLst>
              <a:gd name="adj" fmla="val 5806"/>
            </a:avLst>
          </a:prstGeom>
          <a:solidFill>
            <a:srgbClr val="E7EEF7"/>
          </a:solidFill>
          <a:ln/>
        </p:spPr>
      </p:sp>
      <p:sp>
        <p:nvSpPr>
          <p:cNvPr id="17" name="Shape 12"/>
          <p:cNvSpPr/>
          <p:nvPr/>
        </p:nvSpPr>
        <p:spPr>
          <a:xfrm>
            <a:off x="6492240" y="3456432"/>
            <a:ext cx="868680" cy="868680"/>
          </a:xfrm>
          <a:prstGeom prst="ellipse">
            <a:avLst/>
          </a:prstGeom>
          <a:solidFill>
            <a:srgbClr val="0E7C7B"/>
          </a:solidFill>
          <a:ln/>
        </p:spPr>
      </p:sp>
      <p:pic>
        <p:nvPicPr>
          <p:cNvPr id="18" name="Image 3" descr="/sessions/blissful-modest-newton/mnt/outputs/scratch/build/icons/database.png"/>
          <p:cNvPicPr>
            <a:picLocks noChangeAspect="1"/>
          </p:cNvPicPr>
          <p:nvPr/>
        </p:nvPicPr>
        <p:blipFill>
          <a:blip r:embed="rId6"/>
          <a:stretch>
            <a:fillRect/>
          </a:stretch>
        </p:blipFill>
        <p:spPr>
          <a:xfrm>
            <a:off x="6683350" y="3647542"/>
            <a:ext cx="486461" cy="486461"/>
          </a:xfrm>
          <a:prstGeom prst="rect">
            <a:avLst/>
          </a:prstGeom>
        </p:spPr>
      </p:pic>
      <p:sp>
        <p:nvSpPr>
          <p:cNvPr id="19" name="Text 13"/>
          <p:cNvSpPr txBox="1"/>
          <p:nvPr/>
        </p:nvSpPr>
        <p:spPr>
          <a:xfrm>
            <a:off x="7543800" y="3291840"/>
            <a:ext cx="3931920" cy="1197864"/>
          </a:xfrm>
          <a:prstGeom prst="rect">
            <a:avLst/>
          </a:prstGeom>
          <a:noFill/>
          <a:ln/>
        </p:spPr>
        <p:txBody>
          <a:bodyPr wrap="square" lIns="0" tIns="0" rIns="0" bIns="0" rtlCol="0" anchor="ctr"/>
          <a:lstStyle/>
          <a:p>
            <a:pPr marL="0" indent="0">
              <a:lnSpc>
                <a:spcPct val="112000"/>
              </a:lnSpc>
              <a:buNone/>
            </a:pPr>
            <a:r>
              <a:rPr lang="en-US" sz="1350" dirty="0">
                <a:solidFill>
                  <a:srgbClr val="17233A"/>
                </a:solidFill>
                <a:latin typeface="Calibri" pitchFamily="34" charset="0"/>
                <a:ea typeface="Calibri" pitchFamily="34" charset="-122"/>
                <a:cs typeface="Calibri" pitchFamily="34" charset="-120"/>
              </a:rPr>
              <a:t>Compare traditional data sources (census, registers, surveys) with digital trace data, and name each one's blind spot.</a:t>
            </a:r>
            <a:endParaRPr lang="en-US" sz="1350" dirty="0"/>
          </a:p>
        </p:txBody>
      </p:sp>
      <p:sp>
        <p:nvSpPr>
          <p:cNvPr id="20" name="Shape 14"/>
          <p:cNvSpPr/>
          <p:nvPr/>
        </p:nvSpPr>
        <p:spPr>
          <a:xfrm>
            <a:off x="502920" y="4855464"/>
            <a:ext cx="5440680" cy="1417320"/>
          </a:xfrm>
          <a:prstGeom prst="roundRect">
            <a:avLst>
              <a:gd name="adj" fmla="val 5806"/>
            </a:avLst>
          </a:prstGeom>
          <a:solidFill>
            <a:srgbClr val="F3F6FA"/>
          </a:solidFill>
          <a:ln/>
        </p:spPr>
      </p:sp>
      <p:sp>
        <p:nvSpPr>
          <p:cNvPr id="21" name="Shape 15"/>
          <p:cNvSpPr/>
          <p:nvPr/>
        </p:nvSpPr>
        <p:spPr>
          <a:xfrm>
            <a:off x="731520" y="5129784"/>
            <a:ext cx="868680" cy="868680"/>
          </a:xfrm>
          <a:prstGeom prst="ellipse">
            <a:avLst/>
          </a:prstGeom>
          <a:solidFill>
            <a:srgbClr val="1B2A4A"/>
          </a:solidFill>
          <a:ln/>
        </p:spPr>
      </p:sp>
      <p:pic>
        <p:nvPicPr>
          <p:cNvPr id="22" name="Image 4" descr="/sessions/blissful-modest-newton/mnt/outputs/scratch/build/icons/phone.png"/>
          <p:cNvPicPr>
            <a:picLocks noChangeAspect="1"/>
          </p:cNvPicPr>
          <p:nvPr/>
        </p:nvPicPr>
        <p:blipFill>
          <a:blip r:embed="rId7"/>
          <a:stretch>
            <a:fillRect/>
          </a:stretch>
        </p:blipFill>
        <p:spPr>
          <a:xfrm>
            <a:off x="922630" y="5320894"/>
            <a:ext cx="486461" cy="486461"/>
          </a:xfrm>
          <a:prstGeom prst="rect">
            <a:avLst/>
          </a:prstGeom>
        </p:spPr>
      </p:pic>
      <p:sp>
        <p:nvSpPr>
          <p:cNvPr id="23" name="Text 16"/>
          <p:cNvSpPr txBox="1"/>
          <p:nvPr/>
        </p:nvSpPr>
        <p:spPr>
          <a:xfrm>
            <a:off x="1783080" y="4965192"/>
            <a:ext cx="3931920" cy="1197864"/>
          </a:xfrm>
          <a:prstGeom prst="rect">
            <a:avLst/>
          </a:prstGeom>
          <a:noFill/>
          <a:ln/>
        </p:spPr>
        <p:txBody>
          <a:bodyPr wrap="square" lIns="0" tIns="0" rIns="0" bIns="0" rtlCol="0" anchor="ctr"/>
          <a:lstStyle/>
          <a:p>
            <a:pPr marL="0" indent="0">
              <a:lnSpc>
                <a:spcPct val="112000"/>
              </a:lnSpc>
              <a:buNone/>
            </a:pPr>
            <a:r>
              <a:rPr lang="en-US" sz="1350" dirty="0">
                <a:solidFill>
                  <a:srgbClr val="17233A"/>
                </a:solidFill>
                <a:latin typeface="Calibri" pitchFamily="34" charset="0"/>
                <a:ea typeface="Calibri" pitchFamily="34" charset="-122"/>
                <a:cs typeface="Calibri" pitchFamily="34" charset="-120"/>
              </a:rPr>
              <a:t>Describe how mobile-phone, satellite, and social-media data support near-real-time mobility and displacement estimation.</a:t>
            </a:r>
            <a:endParaRPr lang="en-US" sz="1350" dirty="0"/>
          </a:p>
        </p:txBody>
      </p:sp>
      <p:sp>
        <p:nvSpPr>
          <p:cNvPr id="24" name="Shape 17"/>
          <p:cNvSpPr/>
          <p:nvPr/>
        </p:nvSpPr>
        <p:spPr>
          <a:xfrm>
            <a:off x="6263640" y="4855464"/>
            <a:ext cx="5440680" cy="1417320"/>
          </a:xfrm>
          <a:prstGeom prst="roundRect">
            <a:avLst>
              <a:gd name="adj" fmla="val 5806"/>
            </a:avLst>
          </a:prstGeom>
          <a:solidFill>
            <a:srgbClr val="E7EEF7"/>
          </a:solidFill>
          <a:ln/>
        </p:spPr>
      </p:sp>
      <p:sp>
        <p:nvSpPr>
          <p:cNvPr id="25" name="Shape 18"/>
          <p:cNvSpPr/>
          <p:nvPr/>
        </p:nvSpPr>
        <p:spPr>
          <a:xfrm>
            <a:off x="6492240" y="5129784"/>
            <a:ext cx="868680" cy="868680"/>
          </a:xfrm>
          <a:prstGeom prst="ellipse">
            <a:avLst/>
          </a:prstGeom>
          <a:solidFill>
            <a:srgbClr val="0E7C7B"/>
          </a:solidFill>
          <a:ln/>
        </p:spPr>
      </p:sp>
      <p:pic>
        <p:nvPicPr>
          <p:cNvPr id="26" name="Image 5" descr="/sessions/blissful-modest-newton/mnt/outputs/scratch/build/icons/city.png"/>
          <p:cNvPicPr>
            <a:picLocks noChangeAspect="1"/>
          </p:cNvPicPr>
          <p:nvPr/>
        </p:nvPicPr>
        <p:blipFill>
          <a:blip r:embed="rId8"/>
          <a:stretch>
            <a:fillRect/>
          </a:stretch>
        </p:blipFill>
        <p:spPr>
          <a:xfrm>
            <a:off x="6683350" y="5320894"/>
            <a:ext cx="486461" cy="486461"/>
          </a:xfrm>
          <a:prstGeom prst="rect">
            <a:avLst/>
          </a:prstGeom>
        </p:spPr>
      </p:pic>
      <p:sp>
        <p:nvSpPr>
          <p:cNvPr id="27" name="Text 19"/>
          <p:cNvSpPr txBox="1"/>
          <p:nvPr/>
        </p:nvSpPr>
        <p:spPr>
          <a:xfrm>
            <a:off x="7543800" y="4965192"/>
            <a:ext cx="3931920" cy="1197864"/>
          </a:xfrm>
          <a:prstGeom prst="rect">
            <a:avLst/>
          </a:prstGeom>
          <a:noFill/>
          <a:ln/>
        </p:spPr>
        <p:txBody>
          <a:bodyPr wrap="square" lIns="0" tIns="0" rIns="0" bIns="0" rtlCol="0" anchor="ctr"/>
          <a:lstStyle/>
          <a:p>
            <a:pPr marL="0" indent="0">
              <a:lnSpc>
                <a:spcPct val="112000"/>
              </a:lnSpc>
              <a:buNone/>
            </a:pPr>
            <a:r>
              <a:rPr lang="en-US" sz="1350" dirty="0">
                <a:solidFill>
                  <a:srgbClr val="17233A"/>
                </a:solidFill>
                <a:latin typeface="Calibri" pitchFamily="34" charset="0"/>
                <a:ea typeface="Calibri" pitchFamily="34" charset="-122"/>
                <a:cs typeface="Calibri" pitchFamily="34" charset="-120"/>
              </a:rPr>
              <a:t>Analyze current global and Thai urbanization trends, their drivers, and how “urban” is measured and redefined.</a:t>
            </a:r>
            <a:endParaRPr lang="en-US" sz="1350" dirty="0"/>
          </a:p>
        </p:txBody>
      </p:sp>
      <p:sp>
        <p:nvSpPr>
          <p:cNvPr id="28" name="Text 20"/>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29" name="Text 21"/>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 / 57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SESSION ROADMAP</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Agenda — 180 Minutes</a:t>
            </a:r>
            <a:endParaRPr lang="en-US" sz="2900" dirty="0"/>
          </a:p>
        </p:txBody>
      </p:sp>
      <p:sp>
        <p:nvSpPr>
          <p:cNvPr id="4" name="Shape 2"/>
          <p:cNvSpPr/>
          <p:nvPr/>
        </p:nvSpPr>
        <p:spPr>
          <a:xfrm>
            <a:off x="502920" y="1508760"/>
            <a:ext cx="11155680" cy="914400"/>
          </a:xfrm>
          <a:prstGeom prst="roundRect">
            <a:avLst>
              <a:gd name="adj" fmla="val 8000"/>
            </a:avLst>
          </a:prstGeom>
          <a:solidFill>
            <a:srgbClr val="F3F6FA"/>
          </a:solidFill>
          <a:ln/>
        </p:spPr>
      </p:sp>
      <p:sp>
        <p:nvSpPr>
          <p:cNvPr id="5" name="Shape 3"/>
          <p:cNvSpPr/>
          <p:nvPr/>
        </p:nvSpPr>
        <p:spPr>
          <a:xfrm>
            <a:off x="713232" y="1682496"/>
            <a:ext cx="566928" cy="566928"/>
          </a:xfrm>
          <a:prstGeom prst="ellipse">
            <a:avLst/>
          </a:prstGeom>
          <a:solidFill>
            <a:srgbClr val="1B2A4A"/>
          </a:solidFill>
          <a:ln/>
        </p:spPr>
      </p:sp>
      <p:pic>
        <p:nvPicPr>
          <p:cNvPr id="6" name="Image 0" descr="/sessions/blissful-modest-newton/mnt/outputs/scratch/build/icons/arrows.png"/>
          <p:cNvPicPr>
            <a:picLocks noChangeAspect="1"/>
          </p:cNvPicPr>
          <p:nvPr/>
        </p:nvPicPr>
        <p:blipFill>
          <a:blip r:embed="rId3"/>
          <a:stretch>
            <a:fillRect/>
          </a:stretch>
        </p:blipFill>
        <p:spPr>
          <a:xfrm>
            <a:off x="832287" y="1801551"/>
            <a:ext cx="328818" cy="328818"/>
          </a:xfrm>
          <a:prstGeom prst="rect">
            <a:avLst/>
          </a:prstGeom>
        </p:spPr>
      </p:pic>
      <p:sp>
        <p:nvSpPr>
          <p:cNvPr id="8" name="Text 5"/>
          <p:cNvSpPr txBox="1"/>
          <p:nvPr/>
        </p:nvSpPr>
        <p:spPr>
          <a:xfrm>
            <a:off x="1897380" y="1458236"/>
            <a:ext cx="1737360" cy="914400"/>
          </a:xfrm>
          <a:prstGeom prst="rect">
            <a:avLst/>
          </a:prstGeom>
          <a:noFill/>
          <a:ln/>
        </p:spPr>
        <p:txBody>
          <a:bodyPr wrap="square" lIns="0" tIns="0" rIns="0" bIns="0" rtlCol="0" anchor="ctr"/>
          <a:lstStyle/>
          <a:p>
            <a:pPr marL="0" indent="0">
              <a:buNone/>
            </a:pPr>
            <a:r>
              <a:rPr lang="en-US" sz="1300" b="1" kern="0" spc="100" dirty="0">
                <a:solidFill>
                  <a:srgbClr val="E8A33D"/>
                </a:solidFill>
                <a:latin typeface="Calibri" pitchFamily="34" charset="0"/>
                <a:ea typeface="Calibri" pitchFamily="34" charset="-122"/>
                <a:cs typeface="Calibri" pitchFamily="34" charset="-120"/>
              </a:rPr>
              <a:t>BLOCK 1</a:t>
            </a:r>
            <a:endParaRPr lang="en-US" sz="1300" dirty="0"/>
          </a:p>
        </p:txBody>
      </p:sp>
      <p:sp>
        <p:nvSpPr>
          <p:cNvPr id="9" name="Text 6"/>
          <p:cNvSpPr txBox="1"/>
          <p:nvPr/>
        </p:nvSpPr>
        <p:spPr>
          <a:xfrm>
            <a:off x="3726180" y="1458236"/>
            <a:ext cx="6400800" cy="914400"/>
          </a:xfrm>
          <a:prstGeom prst="rect">
            <a:avLst/>
          </a:prstGeom>
          <a:noFill/>
          <a:ln/>
        </p:spPr>
        <p:txBody>
          <a:bodyPr wrap="square" lIns="0" tIns="0" rIns="0" bIns="0" rtlCol="0" anchor="ctr"/>
          <a:lstStyle/>
          <a:p>
            <a:pPr marL="0" indent="0">
              <a:buNone/>
            </a:pPr>
            <a:r>
              <a:rPr lang="en-US" sz="1400" dirty="0">
                <a:solidFill>
                  <a:srgbClr val="17233A"/>
                </a:solidFill>
                <a:latin typeface="Calibri" pitchFamily="34" charset="0"/>
                <a:ea typeface="Calibri" pitchFamily="34" charset="-122"/>
                <a:cs typeface="Calibri" pitchFamily="34" charset="-120"/>
              </a:rPr>
              <a:t>Foundations — defining and measuring migration</a:t>
            </a:r>
            <a:endParaRPr lang="en-US" sz="1400" dirty="0"/>
          </a:p>
        </p:txBody>
      </p:sp>
      <p:sp>
        <p:nvSpPr>
          <p:cNvPr id="10" name="Shape 7"/>
          <p:cNvSpPr/>
          <p:nvPr/>
        </p:nvSpPr>
        <p:spPr>
          <a:xfrm>
            <a:off x="502920" y="2569464"/>
            <a:ext cx="11155680" cy="914400"/>
          </a:xfrm>
          <a:prstGeom prst="roundRect">
            <a:avLst>
              <a:gd name="adj" fmla="val 8000"/>
            </a:avLst>
          </a:prstGeom>
          <a:solidFill>
            <a:srgbClr val="E7EEF7"/>
          </a:solidFill>
          <a:ln/>
        </p:spPr>
      </p:sp>
      <p:sp>
        <p:nvSpPr>
          <p:cNvPr id="11" name="Shape 8"/>
          <p:cNvSpPr/>
          <p:nvPr/>
        </p:nvSpPr>
        <p:spPr>
          <a:xfrm>
            <a:off x="713232" y="2743200"/>
            <a:ext cx="566928" cy="566928"/>
          </a:xfrm>
          <a:prstGeom prst="ellipse">
            <a:avLst/>
          </a:prstGeom>
          <a:solidFill>
            <a:srgbClr val="0E7C7B"/>
          </a:solidFill>
          <a:ln/>
        </p:spPr>
      </p:sp>
      <p:pic>
        <p:nvPicPr>
          <p:cNvPr id="12" name="Image 1" descr="/sessions/blissful-modest-newton/mnt/outputs/scratch/build/icons/clock.png"/>
          <p:cNvPicPr>
            <a:picLocks noChangeAspect="1"/>
          </p:cNvPicPr>
          <p:nvPr/>
        </p:nvPicPr>
        <p:blipFill>
          <a:blip r:embed="rId4"/>
          <a:stretch>
            <a:fillRect/>
          </a:stretch>
        </p:blipFill>
        <p:spPr>
          <a:xfrm>
            <a:off x="832287" y="2862255"/>
            <a:ext cx="328818" cy="328818"/>
          </a:xfrm>
          <a:prstGeom prst="rect">
            <a:avLst/>
          </a:prstGeom>
        </p:spPr>
      </p:pic>
      <p:sp>
        <p:nvSpPr>
          <p:cNvPr id="14" name="Text 10"/>
          <p:cNvSpPr txBox="1"/>
          <p:nvPr/>
        </p:nvSpPr>
        <p:spPr>
          <a:xfrm>
            <a:off x="1897380" y="2518940"/>
            <a:ext cx="1737360" cy="914400"/>
          </a:xfrm>
          <a:prstGeom prst="rect">
            <a:avLst/>
          </a:prstGeom>
          <a:noFill/>
          <a:ln/>
        </p:spPr>
        <p:txBody>
          <a:bodyPr wrap="square" lIns="0" tIns="0" rIns="0" bIns="0" rtlCol="0" anchor="ctr"/>
          <a:lstStyle/>
          <a:p>
            <a:pPr marL="0" indent="0">
              <a:buNone/>
            </a:pPr>
            <a:r>
              <a:rPr lang="en-US" sz="1300" b="1" kern="0" spc="100" dirty="0">
                <a:solidFill>
                  <a:srgbClr val="0E7C7B"/>
                </a:solidFill>
                <a:latin typeface="Calibri" pitchFamily="34" charset="0"/>
                <a:ea typeface="Calibri" pitchFamily="34" charset="-122"/>
                <a:cs typeface="Calibri" pitchFamily="34" charset="-120"/>
              </a:rPr>
              <a:t>BREAK</a:t>
            </a:r>
            <a:endParaRPr lang="en-US" sz="1300" dirty="0"/>
          </a:p>
        </p:txBody>
      </p:sp>
      <p:sp>
        <p:nvSpPr>
          <p:cNvPr id="15" name="Text 11"/>
          <p:cNvSpPr txBox="1"/>
          <p:nvPr/>
        </p:nvSpPr>
        <p:spPr>
          <a:xfrm>
            <a:off x="3726180" y="2518940"/>
            <a:ext cx="6400800" cy="914400"/>
          </a:xfrm>
          <a:prstGeom prst="rect">
            <a:avLst/>
          </a:prstGeom>
          <a:noFill/>
          <a:ln/>
        </p:spPr>
        <p:txBody>
          <a:bodyPr wrap="square" lIns="0" tIns="0" rIns="0" bIns="0" rtlCol="0" anchor="ctr"/>
          <a:lstStyle/>
          <a:p>
            <a:pPr marL="0" indent="0">
              <a:buNone/>
            </a:pPr>
            <a:r>
              <a:rPr lang="en-US" sz="1400" dirty="0">
                <a:solidFill>
                  <a:srgbClr val="17233A"/>
                </a:solidFill>
                <a:latin typeface="Calibri" pitchFamily="34" charset="0"/>
                <a:ea typeface="Calibri" pitchFamily="34" charset="-122"/>
                <a:cs typeface="Calibri" pitchFamily="34" charset="-120"/>
              </a:rPr>
              <a:t>15-minute break</a:t>
            </a:r>
            <a:endParaRPr lang="en-US" sz="1400" dirty="0"/>
          </a:p>
        </p:txBody>
      </p:sp>
      <p:sp>
        <p:nvSpPr>
          <p:cNvPr id="16" name="Shape 12"/>
          <p:cNvSpPr/>
          <p:nvPr/>
        </p:nvSpPr>
        <p:spPr>
          <a:xfrm>
            <a:off x="502920" y="3630168"/>
            <a:ext cx="11155680" cy="914400"/>
          </a:xfrm>
          <a:prstGeom prst="roundRect">
            <a:avLst>
              <a:gd name="adj" fmla="val 8000"/>
            </a:avLst>
          </a:prstGeom>
          <a:solidFill>
            <a:srgbClr val="F3F6FA"/>
          </a:solidFill>
          <a:ln/>
        </p:spPr>
      </p:sp>
      <p:sp>
        <p:nvSpPr>
          <p:cNvPr id="17" name="Shape 13"/>
          <p:cNvSpPr/>
          <p:nvPr/>
        </p:nvSpPr>
        <p:spPr>
          <a:xfrm>
            <a:off x="713232" y="3803904"/>
            <a:ext cx="566928" cy="566928"/>
          </a:xfrm>
          <a:prstGeom prst="ellipse">
            <a:avLst/>
          </a:prstGeom>
          <a:solidFill>
            <a:srgbClr val="1B2A4A"/>
          </a:solidFill>
          <a:ln/>
        </p:spPr>
      </p:sp>
      <p:pic>
        <p:nvPicPr>
          <p:cNvPr id="18" name="Image 2" descr="/sessions/blissful-modest-newton/mnt/outputs/scratch/build/icons/database.png"/>
          <p:cNvPicPr>
            <a:picLocks noChangeAspect="1"/>
          </p:cNvPicPr>
          <p:nvPr/>
        </p:nvPicPr>
        <p:blipFill>
          <a:blip r:embed="rId5"/>
          <a:stretch>
            <a:fillRect/>
          </a:stretch>
        </p:blipFill>
        <p:spPr>
          <a:xfrm>
            <a:off x="832287" y="3922959"/>
            <a:ext cx="328818" cy="328818"/>
          </a:xfrm>
          <a:prstGeom prst="rect">
            <a:avLst/>
          </a:prstGeom>
        </p:spPr>
      </p:pic>
      <p:sp>
        <p:nvSpPr>
          <p:cNvPr id="20" name="Text 15"/>
          <p:cNvSpPr txBox="1"/>
          <p:nvPr/>
        </p:nvSpPr>
        <p:spPr>
          <a:xfrm>
            <a:off x="1897380" y="3579644"/>
            <a:ext cx="1737360" cy="914400"/>
          </a:xfrm>
          <a:prstGeom prst="rect">
            <a:avLst/>
          </a:prstGeom>
          <a:noFill/>
          <a:ln/>
        </p:spPr>
        <p:txBody>
          <a:bodyPr wrap="square" lIns="0" tIns="0" rIns="0" bIns="0" rtlCol="0" anchor="ctr"/>
          <a:lstStyle/>
          <a:p>
            <a:pPr marL="0" indent="0">
              <a:buNone/>
            </a:pPr>
            <a:r>
              <a:rPr lang="en-US" sz="1300" b="1" kern="0" spc="100" dirty="0">
                <a:solidFill>
                  <a:srgbClr val="E8A33D"/>
                </a:solidFill>
                <a:latin typeface="Calibri" pitchFamily="34" charset="0"/>
                <a:ea typeface="Calibri" pitchFamily="34" charset="-122"/>
                <a:cs typeface="Calibri" pitchFamily="34" charset="-120"/>
              </a:rPr>
              <a:t>BLOCK 2</a:t>
            </a:r>
            <a:endParaRPr lang="en-US" sz="1300" dirty="0"/>
          </a:p>
        </p:txBody>
      </p:sp>
      <p:sp>
        <p:nvSpPr>
          <p:cNvPr id="21" name="Text 16"/>
          <p:cNvSpPr txBox="1"/>
          <p:nvPr/>
        </p:nvSpPr>
        <p:spPr>
          <a:xfrm>
            <a:off x="3726180" y="3579644"/>
            <a:ext cx="6400800" cy="914400"/>
          </a:xfrm>
          <a:prstGeom prst="rect">
            <a:avLst/>
          </a:prstGeom>
          <a:noFill/>
          <a:ln/>
        </p:spPr>
        <p:txBody>
          <a:bodyPr wrap="square" lIns="0" tIns="0" rIns="0" bIns="0" rtlCol="0" anchor="ctr"/>
          <a:lstStyle/>
          <a:p>
            <a:pPr marL="0" indent="0">
              <a:buNone/>
            </a:pPr>
            <a:r>
              <a:rPr lang="en-US" sz="1400" dirty="0">
                <a:solidFill>
                  <a:srgbClr val="17233A"/>
                </a:solidFill>
                <a:latin typeface="Calibri" pitchFamily="34" charset="0"/>
                <a:ea typeface="Calibri" pitchFamily="34" charset="-122"/>
                <a:cs typeface="Calibri" pitchFamily="34" charset="-120"/>
              </a:rPr>
              <a:t>Selectivity, brain drain &amp; traditional vs. digital data sources</a:t>
            </a:r>
            <a:endParaRPr lang="en-US" sz="1400" dirty="0"/>
          </a:p>
        </p:txBody>
      </p:sp>
      <p:sp>
        <p:nvSpPr>
          <p:cNvPr id="28" name="Shape 22"/>
          <p:cNvSpPr/>
          <p:nvPr/>
        </p:nvSpPr>
        <p:spPr>
          <a:xfrm>
            <a:off x="502920" y="4688491"/>
            <a:ext cx="11155680" cy="914400"/>
          </a:xfrm>
          <a:prstGeom prst="roundRect">
            <a:avLst>
              <a:gd name="adj" fmla="val 8000"/>
            </a:avLst>
          </a:prstGeom>
          <a:solidFill>
            <a:srgbClr val="F3F6FA"/>
          </a:solidFill>
          <a:ln/>
        </p:spPr>
      </p:sp>
      <p:sp>
        <p:nvSpPr>
          <p:cNvPr id="29" name="Shape 23"/>
          <p:cNvSpPr/>
          <p:nvPr/>
        </p:nvSpPr>
        <p:spPr>
          <a:xfrm>
            <a:off x="713232" y="4862227"/>
            <a:ext cx="566928" cy="566928"/>
          </a:xfrm>
          <a:prstGeom prst="ellipse">
            <a:avLst/>
          </a:prstGeom>
          <a:solidFill>
            <a:srgbClr val="1B2A4A"/>
          </a:solidFill>
          <a:ln/>
        </p:spPr>
      </p:sp>
      <p:pic>
        <p:nvPicPr>
          <p:cNvPr id="30" name="Image 4" descr="/sessions/blissful-modest-newton/mnt/outputs/scratch/build/icons/city.png"/>
          <p:cNvPicPr>
            <a:picLocks noChangeAspect="1"/>
          </p:cNvPicPr>
          <p:nvPr/>
        </p:nvPicPr>
        <p:blipFill>
          <a:blip r:embed="rId6"/>
          <a:stretch>
            <a:fillRect/>
          </a:stretch>
        </p:blipFill>
        <p:spPr>
          <a:xfrm>
            <a:off x="832287" y="4981282"/>
            <a:ext cx="328818" cy="328818"/>
          </a:xfrm>
          <a:prstGeom prst="rect">
            <a:avLst/>
          </a:prstGeom>
        </p:spPr>
      </p:pic>
      <p:sp>
        <p:nvSpPr>
          <p:cNvPr id="32" name="Text 25"/>
          <p:cNvSpPr txBox="1"/>
          <p:nvPr/>
        </p:nvSpPr>
        <p:spPr>
          <a:xfrm>
            <a:off x="1897380" y="4637967"/>
            <a:ext cx="1737360" cy="914400"/>
          </a:xfrm>
          <a:prstGeom prst="rect">
            <a:avLst/>
          </a:prstGeom>
          <a:noFill/>
          <a:ln/>
        </p:spPr>
        <p:txBody>
          <a:bodyPr wrap="square" lIns="0" tIns="0" rIns="0" bIns="0" rtlCol="0" anchor="ctr"/>
          <a:lstStyle/>
          <a:p>
            <a:pPr marL="0" indent="0">
              <a:buNone/>
            </a:pPr>
            <a:r>
              <a:rPr lang="en-US" sz="1300" b="1" kern="0" spc="100" dirty="0">
                <a:solidFill>
                  <a:srgbClr val="E8A33D"/>
                </a:solidFill>
                <a:latin typeface="Calibri" pitchFamily="34" charset="0"/>
                <a:ea typeface="Calibri" pitchFamily="34" charset="-122"/>
                <a:cs typeface="Calibri" pitchFamily="34" charset="-120"/>
              </a:rPr>
              <a:t>BLOCK 3</a:t>
            </a:r>
            <a:endParaRPr lang="en-US" sz="1300" dirty="0"/>
          </a:p>
        </p:txBody>
      </p:sp>
      <p:sp>
        <p:nvSpPr>
          <p:cNvPr id="33" name="Text 26"/>
          <p:cNvSpPr txBox="1"/>
          <p:nvPr/>
        </p:nvSpPr>
        <p:spPr>
          <a:xfrm>
            <a:off x="3726180" y="4637967"/>
            <a:ext cx="6400800" cy="914400"/>
          </a:xfrm>
          <a:prstGeom prst="rect">
            <a:avLst/>
          </a:prstGeom>
          <a:noFill/>
          <a:ln/>
        </p:spPr>
        <p:txBody>
          <a:bodyPr wrap="square" lIns="0" tIns="0" rIns="0" bIns="0" rtlCol="0" anchor="ctr"/>
          <a:lstStyle/>
          <a:p>
            <a:pPr marL="0" indent="0">
              <a:buNone/>
            </a:pPr>
            <a:r>
              <a:rPr lang="en-US" sz="1400" dirty="0">
                <a:solidFill>
                  <a:srgbClr val="17233A"/>
                </a:solidFill>
                <a:latin typeface="Calibri" pitchFamily="34" charset="0"/>
                <a:ea typeface="Calibri" pitchFamily="34" charset="-122"/>
                <a:cs typeface="Calibri" pitchFamily="34" charset="-120"/>
              </a:rPr>
              <a:t>Urbanization in a connected world, group work &amp; practice</a:t>
            </a:r>
            <a:endParaRPr lang="en-US" sz="1400" dirty="0"/>
          </a:p>
        </p:txBody>
      </p:sp>
      <p:sp>
        <p:nvSpPr>
          <p:cNvPr id="34" name="Text 27"/>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35" name="Text 28"/>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3 / 57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D33"/>
        </a:solidFill>
        <a:effectLst/>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1B2A4A">
              <a:alpha val="55000"/>
            </a:srgbClr>
          </a:solidFill>
          <a:ln/>
        </p:spPr>
      </p:sp>
      <p:sp>
        <p:nvSpPr>
          <p:cNvPr id="3" name="Text 1"/>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WHY THIS MATTERS</a:t>
            </a:r>
            <a:endParaRPr lang="en-US" sz="1300" dirty="0"/>
          </a:p>
        </p:txBody>
      </p:sp>
      <p:sp>
        <p:nvSpPr>
          <p:cNvPr id="4" name="Text 2"/>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FFFFFF"/>
                </a:solidFill>
                <a:latin typeface="Cambria" pitchFamily="34" charset="0"/>
                <a:ea typeface="Cambria" pitchFamily="34" charset="-122"/>
                <a:cs typeface="Cambria" pitchFamily="34" charset="-120"/>
              </a:rPr>
              <a:t>A World on the Move</a:t>
            </a:r>
            <a:endParaRPr lang="en-US" sz="2900" dirty="0"/>
          </a:p>
        </p:txBody>
      </p:sp>
      <p:sp>
        <p:nvSpPr>
          <p:cNvPr id="5" name="Shape 3"/>
          <p:cNvSpPr/>
          <p:nvPr/>
        </p:nvSpPr>
        <p:spPr>
          <a:xfrm>
            <a:off x="548640" y="1691640"/>
            <a:ext cx="3520440" cy="3566160"/>
          </a:xfrm>
          <a:prstGeom prst="roundRect">
            <a:avLst>
              <a:gd name="adj" fmla="val 2597"/>
            </a:avLst>
          </a:prstGeom>
          <a:solidFill>
            <a:srgbClr val="1B2A4A">
              <a:alpha val="85000"/>
            </a:srgbClr>
          </a:solidFill>
          <a:ln/>
        </p:spPr>
      </p:sp>
      <p:sp>
        <p:nvSpPr>
          <p:cNvPr id="6" name="Text 4"/>
          <p:cNvSpPr txBox="1"/>
          <p:nvPr/>
        </p:nvSpPr>
        <p:spPr>
          <a:xfrm>
            <a:off x="777240" y="1965960"/>
            <a:ext cx="3063240" cy="1005840"/>
          </a:xfrm>
          <a:prstGeom prst="rect">
            <a:avLst/>
          </a:prstGeom>
          <a:noFill/>
          <a:ln/>
        </p:spPr>
        <p:txBody>
          <a:bodyPr wrap="square" lIns="0" tIns="0" rIns="0" bIns="0" rtlCol="0" anchor="ctr"/>
          <a:lstStyle/>
          <a:p>
            <a:pPr marL="0" indent="0">
              <a:buNone/>
            </a:pPr>
            <a:r>
              <a:rPr lang="en-US" sz="4600" b="1" dirty="0">
                <a:solidFill>
                  <a:srgbClr val="E8A33D"/>
                </a:solidFill>
                <a:latin typeface="Cambria" pitchFamily="34" charset="0"/>
                <a:ea typeface="Cambria" pitchFamily="34" charset="-122"/>
                <a:cs typeface="Cambria" pitchFamily="34" charset="-120"/>
              </a:rPr>
              <a:t>304M</a:t>
            </a:r>
            <a:endParaRPr lang="en-US" sz="4600" dirty="0"/>
          </a:p>
        </p:txBody>
      </p:sp>
      <p:sp>
        <p:nvSpPr>
          <p:cNvPr id="7" name="Text 5"/>
          <p:cNvSpPr txBox="1"/>
          <p:nvPr/>
        </p:nvSpPr>
        <p:spPr>
          <a:xfrm>
            <a:off x="777240" y="3063240"/>
            <a:ext cx="3063240" cy="2011680"/>
          </a:xfrm>
          <a:prstGeom prst="rect">
            <a:avLst/>
          </a:prstGeom>
          <a:noFill/>
          <a:ln/>
        </p:spPr>
        <p:txBody>
          <a:bodyPr wrap="square" lIns="0" tIns="0" rIns="0" bIns="0" rtlCol="0" anchor="ctr"/>
          <a:lstStyle/>
          <a:p>
            <a:pPr marL="0" indent="0">
              <a:lnSpc>
                <a:spcPct val="115000"/>
              </a:lnSpc>
              <a:buNone/>
            </a:pPr>
            <a:r>
              <a:rPr lang="en-US" sz="1500" dirty="0">
                <a:solidFill>
                  <a:srgbClr val="FFFFFF"/>
                </a:solidFill>
                <a:latin typeface="Calibri" pitchFamily="34" charset="0"/>
                <a:ea typeface="Calibri" pitchFamily="34" charset="-122"/>
                <a:cs typeface="Calibri" pitchFamily="34" charset="-120"/>
              </a:rPr>
              <a:t>international migrants worldwide by 2024 — 3.7% of humanity, and still rising.</a:t>
            </a:r>
            <a:endParaRPr lang="en-US" sz="1500" dirty="0"/>
          </a:p>
        </p:txBody>
      </p:sp>
      <p:sp>
        <p:nvSpPr>
          <p:cNvPr id="8" name="Shape 6"/>
          <p:cNvSpPr/>
          <p:nvPr/>
        </p:nvSpPr>
        <p:spPr>
          <a:xfrm>
            <a:off x="4389120" y="1691640"/>
            <a:ext cx="3520440" cy="3566160"/>
          </a:xfrm>
          <a:prstGeom prst="roundRect">
            <a:avLst>
              <a:gd name="adj" fmla="val 2597"/>
            </a:avLst>
          </a:prstGeom>
          <a:solidFill>
            <a:srgbClr val="1B2A4A">
              <a:alpha val="85000"/>
            </a:srgbClr>
          </a:solidFill>
          <a:ln/>
        </p:spPr>
      </p:sp>
      <p:sp>
        <p:nvSpPr>
          <p:cNvPr id="9" name="Text 7"/>
          <p:cNvSpPr txBox="1"/>
          <p:nvPr/>
        </p:nvSpPr>
        <p:spPr>
          <a:xfrm>
            <a:off x="4617720" y="1965960"/>
            <a:ext cx="3063240" cy="1005840"/>
          </a:xfrm>
          <a:prstGeom prst="rect">
            <a:avLst/>
          </a:prstGeom>
          <a:noFill/>
          <a:ln/>
        </p:spPr>
        <p:txBody>
          <a:bodyPr wrap="square" lIns="0" tIns="0" rIns="0" bIns="0" rtlCol="0" anchor="ctr"/>
          <a:lstStyle/>
          <a:p>
            <a:pPr marL="0" indent="0">
              <a:buNone/>
            </a:pPr>
            <a:r>
              <a:rPr lang="en-US" sz="4600" b="1" dirty="0">
                <a:solidFill>
                  <a:srgbClr val="E8A33D"/>
                </a:solidFill>
                <a:latin typeface="Cambria" pitchFamily="34" charset="0"/>
                <a:ea typeface="Cambria" pitchFamily="34" charset="-122"/>
                <a:cs typeface="Cambria" pitchFamily="34" charset="-120"/>
              </a:rPr>
              <a:t>45%</a:t>
            </a:r>
            <a:endParaRPr lang="en-US" sz="4600" dirty="0"/>
          </a:p>
        </p:txBody>
      </p:sp>
      <p:sp>
        <p:nvSpPr>
          <p:cNvPr id="10" name="Text 8"/>
          <p:cNvSpPr txBox="1"/>
          <p:nvPr/>
        </p:nvSpPr>
        <p:spPr>
          <a:xfrm>
            <a:off x="4617720" y="3063240"/>
            <a:ext cx="3063240" cy="2011680"/>
          </a:xfrm>
          <a:prstGeom prst="rect">
            <a:avLst/>
          </a:prstGeom>
          <a:noFill/>
          <a:ln/>
        </p:spPr>
        <p:txBody>
          <a:bodyPr wrap="square" lIns="0" tIns="0" rIns="0" bIns="0" rtlCol="0" anchor="ctr"/>
          <a:lstStyle/>
          <a:p>
            <a:pPr marL="0" indent="0">
              <a:lnSpc>
                <a:spcPct val="115000"/>
              </a:lnSpc>
              <a:buNone/>
            </a:pPr>
            <a:r>
              <a:rPr lang="en-US" sz="1500" dirty="0">
                <a:solidFill>
                  <a:srgbClr val="FFFFFF"/>
                </a:solidFill>
                <a:latin typeface="Calibri" pitchFamily="34" charset="0"/>
                <a:ea typeface="Calibri" pitchFamily="34" charset="-122"/>
                <a:cs typeface="Calibri" pitchFamily="34" charset="-120"/>
              </a:rPr>
              <a:t>of the global population already lives in cities as of 2025 — more than double the 1950 share.</a:t>
            </a:r>
            <a:endParaRPr lang="en-US" sz="1500" dirty="0"/>
          </a:p>
        </p:txBody>
      </p:sp>
      <p:sp>
        <p:nvSpPr>
          <p:cNvPr id="11" name="Shape 9"/>
          <p:cNvSpPr/>
          <p:nvPr/>
        </p:nvSpPr>
        <p:spPr>
          <a:xfrm>
            <a:off x="8229600" y="1691640"/>
            <a:ext cx="3520440" cy="3566160"/>
          </a:xfrm>
          <a:prstGeom prst="roundRect">
            <a:avLst>
              <a:gd name="adj" fmla="val 2597"/>
            </a:avLst>
          </a:prstGeom>
          <a:solidFill>
            <a:srgbClr val="1B2A4A">
              <a:alpha val="85000"/>
            </a:srgbClr>
          </a:solidFill>
          <a:ln/>
        </p:spPr>
      </p:sp>
      <p:sp>
        <p:nvSpPr>
          <p:cNvPr id="12" name="Text 10"/>
          <p:cNvSpPr txBox="1"/>
          <p:nvPr/>
        </p:nvSpPr>
        <p:spPr>
          <a:xfrm>
            <a:off x="8458200" y="1965960"/>
            <a:ext cx="3063240" cy="1005840"/>
          </a:xfrm>
          <a:prstGeom prst="rect">
            <a:avLst/>
          </a:prstGeom>
          <a:noFill/>
          <a:ln/>
        </p:spPr>
        <p:txBody>
          <a:bodyPr wrap="square" lIns="0" tIns="0" rIns="0" bIns="0" rtlCol="0" anchor="ctr"/>
          <a:lstStyle/>
          <a:p>
            <a:pPr marL="0" indent="0">
              <a:buNone/>
            </a:pPr>
            <a:r>
              <a:rPr lang="en-US" sz="4600" b="1" dirty="0">
                <a:solidFill>
                  <a:srgbClr val="E8A33D"/>
                </a:solidFill>
                <a:latin typeface="Cambria" pitchFamily="34" charset="0"/>
                <a:ea typeface="Cambria" pitchFamily="34" charset="-122"/>
                <a:cs typeface="Cambria" pitchFamily="34" charset="-120"/>
              </a:rPr>
              <a:t>83.4M</a:t>
            </a:r>
            <a:endParaRPr lang="en-US" sz="4600" dirty="0"/>
          </a:p>
        </p:txBody>
      </p:sp>
      <p:sp>
        <p:nvSpPr>
          <p:cNvPr id="13" name="Text 11"/>
          <p:cNvSpPr txBox="1"/>
          <p:nvPr/>
        </p:nvSpPr>
        <p:spPr>
          <a:xfrm>
            <a:off x="8458200" y="3063240"/>
            <a:ext cx="3063240" cy="2011680"/>
          </a:xfrm>
          <a:prstGeom prst="rect">
            <a:avLst/>
          </a:prstGeom>
          <a:noFill/>
          <a:ln/>
        </p:spPr>
        <p:txBody>
          <a:bodyPr wrap="square" lIns="0" tIns="0" rIns="0" bIns="0" rtlCol="0" anchor="ctr"/>
          <a:lstStyle/>
          <a:p>
            <a:pPr marL="0" indent="0">
              <a:lnSpc>
                <a:spcPct val="115000"/>
              </a:lnSpc>
              <a:buNone/>
            </a:pPr>
            <a:r>
              <a:rPr lang="en-US" sz="1500" dirty="0">
                <a:solidFill>
                  <a:srgbClr val="FFFFFF"/>
                </a:solidFill>
                <a:latin typeface="Calibri" pitchFamily="34" charset="0"/>
                <a:ea typeface="Calibri" pitchFamily="34" charset="-122"/>
                <a:cs typeface="Calibri" pitchFamily="34" charset="-120"/>
              </a:rPr>
              <a:t>people living in internal displacement at end-2024 — a record, driving demand for faster, digital ways to track mobility.</a:t>
            </a:r>
            <a:endParaRPr lang="en-US" sz="1500" dirty="0"/>
          </a:p>
        </p:txBody>
      </p:sp>
      <p:sp>
        <p:nvSpPr>
          <p:cNvPr id="14" name="Text 12"/>
          <p:cNvSpPr txBox="1"/>
          <p:nvPr/>
        </p:nvSpPr>
        <p:spPr>
          <a:xfrm>
            <a:off x="548640" y="5532120"/>
            <a:ext cx="11064240" cy="384048"/>
          </a:xfrm>
          <a:prstGeom prst="rect">
            <a:avLst/>
          </a:prstGeom>
          <a:noFill/>
          <a:ln/>
        </p:spPr>
        <p:txBody>
          <a:bodyPr wrap="square" lIns="0" tIns="0" rIns="0" bIns="0" rtlCol="0" anchor="ctr"/>
          <a:lstStyle/>
          <a:p>
            <a:pPr marL="0" indent="0">
              <a:buNone/>
            </a:pPr>
            <a:r>
              <a:rPr lang="en-US" sz="1050" i="1" dirty="0">
                <a:solidFill>
                  <a:srgbClr val="C9D6E8"/>
                </a:solidFill>
                <a:latin typeface="Calibri" pitchFamily="34" charset="0"/>
                <a:ea typeface="Calibri" pitchFamily="34" charset="-122"/>
                <a:cs typeface="Calibri" pitchFamily="34" charset="-120"/>
              </a:rPr>
              <a:t>Sources: IOM (2024), World Migration Report 2024; UN DESA (2025), World Urbanization Prospects 2025; IDMC (2025), Global Report on Internal Displacement.</a:t>
            </a:r>
            <a:endParaRPr lang="en-US" sz="1050" dirty="0"/>
          </a:p>
        </p:txBody>
      </p:sp>
      <p:sp>
        <p:nvSpPr>
          <p:cNvPr id="15" name="Text 13"/>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C9D6E8"/>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16" name="Text 14"/>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C9D6E8"/>
                </a:solidFill>
                <a:latin typeface="Calibri" pitchFamily="34" charset="0"/>
                <a:ea typeface="Calibri" pitchFamily="34" charset="-122"/>
                <a:cs typeface="Calibri" pitchFamily="34" charset="-120"/>
              </a:rPr>
              <a:t>4 / 57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D33"/>
        </a:solidFill>
        <a:effectLst/>
      </p:bgPr>
    </p:bg>
    <p:spTree>
      <p:nvGrpSpPr>
        <p:cNvPr id="1" name=""/>
        <p:cNvGrpSpPr/>
        <p:nvPr/>
      </p:nvGrpSpPr>
      <p:grpSpPr>
        <a:xfrm>
          <a:off x="0" y="0"/>
          <a:ext cx="0" cy="0"/>
          <a:chOff x="0" y="0"/>
          <a:chExt cx="0" cy="0"/>
        </a:xfrm>
      </p:grpSpPr>
      <p:sp>
        <p:nvSpPr>
          <p:cNvPr id="2" name="Shape 0"/>
          <p:cNvSpPr/>
          <p:nvPr/>
        </p:nvSpPr>
        <p:spPr>
          <a:xfrm>
            <a:off x="8046720" y="2011680"/>
            <a:ext cx="6400800" cy="6400800"/>
          </a:xfrm>
          <a:prstGeom prst="ellipse">
            <a:avLst/>
          </a:prstGeom>
          <a:solidFill>
            <a:srgbClr val="1B2A4A">
              <a:alpha val="55000"/>
            </a:srgbClr>
          </a:solidFill>
          <a:ln/>
        </p:spPr>
      </p:sp>
      <p:sp>
        <p:nvSpPr>
          <p:cNvPr id="3" name="Shape 1"/>
          <p:cNvSpPr/>
          <p:nvPr/>
        </p:nvSpPr>
        <p:spPr>
          <a:xfrm>
            <a:off x="685800" y="2331720"/>
            <a:ext cx="1371600" cy="1371600"/>
          </a:xfrm>
          <a:prstGeom prst="ellipse">
            <a:avLst/>
          </a:prstGeom>
          <a:solidFill>
            <a:srgbClr val="0E7C7B"/>
          </a:solidFill>
          <a:ln/>
        </p:spPr>
      </p:sp>
      <p:pic>
        <p:nvPicPr>
          <p:cNvPr id="4" name="Image 0" descr="/sessions/blissful-modest-newton/mnt/outputs/scratch/build/icons/arrows.png"/>
          <p:cNvPicPr>
            <a:picLocks noChangeAspect="1"/>
          </p:cNvPicPr>
          <p:nvPr/>
        </p:nvPicPr>
        <p:blipFill>
          <a:blip r:embed="rId3"/>
          <a:stretch>
            <a:fillRect/>
          </a:stretch>
        </p:blipFill>
        <p:spPr>
          <a:xfrm>
            <a:off x="973836" y="2619756"/>
            <a:ext cx="795528" cy="795528"/>
          </a:xfrm>
          <a:prstGeom prst="rect">
            <a:avLst/>
          </a:prstGeom>
        </p:spPr>
      </p:pic>
      <p:sp>
        <p:nvSpPr>
          <p:cNvPr id="5" name="Text 2"/>
          <p:cNvSpPr txBox="1"/>
          <p:nvPr/>
        </p:nvSpPr>
        <p:spPr>
          <a:xfrm>
            <a:off x="685800" y="3840480"/>
            <a:ext cx="9144000" cy="365760"/>
          </a:xfrm>
          <a:prstGeom prst="rect">
            <a:avLst/>
          </a:prstGeom>
          <a:noFill/>
          <a:ln/>
        </p:spPr>
        <p:txBody>
          <a:bodyPr wrap="square" lIns="0" tIns="0" rIns="0" bIns="0" rtlCol="0" anchor="ctr"/>
          <a:lstStyle/>
          <a:p>
            <a:pPr marL="0" indent="0">
              <a:buNone/>
            </a:pPr>
            <a:r>
              <a:rPr lang="en-US" sz="1500" b="1" kern="0" spc="200" dirty="0">
                <a:solidFill>
                  <a:srgbClr val="E8A33D"/>
                </a:solidFill>
                <a:latin typeface="Calibri" pitchFamily="34" charset="0"/>
                <a:ea typeface="Calibri" pitchFamily="34" charset="-122"/>
                <a:cs typeface="Calibri" pitchFamily="34" charset="-120"/>
              </a:rPr>
              <a:t>BLOCK 1</a:t>
            </a:r>
            <a:endParaRPr lang="en-US" sz="1500" dirty="0"/>
          </a:p>
        </p:txBody>
      </p:sp>
      <p:sp>
        <p:nvSpPr>
          <p:cNvPr id="6" name="Text 3"/>
          <p:cNvSpPr txBox="1"/>
          <p:nvPr/>
        </p:nvSpPr>
        <p:spPr>
          <a:xfrm>
            <a:off x="685800" y="4187952"/>
            <a:ext cx="10058400" cy="11887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Defining and Measuring Migration</a:t>
            </a:r>
            <a:endParaRPr lang="en-US" sz="3400" dirty="0"/>
          </a:p>
        </p:txBody>
      </p:sp>
      <p:sp>
        <p:nvSpPr>
          <p:cNvPr id="7" name="Text 4"/>
          <p:cNvSpPr txBox="1"/>
          <p:nvPr/>
        </p:nvSpPr>
        <p:spPr>
          <a:xfrm>
            <a:off x="685800" y="5349240"/>
            <a:ext cx="9875520" cy="822960"/>
          </a:xfrm>
          <a:prstGeom prst="rect">
            <a:avLst/>
          </a:prstGeom>
          <a:noFill/>
          <a:ln/>
        </p:spPr>
        <p:txBody>
          <a:bodyPr wrap="square" lIns="0" tIns="0" rIns="0" bIns="0" rtlCol="0" anchor="ctr"/>
          <a:lstStyle/>
          <a:p>
            <a:pPr marL="0" indent="0">
              <a:buNone/>
            </a:pPr>
            <a:r>
              <a:rPr lang="en-US" sz="1500" i="1" dirty="0">
                <a:solidFill>
                  <a:srgbClr val="C9D6E8"/>
                </a:solidFill>
                <a:latin typeface="Calibri" pitchFamily="34" charset="0"/>
                <a:ea typeface="Calibri" pitchFamily="34" charset="-122"/>
                <a:cs typeface="Calibri" pitchFamily="34" charset="-120"/>
              </a:rPr>
              <a:t>The vocabulary and formulas demographers use to describe who moves, where, and how much.</a:t>
            </a:r>
            <a:endParaRPr lang="en-US" sz="1500" dirty="0"/>
          </a:p>
        </p:txBody>
      </p:sp>
      <p:sp>
        <p:nvSpPr>
          <p:cNvPr id="8" name="Text 5"/>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C9D6E8"/>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9" name="Text 6"/>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C9D6E8"/>
                </a:solidFill>
                <a:latin typeface="Calibri" pitchFamily="34" charset="0"/>
                <a:ea typeface="Calibri" pitchFamily="34" charset="-122"/>
                <a:cs typeface="Calibri" pitchFamily="34" charset="-120"/>
              </a:rPr>
              <a:t>5 / 57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CORE DEFINITIONS</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What Counts as “Migration”?</a:t>
            </a:r>
            <a:endParaRPr lang="en-US" sz="2900" dirty="0"/>
          </a:p>
        </p:txBody>
      </p:sp>
      <p:sp>
        <p:nvSpPr>
          <p:cNvPr id="4" name="Shape 2"/>
          <p:cNvSpPr/>
          <p:nvPr/>
        </p:nvSpPr>
        <p:spPr>
          <a:xfrm>
            <a:off x="502920" y="1554480"/>
            <a:ext cx="5440680" cy="2103120"/>
          </a:xfrm>
          <a:prstGeom prst="roundRect">
            <a:avLst>
              <a:gd name="adj" fmla="val 3913"/>
            </a:avLst>
          </a:prstGeom>
          <a:solidFill>
            <a:srgbClr val="F3F6FA"/>
          </a:solidFill>
          <a:ln/>
        </p:spPr>
      </p:sp>
      <p:sp>
        <p:nvSpPr>
          <p:cNvPr id="5" name="Shape 3"/>
          <p:cNvSpPr/>
          <p:nvPr/>
        </p:nvSpPr>
        <p:spPr>
          <a:xfrm>
            <a:off x="731520" y="1783080"/>
            <a:ext cx="658368" cy="658368"/>
          </a:xfrm>
          <a:prstGeom prst="ellipse">
            <a:avLst/>
          </a:prstGeom>
          <a:solidFill>
            <a:srgbClr val="1B2A4A"/>
          </a:solidFill>
          <a:ln/>
        </p:spPr>
      </p:sp>
      <p:pic>
        <p:nvPicPr>
          <p:cNvPr id="6" name="Image 0" descr="/sessions/blissful-modest-newton/mnt/outputs/scratch/build/icons/arrows.png"/>
          <p:cNvPicPr>
            <a:picLocks noChangeAspect="1"/>
          </p:cNvPicPr>
          <p:nvPr/>
        </p:nvPicPr>
        <p:blipFill>
          <a:blip r:embed="rId3"/>
          <a:stretch>
            <a:fillRect/>
          </a:stretch>
        </p:blipFill>
        <p:spPr>
          <a:xfrm>
            <a:off x="876361" y="1927921"/>
            <a:ext cx="368686" cy="368686"/>
          </a:xfrm>
          <a:prstGeom prst="rect">
            <a:avLst/>
          </a:prstGeom>
        </p:spPr>
      </p:pic>
      <p:sp>
        <p:nvSpPr>
          <p:cNvPr id="7" name="Text 4"/>
          <p:cNvSpPr txBox="1"/>
          <p:nvPr/>
        </p:nvSpPr>
        <p:spPr>
          <a:xfrm>
            <a:off x="1508760" y="1719072"/>
            <a:ext cx="4251960" cy="45720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Migration</a:t>
            </a:r>
            <a:endParaRPr lang="en-US" sz="1600" dirty="0"/>
          </a:p>
        </p:txBody>
      </p:sp>
      <p:sp>
        <p:nvSpPr>
          <p:cNvPr id="8" name="Text 5"/>
          <p:cNvSpPr txBox="1"/>
          <p:nvPr/>
        </p:nvSpPr>
        <p:spPr>
          <a:xfrm>
            <a:off x="731520" y="2331720"/>
            <a:ext cx="4983480" cy="11887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A change of usual residence across a defined boundary (a district, region, or international border), typically for a minimum duration (e.g., ≥ 1 year).</a:t>
            </a:r>
            <a:endParaRPr lang="en-US" sz="1250" dirty="0"/>
          </a:p>
        </p:txBody>
      </p:sp>
      <p:sp>
        <p:nvSpPr>
          <p:cNvPr id="9" name="Shape 6"/>
          <p:cNvSpPr/>
          <p:nvPr/>
        </p:nvSpPr>
        <p:spPr>
          <a:xfrm>
            <a:off x="6263640" y="1554480"/>
            <a:ext cx="5440680" cy="2103120"/>
          </a:xfrm>
          <a:prstGeom prst="roundRect">
            <a:avLst>
              <a:gd name="adj" fmla="val 3913"/>
            </a:avLst>
          </a:prstGeom>
          <a:solidFill>
            <a:srgbClr val="E7EEF7"/>
          </a:solidFill>
          <a:ln/>
        </p:spPr>
      </p:sp>
      <p:sp>
        <p:nvSpPr>
          <p:cNvPr id="10" name="Shape 7"/>
          <p:cNvSpPr/>
          <p:nvPr/>
        </p:nvSpPr>
        <p:spPr>
          <a:xfrm>
            <a:off x="6492240" y="1783080"/>
            <a:ext cx="658368" cy="658368"/>
          </a:xfrm>
          <a:prstGeom prst="ellipse">
            <a:avLst/>
          </a:prstGeom>
          <a:solidFill>
            <a:srgbClr val="0E7C7B"/>
          </a:solidFill>
          <a:ln/>
        </p:spPr>
      </p:sp>
      <p:pic>
        <p:nvPicPr>
          <p:cNvPr id="11" name="Image 1" descr="/sessions/blissful-modest-newton/mnt/outputs/scratch/build/icons/house.png"/>
          <p:cNvPicPr>
            <a:picLocks noChangeAspect="1"/>
          </p:cNvPicPr>
          <p:nvPr/>
        </p:nvPicPr>
        <p:blipFill>
          <a:blip r:embed="rId4"/>
          <a:stretch>
            <a:fillRect/>
          </a:stretch>
        </p:blipFill>
        <p:spPr>
          <a:xfrm>
            <a:off x="6637081" y="1927921"/>
            <a:ext cx="368686" cy="368686"/>
          </a:xfrm>
          <a:prstGeom prst="rect">
            <a:avLst/>
          </a:prstGeom>
        </p:spPr>
      </p:pic>
      <p:sp>
        <p:nvSpPr>
          <p:cNvPr id="12" name="Text 8"/>
          <p:cNvSpPr txBox="1"/>
          <p:nvPr/>
        </p:nvSpPr>
        <p:spPr>
          <a:xfrm>
            <a:off x="7269480" y="1719072"/>
            <a:ext cx="4251960" cy="457200"/>
          </a:xfrm>
          <a:prstGeom prst="rect">
            <a:avLst/>
          </a:prstGeom>
          <a:noFill/>
          <a:ln/>
        </p:spPr>
        <p:txBody>
          <a:bodyPr wrap="square" lIns="0" tIns="0" rIns="0" bIns="0" rtlCol="0" anchor="ctr"/>
          <a:lstStyle/>
          <a:p>
            <a:pPr marL="0" indent="0">
              <a:buNone/>
            </a:pPr>
            <a:r>
              <a:rPr lang="en-US" sz="1600" b="1" dirty="0">
                <a:solidFill>
                  <a:srgbClr val="0E7C7B"/>
                </a:solidFill>
                <a:latin typeface="Cambria" pitchFamily="34" charset="0"/>
                <a:ea typeface="Cambria" pitchFamily="34" charset="-122"/>
                <a:cs typeface="Cambria" pitchFamily="34" charset="-120"/>
              </a:rPr>
              <a:t>Change of Residence</a:t>
            </a:r>
            <a:endParaRPr lang="en-US" sz="1600" dirty="0"/>
          </a:p>
        </p:txBody>
      </p:sp>
      <p:sp>
        <p:nvSpPr>
          <p:cNvPr id="13" name="Text 9"/>
          <p:cNvSpPr txBox="1"/>
          <p:nvPr/>
        </p:nvSpPr>
        <p:spPr>
          <a:xfrm>
            <a:off x="6492240" y="2331720"/>
            <a:ext cx="4983480" cy="11887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The broader event — moving one's usual dwelling — of which migration is the subset that crosses a specified boundary.</a:t>
            </a:r>
            <a:endParaRPr lang="en-US" sz="1250" dirty="0"/>
          </a:p>
        </p:txBody>
      </p:sp>
      <p:sp>
        <p:nvSpPr>
          <p:cNvPr id="14" name="Shape 10"/>
          <p:cNvSpPr/>
          <p:nvPr/>
        </p:nvSpPr>
        <p:spPr>
          <a:xfrm>
            <a:off x="502920" y="3913632"/>
            <a:ext cx="5440680" cy="2103120"/>
          </a:xfrm>
          <a:prstGeom prst="roundRect">
            <a:avLst>
              <a:gd name="adj" fmla="val 3913"/>
            </a:avLst>
          </a:prstGeom>
          <a:solidFill>
            <a:srgbClr val="F3F6FA"/>
          </a:solidFill>
          <a:ln/>
        </p:spPr>
      </p:sp>
      <p:sp>
        <p:nvSpPr>
          <p:cNvPr id="15" name="Shape 11"/>
          <p:cNvSpPr/>
          <p:nvPr/>
        </p:nvSpPr>
        <p:spPr>
          <a:xfrm>
            <a:off x="731520" y="4142232"/>
            <a:ext cx="658368" cy="658368"/>
          </a:xfrm>
          <a:prstGeom prst="ellipse">
            <a:avLst/>
          </a:prstGeom>
          <a:solidFill>
            <a:srgbClr val="1B2A4A"/>
          </a:solidFill>
          <a:ln/>
        </p:spPr>
      </p:sp>
      <p:pic>
        <p:nvPicPr>
          <p:cNvPr id="16" name="Image 2" descr="/sessions/blissful-modest-newton/mnt/outputs/scratch/build/icons/plane.png"/>
          <p:cNvPicPr>
            <a:picLocks noChangeAspect="1"/>
          </p:cNvPicPr>
          <p:nvPr/>
        </p:nvPicPr>
        <p:blipFill>
          <a:blip r:embed="rId5"/>
          <a:stretch>
            <a:fillRect/>
          </a:stretch>
        </p:blipFill>
        <p:spPr>
          <a:xfrm>
            <a:off x="876361" y="4287073"/>
            <a:ext cx="368686" cy="368686"/>
          </a:xfrm>
          <a:prstGeom prst="rect">
            <a:avLst/>
          </a:prstGeom>
        </p:spPr>
      </p:pic>
      <p:sp>
        <p:nvSpPr>
          <p:cNvPr id="17" name="Text 12"/>
          <p:cNvSpPr txBox="1"/>
          <p:nvPr/>
        </p:nvSpPr>
        <p:spPr>
          <a:xfrm>
            <a:off x="1508760" y="4078224"/>
            <a:ext cx="4251960" cy="45720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Emigration</a:t>
            </a:r>
            <a:endParaRPr lang="en-US" sz="1600" dirty="0"/>
          </a:p>
        </p:txBody>
      </p:sp>
      <p:sp>
        <p:nvSpPr>
          <p:cNvPr id="18" name="Text 13"/>
          <p:cNvSpPr txBox="1"/>
          <p:nvPr/>
        </p:nvSpPr>
        <p:spPr>
          <a:xfrm>
            <a:off x="731520" y="4690872"/>
            <a:ext cx="4983480" cy="11887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Departure from one's country of usual residence to settle (temporarily or permanently) elsewhere.</a:t>
            </a:r>
            <a:endParaRPr lang="en-US" sz="1250" dirty="0"/>
          </a:p>
        </p:txBody>
      </p:sp>
      <p:sp>
        <p:nvSpPr>
          <p:cNvPr id="19" name="Shape 14"/>
          <p:cNvSpPr/>
          <p:nvPr/>
        </p:nvSpPr>
        <p:spPr>
          <a:xfrm>
            <a:off x="6263640" y="3913632"/>
            <a:ext cx="5440680" cy="2103120"/>
          </a:xfrm>
          <a:prstGeom prst="roundRect">
            <a:avLst>
              <a:gd name="adj" fmla="val 3913"/>
            </a:avLst>
          </a:prstGeom>
          <a:solidFill>
            <a:srgbClr val="E7EEF7"/>
          </a:solidFill>
          <a:ln/>
        </p:spPr>
      </p:sp>
      <p:sp>
        <p:nvSpPr>
          <p:cNvPr id="20" name="Shape 15"/>
          <p:cNvSpPr/>
          <p:nvPr/>
        </p:nvSpPr>
        <p:spPr>
          <a:xfrm>
            <a:off x="6492240" y="4142232"/>
            <a:ext cx="658368" cy="658368"/>
          </a:xfrm>
          <a:prstGeom prst="ellipse">
            <a:avLst/>
          </a:prstGeom>
          <a:solidFill>
            <a:srgbClr val="0E7C7B"/>
          </a:solidFill>
          <a:ln/>
        </p:spPr>
      </p:sp>
      <p:pic>
        <p:nvPicPr>
          <p:cNvPr id="21" name="Image 3" descr="/sessions/blissful-modest-newton/mnt/outputs/scratch/build/icons/pin.png"/>
          <p:cNvPicPr>
            <a:picLocks noChangeAspect="1"/>
          </p:cNvPicPr>
          <p:nvPr/>
        </p:nvPicPr>
        <p:blipFill>
          <a:blip r:embed="rId6"/>
          <a:stretch>
            <a:fillRect/>
          </a:stretch>
        </p:blipFill>
        <p:spPr>
          <a:xfrm>
            <a:off x="6637081" y="4287073"/>
            <a:ext cx="368686" cy="368686"/>
          </a:xfrm>
          <a:prstGeom prst="rect">
            <a:avLst/>
          </a:prstGeom>
        </p:spPr>
      </p:pic>
      <p:sp>
        <p:nvSpPr>
          <p:cNvPr id="22" name="Text 16"/>
          <p:cNvSpPr txBox="1"/>
          <p:nvPr/>
        </p:nvSpPr>
        <p:spPr>
          <a:xfrm>
            <a:off x="7269480" y="4078224"/>
            <a:ext cx="4251960" cy="457200"/>
          </a:xfrm>
          <a:prstGeom prst="rect">
            <a:avLst/>
          </a:prstGeom>
          <a:noFill/>
          <a:ln/>
        </p:spPr>
        <p:txBody>
          <a:bodyPr wrap="square" lIns="0" tIns="0" rIns="0" bIns="0" rtlCol="0" anchor="ctr"/>
          <a:lstStyle/>
          <a:p>
            <a:pPr marL="0" indent="0">
              <a:buNone/>
            </a:pPr>
            <a:r>
              <a:rPr lang="en-US" sz="1600" b="1" dirty="0">
                <a:solidFill>
                  <a:srgbClr val="0E7C7B"/>
                </a:solidFill>
                <a:latin typeface="Cambria" pitchFamily="34" charset="0"/>
                <a:ea typeface="Cambria" pitchFamily="34" charset="-122"/>
                <a:cs typeface="Cambria" pitchFamily="34" charset="-120"/>
              </a:rPr>
              <a:t>Immigration</a:t>
            </a:r>
            <a:endParaRPr lang="en-US" sz="1600" dirty="0"/>
          </a:p>
        </p:txBody>
      </p:sp>
      <p:sp>
        <p:nvSpPr>
          <p:cNvPr id="23" name="Text 17"/>
          <p:cNvSpPr txBox="1"/>
          <p:nvPr/>
        </p:nvSpPr>
        <p:spPr>
          <a:xfrm>
            <a:off x="6492240" y="4690872"/>
            <a:ext cx="4983480" cy="11887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Arrival into a country to take up usual residence, from the perspective of the receiving country.</a:t>
            </a:r>
            <a:endParaRPr lang="en-US" sz="1250" dirty="0"/>
          </a:p>
        </p:txBody>
      </p:sp>
      <p:sp>
        <p:nvSpPr>
          <p:cNvPr id="24" name="Text 18"/>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25" name="Text 19"/>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6 / 57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DIRECTIONAL DEFINITIONS</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Emigration and Immigration Are Two Ends of One Move</a:t>
            </a:r>
            <a:endParaRPr lang="en-US" sz="2900" dirty="0"/>
          </a:p>
        </p:txBody>
      </p:sp>
      <p:sp>
        <p:nvSpPr>
          <p:cNvPr id="4" name="Shape 2"/>
          <p:cNvSpPr/>
          <p:nvPr/>
        </p:nvSpPr>
        <p:spPr>
          <a:xfrm>
            <a:off x="502920" y="1554480"/>
            <a:ext cx="5349240" cy="4343400"/>
          </a:xfrm>
          <a:prstGeom prst="roundRect">
            <a:avLst>
              <a:gd name="adj" fmla="val 2105"/>
            </a:avLst>
          </a:prstGeom>
          <a:solidFill>
            <a:srgbClr val="F3F6FA"/>
          </a:solidFill>
          <a:ln/>
        </p:spPr>
      </p:sp>
      <p:sp>
        <p:nvSpPr>
          <p:cNvPr id="5" name="Shape 3"/>
          <p:cNvSpPr/>
          <p:nvPr/>
        </p:nvSpPr>
        <p:spPr>
          <a:xfrm>
            <a:off x="822960" y="1783080"/>
            <a:ext cx="822960" cy="822960"/>
          </a:xfrm>
          <a:prstGeom prst="ellipse">
            <a:avLst/>
          </a:prstGeom>
          <a:solidFill>
            <a:srgbClr val="1B2A4A"/>
          </a:solidFill>
          <a:ln/>
        </p:spPr>
      </p:sp>
      <p:pic>
        <p:nvPicPr>
          <p:cNvPr id="6" name="Image 0" descr="/sessions/blissful-modest-newton/mnt/outputs/scratch/build/icons/plane.png"/>
          <p:cNvPicPr>
            <a:picLocks noChangeAspect="1"/>
          </p:cNvPicPr>
          <p:nvPr/>
        </p:nvPicPr>
        <p:blipFill>
          <a:blip r:embed="rId3"/>
          <a:stretch>
            <a:fillRect/>
          </a:stretch>
        </p:blipFill>
        <p:spPr>
          <a:xfrm>
            <a:off x="1004011" y="1964131"/>
            <a:ext cx="460858" cy="460858"/>
          </a:xfrm>
          <a:prstGeom prst="rect">
            <a:avLst/>
          </a:prstGeom>
        </p:spPr>
      </p:pic>
      <p:sp>
        <p:nvSpPr>
          <p:cNvPr id="7" name="Text 4"/>
          <p:cNvSpPr txBox="1"/>
          <p:nvPr/>
        </p:nvSpPr>
        <p:spPr>
          <a:xfrm>
            <a:off x="1828800" y="1783080"/>
            <a:ext cx="3840480" cy="548640"/>
          </a:xfrm>
          <a:prstGeom prst="rect">
            <a:avLst/>
          </a:prstGeom>
          <a:noFill/>
          <a:ln/>
        </p:spPr>
        <p:txBody>
          <a:bodyPr wrap="square" lIns="0" tIns="0" rIns="0" bIns="0" rtlCol="0" anchor="ctr"/>
          <a:lstStyle/>
          <a:p>
            <a:pPr marL="0" indent="0">
              <a:buNone/>
            </a:pPr>
            <a:r>
              <a:rPr lang="en-US" sz="1900" b="1" dirty="0">
                <a:solidFill>
                  <a:srgbClr val="1B2A4A"/>
                </a:solidFill>
                <a:latin typeface="Cambria" pitchFamily="34" charset="0"/>
                <a:ea typeface="Cambria" pitchFamily="34" charset="-122"/>
                <a:cs typeface="Cambria" pitchFamily="34" charset="-120"/>
              </a:rPr>
              <a:t>ORIGIN COUNTRY</a:t>
            </a:r>
            <a:endParaRPr lang="en-US" sz="1900" dirty="0"/>
          </a:p>
        </p:txBody>
      </p:sp>
      <p:sp>
        <p:nvSpPr>
          <p:cNvPr id="8" name="Text 5"/>
          <p:cNvSpPr txBox="1"/>
          <p:nvPr/>
        </p:nvSpPr>
        <p:spPr>
          <a:xfrm>
            <a:off x="868680" y="2697480"/>
            <a:ext cx="4617720" cy="3017520"/>
          </a:xfrm>
          <a:prstGeom prst="rect">
            <a:avLst/>
          </a:prstGeom>
          <a:noFill/>
          <a:ln/>
        </p:spPr>
        <p:txBody>
          <a:bodyPr wrap="square" lIns="0" tIns="0" rIns="0" bIns="0" rtlCol="0" anchor="ctr"/>
          <a:lstStyle/>
          <a:p>
            <a:pPr marL="0" indent="0">
              <a:lnSpc>
                <a:spcPct val="115000"/>
              </a:lnSpc>
              <a:buNone/>
            </a:pPr>
            <a:r>
              <a:rPr lang="en-US" sz="1400" dirty="0">
                <a:solidFill>
                  <a:srgbClr val="17233A"/>
                </a:solidFill>
                <a:latin typeface="Calibri" pitchFamily="34" charset="0"/>
                <a:ea typeface="Calibri" pitchFamily="34" charset="-122"/>
                <a:cs typeface="Calibri" pitchFamily="34" charset="-120"/>
              </a:rPr>
              <a:t>This move counts as EMIGRATION here — a departure recorded by the sending country's statistical system.</a:t>
            </a:r>
            <a:endParaRPr lang="en-US" sz="1400" dirty="0"/>
          </a:p>
        </p:txBody>
      </p:sp>
      <p:sp>
        <p:nvSpPr>
          <p:cNvPr id="9" name="Shape 6"/>
          <p:cNvSpPr/>
          <p:nvPr/>
        </p:nvSpPr>
        <p:spPr>
          <a:xfrm>
            <a:off x="6126480" y="1554480"/>
            <a:ext cx="5349240" cy="4343400"/>
          </a:xfrm>
          <a:prstGeom prst="roundRect">
            <a:avLst>
              <a:gd name="adj" fmla="val 2105"/>
            </a:avLst>
          </a:prstGeom>
          <a:solidFill>
            <a:srgbClr val="E7EEF7"/>
          </a:solidFill>
          <a:ln/>
        </p:spPr>
      </p:sp>
      <p:sp>
        <p:nvSpPr>
          <p:cNvPr id="10" name="Shape 7"/>
          <p:cNvSpPr/>
          <p:nvPr/>
        </p:nvSpPr>
        <p:spPr>
          <a:xfrm>
            <a:off x="6446520" y="1783080"/>
            <a:ext cx="822960" cy="822960"/>
          </a:xfrm>
          <a:prstGeom prst="ellipse">
            <a:avLst/>
          </a:prstGeom>
          <a:solidFill>
            <a:srgbClr val="0E7C7B"/>
          </a:solidFill>
          <a:ln/>
        </p:spPr>
      </p:sp>
      <p:pic>
        <p:nvPicPr>
          <p:cNvPr id="11" name="Image 1" descr="/sessions/blissful-modest-newton/mnt/outputs/scratch/build/icons/pin.png"/>
          <p:cNvPicPr>
            <a:picLocks noChangeAspect="1"/>
          </p:cNvPicPr>
          <p:nvPr/>
        </p:nvPicPr>
        <p:blipFill>
          <a:blip r:embed="rId4"/>
          <a:stretch>
            <a:fillRect/>
          </a:stretch>
        </p:blipFill>
        <p:spPr>
          <a:xfrm>
            <a:off x="6627571" y="1964131"/>
            <a:ext cx="460858" cy="460858"/>
          </a:xfrm>
          <a:prstGeom prst="rect">
            <a:avLst/>
          </a:prstGeom>
        </p:spPr>
      </p:pic>
      <p:sp>
        <p:nvSpPr>
          <p:cNvPr id="12" name="Text 8"/>
          <p:cNvSpPr txBox="1"/>
          <p:nvPr/>
        </p:nvSpPr>
        <p:spPr>
          <a:xfrm>
            <a:off x="7452360" y="1783080"/>
            <a:ext cx="3840480" cy="548640"/>
          </a:xfrm>
          <a:prstGeom prst="rect">
            <a:avLst/>
          </a:prstGeom>
          <a:noFill/>
          <a:ln/>
        </p:spPr>
        <p:txBody>
          <a:bodyPr wrap="square" lIns="0" tIns="0" rIns="0" bIns="0" rtlCol="0" anchor="ctr"/>
          <a:lstStyle/>
          <a:p>
            <a:pPr marL="0" indent="0">
              <a:buNone/>
            </a:pPr>
            <a:r>
              <a:rPr lang="en-US" sz="1900" b="1" dirty="0">
                <a:solidFill>
                  <a:srgbClr val="0E7C7B"/>
                </a:solidFill>
                <a:latin typeface="Cambria" pitchFamily="34" charset="0"/>
                <a:ea typeface="Cambria" pitchFamily="34" charset="-122"/>
                <a:cs typeface="Cambria" pitchFamily="34" charset="-120"/>
              </a:rPr>
              <a:t>DESTINATION COUNTRY</a:t>
            </a:r>
            <a:endParaRPr lang="en-US" sz="1900" dirty="0"/>
          </a:p>
        </p:txBody>
      </p:sp>
      <p:sp>
        <p:nvSpPr>
          <p:cNvPr id="13" name="Text 9"/>
          <p:cNvSpPr txBox="1"/>
          <p:nvPr/>
        </p:nvSpPr>
        <p:spPr>
          <a:xfrm>
            <a:off x="6492240" y="2697480"/>
            <a:ext cx="4617720" cy="3017520"/>
          </a:xfrm>
          <a:prstGeom prst="rect">
            <a:avLst/>
          </a:prstGeom>
          <a:noFill/>
          <a:ln/>
        </p:spPr>
        <p:txBody>
          <a:bodyPr wrap="square" lIns="0" tIns="0" rIns="0" bIns="0" rtlCol="0" anchor="ctr"/>
          <a:lstStyle/>
          <a:p>
            <a:pPr marL="0" indent="0">
              <a:lnSpc>
                <a:spcPct val="115000"/>
              </a:lnSpc>
              <a:buNone/>
            </a:pPr>
            <a:r>
              <a:rPr lang="en-US" sz="1400" dirty="0">
                <a:solidFill>
                  <a:srgbClr val="17233A"/>
                </a:solidFill>
                <a:latin typeface="Calibri" pitchFamily="34" charset="0"/>
                <a:ea typeface="Calibri" pitchFamily="34" charset="-122"/>
                <a:cs typeface="Calibri" pitchFamily="34" charset="-120"/>
              </a:rPr>
              <a:t>This move counts as IMMIGRATION here — an arrival recorded by the receiving country's statistical system.</a:t>
            </a:r>
            <a:endParaRPr lang="en-US" sz="1400" dirty="0"/>
          </a:p>
        </p:txBody>
      </p:sp>
      <p:sp>
        <p:nvSpPr>
          <p:cNvPr id="14" name="Text 10"/>
          <p:cNvSpPr txBox="1"/>
          <p:nvPr/>
        </p:nvSpPr>
        <p:spPr>
          <a:xfrm>
            <a:off x="548640" y="6108192"/>
            <a:ext cx="11064240" cy="384048"/>
          </a:xfrm>
          <a:prstGeom prst="rect">
            <a:avLst/>
          </a:prstGeom>
          <a:noFill/>
          <a:ln/>
        </p:spPr>
        <p:txBody>
          <a:bodyPr wrap="square" lIns="0" tIns="0" rIns="0" bIns="0" rtlCol="0" anchor="ctr"/>
          <a:lstStyle/>
          <a:p>
            <a:pPr marL="0" indent="0">
              <a:buNone/>
            </a:pPr>
            <a:r>
              <a:rPr lang="en-US" sz="1050" i="1" dirty="0">
                <a:solidFill>
                  <a:srgbClr val="5B6B82"/>
                </a:solidFill>
                <a:latin typeface="Calibri" pitchFamily="34" charset="0"/>
                <a:ea typeface="Calibri" pitchFamily="34" charset="-122"/>
                <a:cs typeface="Calibri" pitchFamily="34" charset="-120"/>
              </a:rPr>
              <a:t>The same event is simultaneously one country's emigration and another's immigration — global totals should, in principle, match, but in practice rarely do, due to differing definitions and data lags.</a:t>
            </a:r>
            <a:endParaRPr lang="en-US" sz="1050" dirty="0"/>
          </a:p>
        </p:txBody>
      </p:sp>
      <p:sp>
        <p:nvSpPr>
          <p:cNvPr id="15" name="Text 11"/>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16" name="Text 12"/>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7 / 57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STRUCTURING FLOWS</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Migration Streams and Counterstreams</a:t>
            </a:r>
            <a:endParaRPr lang="en-US" sz="2900" dirty="0"/>
          </a:p>
        </p:txBody>
      </p:sp>
      <p:sp>
        <p:nvSpPr>
          <p:cNvPr id="4" name="Shape 2"/>
          <p:cNvSpPr/>
          <p:nvPr/>
        </p:nvSpPr>
        <p:spPr>
          <a:xfrm>
            <a:off x="502920" y="1554480"/>
            <a:ext cx="5349240" cy="4343400"/>
          </a:xfrm>
          <a:prstGeom prst="roundRect">
            <a:avLst>
              <a:gd name="adj" fmla="val 2105"/>
            </a:avLst>
          </a:prstGeom>
          <a:solidFill>
            <a:srgbClr val="F3F6FA"/>
          </a:solidFill>
          <a:ln/>
        </p:spPr>
      </p:sp>
      <p:sp>
        <p:nvSpPr>
          <p:cNvPr id="5" name="Shape 3"/>
          <p:cNvSpPr/>
          <p:nvPr/>
        </p:nvSpPr>
        <p:spPr>
          <a:xfrm>
            <a:off x="822960" y="1783080"/>
            <a:ext cx="822960" cy="822960"/>
          </a:xfrm>
          <a:prstGeom prst="ellipse">
            <a:avLst/>
          </a:prstGeom>
          <a:solidFill>
            <a:srgbClr val="1B2A4A"/>
          </a:solidFill>
          <a:ln/>
        </p:spPr>
      </p:sp>
      <p:pic>
        <p:nvPicPr>
          <p:cNvPr id="6" name="Image 0" descr="/sessions/blissful-modest-newton/mnt/outputs/scratch/build/icons/arrows.png"/>
          <p:cNvPicPr>
            <a:picLocks noChangeAspect="1"/>
          </p:cNvPicPr>
          <p:nvPr/>
        </p:nvPicPr>
        <p:blipFill>
          <a:blip r:embed="rId3"/>
          <a:stretch>
            <a:fillRect/>
          </a:stretch>
        </p:blipFill>
        <p:spPr>
          <a:xfrm>
            <a:off x="1004011" y="1964131"/>
            <a:ext cx="460858" cy="460858"/>
          </a:xfrm>
          <a:prstGeom prst="rect">
            <a:avLst/>
          </a:prstGeom>
        </p:spPr>
      </p:pic>
      <p:sp>
        <p:nvSpPr>
          <p:cNvPr id="7" name="Text 4"/>
          <p:cNvSpPr txBox="1"/>
          <p:nvPr/>
        </p:nvSpPr>
        <p:spPr>
          <a:xfrm>
            <a:off x="1828800" y="1783080"/>
            <a:ext cx="3840480" cy="548640"/>
          </a:xfrm>
          <a:prstGeom prst="rect">
            <a:avLst/>
          </a:prstGeom>
          <a:noFill/>
          <a:ln/>
        </p:spPr>
        <p:txBody>
          <a:bodyPr wrap="square" lIns="0" tIns="0" rIns="0" bIns="0" rtlCol="0" anchor="ctr"/>
          <a:lstStyle/>
          <a:p>
            <a:pPr marL="0" indent="0">
              <a:buNone/>
            </a:pPr>
            <a:r>
              <a:rPr lang="en-US" sz="1900" b="1" dirty="0">
                <a:solidFill>
                  <a:srgbClr val="1B2A4A"/>
                </a:solidFill>
                <a:latin typeface="Cambria" pitchFamily="34" charset="0"/>
                <a:ea typeface="Cambria" pitchFamily="34" charset="-122"/>
                <a:cs typeface="Cambria" pitchFamily="34" charset="-120"/>
              </a:rPr>
              <a:t>Stream (A → B)</a:t>
            </a:r>
            <a:endParaRPr lang="en-US" sz="1900" dirty="0"/>
          </a:p>
        </p:txBody>
      </p:sp>
      <p:sp>
        <p:nvSpPr>
          <p:cNvPr id="8" name="Text 5"/>
          <p:cNvSpPr txBox="1"/>
          <p:nvPr/>
        </p:nvSpPr>
        <p:spPr>
          <a:xfrm>
            <a:off x="868680" y="2697480"/>
            <a:ext cx="4617720" cy="3017520"/>
          </a:xfrm>
          <a:prstGeom prst="rect">
            <a:avLst/>
          </a:prstGeom>
          <a:noFill/>
          <a:ln/>
        </p:spPr>
        <p:txBody>
          <a:bodyPr wrap="square" lIns="0" tIns="0" rIns="0" bIns="0" rtlCol="0" anchor="ctr"/>
          <a:lstStyle/>
          <a:p>
            <a:pPr marL="0" indent="0">
              <a:lnSpc>
                <a:spcPct val="115000"/>
              </a:lnSpc>
              <a:buNone/>
            </a:pPr>
            <a:r>
              <a:rPr lang="en-US" sz="1400" dirty="0">
                <a:solidFill>
                  <a:srgbClr val="17233A"/>
                </a:solidFill>
                <a:latin typeface="Calibri" pitchFamily="34" charset="0"/>
                <a:ea typeface="Calibri" pitchFamily="34" charset="-122"/>
                <a:cs typeface="Calibri" pitchFamily="34" charset="-120"/>
              </a:rPr>
              <a:t>The larger, dominant flow of migrants moving from origin area A to destination area B in a given period.</a:t>
            </a:r>
            <a:endParaRPr lang="en-US" sz="1400" dirty="0"/>
          </a:p>
        </p:txBody>
      </p:sp>
      <p:sp>
        <p:nvSpPr>
          <p:cNvPr id="9" name="Shape 6"/>
          <p:cNvSpPr/>
          <p:nvPr/>
        </p:nvSpPr>
        <p:spPr>
          <a:xfrm>
            <a:off x="6126480" y="1554480"/>
            <a:ext cx="5349240" cy="4343400"/>
          </a:xfrm>
          <a:prstGeom prst="roundRect">
            <a:avLst>
              <a:gd name="adj" fmla="val 2105"/>
            </a:avLst>
          </a:prstGeom>
          <a:solidFill>
            <a:srgbClr val="E7EEF7"/>
          </a:solidFill>
          <a:ln/>
        </p:spPr>
      </p:sp>
      <p:sp>
        <p:nvSpPr>
          <p:cNvPr id="10" name="Shape 7"/>
          <p:cNvSpPr/>
          <p:nvPr/>
        </p:nvSpPr>
        <p:spPr>
          <a:xfrm>
            <a:off x="6446520" y="1783080"/>
            <a:ext cx="822960" cy="822960"/>
          </a:xfrm>
          <a:prstGeom prst="ellipse">
            <a:avLst/>
          </a:prstGeom>
          <a:solidFill>
            <a:srgbClr val="0E7C7B"/>
          </a:solidFill>
          <a:ln/>
        </p:spPr>
      </p:sp>
      <p:pic>
        <p:nvPicPr>
          <p:cNvPr id="11" name="Image 1" descr="/sessions/blissful-modest-newton/mnt/outputs/scratch/build/icons/arrows.png"/>
          <p:cNvPicPr>
            <a:picLocks noChangeAspect="1"/>
          </p:cNvPicPr>
          <p:nvPr/>
        </p:nvPicPr>
        <p:blipFill>
          <a:blip r:embed="rId3"/>
          <a:stretch>
            <a:fillRect/>
          </a:stretch>
        </p:blipFill>
        <p:spPr>
          <a:xfrm>
            <a:off x="6627571" y="1964131"/>
            <a:ext cx="460858" cy="460858"/>
          </a:xfrm>
          <a:prstGeom prst="rect">
            <a:avLst/>
          </a:prstGeom>
        </p:spPr>
      </p:pic>
      <p:sp>
        <p:nvSpPr>
          <p:cNvPr id="12" name="Text 8"/>
          <p:cNvSpPr txBox="1"/>
          <p:nvPr/>
        </p:nvSpPr>
        <p:spPr>
          <a:xfrm>
            <a:off x="7452360" y="1783080"/>
            <a:ext cx="3840480" cy="548640"/>
          </a:xfrm>
          <a:prstGeom prst="rect">
            <a:avLst/>
          </a:prstGeom>
          <a:noFill/>
          <a:ln/>
        </p:spPr>
        <p:txBody>
          <a:bodyPr wrap="square" lIns="0" tIns="0" rIns="0" bIns="0" rtlCol="0" anchor="ctr"/>
          <a:lstStyle/>
          <a:p>
            <a:pPr marL="0" indent="0">
              <a:buNone/>
            </a:pPr>
            <a:r>
              <a:rPr lang="en-US" sz="1900" b="1" dirty="0">
                <a:solidFill>
                  <a:srgbClr val="0E7C7B"/>
                </a:solidFill>
                <a:latin typeface="Cambria" pitchFamily="34" charset="0"/>
                <a:ea typeface="Cambria" pitchFamily="34" charset="-122"/>
                <a:cs typeface="Cambria" pitchFamily="34" charset="-120"/>
              </a:rPr>
              <a:t>Counterstream (B → A)</a:t>
            </a:r>
            <a:endParaRPr lang="en-US" sz="1900" dirty="0"/>
          </a:p>
        </p:txBody>
      </p:sp>
      <p:sp>
        <p:nvSpPr>
          <p:cNvPr id="13" name="Text 9"/>
          <p:cNvSpPr txBox="1"/>
          <p:nvPr/>
        </p:nvSpPr>
        <p:spPr>
          <a:xfrm>
            <a:off x="6492240" y="2697480"/>
            <a:ext cx="4617720" cy="3017520"/>
          </a:xfrm>
          <a:prstGeom prst="rect">
            <a:avLst/>
          </a:prstGeom>
          <a:noFill/>
          <a:ln/>
        </p:spPr>
        <p:txBody>
          <a:bodyPr wrap="square" lIns="0" tIns="0" rIns="0" bIns="0" rtlCol="0" anchor="ctr"/>
          <a:lstStyle/>
          <a:p>
            <a:pPr marL="0" indent="0">
              <a:lnSpc>
                <a:spcPct val="115000"/>
              </a:lnSpc>
              <a:buNone/>
            </a:pPr>
            <a:r>
              <a:rPr lang="en-US" sz="1400" dirty="0">
                <a:solidFill>
                  <a:srgbClr val="17233A"/>
                </a:solidFill>
                <a:latin typeface="Calibri" pitchFamily="34" charset="0"/>
                <a:ea typeface="Calibri" pitchFamily="34" charset="-122"/>
                <a:cs typeface="Calibri" pitchFamily="34" charset="-120"/>
              </a:rPr>
              <a:t>The smaller, offsetting flow moving in the opposite direction, from B back to A, in the same period.</a:t>
            </a:r>
            <a:endParaRPr lang="en-US" sz="1400" dirty="0"/>
          </a:p>
        </p:txBody>
      </p:sp>
      <p:sp>
        <p:nvSpPr>
          <p:cNvPr id="14" name="Text 10"/>
          <p:cNvSpPr txBox="1"/>
          <p:nvPr/>
        </p:nvSpPr>
        <p:spPr>
          <a:xfrm>
            <a:off x="548640" y="6108192"/>
            <a:ext cx="11064240" cy="384048"/>
          </a:xfrm>
          <a:prstGeom prst="rect">
            <a:avLst/>
          </a:prstGeom>
          <a:noFill/>
          <a:ln/>
        </p:spPr>
        <p:txBody>
          <a:bodyPr wrap="square" lIns="0" tIns="0" rIns="0" bIns="0" rtlCol="0" anchor="ctr"/>
          <a:lstStyle/>
          <a:p>
            <a:pPr marL="0" indent="0">
              <a:buNone/>
            </a:pPr>
            <a:r>
              <a:rPr lang="en-US" sz="1050" i="1" dirty="0">
                <a:solidFill>
                  <a:srgbClr val="5B6B82"/>
                </a:solidFill>
                <a:latin typeface="Calibri" pitchFamily="34" charset="0"/>
                <a:ea typeface="Calibri" pitchFamily="34" charset="-122"/>
                <a:cs typeface="Calibri" pitchFamily="34" charset="-120"/>
              </a:rPr>
              <a:t>Net migration alone can mask large, offsetting two-way flows — studying streams and counterstreams separately reveals dynamics that net figures alone hide.</a:t>
            </a:r>
            <a:endParaRPr lang="en-US" sz="1050" dirty="0"/>
          </a:p>
        </p:txBody>
      </p:sp>
      <p:sp>
        <p:nvSpPr>
          <p:cNvPr id="15" name="Text 11"/>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16" name="Text 12"/>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8 / 57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WORKED EXAMPLE</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Try It: Compute Gross Interchange</a:t>
            </a:r>
            <a:endParaRPr lang="en-US" sz="2900" dirty="0"/>
          </a:p>
        </p:txBody>
      </p:sp>
      <p:sp>
        <p:nvSpPr>
          <p:cNvPr id="4" name="Shape 2"/>
          <p:cNvSpPr/>
          <p:nvPr/>
        </p:nvSpPr>
        <p:spPr>
          <a:xfrm>
            <a:off x="502920" y="1508760"/>
            <a:ext cx="11201400" cy="914400"/>
          </a:xfrm>
          <a:prstGeom prst="roundRect">
            <a:avLst>
              <a:gd name="adj" fmla="val 8000"/>
            </a:avLst>
          </a:prstGeom>
          <a:solidFill>
            <a:srgbClr val="E7EEF7"/>
          </a:solidFill>
          <a:ln/>
        </p:spPr>
      </p:sp>
      <p:sp>
        <p:nvSpPr>
          <p:cNvPr id="5" name="Text 3"/>
          <p:cNvSpPr txBox="1"/>
          <p:nvPr/>
        </p:nvSpPr>
        <p:spPr>
          <a:xfrm>
            <a:off x="777240" y="1508760"/>
            <a:ext cx="10652760" cy="914400"/>
          </a:xfrm>
          <a:prstGeom prst="rect">
            <a:avLst/>
          </a:prstGeom>
          <a:noFill/>
          <a:ln/>
        </p:spPr>
        <p:txBody>
          <a:bodyPr wrap="square" lIns="0" tIns="0" rIns="0" bIns="0" rtlCol="0" anchor="ctr"/>
          <a:lstStyle/>
          <a:p>
            <a:pPr marL="0" indent="0">
              <a:buNone/>
            </a:pPr>
            <a:r>
              <a:rPr lang="en-US" sz="1450" dirty="0">
                <a:solidFill>
                  <a:srgbClr val="17233A"/>
                </a:solidFill>
                <a:latin typeface="Calibri" pitchFamily="34" charset="0"/>
                <a:ea typeface="Calibri" pitchFamily="34" charset="-122"/>
                <a:cs typeface="Calibri" pitchFamily="34" charset="-120"/>
              </a:rPr>
              <a:t>A researcher observes a migration stream from Province A to Province B of 12,000 people, and a smaller counterstream from B to A of 4,500 people in the same year.</a:t>
            </a:r>
            <a:endParaRPr lang="en-US" sz="1450" dirty="0"/>
          </a:p>
        </p:txBody>
      </p:sp>
      <p:sp>
        <p:nvSpPr>
          <p:cNvPr id="6" name="Shape 4"/>
          <p:cNvSpPr/>
          <p:nvPr/>
        </p:nvSpPr>
        <p:spPr>
          <a:xfrm>
            <a:off x="502920" y="2606040"/>
            <a:ext cx="3520440" cy="2148840"/>
          </a:xfrm>
          <a:prstGeom prst="roundRect">
            <a:avLst>
              <a:gd name="adj" fmla="val 3404"/>
            </a:avLst>
          </a:prstGeom>
          <a:solidFill>
            <a:srgbClr val="F3F6FA"/>
          </a:solidFill>
          <a:ln/>
        </p:spPr>
      </p:sp>
      <p:sp>
        <p:nvSpPr>
          <p:cNvPr id="7" name="Text 5"/>
          <p:cNvSpPr txBox="1"/>
          <p:nvPr/>
        </p:nvSpPr>
        <p:spPr>
          <a:xfrm>
            <a:off x="685800" y="2743200"/>
            <a:ext cx="3154680" cy="365760"/>
          </a:xfrm>
          <a:prstGeom prst="rect">
            <a:avLst/>
          </a:prstGeom>
          <a:noFill/>
          <a:ln/>
        </p:spPr>
        <p:txBody>
          <a:bodyPr wrap="square" lIns="0" tIns="0" rIns="0" bIns="0" rtlCol="0" anchor="ctr"/>
          <a:lstStyle/>
          <a:p>
            <a:pPr marL="0" indent="0">
              <a:buNone/>
            </a:pPr>
            <a:r>
              <a:rPr lang="en-US" sz="1250" b="1" dirty="0">
                <a:solidFill>
                  <a:srgbClr val="0E7C7B"/>
                </a:solidFill>
                <a:latin typeface="Calibri" pitchFamily="34" charset="0"/>
                <a:ea typeface="Calibri" pitchFamily="34" charset="-122"/>
                <a:cs typeface="Calibri" pitchFamily="34" charset="-120"/>
              </a:rPr>
              <a:t>STREAM (A→B)</a:t>
            </a:r>
            <a:endParaRPr lang="en-US" sz="1250" dirty="0"/>
          </a:p>
        </p:txBody>
      </p:sp>
      <p:sp>
        <p:nvSpPr>
          <p:cNvPr id="8" name="Text 6"/>
          <p:cNvSpPr txBox="1"/>
          <p:nvPr/>
        </p:nvSpPr>
        <p:spPr>
          <a:xfrm>
            <a:off x="685800" y="3108960"/>
            <a:ext cx="3154680" cy="548640"/>
          </a:xfrm>
          <a:prstGeom prst="rect">
            <a:avLst/>
          </a:prstGeom>
          <a:noFill/>
          <a:ln/>
        </p:spPr>
        <p:txBody>
          <a:bodyPr wrap="square" lIns="0" tIns="0" rIns="0" bIns="0" rtlCol="0" anchor="ctr"/>
          <a:lstStyle/>
          <a:p>
            <a:pPr marL="0" indent="0">
              <a:buNone/>
            </a:pPr>
            <a:r>
              <a:rPr lang="en-US" sz="1300" dirty="0">
                <a:solidFill>
                  <a:srgbClr val="17233A"/>
                </a:solidFill>
                <a:latin typeface="Courier New" pitchFamily="34" charset="0"/>
                <a:ea typeface="Courier New" pitchFamily="34" charset="-122"/>
                <a:cs typeface="Courier New" pitchFamily="34" charset="-120"/>
              </a:rPr>
              <a:t>12,000</a:t>
            </a:r>
            <a:endParaRPr lang="en-US" sz="1300" dirty="0"/>
          </a:p>
        </p:txBody>
      </p:sp>
      <p:sp>
        <p:nvSpPr>
          <p:cNvPr id="9" name="Text 7"/>
          <p:cNvSpPr txBox="1"/>
          <p:nvPr/>
        </p:nvSpPr>
        <p:spPr>
          <a:xfrm>
            <a:off x="685800" y="3794760"/>
            <a:ext cx="3154680" cy="822960"/>
          </a:xfrm>
          <a:prstGeom prst="rect">
            <a:avLst/>
          </a:prstGeom>
          <a:noFill/>
          <a:ln/>
        </p:spPr>
        <p:txBody>
          <a:bodyPr wrap="square" lIns="0" tIns="0" rIns="0" bIns="0" rtlCol="0" anchor="ctr"/>
          <a:lstStyle/>
          <a:p>
            <a:pPr marL="0" indent="0">
              <a:buNone/>
            </a:pPr>
            <a:r>
              <a:rPr lang="en-US" sz="2200" b="1" dirty="0">
                <a:solidFill>
                  <a:srgbClr val="1B2A4A"/>
                </a:solidFill>
                <a:latin typeface="Cambria" pitchFamily="34" charset="0"/>
                <a:ea typeface="Cambria" pitchFamily="34" charset="-122"/>
                <a:cs typeface="Cambria" pitchFamily="34" charset="-120"/>
              </a:rPr>
              <a:t>12,000</a:t>
            </a:r>
            <a:endParaRPr lang="en-US" sz="2200" dirty="0"/>
          </a:p>
        </p:txBody>
      </p:sp>
      <p:sp>
        <p:nvSpPr>
          <p:cNvPr id="10" name="Shape 8"/>
          <p:cNvSpPr/>
          <p:nvPr/>
        </p:nvSpPr>
        <p:spPr>
          <a:xfrm>
            <a:off x="4343400" y="2606040"/>
            <a:ext cx="3520440" cy="2148840"/>
          </a:xfrm>
          <a:prstGeom prst="roundRect">
            <a:avLst>
              <a:gd name="adj" fmla="val 3404"/>
            </a:avLst>
          </a:prstGeom>
          <a:solidFill>
            <a:srgbClr val="F3F6FA"/>
          </a:solidFill>
          <a:ln/>
        </p:spPr>
      </p:sp>
      <p:sp>
        <p:nvSpPr>
          <p:cNvPr id="11" name="Text 9"/>
          <p:cNvSpPr txBox="1"/>
          <p:nvPr/>
        </p:nvSpPr>
        <p:spPr>
          <a:xfrm>
            <a:off x="4526280" y="2743200"/>
            <a:ext cx="3154680" cy="365760"/>
          </a:xfrm>
          <a:prstGeom prst="rect">
            <a:avLst/>
          </a:prstGeom>
          <a:noFill/>
          <a:ln/>
        </p:spPr>
        <p:txBody>
          <a:bodyPr wrap="square" lIns="0" tIns="0" rIns="0" bIns="0" rtlCol="0" anchor="ctr"/>
          <a:lstStyle/>
          <a:p>
            <a:pPr marL="0" indent="0">
              <a:buNone/>
            </a:pPr>
            <a:r>
              <a:rPr lang="en-US" sz="1250" b="1" dirty="0">
                <a:solidFill>
                  <a:srgbClr val="0E7C7B"/>
                </a:solidFill>
                <a:latin typeface="Calibri" pitchFamily="34" charset="0"/>
                <a:ea typeface="Calibri" pitchFamily="34" charset="-122"/>
                <a:cs typeface="Calibri" pitchFamily="34" charset="-120"/>
              </a:rPr>
              <a:t>COUNTERSTREAM (B→A)</a:t>
            </a:r>
            <a:endParaRPr lang="en-US" sz="1250" dirty="0"/>
          </a:p>
        </p:txBody>
      </p:sp>
      <p:sp>
        <p:nvSpPr>
          <p:cNvPr id="12" name="Text 10"/>
          <p:cNvSpPr txBox="1"/>
          <p:nvPr/>
        </p:nvSpPr>
        <p:spPr>
          <a:xfrm>
            <a:off x="4526280" y="3108960"/>
            <a:ext cx="3154680" cy="548640"/>
          </a:xfrm>
          <a:prstGeom prst="rect">
            <a:avLst/>
          </a:prstGeom>
          <a:noFill/>
          <a:ln/>
        </p:spPr>
        <p:txBody>
          <a:bodyPr wrap="square" lIns="0" tIns="0" rIns="0" bIns="0" rtlCol="0" anchor="ctr"/>
          <a:lstStyle/>
          <a:p>
            <a:pPr marL="0" indent="0">
              <a:buNone/>
            </a:pPr>
            <a:r>
              <a:rPr lang="en-US" sz="1300" dirty="0">
                <a:solidFill>
                  <a:srgbClr val="17233A"/>
                </a:solidFill>
                <a:latin typeface="Courier New" pitchFamily="34" charset="0"/>
                <a:ea typeface="Courier New" pitchFamily="34" charset="-122"/>
                <a:cs typeface="Courier New" pitchFamily="34" charset="-120"/>
              </a:rPr>
              <a:t>4,500</a:t>
            </a:r>
            <a:endParaRPr lang="en-US" sz="1300" dirty="0"/>
          </a:p>
        </p:txBody>
      </p:sp>
      <p:sp>
        <p:nvSpPr>
          <p:cNvPr id="13" name="Text 11"/>
          <p:cNvSpPr txBox="1"/>
          <p:nvPr/>
        </p:nvSpPr>
        <p:spPr>
          <a:xfrm>
            <a:off x="4526280" y="3794760"/>
            <a:ext cx="3154680" cy="822960"/>
          </a:xfrm>
          <a:prstGeom prst="rect">
            <a:avLst/>
          </a:prstGeom>
          <a:noFill/>
          <a:ln/>
        </p:spPr>
        <p:txBody>
          <a:bodyPr wrap="square" lIns="0" tIns="0" rIns="0" bIns="0" rtlCol="0" anchor="ctr"/>
          <a:lstStyle/>
          <a:p>
            <a:pPr marL="0" indent="0">
              <a:buNone/>
            </a:pPr>
            <a:r>
              <a:rPr lang="en-US" sz="2200" b="1" dirty="0">
                <a:solidFill>
                  <a:srgbClr val="1B2A4A"/>
                </a:solidFill>
                <a:latin typeface="Cambria" pitchFamily="34" charset="0"/>
                <a:ea typeface="Cambria" pitchFamily="34" charset="-122"/>
                <a:cs typeface="Cambria" pitchFamily="34" charset="-120"/>
              </a:rPr>
              <a:t>4,500</a:t>
            </a:r>
            <a:endParaRPr lang="en-US" sz="2200" dirty="0"/>
          </a:p>
        </p:txBody>
      </p:sp>
      <p:sp>
        <p:nvSpPr>
          <p:cNvPr id="14" name="Shape 12"/>
          <p:cNvSpPr/>
          <p:nvPr/>
        </p:nvSpPr>
        <p:spPr>
          <a:xfrm>
            <a:off x="8183880" y="2606040"/>
            <a:ext cx="3520440" cy="2148840"/>
          </a:xfrm>
          <a:prstGeom prst="roundRect">
            <a:avLst>
              <a:gd name="adj" fmla="val 3404"/>
            </a:avLst>
          </a:prstGeom>
          <a:solidFill>
            <a:srgbClr val="F3F6FA"/>
          </a:solidFill>
          <a:ln/>
        </p:spPr>
      </p:sp>
      <p:sp>
        <p:nvSpPr>
          <p:cNvPr id="15" name="Text 13"/>
          <p:cNvSpPr txBox="1"/>
          <p:nvPr/>
        </p:nvSpPr>
        <p:spPr>
          <a:xfrm>
            <a:off x="8366760" y="2743200"/>
            <a:ext cx="3154680" cy="365760"/>
          </a:xfrm>
          <a:prstGeom prst="rect">
            <a:avLst/>
          </a:prstGeom>
          <a:noFill/>
          <a:ln/>
        </p:spPr>
        <p:txBody>
          <a:bodyPr wrap="square" lIns="0" tIns="0" rIns="0" bIns="0" rtlCol="0" anchor="ctr"/>
          <a:lstStyle/>
          <a:p>
            <a:pPr marL="0" indent="0">
              <a:buNone/>
            </a:pPr>
            <a:r>
              <a:rPr lang="en-US" sz="1250" b="1" dirty="0">
                <a:solidFill>
                  <a:srgbClr val="0E7C7B"/>
                </a:solidFill>
                <a:latin typeface="Calibri" pitchFamily="34" charset="0"/>
                <a:ea typeface="Calibri" pitchFamily="34" charset="-122"/>
                <a:cs typeface="Calibri" pitchFamily="34" charset="-120"/>
              </a:rPr>
              <a:t>GROSS INTERCHANGE</a:t>
            </a:r>
            <a:endParaRPr lang="en-US" sz="1250" dirty="0"/>
          </a:p>
        </p:txBody>
      </p:sp>
      <p:sp>
        <p:nvSpPr>
          <p:cNvPr id="16" name="Text 14"/>
          <p:cNvSpPr txBox="1"/>
          <p:nvPr/>
        </p:nvSpPr>
        <p:spPr>
          <a:xfrm>
            <a:off x="8366760" y="3108960"/>
            <a:ext cx="3154680" cy="548640"/>
          </a:xfrm>
          <a:prstGeom prst="rect">
            <a:avLst/>
          </a:prstGeom>
          <a:noFill/>
          <a:ln/>
        </p:spPr>
        <p:txBody>
          <a:bodyPr wrap="square" lIns="0" tIns="0" rIns="0" bIns="0" rtlCol="0" anchor="ctr"/>
          <a:lstStyle/>
          <a:p>
            <a:pPr marL="0" indent="0">
              <a:buNone/>
            </a:pPr>
            <a:r>
              <a:rPr lang="en-US" sz="1300" dirty="0">
                <a:solidFill>
                  <a:srgbClr val="17233A"/>
                </a:solidFill>
                <a:latin typeface="Courier New" pitchFamily="34" charset="0"/>
                <a:ea typeface="Courier New" pitchFamily="34" charset="-122"/>
                <a:cs typeface="Courier New" pitchFamily="34" charset="-120"/>
              </a:rPr>
              <a:t>12,000 + 4,500</a:t>
            </a:r>
            <a:endParaRPr lang="en-US" sz="1300" dirty="0"/>
          </a:p>
        </p:txBody>
      </p:sp>
      <p:sp>
        <p:nvSpPr>
          <p:cNvPr id="17" name="Text 15"/>
          <p:cNvSpPr txBox="1"/>
          <p:nvPr/>
        </p:nvSpPr>
        <p:spPr>
          <a:xfrm>
            <a:off x="8366760" y="3794760"/>
            <a:ext cx="3154680" cy="822960"/>
          </a:xfrm>
          <a:prstGeom prst="rect">
            <a:avLst/>
          </a:prstGeom>
          <a:noFill/>
          <a:ln/>
        </p:spPr>
        <p:txBody>
          <a:bodyPr wrap="square" lIns="0" tIns="0" rIns="0" bIns="0" rtlCol="0" anchor="ctr"/>
          <a:lstStyle/>
          <a:p>
            <a:pPr marL="0" indent="0">
              <a:buNone/>
            </a:pPr>
            <a:r>
              <a:rPr lang="en-US" sz="2200" b="1" dirty="0">
                <a:solidFill>
                  <a:srgbClr val="1B2A4A"/>
                </a:solidFill>
                <a:latin typeface="Cambria" pitchFamily="34" charset="0"/>
                <a:ea typeface="Cambria" pitchFamily="34" charset="-122"/>
                <a:cs typeface="Cambria" pitchFamily="34" charset="-120"/>
              </a:rPr>
              <a:t>16,500</a:t>
            </a:r>
            <a:endParaRPr lang="en-US" sz="2200" dirty="0"/>
          </a:p>
        </p:txBody>
      </p:sp>
      <p:sp>
        <p:nvSpPr>
          <p:cNvPr id="18" name="Shape 16"/>
          <p:cNvSpPr/>
          <p:nvPr/>
        </p:nvSpPr>
        <p:spPr>
          <a:xfrm>
            <a:off x="502920" y="5029200"/>
            <a:ext cx="11201400" cy="914400"/>
          </a:xfrm>
          <a:prstGeom prst="roundRect">
            <a:avLst>
              <a:gd name="adj" fmla="val 8000"/>
            </a:avLst>
          </a:prstGeom>
          <a:solidFill>
            <a:srgbClr val="1B2A4A"/>
          </a:solidFill>
          <a:ln/>
        </p:spPr>
      </p:sp>
      <p:sp>
        <p:nvSpPr>
          <p:cNvPr id="19" name="Text 17"/>
          <p:cNvSpPr txBox="1"/>
          <p:nvPr/>
        </p:nvSpPr>
        <p:spPr>
          <a:xfrm>
            <a:off x="777240" y="5029200"/>
            <a:ext cx="10652760" cy="91440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DISCUSS: Net migration between A and B here is only 12,000 − 4,500 = 7,500 — far smaller than the 16,500 total volume of movement. Why might policymakers care about both figures?</a:t>
            </a:r>
            <a:endParaRPr lang="en-US" sz="1300" dirty="0"/>
          </a:p>
        </p:txBody>
      </p:sp>
      <p:sp>
        <p:nvSpPr>
          <p:cNvPr id="20" name="Text 18"/>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21" name="Text 19"/>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9 / 57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COMMON MISCONCEPTIONS</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Six Things Migration Statistics Are Not</a:t>
            </a:r>
            <a:endParaRPr lang="en-US" sz="2900" dirty="0"/>
          </a:p>
        </p:txBody>
      </p:sp>
      <p:sp>
        <p:nvSpPr>
          <p:cNvPr id="4" name="Shape 2"/>
          <p:cNvSpPr/>
          <p:nvPr/>
        </p:nvSpPr>
        <p:spPr>
          <a:xfrm>
            <a:off x="502920" y="1554480"/>
            <a:ext cx="3550920" cy="2194560"/>
          </a:xfrm>
          <a:prstGeom prst="roundRect">
            <a:avLst>
              <a:gd name="adj" fmla="val 3333"/>
            </a:avLst>
          </a:prstGeom>
          <a:solidFill>
            <a:srgbClr val="F3F6FA"/>
          </a:solidFill>
          <a:ln/>
        </p:spPr>
      </p:sp>
      <p:sp>
        <p:nvSpPr>
          <p:cNvPr id="5" name="Shape 3"/>
          <p:cNvSpPr/>
          <p:nvPr/>
        </p:nvSpPr>
        <p:spPr>
          <a:xfrm>
            <a:off x="704088" y="1755648"/>
            <a:ext cx="566928" cy="566928"/>
          </a:xfrm>
          <a:prstGeom prst="ellipse">
            <a:avLst/>
          </a:prstGeom>
          <a:solidFill>
            <a:srgbClr val="1B2A4A"/>
          </a:solidFill>
          <a:ln/>
        </p:spPr>
      </p:sp>
      <p:pic>
        <p:nvPicPr>
          <p:cNvPr id="6" name="Image 0" descr="/sessions/blissful-modest-newton/mnt/outputs/scratch/build/icons/question.png"/>
          <p:cNvPicPr>
            <a:picLocks noChangeAspect="1"/>
          </p:cNvPicPr>
          <p:nvPr/>
        </p:nvPicPr>
        <p:blipFill>
          <a:blip r:embed="rId3"/>
          <a:stretch>
            <a:fillRect/>
          </a:stretch>
        </p:blipFill>
        <p:spPr>
          <a:xfrm>
            <a:off x="828812" y="1880372"/>
            <a:ext cx="317480" cy="317480"/>
          </a:xfrm>
          <a:prstGeom prst="rect">
            <a:avLst/>
          </a:prstGeom>
        </p:spPr>
      </p:pic>
      <p:sp>
        <p:nvSpPr>
          <p:cNvPr id="7" name="Text 4"/>
          <p:cNvSpPr txBox="1"/>
          <p:nvPr/>
        </p:nvSpPr>
        <p:spPr>
          <a:xfrm>
            <a:off x="1399032" y="1719072"/>
            <a:ext cx="2499360" cy="59436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“Migrant” Is Not Universal</a:t>
            </a:r>
            <a:endParaRPr lang="en-US" sz="1450" dirty="0"/>
          </a:p>
        </p:txBody>
      </p:sp>
      <p:sp>
        <p:nvSpPr>
          <p:cNvPr id="8" name="Text 5"/>
          <p:cNvSpPr txBox="1"/>
          <p:nvPr/>
        </p:nvSpPr>
        <p:spPr>
          <a:xfrm>
            <a:off x="704088" y="2395728"/>
            <a:ext cx="3148584" cy="1234440"/>
          </a:xfrm>
          <a:prstGeom prst="rect">
            <a:avLst/>
          </a:prstGeom>
          <a:noFill/>
          <a:ln/>
        </p:spPr>
        <p:txBody>
          <a:bodyPr wrap="square" lIns="0" tIns="0" rIns="0" bIns="0" rtlCol="0" anchor="ctr"/>
          <a:lstStyle/>
          <a:p>
            <a:pPr marL="0" indent="0">
              <a:lnSpc>
                <a:spcPct val="110000"/>
              </a:lnSpc>
              <a:buNone/>
            </a:pPr>
            <a:r>
              <a:rPr lang="en-US" sz="1150" dirty="0">
                <a:solidFill>
                  <a:srgbClr val="17233A"/>
                </a:solidFill>
                <a:latin typeface="Calibri" pitchFamily="34" charset="0"/>
                <a:ea typeface="Calibri" pitchFamily="34" charset="-122"/>
                <a:cs typeface="Calibri" pitchFamily="34" charset="-120"/>
              </a:rPr>
              <a:t>Countries define “migrant” using different minimum-duration thresholds (3 months, 1 year, 5 years) — figures are often not directly comparable.</a:t>
            </a:r>
            <a:endParaRPr lang="en-US" sz="1150" dirty="0"/>
          </a:p>
        </p:txBody>
      </p:sp>
      <p:sp>
        <p:nvSpPr>
          <p:cNvPr id="9" name="Shape 6"/>
          <p:cNvSpPr/>
          <p:nvPr/>
        </p:nvSpPr>
        <p:spPr>
          <a:xfrm>
            <a:off x="4328160" y="1554480"/>
            <a:ext cx="3550920" cy="2194560"/>
          </a:xfrm>
          <a:prstGeom prst="roundRect">
            <a:avLst>
              <a:gd name="adj" fmla="val 3333"/>
            </a:avLst>
          </a:prstGeom>
          <a:solidFill>
            <a:srgbClr val="E7EEF7"/>
          </a:solidFill>
          <a:ln/>
        </p:spPr>
      </p:sp>
      <p:sp>
        <p:nvSpPr>
          <p:cNvPr id="10" name="Shape 7"/>
          <p:cNvSpPr/>
          <p:nvPr/>
        </p:nvSpPr>
        <p:spPr>
          <a:xfrm>
            <a:off x="4529328" y="1755648"/>
            <a:ext cx="566928" cy="566928"/>
          </a:xfrm>
          <a:prstGeom prst="ellipse">
            <a:avLst/>
          </a:prstGeom>
          <a:solidFill>
            <a:srgbClr val="0E7C7B"/>
          </a:solidFill>
          <a:ln/>
        </p:spPr>
      </p:sp>
      <p:pic>
        <p:nvPicPr>
          <p:cNvPr id="11" name="Image 1" descr="/sessions/blissful-modest-newton/mnt/outputs/scratch/build/icons/arrows.png"/>
          <p:cNvPicPr>
            <a:picLocks noChangeAspect="1"/>
          </p:cNvPicPr>
          <p:nvPr/>
        </p:nvPicPr>
        <p:blipFill>
          <a:blip r:embed="rId4"/>
          <a:stretch>
            <a:fillRect/>
          </a:stretch>
        </p:blipFill>
        <p:spPr>
          <a:xfrm>
            <a:off x="4654052" y="1880372"/>
            <a:ext cx="317480" cy="317480"/>
          </a:xfrm>
          <a:prstGeom prst="rect">
            <a:avLst/>
          </a:prstGeom>
        </p:spPr>
      </p:pic>
      <p:sp>
        <p:nvSpPr>
          <p:cNvPr id="12" name="Text 8"/>
          <p:cNvSpPr txBox="1"/>
          <p:nvPr/>
        </p:nvSpPr>
        <p:spPr>
          <a:xfrm>
            <a:off x="5224272" y="1719072"/>
            <a:ext cx="2499360" cy="594360"/>
          </a:xfrm>
          <a:prstGeom prst="rect">
            <a:avLst/>
          </a:prstGeom>
          <a:noFill/>
          <a:ln/>
        </p:spPr>
        <p:txBody>
          <a:bodyPr wrap="square" lIns="0" tIns="0" rIns="0" bIns="0" rtlCol="0" anchor="ctr"/>
          <a:lstStyle/>
          <a:p>
            <a:pPr marL="0" indent="0">
              <a:buNone/>
            </a:pPr>
            <a:r>
              <a:rPr lang="en-US" sz="1450" b="1" dirty="0">
                <a:solidFill>
                  <a:srgbClr val="0E7C7B"/>
                </a:solidFill>
                <a:latin typeface="Cambria" pitchFamily="34" charset="0"/>
                <a:ea typeface="Cambria" pitchFamily="34" charset="-122"/>
                <a:cs typeface="Cambria" pitchFamily="34" charset="-120"/>
              </a:rPr>
              <a:t>Net ≠ Gross</a:t>
            </a:r>
            <a:endParaRPr lang="en-US" sz="1450" dirty="0"/>
          </a:p>
        </p:txBody>
      </p:sp>
      <p:sp>
        <p:nvSpPr>
          <p:cNvPr id="13" name="Text 9"/>
          <p:cNvSpPr txBox="1"/>
          <p:nvPr/>
        </p:nvSpPr>
        <p:spPr>
          <a:xfrm>
            <a:off x="4529328" y="2395728"/>
            <a:ext cx="3148584" cy="1234440"/>
          </a:xfrm>
          <a:prstGeom prst="rect">
            <a:avLst/>
          </a:prstGeom>
          <a:noFill/>
          <a:ln/>
        </p:spPr>
        <p:txBody>
          <a:bodyPr wrap="square" lIns="0" tIns="0" rIns="0" bIns="0" rtlCol="0" anchor="ctr"/>
          <a:lstStyle/>
          <a:p>
            <a:pPr marL="0" indent="0">
              <a:lnSpc>
                <a:spcPct val="110000"/>
              </a:lnSpc>
              <a:buNone/>
            </a:pPr>
            <a:r>
              <a:rPr lang="en-US" sz="1150" dirty="0">
                <a:solidFill>
                  <a:srgbClr val="17233A"/>
                </a:solidFill>
                <a:latin typeface="Calibri" pitchFamily="34" charset="0"/>
                <a:ea typeface="Calibri" pitchFamily="34" charset="-122"/>
                <a:cs typeface="Calibri" pitchFamily="34" charset="-120"/>
              </a:rPr>
              <a:t>A net migration rate near zero can hide enormous two-way gross flows — never assume “no net change” means “no movement.”</a:t>
            </a:r>
            <a:endParaRPr lang="en-US" sz="1150" dirty="0"/>
          </a:p>
        </p:txBody>
      </p:sp>
      <p:sp>
        <p:nvSpPr>
          <p:cNvPr id="14" name="Shape 10"/>
          <p:cNvSpPr/>
          <p:nvPr/>
        </p:nvSpPr>
        <p:spPr>
          <a:xfrm>
            <a:off x="8153400" y="1554480"/>
            <a:ext cx="3550920" cy="2194560"/>
          </a:xfrm>
          <a:prstGeom prst="roundRect">
            <a:avLst>
              <a:gd name="adj" fmla="val 3333"/>
            </a:avLst>
          </a:prstGeom>
          <a:solidFill>
            <a:srgbClr val="F3F6FA"/>
          </a:solidFill>
          <a:ln/>
        </p:spPr>
      </p:sp>
      <p:sp>
        <p:nvSpPr>
          <p:cNvPr id="15" name="Shape 11"/>
          <p:cNvSpPr/>
          <p:nvPr/>
        </p:nvSpPr>
        <p:spPr>
          <a:xfrm>
            <a:off x="8354568" y="1755648"/>
            <a:ext cx="566928" cy="566928"/>
          </a:xfrm>
          <a:prstGeom prst="ellipse">
            <a:avLst/>
          </a:prstGeom>
          <a:solidFill>
            <a:srgbClr val="1B2A4A"/>
          </a:solidFill>
          <a:ln/>
        </p:spPr>
      </p:sp>
      <p:pic>
        <p:nvPicPr>
          <p:cNvPr id="16" name="Image 2" descr="/sessions/blissful-modest-newton/mnt/outputs/scratch/build/icons/scale.png"/>
          <p:cNvPicPr>
            <a:picLocks noChangeAspect="1"/>
          </p:cNvPicPr>
          <p:nvPr/>
        </p:nvPicPr>
        <p:blipFill>
          <a:blip r:embed="rId5"/>
          <a:stretch>
            <a:fillRect/>
          </a:stretch>
        </p:blipFill>
        <p:spPr>
          <a:xfrm>
            <a:off x="8479292" y="1880372"/>
            <a:ext cx="317480" cy="317480"/>
          </a:xfrm>
          <a:prstGeom prst="rect">
            <a:avLst/>
          </a:prstGeom>
        </p:spPr>
      </p:pic>
      <p:sp>
        <p:nvSpPr>
          <p:cNvPr id="17" name="Text 12"/>
          <p:cNvSpPr txBox="1"/>
          <p:nvPr/>
        </p:nvSpPr>
        <p:spPr>
          <a:xfrm>
            <a:off x="9049512" y="1719072"/>
            <a:ext cx="2499360" cy="59436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Not Random</a:t>
            </a:r>
            <a:endParaRPr lang="en-US" sz="1450" dirty="0"/>
          </a:p>
        </p:txBody>
      </p:sp>
      <p:sp>
        <p:nvSpPr>
          <p:cNvPr id="18" name="Text 13"/>
          <p:cNvSpPr txBox="1"/>
          <p:nvPr/>
        </p:nvSpPr>
        <p:spPr>
          <a:xfrm>
            <a:off x="8354568" y="2395728"/>
            <a:ext cx="3148584" cy="1234440"/>
          </a:xfrm>
          <a:prstGeom prst="rect">
            <a:avLst/>
          </a:prstGeom>
          <a:noFill/>
          <a:ln/>
        </p:spPr>
        <p:txBody>
          <a:bodyPr wrap="square" lIns="0" tIns="0" rIns="0" bIns="0" rtlCol="0" anchor="ctr"/>
          <a:lstStyle/>
          <a:p>
            <a:pPr marL="0" indent="0">
              <a:lnSpc>
                <a:spcPct val="110000"/>
              </a:lnSpc>
              <a:buNone/>
            </a:pPr>
            <a:r>
              <a:rPr lang="en-US" sz="1150" dirty="0">
                <a:solidFill>
                  <a:srgbClr val="17233A"/>
                </a:solidFill>
                <a:latin typeface="Calibri" pitchFamily="34" charset="0"/>
                <a:ea typeface="Calibri" pitchFamily="34" charset="-122"/>
                <a:cs typeface="Calibri" pitchFamily="34" charset="-120"/>
              </a:rPr>
              <a:t>Migrants are selected on age, education, and skill — treating a migrant stream as a random sample of the origin population is a modeling error.</a:t>
            </a:r>
            <a:endParaRPr lang="en-US" sz="1150" dirty="0"/>
          </a:p>
        </p:txBody>
      </p:sp>
      <p:sp>
        <p:nvSpPr>
          <p:cNvPr id="19" name="Shape 14"/>
          <p:cNvSpPr/>
          <p:nvPr/>
        </p:nvSpPr>
        <p:spPr>
          <a:xfrm>
            <a:off x="502920" y="3977640"/>
            <a:ext cx="3550920" cy="2194560"/>
          </a:xfrm>
          <a:prstGeom prst="roundRect">
            <a:avLst>
              <a:gd name="adj" fmla="val 3333"/>
            </a:avLst>
          </a:prstGeom>
          <a:solidFill>
            <a:srgbClr val="F3F6FA"/>
          </a:solidFill>
          <a:ln/>
        </p:spPr>
      </p:sp>
      <p:sp>
        <p:nvSpPr>
          <p:cNvPr id="20" name="Shape 15"/>
          <p:cNvSpPr/>
          <p:nvPr/>
        </p:nvSpPr>
        <p:spPr>
          <a:xfrm>
            <a:off x="704088" y="4178808"/>
            <a:ext cx="566928" cy="566928"/>
          </a:xfrm>
          <a:prstGeom prst="ellipse">
            <a:avLst/>
          </a:prstGeom>
          <a:solidFill>
            <a:srgbClr val="1B2A4A"/>
          </a:solidFill>
          <a:ln/>
        </p:spPr>
      </p:sp>
      <p:pic>
        <p:nvPicPr>
          <p:cNvPr id="21" name="Image 3" descr="/sessions/blissful-modest-newton/mnt/outputs/scratch/build/icons/checklist.png"/>
          <p:cNvPicPr>
            <a:picLocks noChangeAspect="1"/>
          </p:cNvPicPr>
          <p:nvPr/>
        </p:nvPicPr>
        <p:blipFill>
          <a:blip r:embed="rId6"/>
          <a:stretch>
            <a:fillRect/>
          </a:stretch>
        </p:blipFill>
        <p:spPr>
          <a:xfrm>
            <a:off x="828812" y="4303532"/>
            <a:ext cx="317480" cy="317480"/>
          </a:xfrm>
          <a:prstGeom prst="rect">
            <a:avLst/>
          </a:prstGeom>
        </p:spPr>
      </p:pic>
      <p:sp>
        <p:nvSpPr>
          <p:cNvPr id="22" name="Text 16"/>
          <p:cNvSpPr txBox="1"/>
          <p:nvPr/>
        </p:nvSpPr>
        <p:spPr>
          <a:xfrm>
            <a:off x="1399032" y="4142232"/>
            <a:ext cx="2499360" cy="59436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Not Always Voluntary</a:t>
            </a:r>
            <a:endParaRPr lang="en-US" sz="1450" dirty="0"/>
          </a:p>
        </p:txBody>
      </p:sp>
      <p:sp>
        <p:nvSpPr>
          <p:cNvPr id="23" name="Text 17"/>
          <p:cNvSpPr txBox="1"/>
          <p:nvPr/>
        </p:nvSpPr>
        <p:spPr>
          <a:xfrm>
            <a:off x="704088" y="4818888"/>
            <a:ext cx="3148584" cy="1234440"/>
          </a:xfrm>
          <a:prstGeom prst="rect">
            <a:avLst/>
          </a:prstGeom>
          <a:noFill/>
          <a:ln/>
        </p:spPr>
        <p:txBody>
          <a:bodyPr wrap="square" lIns="0" tIns="0" rIns="0" bIns="0" rtlCol="0" anchor="ctr"/>
          <a:lstStyle/>
          <a:p>
            <a:pPr marL="0" indent="0">
              <a:lnSpc>
                <a:spcPct val="110000"/>
              </a:lnSpc>
              <a:buNone/>
            </a:pPr>
            <a:r>
              <a:rPr lang="en-US" sz="1150" dirty="0">
                <a:solidFill>
                  <a:srgbClr val="17233A"/>
                </a:solidFill>
                <a:latin typeface="Calibri" pitchFamily="34" charset="0"/>
                <a:ea typeface="Calibri" pitchFamily="34" charset="-122"/>
                <a:cs typeface="Calibri" pitchFamily="34" charset="-120"/>
              </a:rPr>
              <a:t>Migration statistics blend voluntary labor migration with forced displacement; conflating the two obscures very different policy needs.</a:t>
            </a:r>
            <a:endParaRPr lang="en-US" sz="1150" dirty="0"/>
          </a:p>
        </p:txBody>
      </p:sp>
      <p:sp>
        <p:nvSpPr>
          <p:cNvPr id="24" name="Shape 18"/>
          <p:cNvSpPr/>
          <p:nvPr/>
        </p:nvSpPr>
        <p:spPr>
          <a:xfrm>
            <a:off x="4328160" y="3977640"/>
            <a:ext cx="3550920" cy="2194560"/>
          </a:xfrm>
          <a:prstGeom prst="roundRect">
            <a:avLst>
              <a:gd name="adj" fmla="val 3333"/>
            </a:avLst>
          </a:prstGeom>
          <a:solidFill>
            <a:srgbClr val="E7EEF7"/>
          </a:solidFill>
          <a:ln/>
        </p:spPr>
      </p:sp>
      <p:sp>
        <p:nvSpPr>
          <p:cNvPr id="25" name="Shape 19"/>
          <p:cNvSpPr/>
          <p:nvPr/>
        </p:nvSpPr>
        <p:spPr>
          <a:xfrm>
            <a:off x="4529328" y="4178808"/>
            <a:ext cx="566928" cy="566928"/>
          </a:xfrm>
          <a:prstGeom prst="ellipse">
            <a:avLst/>
          </a:prstGeom>
          <a:solidFill>
            <a:srgbClr val="0E7C7B"/>
          </a:solidFill>
          <a:ln/>
        </p:spPr>
      </p:sp>
      <p:pic>
        <p:nvPicPr>
          <p:cNvPr id="26" name="Image 4" descr="/sessions/blissful-modest-newton/mnt/outputs/scratch/build/icons/database.png"/>
          <p:cNvPicPr>
            <a:picLocks noChangeAspect="1"/>
          </p:cNvPicPr>
          <p:nvPr/>
        </p:nvPicPr>
        <p:blipFill>
          <a:blip r:embed="rId7"/>
          <a:stretch>
            <a:fillRect/>
          </a:stretch>
        </p:blipFill>
        <p:spPr>
          <a:xfrm>
            <a:off x="4654052" y="4303532"/>
            <a:ext cx="317480" cy="317480"/>
          </a:xfrm>
          <a:prstGeom prst="rect">
            <a:avLst/>
          </a:prstGeom>
        </p:spPr>
      </p:pic>
      <p:sp>
        <p:nvSpPr>
          <p:cNvPr id="27" name="Text 20"/>
          <p:cNvSpPr txBox="1"/>
          <p:nvPr/>
        </p:nvSpPr>
        <p:spPr>
          <a:xfrm>
            <a:off x="5224272" y="4142232"/>
            <a:ext cx="2499360" cy="594360"/>
          </a:xfrm>
          <a:prstGeom prst="rect">
            <a:avLst/>
          </a:prstGeom>
          <a:noFill/>
          <a:ln/>
        </p:spPr>
        <p:txBody>
          <a:bodyPr wrap="square" lIns="0" tIns="0" rIns="0" bIns="0" rtlCol="0" anchor="ctr"/>
          <a:lstStyle/>
          <a:p>
            <a:pPr marL="0" indent="0">
              <a:buNone/>
            </a:pPr>
            <a:r>
              <a:rPr lang="en-US" sz="1450" b="1" dirty="0">
                <a:solidFill>
                  <a:srgbClr val="0E7C7B"/>
                </a:solidFill>
                <a:latin typeface="Cambria" pitchFamily="34" charset="0"/>
                <a:ea typeface="Cambria" pitchFamily="34" charset="-122"/>
                <a:cs typeface="Cambria" pitchFamily="34" charset="-120"/>
              </a:rPr>
              <a:t>Registers ≠ Reality</a:t>
            </a:r>
            <a:endParaRPr lang="en-US" sz="1450" dirty="0"/>
          </a:p>
        </p:txBody>
      </p:sp>
      <p:sp>
        <p:nvSpPr>
          <p:cNvPr id="28" name="Text 21"/>
          <p:cNvSpPr txBox="1"/>
          <p:nvPr/>
        </p:nvSpPr>
        <p:spPr>
          <a:xfrm>
            <a:off x="4529328" y="4818888"/>
            <a:ext cx="3148584" cy="1234440"/>
          </a:xfrm>
          <a:prstGeom prst="rect">
            <a:avLst/>
          </a:prstGeom>
          <a:noFill/>
          <a:ln/>
        </p:spPr>
        <p:txBody>
          <a:bodyPr wrap="square" lIns="0" tIns="0" rIns="0" bIns="0" rtlCol="0" anchor="ctr"/>
          <a:lstStyle/>
          <a:p>
            <a:pPr marL="0" indent="0">
              <a:lnSpc>
                <a:spcPct val="110000"/>
              </a:lnSpc>
              <a:buNone/>
            </a:pPr>
            <a:r>
              <a:rPr lang="en-US" sz="1150" dirty="0">
                <a:solidFill>
                  <a:srgbClr val="17233A"/>
                </a:solidFill>
                <a:latin typeface="Calibri" pitchFamily="34" charset="0"/>
                <a:ea typeface="Calibri" pitchFamily="34" charset="-122"/>
                <a:cs typeface="Calibri" pitchFamily="34" charset="-120"/>
              </a:rPr>
              <a:t>Administrative registers only capture what is legally registered — irregular and undocumented migration is systematically undercounted.</a:t>
            </a:r>
            <a:endParaRPr lang="en-US" sz="1150" dirty="0"/>
          </a:p>
        </p:txBody>
      </p:sp>
      <p:sp>
        <p:nvSpPr>
          <p:cNvPr id="29" name="Shape 22"/>
          <p:cNvSpPr/>
          <p:nvPr/>
        </p:nvSpPr>
        <p:spPr>
          <a:xfrm>
            <a:off x="8153400" y="3977640"/>
            <a:ext cx="3550920" cy="2194560"/>
          </a:xfrm>
          <a:prstGeom prst="roundRect">
            <a:avLst>
              <a:gd name="adj" fmla="val 3333"/>
            </a:avLst>
          </a:prstGeom>
          <a:solidFill>
            <a:srgbClr val="F3F6FA"/>
          </a:solidFill>
          <a:ln/>
        </p:spPr>
      </p:sp>
      <p:sp>
        <p:nvSpPr>
          <p:cNvPr id="30" name="Shape 23"/>
          <p:cNvSpPr/>
          <p:nvPr/>
        </p:nvSpPr>
        <p:spPr>
          <a:xfrm>
            <a:off x="8354568" y="4178808"/>
            <a:ext cx="566928" cy="566928"/>
          </a:xfrm>
          <a:prstGeom prst="ellipse">
            <a:avLst/>
          </a:prstGeom>
          <a:solidFill>
            <a:srgbClr val="1B2A4A"/>
          </a:solidFill>
          <a:ln/>
        </p:spPr>
      </p:sp>
      <p:pic>
        <p:nvPicPr>
          <p:cNvPr id="31" name="Image 5" descr="/sessions/blissful-modest-newton/mnt/outputs/scratch/build/icons/globe.png"/>
          <p:cNvPicPr>
            <a:picLocks noChangeAspect="1"/>
          </p:cNvPicPr>
          <p:nvPr/>
        </p:nvPicPr>
        <p:blipFill>
          <a:blip r:embed="rId8"/>
          <a:stretch>
            <a:fillRect/>
          </a:stretch>
        </p:blipFill>
        <p:spPr>
          <a:xfrm>
            <a:off x="8479292" y="4303532"/>
            <a:ext cx="317480" cy="317480"/>
          </a:xfrm>
          <a:prstGeom prst="rect">
            <a:avLst/>
          </a:prstGeom>
        </p:spPr>
      </p:pic>
      <p:sp>
        <p:nvSpPr>
          <p:cNvPr id="32" name="Text 24"/>
          <p:cNvSpPr txBox="1"/>
          <p:nvPr/>
        </p:nvSpPr>
        <p:spPr>
          <a:xfrm>
            <a:off x="9049512" y="4142232"/>
            <a:ext cx="2499360" cy="59436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Emigration ≠ Immigration Totals</a:t>
            </a:r>
            <a:endParaRPr lang="en-US" sz="1450" dirty="0"/>
          </a:p>
        </p:txBody>
      </p:sp>
      <p:sp>
        <p:nvSpPr>
          <p:cNvPr id="33" name="Text 25"/>
          <p:cNvSpPr txBox="1"/>
          <p:nvPr/>
        </p:nvSpPr>
        <p:spPr>
          <a:xfrm>
            <a:off x="8354568" y="4818888"/>
            <a:ext cx="3148584" cy="1234440"/>
          </a:xfrm>
          <a:prstGeom prst="rect">
            <a:avLst/>
          </a:prstGeom>
          <a:noFill/>
          <a:ln/>
        </p:spPr>
        <p:txBody>
          <a:bodyPr wrap="square" lIns="0" tIns="0" rIns="0" bIns="0" rtlCol="0" anchor="ctr"/>
          <a:lstStyle/>
          <a:p>
            <a:pPr marL="0" indent="0">
              <a:lnSpc>
                <a:spcPct val="110000"/>
              </a:lnSpc>
              <a:buNone/>
            </a:pPr>
            <a:r>
              <a:rPr lang="en-US" sz="1150" dirty="0">
                <a:solidFill>
                  <a:srgbClr val="17233A"/>
                </a:solidFill>
                <a:latin typeface="Calibri" pitchFamily="34" charset="0"/>
                <a:ea typeface="Calibri" pitchFamily="34" charset="-122"/>
                <a:cs typeface="Calibri" pitchFamily="34" charset="-120"/>
              </a:rPr>
              <a:t>Because definitions and timing differ, world emigration and immigration totals rarely match exactly, even though every move is both.</a:t>
            </a:r>
            <a:endParaRPr lang="en-US" sz="1150" dirty="0"/>
          </a:p>
        </p:txBody>
      </p:sp>
      <p:sp>
        <p:nvSpPr>
          <p:cNvPr id="34" name="Text 26"/>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35" name="Text 27"/>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10 / 57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CORE FORMULAS</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Gross Migration vs. Net Migration</a:t>
            </a:r>
            <a:endParaRPr lang="en-US" sz="2900" dirty="0"/>
          </a:p>
        </p:txBody>
      </p:sp>
      <p:sp>
        <p:nvSpPr>
          <p:cNvPr id="4" name="Shape 2"/>
          <p:cNvSpPr/>
          <p:nvPr/>
        </p:nvSpPr>
        <p:spPr>
          <a:xfrm>
            <a:off x="502920" y="1554480"/>
            <a:ext cx="5349240" cy="4343400"/>
          </a:xfrm>
          <a:prstGeom prst="roundRect">
            <a:avLst>
              <a:gd name="adj" fmla="val 2105"/>
            </a:avLst>
          </a:prstGeom>
          <a:solidFill>
            <a:srgbClr val="F3F6FA"/>
          </a:solidFill>
          <a:ln/>
        </p:spPr>
      </p:sp>
      <p:sp>
        <p:nvSpPr>
          <p:cNvPr id="5" name="Shape 3"/>
          <p:cNvSpPr/>
          <p:nvPr/>
        </p:nvSpPr>
        <p:spPr>
          <a:xfrm>
            <a:off x="822960" y="1783080"/>
            <a:ext cx="822960" cy="822960"/>
          </a:xfrm>
          <a:prstGeom prst="ellipse">
            <a:avLst/>
          </a:prstGeom>
          <a:solidFill>
            <a:srgbClr val="1B2A4A"/>
          </a:solidFill>
          <a:ln/>
        </p:spPr>
      </p:sp>
      <p:pic>
        <p:nvPicPr>
          <p:cNvPr id="6" name="Image 0" descr="/sessions/blissful-modest-newton/mnt/outputs/scratch/build/icons/chart.png"/>
          <p:cNvPicPr>
            <a:picLocks noChangeAspect="1"/>
          </p:cNvPicPr>
          <p:nvPr/>
        </p:nvPicPr>
        <p:blipFill>
          <a:blip r:embed="rId3"/>
          <a:stretch>
            <a:fillRect/>
          </a:stretch>
        </p:blipFill>
        <p:spPr>
          <a:xfrm>
            <a:off x="1004011" y="1964131"/>
            <a:ext cx="460858" cy="460858"/>
          </a:xfrm>
          <a:prstGeom prst="rect">
            <a:avLst/>
          </a:prstGeom>
        </p:spPr>
      </p:pic>
      <p:sp>
        <p:nvSpPr>
          <p:cNvPr id="7" name="Text 4"/>
          <p:cNvSpPr txBox="1"/>
          <p:nvPr/>
        </p:nvSpPr>
        <p:spPr>
          <a:xfrm>
            <a:off x="1828800" y="1783080"/>
            <a:ext cx="3840480" cy="548640"/>
          </a:xfrm>
          <a:prstGeom prst="rect">
            <a:avLst/>
          </a:prstGeom>
          <a:noFill/>
          <a:ln/>
        </p:spPr>
        <p:txBody>
          <a:bodyPr wrap="square" lIns="0" tIns="0" rIns="0" bIns="0" rtlCol="0" anchor="ctr"/>
          <a:lstStyle/>
          <a:p>
            <a:pPr marL="0" indent="0">
              <a:buNone/>
            </a:pPr>
            <a:r>
              <a:rPr lang="en-US" sz="1900" b="1" dirty="0">
                <a:solidFill>
                  <a:srgbClr val="1B2A4A"/>
                </a:solidFill>
                <a:latin typeface="Cambria" pitchFamily="34" charset="0"/>
                <a:ea typeface="Cambria" pitchFamily="34" charset="-122"/>
                <a:cs typeface="Cambria" pitchFamily="34" charset="-120"/>
              </a:rPr>
              <a:t>GROSS MIGRATION</a:t>
            </a:r>
            <a:endParaRPr lang="en-US" sz="1900" dirty="0"/>
          </a:p>
        </p:txBody>
      </p:sp>
      <p:sp>
        <p:nvSpPr>
          <p:cNvPr id="8" name="Text 5"/>
          <p:cNvSpPr txBox="1"/>
          <p:nvPr/>
        </p:nvSpPr>
        <p:spPr>
          <a:xfrm>
            <a:off x="868680" y="2697480"/>
            <a:ext cx="4617720" cy="3017520"/>
          </a:xfrm>
          <a:prstGeom prst="rect">
            <a:avLst/>
          </a:prstGeom>
          <a:noFill/>
          <a:ln/>
        </p:spPr>
        <p:txBody>
          <a:bodyPr wrap="square" lIns="0" tIns="0" rIns="0" bIns="0" rtlCol="0" anchor="ctr"/>
          <a:lstStyle/>
          <a:p>
            <a:pPr marL="0" indent="0">
              <a:lnSpc>
                <a:spcPct val="115000"/>
              </a:lnSpc>
              <a:buNone/>
            </a:pPr>
            <a:r>
              <a:rPr lang="en-US" sz="1400" dirty="0">
                <a:solidFill>
                  <a:srgbClr val="17233A"/>
                </a:solidFill>
                <a:latin typeface="Calibri" pitchFamily="34" charset="0"/>
                <a:ea typeface="Calibri" pitchFamily="34" charset="-122"/>
                <a:cs typeface="Calibri" pitchFamily="34" charset="-120"/>
              </a:rPr>
              <a:t>Gross migration = in-migrants + out-migrants (internal), or immigrants + emigrants (international).</a:t>
            </a:r>
            <a:endParaRPr lang="en-US" sz="1400" dirty="0"/>
          </a:p>
          <a:p>
            <a:pPr marL="0" indent="0">
              <a:lnSpc>
                <a:spcPct val="115000"/>
              </a:lnSpc>
              <a:buNone/>
            </a:pPr>
            <a:endParaRPr lang="en-US" sz="1400" dirty="0"/>
          </a:p>
          <a:p>
            <a:pPr marL="0" indent="0">
              <a:lnSpc>
                <a:spcPct val="115000"/>
              </a:lnSpc>
              <a:buNone/>
            </a:pPr>
            <a:r>
              <a:rPr lang="en-US" sz="1400" dirty="0">
                <a:solidFill>
                  <a:srgbClr val="17233A"/>
                </a:solidFill>
                <a:latin typeface="Calibri" pitchFamily="34" charset="0"/>
                <a:ea typeface="Calibri" pitchFamily="34" charset="-122"/>
                <a:cs typeface="Calibri" pitchFamily="34" charset="-120"/>
              </a:rPr>
              <a:t>Captures the total volume of movement, regardless of direction.</a:t>
            </a:r>
            <a:endParaRPr lang="en-US" sz="1400" dirty="0"/>
          </a:p>
        </p:txBody>
      </p:sp>
      <p:sp>
        <p:nvSpPr>
          <p:cNvPr id="9" name="Shape 6"/>
          <p:cNvSpPr/>
          <p:nvPr/>
        </p:nvSpPr>
        <p:spPr>
          <a:xfrm>
            <a:off x="6126480" y="1554480"/>
            <a:ext cx="5349240" cy="4343400"/>
          </a:xfrm>
          <a:prstGeom prst="roundRect">
            <a:avLst>
              <a:gd name="adj" fmla="val 2105"/>
            </a:avLst>
          </a:prstGeom>
          <a:solidFill>
            <a:srgbClr val="E7EEF7"/>
          </a:solidFill>
          <a:ln/>
        </p:spPr>
      </p:sp>
      <p:sp>
        <p:nvSpPr>
          <p:cNvPr id="10" name="Shape 7"/>
          <p:cNvSpPr/>
          <p:nvPr/>
        </p:nvSpPr>
        <p:spPr>
          <a:xfrm>
            <a:off x="6446520" y="1783080"/>
            <a:ext cx="822960" cy="822960"/>
          </a:xfrm>
          <a:prstGeom prst="ellipse">
            <a:avLst/>
          </a:prstGeom>
          <a:solidFill>
            <a:srgbClr val="0E7C7B"/>
          </a:solidFill>
          <a:ln/>
        </p:spPr>
      </p:sp>
      <p:pic>
        <p:nvPicPr>
          <p:cNvPr id="11" name="Image 1" descr="/sessions/blissful-modest-newton/mnt/outputs/scratch/build/icons/arrows.png"/>
          <p:cNvPicPr>
            <a:picLocks noChangeAspect="1"/>
          </p:cNvPicPr>
          <p:nvPr/>
        </p:nvPicPr>
        <p:blipFill>
          <a:blip r:embed="rId4"/>
          <a:stretch>
            <a:fillRect/>
          </a:stretch>
        </p:blipFill>
        <p:spPr>
          <a:xfrm>
            <a:off x="6627571" y="1964131"/>
            <a:ext cx="460858" cy="460858"/>
          </a:xfrm>
          <a:prstGeom prst="rect">
            <a:avLst/>
          </a:prstGeom>
        </p:spPr>
      </p:pic>
      <p:sp>
        <p:nvSpPr>
          <p:cNvPr id="12" name="Text 8"/>
          <p:cNvSpPr txBox="1"/>
          <p:nvPr/>
        </p:nvSpPr>
        <p:spPr>
          <a:xfrm>
            <a:off x="7452360" y="1783080"/>
            <a:ext cx="3840480" cy="548640"/>
          </a:xfrm>
          <a:prstGeom prst="rect">
            <a:avLst/>
          </a:prstGeom>
          <a:noFill/>
          <a:ln/>
        </p:spPr>
        <p:txBody>
          <a:bodyPr wrap="square" lIns="0" tIns="0" rIns="0" bIns="0" rtlCol="0" anchor="ctr"/>
          <a:lstStyle/>
          <a:p>
            <a:pPr marL="0" indent="0">
              <a:buNone/>
            </a:pPr>
            <a:r>
              <a:rPr lang="en-US" sz="1900" b="1" dirty="0">
                <a:solidFill>
                  <a:srgbClr val="0E7C7B"/>
                </a:solidFill>
                <a:latin typeface="Cambria" pitchFamily="34" charset="0"/>
                <a:ea typeface="Cambria" pitchFamily="34" charset="-122"/>
                <a:cs typeface="Cambria" pitchFamily="34" charset="-120"/>
              </a:rPr>
              <a:t>NET MIGRATION</a:t>
            </a:r>
            <a:endParaRPr lang="en-US" sz="1900" dirty="0"/>
          </a:p>
        </p:txBody>
      </p:sp>
      <p:sp>
        <p:nvSpPr>
          <p:cNvPr id="13" name="Text 9"/>
          <p:cNvSpPr txBox="1"/>
          <p:nvPr/>
        </p:nvSpPr>
        <p:spPr>
          <a:xfrm>
            <a:off x="6492240" y="2697480"/>
            <a:ext cx="4617720" cy="3017520"/>
          </a:xfrm>
          <a:prstGeom prst="rect">
            <a:avLst/>
          </a:prstGeom>
          <a:noFill/>
          <a:ln/>
        </p:spPr>
        <p:txBody>
          <a:bodyPr wrap="square" lIns="0" tIns="0" rIns="0" bIns="0" rtlCol="0" anchor="ctr"/>
          <a:lstStyle/>
          <a:p>
            <a:pPr marL="0" indent="0">
              <a:lnSpc>
                <a:spcPct val="115000"/>
              </a:lnSpc>
              <a:buNone/>
            </a:pPr>
            <a:r>
              <a:rPr lang="en-US" sz="1400" dirty="0">
                <a:solidFill>
                  <a:srgbClr val="17233A"/>
                </a:solidFill>
                <a:latin typeface="Calibri" pitchFamily="34" charset="0"/>
                <a:ea typeface="Calibri" pitchFamily="34" charset="-122"/>
                <a:cs typeface="Calibri" pitchFamily="34" charset="-120"/>
              </a:rPr>
              <a:t>Net migration = in-migrants (immigrants) − out-migrants (emigrants).</a:t>
            </a:r>
            <a:endParaRPr lang="en-US" sz="1400" dirty="0"/>
          </a:p>
          <a:p>
            <a:pPr marL="0" indent="0">
              <a:lnSpc>
                <a:spcPct val="115000"/>
              </a:lnSpc>
              <a:buNone/>
            </a:pPr>
            <a:endParaRPr lang="en-US" sz="1400" dirty="0"/>
          </a:p>
          <a:p>
            <a:pPr marL="0" indent="0">
              <a:lnSpc>
                <a:spcPct val="115000"/>
              </a:lnSpc>
              <a:buNone/>
            </a:pPr>
            <a:r>
              <a:rPr lang="en-US" sz="1400" dirty="0">
                <a:solidFill>
                  <a:srgbClr val="17233A"/>
                </a:solidFill>
                <a:latin typeface="Calibri" pitchFamily="34" charset="0"/>
                <a:ea typeface="Calibri" pitchFamily="34" charset="-122"/>
                <a:cs typeface="Calibri" pitchFamily="34" charset="-120"/>
              </a:rPr>
              <a:t>Positive = net gain (net immigration); negative = net loss (net emigration).</a:t>
            </a:r>
            <a:endParaRPr lang="en-US" sz="1400" dirty="0"/>
          </a:p>
        </p:txBody>
      </p:sp>
      <p:sp>
        <p:nvSpPr>
          <p:cNvPr id="14" name="Text 10"/>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15" name="Text 11"/>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11 / 57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STANDARDIZING FOR POPULATION SIZE</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Migration Rates</a:t>
            </a:r>
            <a:endParaRPr lang="en-US" sz="2900" dirty="0"/>
          </a:p>
        </p:txBody>
      </p:sp>
      <p:sp>
        <p:nvSpPr>
          <p:cNvPr id="4" name="Shape 2"/>
          <p:cNvSpPr/>
          <p:nvPr/>
        </p:nvSpPr>
        <p:spPr>
          <a:xfrm>
            <a:off x="502920" y="1554480"/>
            <a:ext cx="5440680" cy="1965960"/>
          </a:xfrm>
          <a:prstGeom prst="roundRect">
            <a:avLst>
              <a:gd name="adj" fmla="val 4186"/>
            </a:avLst>
          </a:prstGeom>
          <a:solidFill>
            <a:srgbClr val="F3F6FA"/>
          </a:solidFill>
          <a:ln/>
        </p:spPr>
      </p:sp>
      <p:sp>
        <p:nvSpPr>
          <p:cNvPr id="5" name="Text 3"/>
          <p:cNvSpPr txBox="1"/>
          <p:nvPr/>
        </p:nvSpPr>
        <p:spPr>
          <a:xfrm>
            <a:off x="777240" y="1737360"/>
            <a:ext cx="4892040" cy="457200"/>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Emigration rate</a:t>
            </a:r>
            <a:endParaRPr lang="en-US" sz="1700" dirty="0"/>
          </a:p>
        </p:txBody>
      </p:sp>
      <p:sp>
        <p:nvSpPr>
          <p:cNvPr id="6" name="Text 4"/>
          <p:cNvSpPr txBox="1"/>
          <p:nvPr/>
        </p:nvSpPr>
        <p:spPr>
          <a:xfrm>
            <a:off x="777240" y="2331720"/>
            <a:ext cx="4892040" cy="1005840"/>
          </a:xfrm>
          <a:prstGeom prst="rect">
            <a:avLst/>
          </a:prstGeom>
          <a:noFill/>
          <a:ln/>
        </p:spPr>
        <p:txBody>
          <a:bodyPr wrap="square" lIns="0" tIns="0" rIns="0" bIns="0" rtlCol="0" anchor="ctr"/>
          <a:lstStyle/>
          <a:p>
            <a:pPr marL="0" indent="0">
              <a:lnSpc>
                <a:spcPct val="120000"/>
              </a:lnSpc>
              <a:buNone/>
            </a:pPr>
            <a:r>
              <a:rPr lang="en-US" sz="1350" dirty="0">
                <a:solidFill>
                  <a:srgbClr val="17233A"/>
                </a:solidFill>
                <a:latin typeface="Courier New" pitchFamily="34" charset="0"/>
                <a:ea typeface="Courier New" pitchFamily="34" charset="-122"/>
                <a:cs typeface="Courier New" pitchFamily="34" charset="-120"/>
              </a:rPr>
              <a:t>(Emigrants ÷ mid-year population of origin) × 1,000</a:t>
            </a:r>
            <a:endParaRPr lang="en-US" sz="1350" dirty="0"/>
          </a:p>
        </p:txBody>
      </p:sp>
      <p:sp>
        <p:nvSpPr>
          <p:cNvPr id="7" name="Shape 5"/>
          <p:cNvSpPr/>
          <p:nvPr/>
        </p:nvSpPr>
        <p:spPr>
          <a:xfrm>
            <a:off x="6263640" y="1554480"/>
            <a:ext cx="5440680" cy="1965960"/>
          </a:xfrm>
          <a:prstGeom prst="roundRect">
            <a:avLst>
              <a:gd name="adj" fmla="val 4186"/>
            </a:avLst>
          </a:prstGeom>
          <a:solidFill>
            <a:srgbClr val="E7EEF7"/>
          </a:solidFill>
          <a:ln/>
        </p:spPr>
      </p:sp>
      <p:sp>
        <p:nvSpPr>
          <p:cNvPr id="8" name="Text 6"/>
          <p:cNvSpPr txBox="1"/>
          <p:nvPr/>
        </p:nvSpPr>
        <p:spPr>
          <a:xfrm>
            <a:off x="6537960" y="1737360"/>
            <a:ext cx="4892040" cy="457200"/>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Immigration rate</a:t>
            </a:r>
            <a:endParaRPr lang="en-US" sz="1700" dirty="0"/>
          </a:p>
        </p:txBody>
      </p:sp>
      <p:sp>
        <p:nvSpPr>
          <p:cNvPr id="9" name="Text 7"/>
          <p:cNvSpPr txBox="1"/>
          <p:nvPr/>
        </p:nvSpPr>
        <p:spPr>
          <a:xfrm>
            <a:off x="6537960" y="2331720"/>
            <a:ext cx="4892040" cy="1005840"/>
          </a:xfrm>
          <a:prstGeom prst="rect">
            <a:avLst/>
          </a:prstGeom>
          <a:noFill/>
          <a:ln/>
        </p:spPr>
        <p:txBody>
          <a:bodyPr wrap="square" lIns="0" tIns="0" rIns="0" bIns="0" rtlCol="0" anchor="ctr"/>
          <a:lstStyle/>
          <a:p>
            <a:pPr marL="0" indent="0">
              <a:lnSpc>
                <a:spcPct val="120000"/>
              </a:lnSpc>
              <a:buNone/>
            </a:pPr>
            <a:r>
              <a:rPr lang="en-US" sz="1350" dirty="0">
                <a:solidFill>
                  <a:srgbClr val="17233A"/>
                </a:solidFill>
                <a:latin typeface="Courier New" pitchFamily="34" charset="0"/>
                <a:ea typeface="Courier New" pitchFamily="34" charset="-122"/>
                <a:cs typeface="Courier New" pitchFamily="34" charset="-120"/>
              </a:rPr>
              <a:t>(Immigrants ÷ mid-year population of destination) × 1,000</a:t>
            </a:r>
            <a:endParaRPr lang="en-US" sz="1350" dirty="0"/>
          </a:p>
        </p:txBody>
      </p:sp>
      <p:sp>
        <p:nvSpPr>
          <p:cNvPr id="10" name="Shape 8"/>
          <p:cNvSpPr/>
          <p:nvPr/>
        </p:nvSpPr>
        <p:spPr>
          <a:xfrm>
            <a:off x="502920" y="3749040"/>
            <a:ext cx="5440680" cy="1965960"/>
          </a:xfrm>
          <a:prstGeom prst="roundRect">
            <a:avLst>
              <a:gd name="adj" fmla="val 4186"/>
            </a:avLst>
          </a:prstGeom>
          <a:solidFill>
            <a:srgbClr val="F3F6FA"/>
          </a:solidFill>
          <a:ln/>
        </p:spPr>
      </p:sp>
      <p:sp>
        <p:nvSpPr>
          <p:cNvPr id="11" name="Text 9"/>
          <p:cNvSpPr txBox="1"/>
          <p:nvPr/>
        </p:nvSpPr>
        <p:spPr>
          <a:xfrm>
            <a:off x="777240" y="3931920"/>
            <a:ext cx="4892040" cy="457200"/>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Net migration rate</a:t>
            </a:r>
            <a:endParaRPr lang="en-US" sz="1700" dirty="0"/>
          </a:p>
        </p:txBody>
      </p:sp>
      <p:sp>
        <p:nvSpPr>
          <p:cNvPr id="12" name="Text 10"/>
          <p:cNvSpPr txBox="1"/>
          <p:nvPr/>
        </p:nvSpPr>
        <p:spPr>
          <a:xfrm>
            <a:off x="777240" y="4526280"/>
            <a:ext cx="4892040" cy="1005840"/>
          </a:xfrm>
          <a:prstGeom prst="rect">
            <a:avLst/>
          </a:prstGeom>
          <a:noFill/>
          <a:ln/>
        </p:spPr>
        <p:txBody>
          <a:bodyPr wrap="square" lIns="0" tIns="0" rIns="0" bIns="0" rtlCol="0" anchor="ctr"/>
          <a:lstStyle/>
          <a:p>
            <a:pPr marL="0" indent="0">
              <a:lnSpc>
                <a:spcPct val="120000"/>
              </a:lnSpc>
              <a:buNone/>
            </a:pPr>
            <a:r>
              <a:rPr lang="en-US" sz="1350" dirty="0">
                <a:solidFill>
                  <a:srgbClr val="17233A"/>
                </a:solidFill>
                <a:latin typeface="Courier New" pitchFamily="34" charset="0"/>
                <a:ea typeface="Courier New" pitchFamily="34" charset="-122"/>
                <a:cs typeface="Courier New" pitchFamily="34" charset="-120"/>
              </a:rPr>
              <a:t>[(Immigrants − Emigrants) ÷ mid-year population] × 1,000</a:t>
            </a:r>
            <a:endParaRPr lang="en-US" sz="1350" dirty="0"/>
          </a:p>
        </p:txBody>
      </p:sp>
      <p:sp>
        <p:nvSpPr>
          <p:cNvPr id="13" name="Shape 11"/>
          <p:cNvSpPr/>
          <p:nvPr/>
        </p:nvSpPr>
        <p:spPr>
          <a:xfrm>
            <a:off x="6263640" y="3749040"/>
            <a:ext cx="5440680" cy="1965960"/>
          </a:xfrm>
          <a:prstGeom prst="roundRect">
            <a:avLst>
              <a:gd name="adj" fmla="val 4186"/>
            </a:avLst>
          </a:prstGeom>
          <a:solidFill>
            <a:srgbClr val="E7EEF7"/>
          </a:solidFill>
          <a:ln/>
        </p:spPr>
      </p:sp>
      <p:sp>
        <p:nvSpPr>
          <p:cNvPr id="14" name="Text 12"/>
          <p:cNvSpPr txBox="1"/>
          <p:nvPr/>
        </p:nvSpPr>
        <p:spPr>
          <a:xfrm>
            <a:off x="6537960" y="3931920"/>
            <a:ext cx="4892040" cy="457200"/>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Gross migration rate</a:t>
            </a:r>
            <a:endParaRPr lang="en-US" sz="1700" dirty="0"/>
          </a:p>
        </p:txBody>
      </p:sp>
      <p:sp>
        <p:nvSpPr>
          <p:cNvPr id="15" name="Text 13"/>
          <p:cNvSpPr txBox="1"/>
          <p:nvPr/>
        </p:nvSpPr>
        <p:spPr>
          <a:xfrm>
            <a:off x="6537960" y="4526280"/>
            <a:ext cx="4892040" cy="1005840"/>
          </a:xfrm>
          <a:prstGeom prst="rect">
            <a:avLst/>
          </a:prstGeom>
          <a:noFill/>
          <a:ln/>
        </p:spPr>
        <p:txBody>
          <a:bodyPr wrap="square" lIns="0" tIns="0" rIns="0" bIns="0" rtlCol="0" anchor="ctr"/>
          <a:lstStyle/>
          <a:p>
            <a:pPr marL="0" indent="0">
              <a:lnSpc>
                <a:spcPct val="120000"/>
              </a:lnSpc>
              <a:buNone/>
            </a:pPr>
            <a:r>
              <a:rPr lang="en-US" sz="1350" dirty="0">
                <a:solidFill>
                  <a:srgbClr val="17233A"/>
                </a:solidFill>
                <a:latin typeface="Courier New" pitchFamily="34" charset="0"/>
                <a:ea typeface="Courier New" pitchFamily="34" charset="-122"/>
                <a:cs typeface="Courier New" pitchFamily="34" charset="-120"/>
              </a:rPr>
              <a:t>[(Immigrants + Emigrants) ÷ mid-year population] × 1,000</a:t>
            </a:r>
            <a:endParaRPr lang="en-US" sz="1350" dirty="0"/>
          </a:p>
        </p:txBody>
      </p:sp>
      <p:sp>
        <p:nvSpPr>
          <p:cNvPr id="16" name="Text 14"/>
          <p:cNvSpPr txBox="1"/>
          <p:nvPr/>
        </p:nvSpPr>
        <p:spPr>
          <a:xfrm>
            <a:off x="548640" y="6035040"/>
            <a:ext cx="11064240" cy="384048"/>
          </a:xfrm>
          <a:prstGeom prst="rect">
            <a:avLst/>
          </a:prstGeom>
          <a:noFill/>
          <a:ln/>
        </p:spPr>
        <p:txBody>
          <a:bodyPr wrap="square" lIns="0" tIns="0" rIns="0" bIns="0" rtlCol="0" anchor="ctr"/>
          <a:lstStyle/>
          <a:p>
            <a:pPr marL="0" indent="0">
              <a:buNone/>
            </a:pPr>
            <a:r>
              <a:rPr lang="en-US" sz="1050" i="1" dirty="0">
                <a:solidFill>
                  <a:srgbClr val="5B6B82"/>
                </a:solidFill>
                <a:latin typeface="Calibri" pitchFamily="34" charset="0"/>
                <a:ea typeface="Calibri" pitchFamily="34" charset="-122"/>
                <a:cs typeface="Calibri" pitchFamily="34" charset="-120"/>
              </a:rPr>
              <a:t>Note: unlike vital rates, migration rates require a clear reference period and boundary definition — comparability across countries is limited by differing definitions of “migrant.”</a:t>
            </a:r>
            <a:endParaRPr lang="en-US" sz="1050" dirty="0"/>
          </a:p>
        </p:txBody>
      </p:sp>
      <p:sp>
        <p:nvSpPr>
          <p:cNvPr id="17" name="Text 15"/>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18" name="Text 16"/>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12 / 57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WORKED MINI-EXAMPLES</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Three Rates, One Mid-Year Population of 5,000,000</a:t>
            </a:r>
            <a:endParaRPr lang="en-US" sz="2900" dirty="0"/>
          </a:p>
        </p:txBody>
      </p:sp>
      <p:sp>
        <p:nvSpPr>
          <p:cNvPr id="4" name="Shape 2"/>
          <p:cNvSpPr/>
          <p:nvPr/>
        </p:nvSpPr>
        <p:spPr>
          <a:xfrm>
            <a:off x="502920" y="1645920"/>
            <a:ext cx="3611880" cy="3931920"/>
          </a:xfrm>
          <a:prstGeom prst="roundRect">
            <a:avLst>
              <a:gd name="adj" fmla="val 2532"/>
            </a:avLst>
          </a:prstGeom>
          <a:solidFill>
            <a:srgbClr val="F3F6FA"/>
          </a:solidFill>
          <a:ln/>
        </p:spPr>
      </p:sp>
      <p:sp>
        <p:nvSpPr>
          <p:cNvPr id="5" name="Text 3"/>
          <p:cNvSpPr txBox="1"/>
          <p:nvPr/>
        </p:nvSpPr>
        <p:spPr>
          <a:xfrm>
            <a:off x="731520" y="1874520"/>
            <a:ext cx="3154680" cy="502920"/>
          </a:xfrm>
          <a:prstGeom prst="rect">
            <a:avLst/>
          </a:prstGeom>
          <a:noFill/>
          <a:ln/>
        </p:spPr>
        <p:txBody>
          <a:bodyPr wrap="square" lIns="0" tIns="0" rIns="0" bIns="0" rtlCol="0" anchor="ctr"/>
          <a:lstStyle/>
          <a:p>
            <a:pPr marL="0" indent="0">
              <a:buNone/>
            </a:pPr>
            <a:r>
              <a:rPr lang="en-US" sz="1600" b="1" dirty="0">
                <a:solidFill>
                  <a:srgbClr val="0E7C7B"/>
                </a:solidFill>
                <a:latin typeface="Cambria" pitchFamily="34" charset="0"/>
                <a:ea typeface="Cambria" pitchFamily="34" charset="-122"/>
                <a:cs typeface="Cambria" pitchFamily="34" charset="-120"/>
              </a:rPr>
              <a:t>Emigration rate</a:t>
            </a:r>
            <a:endParaRPr lang="en-US" sz="1600" dirty="0"/>
          </a:p>
        </p:txBody>
      </p:sp>
      <p:sp>
        <p:nvSpPr>
          <p:cNvPr id="6" name="Text 4"/>
          <p:cNvSpPr txBox="1"/>
          <p:nvPr/>
        </p:nvSpPr>
        <p:spPr>
          <a:xfrm>
            <a:off x="731520" y="2514600"/>
            <a:ext cx="3154680" cy="457200"/>
          </a:xfrm>
          <a:prstGeom prst="rect">
            <a:avLst/>
          </a:prstGeom>
          <a:noFill/>
          <a:ln/>
        </p:spPr>
        <p:txBody>
          <a:bodyPr wrap="square" lIns="0" tIns="0" rIns="0" bIns="0" rtlCol="0" anchor="ctr"/>
          <a:lstStyle/>
          <a:p>
            <a:pPr marL="0" indent="0">
              <a:buNone/>
            </a:pPr>
            <a:r>
              <a:rPr lang="en-US" sz="1250" dirty="0">
                <a:solidFill>
                  <a:srgbClr val="17233A"/>
                </a:solidFill>
                <a:latin typeface="Calibri" pitchFamily="34" charset="0"/>
                <a:ea typeface="Calibri" pitchFamily="34" charset="-122"/>
                <a:cs typeface="Calibri" pitchFamily="34" charset="-120"/>
              </a:rPr>
              <a:t>62,000 emigrants</a:t>
            </a:r>
            <a:endParaRPr lang="en-US" sz="1250" dirty="0"/>
          </a:p>
        </p:txBody>
      </p:sp>
      <p:sp>
        <p:nvSpPr>
          <p:cNvPr id="7" name="Text 5"/>
          <p:cNvSpPr txBox="1"/>
          <p:nvPr/>
        </p:nvSpPr>
        <p:spPr>
          <a:xfrm>
            <a:off x="731520" y="3063240"/>
            <a:ext cx="3154680" cy="822960"/>
          </a:xfrm>
          <a:prstGeom prst="rect">
            <a:avLst/>
          </a:prstGeom>
          <a:noFill/>
          <a:ln/>
        </p:spPr>
        <p:txBody>
          <a:bodyPr wrap="square" lIns="0" tIns="0" rIns="0" bIns="0" rtlCol="0" anchor="ctr"/>
          <a:lstStyle/>
          <a:p>
            <a:pPr marL="0" indent="0">
              <a:buNone/>
            </a:pPr>
            <a:r>
              <a:rPr lang="en-US" sz="1200" dirty="0">
                <a:solidFill>
                  <a:srgbClr val="17233A"/>
                </a:solidFill>
                <a:latin typeface="Courier New" pitchFamily="34" charset="0"/>
                <a:ea typeface="Courier New" pitchFamily="34" charset="-122"/>
                <a:cs typeface="Courier New" pitchFamily="34" charset="-120"/>
              </a:rPr>
              <a:t>(62,000 / 5,000,000) × 1,000</a:t>
            </a:r>
            <a:endParaRPr lang="en-US" sz="1200" dirty="0"/>
          </a:p>
        </p:txBody>
      </p:sp>
      <p:sp>
        <p:nvSpPr>
          <p:cNvPr id="8" name="Text 6"/>
          <p:cNvSpPr txBox="1"/>
          <p:nvPr/>
        </p:nvSpPr>
        <p:spPr>
          <a:xfrm>
            <a:off x="731520" y="4069080"/>
            <a:ext cx="3154680" cy="9144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 12.4</a:t>
            </a:r>
            <a:endParaRPr lang="en-US" sz="3000" dirty="0"/>
          </a:p>
        </p:txBody>
      </p:sp>
      <p:sp>
        <p:nvSpPr>
          <p:cNvPr id="9" name="Text 7"/>
          <p:cNvSpPr txBox="1"/>
          <p:nvPr/>
        </p:nvSpPr>
        <p:spPr>
          <a:xfrm>
            <a:off x="731520" y="4892040"/>
            <a:ext cx="3154680" cy="365760"/>
          </a:xfrm>
          <a:prstGeom prst="rect">
            <a:avLst/>
          </a:prstGeom>
          <a:noFill/>
          <a:ln/>
        </p:spPr>
        <p:txBody>
          <a:bodyPr wrap="square" lIns="0" tIns="0" rIns="0" bIns="0" rtlCol="0" anchor="ctr"/>
          <a:lstStyle/>
          <a:p>
            <a:pPr marL="0" indent="0">
              <a:buNone/>
            </a:pPr>
            <a:r>
              <a:rPr lang="en-US" sz="1050" i="1" dirty="0">
                <a:solidFill>
                  <a:srgbClr val="5B6B82"/>
                </a:solidFill>
                <a:latin typeface="Calibri" pitchFamily="34" charset="0"/>
                <a:ea typeface="Calibri" pitchFamily="34" charset="-122"/>
                <a:cs typeface="Calibri" pitchFamily="34" charset="-120"/>
              </a:rPr>
              <a:t>per 1,000 population</a:t>
            </a:r>
            <a:endParaRPr lang="en-US" sz="1050" dirty="0"/>
          </a:p>
        </p:txBody>
      </p:sp>
      <p:sp>
        <p:nvSpPr>
          <p:cNvPr id="10" name="Shape 8"/>
          <p:cNvSpPr/>
          <p:nvPr/>
        </p:nvSpPr>
        <p:spPr>
          <a:xfrm>
            <a:off x="4297680" y="1645920"/>
            <a:ext cx="3611880" cy="3931920"/>
          </a:xfrm>
          <a:prstGeom prst="roundRect">
            <a:avLst>
              <a:gd name="adj" fmla="val 2532"/>
            </a:avLst>
          </a:prstGeom>
          <a:solidFill>
            <a:srgbClr val="F3F6FA"/>
          </a:solidFill>
          <a:ln/>
        </p:spPr>
      </p:sp>
      <p:sp>
        <p:nvSpPr>
          <p:cNvPr id="11" name="Text 9"/>
          <p:cNvSpPr txBox="1"/>
          <p:nvPr/>
        </p:nvSpPr>
        <p:spPr>
          <a:xfrm>
            <a:off x="4526280" y="1874520"/>
            <a:ext cx="3154680" cy="502920"/>
          </a:xfrm>
          <a:prstGeom prst="rect">
            <a:avLst/>
          </a:prstGeom>
          <a:noFill/>
          <a:ln/>
        </p:spPr>
        <p:txBody>
          <a:bodyPr wrap="square" lIns="0" tIns="0" rIns="0" bIns="0" rtlCol="0" anchor="ctr"/>
          <a:lstStyle/>
          <a:p>
            <a:pPr marL="0" indent="0">
              <a:buNone/>
            </a:pPr>
            <a:r>
              <a:rPr lang="en-US" sz="1600" b="1" dirty="0">
                <a:solidFill>
                  <a:srgbClr val="0E7C7B"/>
                </a:solidFill>
                <a:latin typeface="Cambria" pitchFamily="34" charset="0"/>
                <a:ea typeface="Cambria" pitchFamily="34" charset="-122"/>
                <a:cs typeface="Cambria" pitchFamily="34" charset="-120"/>
              </a:rPr>
              <a:t>Immigration rate</a:t>
            </a:r>
            <a:endParaRPr lang="en-US" sz="1600" dirty="0"/>
          </a:p>
        </p:txBody>
      </p:sp>
      <p:sp>
        <p:nvSpPr>
          <p:cNvPr id="12" name="Text 10"/>
          <p:cNvSpPr txBox="1"/>
          <p:nvPr/>
        </p:nvSpPr>
        <p:spPr>
          <a:xfrm>
            <a:off x="4526280" y="2514600"/>
            <a:ext cx="3154680" cy="457200"/>
          </a:xfrm>
          <a:prstGeom prst="rect">
            <a:avLst/>
          </a:prstGeom>
          <a:noFill/>
          <a:ln/>
        </p:spPr>
        <p:txBody>
          <a:bodyPr wrap="square" lIns="0" tIns="0" rIns="0" bIns="0" rtlCol="0" anchor="ctr"/>
          <a:lstStyle/>
          <a:p>
            <a:pPr marL="0" indent="0">
              <a:buNone/>
            </a:pPr>
            <a:r>
              <a:rPr lang="en-US" sz="1250" dirty="0">
                <a:solidFill>
                  <a:srgbClr val="17233A"/>
                </a:solidFill>
                <a:latin typeface="Calibri" pitchFamily="34" charset="0"/>
                <a:ea typeface="Calibri" pitchFamily="34" charset="-122"/>
                <a:cs typeface="Calibri" pitchFamily="34" charset="-120"/>
              </a:rPr>
              <a:t>45,000 immigrants</a:t>
            </a:r>
            <a:endParaRPr lang="en-US" sz="1250" dirty="0"/>
          </a:p>
        </p:txBody>
      </p:sp>
      <p:sp>
        <p:nvSpPr>
          <p:cNvPr id="13" name="Text 11"/>
          <p:cNvSpPr txBox="1"/>
          <p:nvPr/>
        </p:nvSpPr>
        <p:spPr>
          <a:xfrm>
            <a:off x="4526280" y="3063240"/>
            <a:ext cx="3154680" cy="822960"/>
          </a:xfrm>
          <a:prstGeom prst="rect">
            <a:avLst/>
          </a:prstGeom>
          <a:noFill/>
          <a:ln/>
        </p:spPr>
        <p:txBody>
          <a:bodyPr wrap="square" lIns="0" tIns="0" rIns="0" bIns="0" rtlCol="0" anchor="ctr"/>
          <a:lstStyle/>
          <a:p>
            <a:pPr marL="0" indent="0">
              <a:buNone/>
            </a:pPr>
            <a:r>
              <a:rPr lang="en-US" sz="1200" dirty="0">
                <a:solidFill>
                  <a:srgbClr val="17233A"/>
                </a:solidFill>
                <a:latin typeface="Courier New" pitchFamily="34" charset="0"/>
                <a:ea typeface="Courier New" pitchFamily="34" charset="-122"/>
                <a:cs typeface="Courier New" pitchFamily="34" charset="-120"/>
              </a:rPr>
              <a:t>(45,000 / 5,000,000) × 1,000</a:t>
            </a:r>
            <a:endParaRPr lang="en-US" sz="1200" dirty="0"/>
          </a:p>
        </p:txBody>
      </p:sp>
      <p:sp>
        <p:nvSpPr>
          <p:cNvPr id="14" name="Text 12"/>
          <p:cNvSpPr txBox="1"/>
          <p:nvPr/>
        </p:nvSpPr>
        <p:spPr>
          <a:xfrm>
            <a:off x="4526280" y="4069080"/>
            <a:ext cx="3154680" cy="9144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 9.0</a:t>
            </a:r>
            <a:endParaRPr lang="en-US" sz="3000" dirty="0"/>
          </a:p>
        </p:txBody>
      </p:sp>
      <p:sp>
        <p:nvSpPr>
          <p:cNvPr id="15" name="Text 13"/>
          <p:cNvSpPr txBox="1"/>
          <p:nvPr/>
        </p:nvSpPr>
        <p:spPr>
          <a:xfrm>
            <a:off x="4526280" y="4892040"/>
            <a:ext cx="3154680" cy="365760"/>
          </a:xfrm>
          <a:prstGeom prst="rect">
            <a:avLst/>
          </a:prstGeom>
          <a:noFill/>
          <a:ln/>
        </p:spPr>
        <p:txBody>
          <a:bodyPr wrap="square" lIns="0" tIns="0" rIns="0" bIns="0" rtlCol="0" anchor="ctr"/>
          <a:lstStyle/>
          <a:p>
            <a:pPr marL="0" indent="0">
              <a:buNone/>
            </a:pPr>
            <a:r>
              <a:rPr lang="en-US" sz="1050" i="1" dirty="0">
                <a:solidFill>
                  <a:srgbClr val="5B6B82"/>
                </a:solidFill>
                <a:latin typeface="Calibri" pitchFamily="34" charset="0"/>
                <a:ea typeface="Calibri" pitchFamily="34" charset="-122"/>
                <a:cs typeface="Calibri" pitchFamily="34" charset="-120"/>
              </a:rPr>
              <a:t>per 1,000 population</a:t>
            </a:r>
            <a:endParaRPr lang="en-US" sz="1050" dirty="0"/>
          </a:p>
        </p:txBody>
      </p:sp>
      <p:sp>
        <p:nvSpPr>
          <p:cNvPr id="16" name="Shape 14"/>
          <p:cNvSpPr/>
          <p:nvPr/>
        </p:nvSpPr>
        <p:spPr>
          <a:xfrm>
            <a:off x="8092440" y="1645920"/>
            <a:ext cx="3611880" cy="3931920"/>
          </a:xfrm>
          <a:prstGeom prst="roundRect">
            <a:avLst>
              <a:gd name="adj" fmla="val 2532"/>
            </a:avLst>
          </a:prstGeom>
          <a:solidFill>
            <a:srgbClr val="F3F6FA"/>
          </a:solidFill>
          <a:ln/>
        </p:spPr>
      </p:sp>
      <p:sp>
        <p:nvSpPr>
          <p:cNvPr id="17" name="Text 15"/>
          <p:cNvSpPr txBox="1"/>
          <p:nvPr/>
        </p:nvSpPr>
        <p:spPr>
          <a:xfrm>
            <a:off x="8321040" y="1874520"/>
            <a:ext cx="3154680" cy="502920"/>
          </a:xfrm>
          <a:prstGeom prst="rect">
            <a:avLst/>
          </a:prstGeom>
          <a:noFill/>
          <a:ln/>
        </p:spPr>
        <p:txBody>
          <a:bodyPr wrap="square" lIns="0" tIns="0" rIns="0" bIns="0" rtlCol="0" anchor="ctr"/>
          <a:lstStyle/>
          <a:p>
            <a:pPr marL="0" indent="0">
              <a:buNone/>
            </a:pPr>
            <a:r>
              <a:rPr lang="en-US" sz="1600" b="1" dirty="0">
                <a:solidFill>
                  <a:srgbClr val="0E7C7B"/>
                </a:solidFill>
                <a:latin typeface="Cambria" pitchFamily="34" charset="0"/>
                <a:ea typeface="Cambria" pitchFamily="34" charset="-122"/>
                <a:cs typeface="Cambria" pitchFamily="34" charset="-120"/>
              </a:rPr>
              <a:t>Net migration rate</a:t>
            </a:r>
            <a:endParaRPr lang="en-US" sz="1600" dirty="0"/>
          </a:p>
        </p:txBody>
      </p:sp>
      <p:sp>
        <p:nvSpPr>
          <p:cNvPr id="18" name="Text 16"/>
          <p:cNvSpPr txBox="1"/>
          <p:nvPr/>
        </p:nvSpPr>
        <p:spPr>
          <a:xfrm>
            <a:off x="8321040" y="2514600"/>
            <a:ext cx="3154680" cy="457200"/>
          </a:xfrm>
          <a:prstGeom prst="rect">
            <a:avLst/>
          </a:prstGeom>
          <a:noFill/>
          <a:ln/>
        </p:spPr>
        <p:txBody>
          <a:bodyPr wrap="square" lIns="0" tIns="0" rIns="0" bIns="0" rtlCol="0" anchor="ctr"/>
          <a:lstStyle/>
          <a:p>
            <a:pPr marL="0" indent="0">
              <a:buNone/>
            </a:pPr>
            <a:r>
              <a:rPr lang="en-US" sz="1250" dirty="0">
                <a:solidFill>
                  <a:srgbClr val="17233A"/>
                </a:solidFill>
                <a:latin typeface="Calibri" pitchFamily="34" charset="0"/>
                <a:ea typeface="Calibri" pitchFamily="34" charset="-122"/>
                <a:cs typeface="Calibri" pitchFamily="34" charset="-120"/>
              </a:rPr>
              <a:t>45,000 − 62,000 = −17,000</a:t>
            </a:r>
            <a:endParaRPr lang="en-US" sz="1250" dirty="0"/>
          </a:p>
        </p:txBody>
      </p:sp>
      <p:sp>
        <p:nvSpPr>
          <p:cNvPr id="19" name="Text 17"/>
          <p:cNvSpPr txBox="1"/>
          <p:nvPr/>
        </p:nvSpPr>
        <p:spPr>
          <a:xfrm>
            <a:off x="8321040" y="3063240"/>
            <a:ext cx="3154680" cy="822960"/>
          </a:xfrm>
          <a:prstGeom prst="rect">
            <a:avLst/>
          </a:prstGeom>
          <a:noFill/>
          <a:ln/>
        </p:spPr>
        <p:txBody>
          <a:bodyPr wrap="square" lIns="0" tIns="0" rIns="0" bIns="0" rtlCol="0" anchor="ctr"/>
          <a:lstStyle/>
          <a:p>
            <a:pPr marL="0" indent="0">
              <a:buNone/>
            </a:pPr>
            <a:r>
              <a:rPr lang="en-US" sz="1200" dirty="0">
                <a:solidFill>
                  <a:srgbClr val="17233A"/>
                </a:solidFill>
                <a:latin typeface="Courier New" pitchFamily="34" charset="0"/>
                <a:ea typeface="Courier New" pitchFamily="34" charset="-122"/>
                <a:cs typeface="Courier New" pitchFamily="34" charset="-120"/>
              </a:rPr>
              <a:t>(−17,000 / 5,000,000) × 1,000</a:t>
            </a:r>
            <a:endParaRPr lang="en-US" sz="1200" dirty="0"/>
          </a:p>
        </p:txBody>
      </p:sp>
      <p:sp>
        <p:nvSpPr>
          <p:cNvPr id="20" name="Text 18"/>
          <p:cNvSpPr txBox="1"/>
          <p:nvPr/>
        </p:nvSpPr>
        <p:spPr>
          <a:xfrm>
            <a:off x="8321040" y="4069080"/>
            <a:ext cx="3154680" cy="9144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 −3.4</a:t>
            </a:r>
            <a:endParaRPr lang="en-US" sz="3000" dirty="0"/>
          </a:p>
        </p:txBody>
      </p:sp>
      <p:sp>
        <p:nvSpPr>
          <p:cNvPr id="21" name="Text 19"/>
          <p:cNvSpPr txBox="1"/>
          <p:nvPr/>
        </p:nvSpPr>
        <p:spPr>
          <a:xfrm>
            <a:off x="8321040" y="4892040"/>
            <a:ext cx="3154680" cy="365760"/>
          </a:xfrm>
          <a:prstGeom prst="rect">
            <a:avLst/>
          </a:prstGeom>
          <a:noFill/>
          <a:ln/>
        </p:spPr>
        <p:txBody>
          <a:bodyPr wrap="square" lIns="0" tIns="0" rIns="0" bIns="0" rtlCol="0" anchor="ctr"/>
          <a:lstStyle/>
          <a:p>
            <a:pPr marL="0" indent="0">
              <a:buNone/>
            </a:pPr>
            <a:r>
              <a:rPr lang="en-US" sz="1050" i="1" dirty="0">
                <a:solidFill>
                  <a:srgbClr val="5B6B82"/>
                </a:solidFill>
                <a:latin typeface="Calibri" pitchFamily="34" charset="0"/>
                <a:ea typeface="Calibri" pitchFamily="34" charset="-122"/>
                <a:cs typeface="Calibri" pitchFamily="34" charset="-120"/>
              </a:rPr>
              <a:t>per 1,000 population</a:t>
            </a:r>
            <a:endParaRPr lang="en-US" sz="1050" dirty="0"/>
          </a:p>
        </p:txBody>
      </p:sp>
      <p:sp>
        <p:nvSpPr>
          <p:cNvPr id="22" name="Text 20"/>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23" name="Text 21"/>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13 / 57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EXAMPLE 1 — GLOBAL, 2024-2025</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The State of Global Migration</a:t>
            </a:r>
            <a:endParaRPr lang="en-US" sz="2900" dirty="0"/>
          </a:p>
        </p:txBody>
      </p:sp>
      <p:sp>
        <p:nvSpPr>
          <p:cNvPr id="4" name="Shape 2"/>
          <p:cNvSpPr/>
          <p:nvPr/>
        </p:nvSpPr>
        <p:spPr>
          <a:xfrm>
            <a:off x="548640" y="1691640"/>
            <a:ext cx="3520440" cy="2331720"/>
          </a:xfrm>
          <a:prstGeom prst="roundRect">
            <a:avLst>
              <a:gd name="adj" fmla="val 3922"/>
            </a:avLst>
          </a:prstGeom>
          <a:solidFill>
            <a:srgbClr val="F3F6FA"/>
          </a:solidFill>
          <a:ln/>
        </p:spPr>
      </p:sp>
      <p:sp>
        <p:nvSpPr>
          <p:cNvPr id="5" name="Text 3"/>
          <p:cNvSpPr txBox="1"/>
          <p:nvPr/>
        </p:nvSpPr>
        <p:spPr>
          <a:xfrm>
            <a:off x="731520" y="1874520"/>
            <a:ext cx="3154680" cy="914400"/>
          </a:xfrm>
          <a:prstGeom prst="rect">
            <a:avLst/>
          </a:prstGeom>
          <a:noFill/>
          <a:ln/>
        </p:spPr>
        <p:txBody>
          <a:bodyPr wrap="square" lIns="0" tIns="0" rIns="0" bIns="0" rtlCol="0" anchor="ctr"/>
          <a:lstStyle/>
          <a:p>
            <a:pPr marL="0" indent="0">
              <a:buNone/>
            </a:pPr>
            <a:r>
              <a:rPr lang="en-US" sz="3800" b="1" dirty="0">
                <a:solidFill>
                  <a:srgbClr val="0E7C7B"/>
                </a:solidFill>
                <a:latin typeface="Cambria" pitchFamily="34" charset="0"/>
                <a:ea typeface="Cambria" pitchFamily="34" charset="-122"/>
                <a:cs typeface="Cambria" pitchFamily="34" charset="-120"/>
              </a:rPr>
              <a:t>304M</a:t>
            </a:r>
            <a:endParaRPr lang="en-US" sz="3800" dirty="0"/>
          </a:p>
        </p:txBody>
      </p:sp>
      <p:sp>
        <p:nvSpPr>
          <p:cNvPr id="6" name="Text 4"/>
          <p:cNvSpPr txBox="1"/>
          <p:nvPr/>
        </p:nvSpPr>
        <p:spPr>
          <a:xfrm>
            <a:off x="731520" y="2743200"/>
            <a:ext cx="3154680" cy="1188720"/>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international migrants worldwide by mid-2024 — 3.7% of the world's population</a:t>
            </a:r>
            <a:endParaRPr lang="en-US" sz="1300" dirty="0"/>
          </a:p>
        </p:txBody>
      </p:sp>
      <p:sp>
        <p:nvSpPr>
          <p:cNvPr id="7" name="Shape 5"/>
          <p:cNvSpPr/>
          <p:nvPr/>
        </p:nvSpPr>
        <p:spPr>
          <a:xfrm>
            <a:off x="4389120" y="1691640"/>
            <a:ext cx="3520440" cy="2331720"/>
          </a:xfrm>
          <a:prstGeom prst="roundRect">
            <a:avLst>
              <a:gd name="adj" fmla="val 3922"/>
            </a:avLst>
          </a:prstGeom>
          <a:solidFill>
            <a:srgbClr val="F3F6FA"/>
          </a:solidFill>
          <a:ln/>
        </p:spPr>
      </p:sp>
      <p:sp>
        <p:nvSpPr>
          <p:cNvPr id="8" name="Text 6"/>
          <p:cNvSpPr txBox="1"/>
          <p:nvPr/>
        </p:nvSpPr>
        <p:spPr>
          <a:xfrm>
            <a:off x="4572000" y="1874520"/>
            <a:ext cx="3154680" cy="914400"/>
          </a:xfrm>
          <a:prstGeom prst="rect">
            <a:avLst/>
          </a:prstGeom>
          <a:noFill/>
          <a:ln/>
        </p:spPr>
        <p:txBody>
          <a:bodyPr wrap="square" lIns="0" tIns="0" rIns="0" bIns="0" rtlCol="0" anchor="ctr"/>
          <a:lstStyle/>
          <a:p>
            <a:pPr marL="0" indent="0">
              <a:buNone/>
            </a:pPr>
            <a:r>
              <a:rPr lang="en-US" sz="3800" b="1" dirty="0">
                <a:solidFill>
                  <a:srgbClr val="0E7C7B"/>
                </a:solidFill>
                <a:latin typeface="Cambria" pitchFamily="34" charset="0"/>
                <a:ea typeface="Cambria" pitchFamily="34" charset="-122"/>
                <a:cs typeface="Cambria" pitchFamily="34" charset="-120"/>
              </a:rPr>
              <a:t>83.4M</a:t>
            </a:r>
            <a:endParaRPr lang="en-US" sz="3800" dirty="0"/>
          </a:p>
        </p:txBody>
      </p:sp>
      <p:sp>
        <p:nvSpPr>
          <p:cNvPr id="9" name="Text 7"/>
          <p:cNvSpPr txBox="1"/>
          <p:nvPr/>
        </p:nvSpPr>
        <p:spPr>
          <a:xfrm>
            <a:off x="4572000" y="2743200"/>
            <a:ext cx="3154680" cy="1188720"/>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people living in internal displacement at end-2024 — a new record</a:t>
            </a:r>
            <a:endParaRPr lang="en-US" sz="1300" dirty="0"/>
          </a:p>
        </p:txBody>
      </p:sp>
      <p:sp>
        <p:nvSpPr>
          <p:cNvPr id="10" name="Shape 8"/>
          <p:cNvSpPr/>
          <p:nvPr/>
        </p:nvSpPr>
        <p:spPr>
          <a:xfrm>
            <a:off x="8229600" y="1691640"/>
            <a:ext cx="3520440" cy="2331720"/>
          </a:xfrm>
          <a:prstGeom prst="roundRect">
            <a:avLst>
              <a:gd name="adj" fmla="val 3922"/>
            </a:avLst>
          </a:prstGeom>
          <a:solidFill>
            <a:srgbClr val="F3F6FA"/>
          </a:solidFill>
          <a:ln/>
        </p:spPr>
      </p:sp>
      <p:sp>
        <p:nvSpPr>
          <p:cNvPr id="11" name="Text 9"/>
          <p:cNvSpPr txBox="1"/>
          <p:nvPr/>
        </p:nvSpPr>
        <p:spPr>
          <a:xfrm>
            <a:off x="8412480" y="1874520"/>
            <a:ext cx="3154680" cy="914400"/>
          </a:xfrm>
          <a:prstGeom prst="rect">
            <a:avLst/>
          </a:prstGeom>
          <a:noFill/>
          <a:ln/>
        </p:spPr>
        <p:txBody>
          <a:bodyPr wrap="square" lIns="0" tIns="0" rIns="0" bIns="0" rtlCol="0" anchor="ctr"/>
          <a:lstStyle/>
          <a:p>
            <a:pPr marL="0" indent="0">
              <a:buNone/>
            </a:pPr>
            <a:r>
              <a:rPr lang="en-US" sz="3800" b="1" dirty="0">
                <a:solidFill>
                  <a:srgbClr val="0E7C7B"/>
                </a:solidFill>
                <a:latin typeface="Cambria" pitchFamily="34" charset="0"/>
                <a:ea typeface="Cambria" pitchFamily="34" charset="-122"/>
                <a:cs typeface="Cambria" pitchFamily="34" charset="-120"/>
              </a:rPr>
              <a:t>45.8M</a:t>
            </a:r>
            <a:endParaRPr lang="en-US" sz="3800" dirty="0"/>
          </a:p>
        </p:txBody>
      </p:sp>
      <p:sp>
        <p:nvSpPr>
          <p:cNvPr id="12" name="Text 10"/>
          <p:cNvSpPr txBox="1"/>
          <p:nvPr/>
        </p:nvSpPr>
        <p:spPr>
          <a:xfrm>
            <a:off x="8412480" y="2743200"/>
            <a:ext cx="3154680" cy="1188720"/>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internal displacements triggered by disasters in 2024 alone — the highest since monitoring began in 2008</a:t>
            </a:r>
            <a:endParaRPr lang="en-US" sz="1300" dirty="0"/>
          </a:p>
        </p:txBody>
      </p:sp>
      <p:sp>
        <p:nvSpPr>
          <p:cNvPr id="13" name="Text 11"/>
          <p:cNvSpPr txBox="1"/>
          <p:nvPr/>
        </p:nvSpPr>
        <p:spPr>
          <a:xfrm>
            <a:off x="548640" y="4206240"/>
            <a:ext cx="11064240" cy="822960"/>
          </a:xfrm>
          <a:prstGeom prst="rect">
            <a:avLst/>
          </a:prstGeom>
          <a:noFill/>
          <a:ln/>
        </p:spPr>
        <p:txBody>
          <a:bodyPr wrap="square" lIns="0" tIns="0" rIns="0" bIns="0" rtlCol="0" anchor="ctr"/>
          <a:lstStyle/>
          <a:p>
            <a:pPr marL="0" indent="0">
              <a:lnSpc>
                <a:spcPct val="115000"/>
              </a:lnSpc>
              <a:buNone/>
            </a:pPr>
            <a:r>
              <a:rPr lang="en-US" sz="1350" i="1" dirty="0">
                <a:solidFill>
                  <a:srgbClr val="17233A"/>
                </a:solidFill>
                <a:latin typeface="Calibri" pitchFamily="34" charset="0"/>
                <a:ea typeface="Calibri" pitchFamily="34" charset="-122"/>
                <a:cs typeface="Calibri" pitchFamily="34" charset="-120"/>
              </a:rPr>
              <a:t>Migration and displacement stocks and flows are now updated annually — but even annual figures lag fast-moving crises by months.</a:t>
            </a:r>
            <a:endParaRPr lang="en-US" sz="1350" dirty="0"/>
          </a:p>
        </p:txBody>
      </p:sp>
      <p:sp>
        <p:nvSpPr>
          <p:cNvPr id="14" name="Text 12"/>
          <p:cNvSpPr txBox="1"/>
          <p:nvPr/>
        </p:nvSpPr>
        <p:spPr>
          <a:xfrm>
            <a:off x="548640" y="6108192"/>
            <a:ext cx="11064240" cy="384048"/>
          </a:xfrm>
          <a:prstGeom prst="rect">
            <a:avLst/>
          </a:prstGeom>
          <a:noFill/>
          <a:ln/>
        </p:spPr>
        <p:txBody>
          <a:bodyPr wrap="square" lIns="0" tIns="0" rIns="0" bIns="0" rtlCol="0" anchor="ctr"/>
          <a:lstStyle/>
          <a:p>
            <a:pPr marL="0" indent="0">
              <a:buNone/>
            </a:pPr>
            <a:r>
              <a:rPr lang="en-US" sz="1050" i="1" dirty="0">
                <a:solidFill>
                  <a:srgbClr val="5B6B82"/>
                </a:solidFill>
                <a:latin typeface="Calibri" pitchFamily="34" charset="0"/>
                <a:ea typeface="Calibri" pitchFamily="34" charset="-122"/>
                <a:cs typeface="Calibri" pitchFamily="34" charset="-120"/>
              </a:rPr>
              <a:t>Source: International Organization for Migration (2024), World Migration Report 2024; Internal Displacement Monitoring Centre (2025), Global Report on Internal Displacement (GRID) 2025.</a:t>
            </a:r>
            <a:endParaRPr lang="en-US" sz="1050" dirty="0"/>
          </a:p>
        </p:txBody>
      </p:sp>
      <p:sp>
        <p:nvSpPr>
          <p:cNvPr id="15" name="Text 13"/>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16" name="Text 14"/>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14 / 57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CHART — REAL 2024 DATA</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Top 5 Remittance-Receiving Countries, 2024 (US$ Billions)</a:t>
            </a:r>
            <a:endParaRPr lang="en-US" sz="2900" dirty="0"/>
          </a:p>
        </p:txBody>
      </p:sp>
      <p:graphicFrame>
        <p:nvGraphicFramePr>
          <p:cNvPr id="4" name="Chart 0"/>
          <p:cNvGraphicFramePr/>
          <p:nvPr/>
        </p:nvGraphicFramePr>
        <p:xfrm>
          <a:off x="640080" y="1600200"/>
          <a:ext cx="1088136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548640" y="5989320"/>
            <a:ext cx="11064240" cy="384048"/>
          </a:xfrm>
          <a:prstGeom prst="rect">
            <a:avLst/>
          </a:prstGeom>
          <a:noFill/>
          <a:ln/>
        </p:spPr>
        <p:txBody>
          <a:bodyPr wrap="square" lIns="0" tIns="0" rIns="0" bIns="0" rtlCol="0" anchor="ctr"/>
          <a:lstStyle/>
          <a:p>
            <a:pPr marL="0" indent="0">
              <a:buNone/>
            </a:pPr>
            <a:r>
              <a:rPr lang="en-US" sz="1050" i="1" dirty="0">
                <a:solidFill>
                  <a:srgbClr val="5B6B82"/>
                </a:solidFill>
                <a:latin typeface="Calibri" pitchFamily="34" charset="0"/>
                <a:ea typeface="Calibri" pitchFamily="34" charset="-122"/>
                <a:cs typeface="Calibri" pitchFamily="34" charset="-120"/>
              </a:rPr>
              <a:t>Source: World Bank (2024), Migration and Development Brief; remittances to low- and middle-income countries reached an estimated US$685 billion in 2024.</a:t>
            </a:r>
            <a:endParaRPr lang="en-US" sz="1050" dirty="0"/>
          </a:p>
        </p:txBody>
      </p:sp>
      <p:sp>
        <p:nvSpPr>
          <p:cNvPr id="6" name="Text 3"/>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7" name="Text 4"/>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15 / 57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EXAMPLE 2 — REAL ECONOMIC CONSEQUENCE</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Remittances: Migration's Largest Measurable Economic Flow</a:t>
            </a:r>
            <a:endParaRPr lang="en-US" sz="2900" dirty="0"/>
          </a:p>
        </p:txBody>
      </p:sp>
      <p:sp>
        <p:nvSpPr>
          <p:cNvPr id="4" name="Shape 2"/>
          <p:cNvSpPr/>
          <p:nvPr/>
        </p:nvSpPr>
        <p:spPr>
          <a:xfrm>
            <a:off x="548640" y="1691640"/>
            <a:ext cx="3520440" cy="2331720"/>
          </a:xfrm>
          <a:prstGeom prst="roundRect">
            <a:avLst>
              <a:gd name="adj" fmla="val 3922"/>
            </a:avLst>
          </a:prstGeom>
          <a:solidFill>
            <a:srgbClr val="F3F6FA"/>
          </a:solidFill>
          <a:ln/>
        </p:spPr>
      </p:sp>
      <p:sp>
        <p:nvSpPr>
          <p:cNvPr id="5" name="Text 3"/>
          <p:cNvSpPr txBox="1"/>
          <p:nvPr/>
        </p:nvSpPr>
        <p:spPr>
          <a:xfrm>
            <a:off x="731520" y="1874520"/>
            <a:ext cx="3154680" cy="914400"/>
          </a:xfrm>
          <a:prstGeom prst="rect">
            <a:avLst/>
          </a:prstGeom>
          <a:noFill/>
          <a:ln/>
        </p:spPr>
        <p:txBody>
          <a:bodyPr wrap="square" lIns="0" tIns="0" rIns="0" bIns="0" rtlCol="0" anchor="ctr"/>
          <a:lstStyle/>
          <a:p>
            <a:pPr marL="0" indent="0">
              <a:buNone/>
            </a:pPr>
            <a:r>
              <a:rPr lang="en-US" sz="3800" b="1" dirty="0">
                <a:solidFill>
                  <a:srgbClr val="0E7C7B"/>
                </a:solidFill>
                <a:latin typeface="Cambria" pitchFamily="34" charset="0"/>
                <a:ea typeface="Cambria" pitchFamily="34" charset="-122"/>
                <a:cs typeface="Cambria" pitchFamily="34" charset="-120"/>
              </a:rPr>
              <a:t>$685B</a:t>
            </a:r>
            <a:endParaRPr lang="en-US" sz="3800" dirty="0"/>
          </a:p>
        </p:txBody>
      </p:sp>
      <p:sp>
        <p:nvSpPr>
          <p:cNvPr id="6" name="Text 4"/>
          <p:cNvSpPr txBox="1"/>
          <p:nvPr/>
        </p:nvSpPr>
        <p:spPr>
          <a:xfrm>
            <a:off x="731520" y="2743200"/>
            <a:ext cx="3154680" cy="1188720"/>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in remittances flowed to low- and middle-income countries in 2024 — larger than FDI and ODA combined</a:t>
            </a:r>
            <a:endParaRPr lang="en-US" sz="1300" dirty="0"/>
          </a:p>
        </p:txBody>
      </p:sp>
      <p:sp>
        <p:nvSpPr>
          <p:cNvPr id="7" name="Shape 5"/>
          <p:cNvSpPr/>
          <p:nvPr/>
        </p:nvSpPr>
        <p:spPr>
          <a:xfrm>
            <a:off x="4389120" y="1691640"/>
            <a:ext cx="3520440" cy="2331720"/>
          </a:xfrm>
          <a:prstGeom prst="roundRect">
            <a:avLst>
              <a:gd name="adj" fmla="val 3922"/>
            </a:avLst>
          </a:prstGeom>
          <a:solidFill>
            <a:srgbClr val="F3F6FA"/>
          </a:solidFill>
          <a:ln/>
        </p:spPr>
      </p:sp>
      <p:sp>
        <p:nvSpPr>
          <p:cNvPr id="8" name="Text 6"/>
          <p:cNvSpPr txBox="1"/>
          <p:nvPr/>
        </p:nvSpPr>
        <p:spPr>
          <a:xfrm>
            <a:off x="4572000" y="1874520"/>
            <a:ext cx="3154680" cy="914400"/>
          </a:xfrm>
          <a:prstGeom prst="rect">
            <a:avLst/>
          </a:prstGeom>
          <a:noFill/>
          <a:ln/>
        </p:spPr>
        <p:txBody>
          <a:bodyPr wrap="square" lIns="0" tIns="0" rIns="0" bIns="0" rtlCol="0" anchor="ctr"/>
          <a:lstStyle/>
          <a:p>
            <a:pPr marL="0" indent="0">
              <a:buNone/>
            </a:pPr>
            <a:r>
              <a:rPr lang="en-US" sz="3800" b="1" dirty="0">
                <a:solidFill>
                  <a:srgbClr val="0E7C7B"/>
                </a:solidFill>
                <a:latin typeface="Cambria" pitchFamily="34" charset="0"/>
                <a:ea typeface="Cambria" pitchFamily="34" charset="-122"/>
                <a:cs typeface="Cambria" pitchFamily="34" charset="-120"/>
              </a:rPr>
              <a:t>$64.7B</a:t>
            </a:r>
            <a:endParaRPr lang="en-US" sz="3800" dirty="0"/>
          </a:p>
        </p:txBody>
      </p:sp>
      <p:sp>
        <p:nvSpPr>
          <p:cNvPr id="9" name="Text 7"/>
          <p:cNvSpPr txBox="1"/>
          <p:nvPr/>
        </p:nvSpPr>
        <p:spPr>
          <a:xfrm>
            <a:off x="4572000" y="2743200"/>
            <a:ext cx="3154680" cy="1188720"/>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sent to Mexico in 2024 via the US–Mexico corridor, the single largest bilateral remittance corridor in the world</a:t>
            </a:r>
            <a:endParaRPr lang="en-US" sz="1300" dirty="0"/>
          </a:p>
        </p:txBody>
      </p:sp>
      <p:sp>
        <p:nvSpPr>
          <p:cNvPr id="10" name="Shape 8"/>
          <p:cNvSpPr/>
          <p:nvPr/>
        </p:nvSpPr>
        <p:spPr>
          <a:xfrm>
            <a:off x="8229600" y="1691640"/>
            <a:ext cx="3520440" cy="2331720"/>
          </a:xfrm>
          <a:prstGeom prst="roundRect">
            <a:avLst>
              <a:gd name="adj" fmla="val 3922"/>
            </a:avLst>
          </a:prstGeom>
          <a:solidFill>
            <a:srgbClr val="F3F6FA"/>
          </a:solidFill>
          <a:ln/>
        </p:spPr>
      </p:sp>
      <p:sp>
        <p:nvSpPr>
          <p:cNvPr id="11" name="Text 9"/>
          <p:cNvSpPr txBox="1"/>
          <p:nvPr/>
        </p:nvSpPr>
        <p:spPr>
          <a:xfrm>
            <a:off x="8412480" y="1874520"/>
            <a:ext cx="3154680" cy="914400"/>
          </a:xfrm>
          <a:prstGeom prst="rect">
            <a:avLst/>
          </a:prstGeom>
          <a:noFill/>
          <a:ln/>
        </p:spPr>
        <p:txBody>
          <a:bodyPr wrap="square" lIns="0" tIns="0" rIns="0" bIns="0" rtlCol="0" anchor="ctr"/>
          <a:lstStyle/>
          <a:p>
            <a:pPr marL="0" indent="0">
              <a:buNone/>
            </a:pPr>
            <a:r>
              <a:rPr lang="en-US" sz="3800" b="1" dirty="0">
                <a:solidFill>
                  <a:srgbClr val="0E7C7B"/>
                </a:solidFill>
                <a:latin typeface="Cambria" pitchFamily="34" charset="0"/>
                <a:ea typeface="Cambria" pitchFamily="34" charset="-122"/>
                <a:cs typeface="Cambria" pitchFamily="34" charset="-120"/>
              </a:rPr>
              <a:t>3.7%</a:t>
            </a:r>
            <a:endParaRPr lang="en-US" sz="3800" dirty="0"/>
          </a:p>
        </p:txBody>
      </p:sp>
      <p:sp>
        <p:nvSpPr>
          <p:cNvPr id="12" name="Text 10"/>
          <p:cNvSpPr txBox="1"/>
          <p:nvPr/>
        </p:nvSpPr>
        <p:spPr>
          <a:xfrm>
            <a:off x="8412480" y="2743200"/>
            <a:ext cx="3154680" cy="1188720"/>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of Mexico's GDP that US-origin remittances represented in 2024 — a direct demographic-to-macroeconomic link</a:t>
            </a:r>
            <a:endParaRPr lang="en-US" sz="1300" dirty="0"/>
          </a:p>
        </p:txBody>
      </p:sp>
      <p:sp>
        <p:nvSpPr>
          <p:cNvPr id="13" name="Text 11"/>
          <p:cNvSpPr txBox="1"/>
          <p:nvPr/>
        </p:nvSpPr>
        <p:spPr>
          <a:xfrm>
            <a:off x="548640" y="4206240"/>
            <a:ext cx="11064240" cy="822960"/>
          </a:xfrm>
          <a:prstGeom prst="rect">
            <a:avLst/>
          </a:prstGeom>
          <a:noFill/>
          <a:ln/>
        </p:spPr>
        <p:txBody>
          <a:bodyPr wrap="square" lIns="0" tIns="0" rIns="0" bIns="0" rtlCol="0" anchor="ctr"/>
          <a:lstStyle/>
          <a:p>
            <a:pPr marL="0" indent="0">
              <a:lnSpc>
                <a:spcPct val="115000"/>
              </a:lnSpc>
              <a:buNone/>
            </a:pPr>
            <a:r>
              <a:rPr lang="en-US" sz="1350" i="1" dirty="0">
                <a:solidFill>
                  <a:srgbClr val="17233A"/>
                </a:solidFill>
                <a:latin typeface="Calibri" pitchFamily="34" charset="0"/>
                <a:ea typeface="Calibri" pitchFamily="34" charset="-122"/>
                <a:cs typeface="Calibri" pitchFamily="34" charset="-120"/>
              </a:rPr>
              <a:t>Remittances are one of the clearest real-world consequences of migration selectivity and volume — and one of the few migration-related flows tracked in near-real time through financial data.</a:t>
            </a:r>
            <a:endParaRPr lang="en-US" sz="1350" dirty="0"/>
          </a:p>
        </p:txBody>
      </p:sp>
      <p:sp>
        <p:nvSpPr>
          <p:cNvPr id="14" name="Text 12"/>
          <p:cNvSpPr txBox="1"/>
          <p:nvPr/>
        </p:nvSpPr>
        <p:spPr>
          <a:xfrm>
            <a:off x="548640" y="6108192"/>
            <a:ext cx="11064240" cy="384048"/>
          </a:xfrm>
          <a:prstGeom prst="rect">
            <a:avLst/>
          </a:prstGeom>
          <a:noFill/>
          <a:ln/>
        </p:spPr>
        <p:txBody>
          <a:bodyPr wrap="square" lIns="0" tIns="0" rIns="0" bIns="0" rtlCol="0" anchor="ctr"/>
          <a:lstStyle/>
          <a:p>
            <a:pPr marL="0" indent="0">
              <a:buNone/>
            </a:pPr>
            <a:r>
              <a:rPr lang="en-US" sz="1050" i="1" dirty="0">
                <a:solidFill>
                  <a:srgbClr val="5B6B82"/>
                </a:solidFill>
                <a:latin typeface="Calibri" pitchFamily="34" charset="0"/>
                <a:ea typeface="Calibri" pitchFamily="34" charset="-122"/>
                <a:cs typeface="Calibri" pitchFamily="34" charset="-120"/>
              </a:rPr>
              <a:t>Source: World Bank (2024), Migration and Development Brief 41; Banco de México / Inter-American Dialogue (2025), remittance data.</a:t>
            </a:r>
            <a:endParaRPr lang="en-US" sz="1050" dirty="0"/>
          </a:p>
        </p:txBody>
      </p:sp>
      <p:sp>
        <p:nvSpPr>
          <p:cNvPr id="15" name="Text 13"/>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16" name="Text 14"/>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16 / 57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IN-CLASS CALCULATION</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Try It: Compute a Net Migration Rate</a:t>
            </a:r>
            <a:endParaRPr lang="en-US" sz="2900" dirty="0"/>
          </a:p>
        </p:txBody>
      </p:sp>
      <p:sp>
        <p:nvSpPr>
          <p:cNvPr id="4" name="Shape 2"/>
          <p:cNvSpPr/>
          <p:nvPr/>
        </p:nvSpPr>
        <p:spPr>
          <a:xfrm>
            <a:off x="502920" y="1508760"/>
            <a:ext cx="11201400" cy="914400"/>
          </a:xfrm>
          <a:prstGeom prst="roundRect">
            <a:avLst>
              <a:gd name="adj" fmla="val 8000"/>
            </a:avLst>
          </a:prstGeom>
          <a:solidFill>
            <a:srgbClr val="E7EEF7"/>
          </a:solidFill>
          <a:ln/>
        </p:spPr>
      </p:sp>
      <p:sp>
        <p:nvSpPr>
          <p:cNvPr id="5" name="Text 3"/>
          <p:cNvSpPr txBox="1"/>
          <p:nvPr/>
        </p:nvSpPr>
        <p:spPr>
          <a:xfrm>
            <a:off x="777240" y="1508760"/>
            <a:ext cx="10652760" cy="914400"/>
          </a:xfrm>
          <a:prstGeom prst="rect">
            <a:avLst/>
          </a:prstGeom>
          <a:noFill/>
          <a:ln/>
        </p:spPr>
        <p:txBody>
          <a:bodyPr wrap="square" lIns="0" tIns="0" rIns="0" bIns="0" rtlCol="0" anchor="ctr"/>
          <a:lstStyle/>
          <a:p>
            <a:pPr marL="0" indent="0">
              <a:buNone/>
            </a:pPr>
            <a:r>
              <a:rPr lang="en-US" sz="1450" dirty="0">
                <a:solidFill>
                  <a:srgbClr val="17233A"/>
                </a:solidFill>
                <a:latin typeface="Calibri" pitchFamily="34" charset="0"/>
                <a:ea typeface="Calibri" pitchFamily="34" charset="-122"/>
                <a:cs typeface="Calibri" pitchFamily="34" charset="-120"/>
              </a:rPr>
              <a:t>A province records 38,000 in-migrants and 52,000 out-migrants in one year. Mid-year population is 2,400,000.</a:t>
            </a:r>
            <a:endParaRPr lang="en-US" sz="1450" dirty="0"/>
          </a:p>
        </p:txBody>
      </p:sp>
      <p:sp>
        <p:nvSpPr>
          <p:cNvPr id="6" name="Shape 4"/>
          <p:cNvSpPr/>
          <p:nvPr/>
        </p:nvSpPr>
        <p:spPr>
          <a:xfrm>
            <a:off x="502920" y="2606040"/>
            <a:ext cx="5440680" cy="2148840"/>
          </a:xfrm>
          <a:prstGeom prst="roundRect">
            <a:avLst>
              <a:gd name="adj" fmla="val 3404"/>
            </a:avLst>
          </a:prstGeom>
          <a:solidFill>
            <a:srgbClr val="F3F6FA"/>
          </a:solidFill>
          <a:ln/>
        </p:spPr>
      </p:sp>
      <p:sp>
        <p:nvSpPr>
          <p:cNvPr id="7" name="Text 5"/>
          <p:cNvSpPr txBox="1"/>
          <p:nvPr/>
        </p:nvSpPr>
        <p:spPr>
          <a:xfrm>
            <a:off x="685800" y="2743200"/>
            <a:ext cx="5074920" cy="365760"/>
          </a:xfrm>
          <a:prstGeom prst="rect">
            <a:avLst/>
          </a:prstGeom>
          <a:noFill/>
          <a:ln/>
        </p:spPr>
        <p:txBody>
          <a:bodyPr wrap="square" lIns="0" tIns="0" rIns="0" bIns="0" rtlCol="0" anchor="ctr"/>
          <a:lstStyle/>
          <a:p>
            <a:pPr marL="0" indent="0">
              <a:buNone/>
            </a:pPr>
            <a:r>
              <a:rPr lang="en-US" sz="1250" b="1" dirty="0">
                <a:solidFill>
                  <a:srgbClr val="0E7C7B"/>
                </a:solidFill>
                <a:latin typeface="Calibri" pitchFamily="34" charset="0"/>
                <a:ea typeface="Calibri" pitchFamily="34" charset="-122"/>
                <a:cs typeface="Calibri" pitchFamily="34" charset="-120"/>
              </a:rPr>
              <a:t>NET MIGRATION (COUNT)</a:t>
            </a:r>
            <a:endParaRPr lang="en-US" sz="1250" dirty="0"/>
          </a:p>
        </p:txBody>
      </p:sp>
      <p:sp>
        <p:nvSpPr>
          <p:cNvPr id="8" name="Text 6"/>
          <p:cNvSpPr txBox="1"/>
          <p:nvPr/>
        </p:nvSpPr>
        <p:spPr>
          <a:xfrm>
            <a:off x="685800" y="3108960"/>
            <a:ext cx="5074920" cy="548640"/>
          </a:xfrm>
          <a:prstGeom prst="rect">
            <a:avLst/>
          </a:prstGeom>
          <a:noFill/>
          <a:ln/>
        </p:spPr>
        <p:txBody>
          <a:bodyPr wrap="square" lIns="0" tIns="0" rIns="0" bIns="0" rtlCol="0" anchor="ctr"/>
          <a:lstStyle/>
          <a:p>
            <a:pPr marL="0" indent="0">
              <a:buNone/>
            </a:pPr>
            <a:r>
              <a:rPr lang="en-US" sz="1300" dirty="0">
                <a:solidFill>
                  <a:srgbClr val="17233A"/>
                </a:solidFill>
                <a:latin typeface="Courier New" pitchFamily="34" charset="0"/>
                <a:ea typeface="Courier New" pitchFamily="34" charset="-122"/>
                <a:cs typeface="Courier New" pitchFamily="34" charset="-120"/>
              </a:rPr>
              <a:t>38,000 − 52,000</a:t>
            </a:r>
            <a:endParaRPr lang="en-US" sz="1300" dirty="0"/>
          </a:p>
        </p:txBody>
      </p:sp>
      <p:sp>
        <p:nvSpPr>
          <p:cNvPr id="9" name="Text 7"/>
          <p:cNvSpPr txBox="1"/>
          <p:nvPr/>
        </p:nvSpPr>
        <p:spPr>
          <a:xfrm>
            <a:off x="685800" y="3794760"/>
            <a:ext cx="5074920" cy="822960"/>
          </a:xfrm>
          <a:prstGeom prst="rect">
            <a:avLst/>
          </a:prstGeom>
          <a:noFill/>
          <a:ln/>
        </p:spPr>
        <p:txBody>
          <a:bodyPr wrap="square" lIns="0" tIns="0" rIns="0" bIns="0" rtlCol="0" anchor="ctr"/>
          <a:lstStyle/>
          <a:p>
            <a:pPr marL="0" indent="0">
              <a:buNone/>
            </a:pPr>
            <a:r>
              <a:rPr lang="en-US" sz="2200" b="1" dirty="0">
                <a:solidFill>
                  <a:srgbClr val="1B2A4A"/>
                </a:solidFill>
                <a:latin typeface="Cambria" pitchFamily="34" charset="0"/>
                <a:ea typeface="Cambria" pitchFamily="34" charset="-122"/>
                <a:cs typeface="Cambria" pitchFamily="34" charset="-120"/>
              </a:rPr>
              <a:t>−14,000</a:t>
            </a:r>
            <a:endParaRPr lang="en-US" sz="2200" dirty="0"/>
          </a:p>
        </p:txBody>
      </p:sp>
      <p:sp>
        <p:nvSpPr>
          <p:cNvPr id="10" name="Shape 8"/>
          <p:cNvSpPr/>
          <p:nvPr/>
        </p:nvSpPr>
        <p:spPr>
          <a:xfrm>
            <a:off x="6263640" y="2606040"/>
            <a:ext cx="5440680" cy="2148840"/>
          </a:xfrm>
          <a:prstGeom prst="roundRect">
            <a:avLst>
              <a:gd name="adj" fmla="val 3404"/>
            </a:avLst>
          </a:prstGeom>
          <a:solidFill>
            <a:srgbClr val="F3F6FA"/>
          </a:solidFill>
          <a:ln/>
        </p:spPr>
      </p:sp>
      <p:sp>
        <p:nvSpPr>
          <p:cNvPr id="11" name="Text 9"/>
          <p:cNvSpPr txBox="1"/>
          <p:nvPr/>
        </p:nvSpPr>
        <p:spPr>
          <a:xfrm>
            <a:off x="6446520" y="2743200"/>
            <a:ext cx="5074920" cy="365760"/>
          </a:xfrm>
          <a:prstGeom prst="rect">
            <a:avLst/>
          </a:prstGeom>
          <a:noFill/>
          <a:ln/>
        </p:spPr>
        <p:txBody>
          <a:bodyPr wrap="square" lIns="0" tIns="0" rIns="0" bIns="0" rtlCol="0" anchor="ctr"/>
          <a:lstStyle/>
          <a:p>
            <a:pPr marL="0" indent="0">
              <a:buNone/>
            </a:pPr>
            <a:r>
              <a:rPr lang="en-US" sz="1250" b="1" dirty="0">
                <a:solidFill>
                  <a:srgbClr val="0E7C7B"/>
                </a:solidFill>
                <a:latin typeface="Calibri" pitchFamily="34" charset="0"/>
                <a:ea typeface="Calibri" pitchFamily="34" charset="-122"/>
                <a:cs typeface="Calibri" pitchFamily="34" charset="-120"/>
              </a:rPr>
              <a:t>NET MIGRATION RATE</a:t>
            </a:r>
            <a:endParaRPr lang="en-US" sz="1250" dirty="0"/>
          </a:p>
        </p:txBody>
      </p:sp>
      <p:sp>
        <p:nvSpPr>
          <p:cNvPr id="12" name="Text 10"/>
          <p:cNvSpPr txBox="1"/>
          <p:nvPr/>
        </p:nvSpPr>
        <p:spPr>
          <a:xfrm>
            <a:off x="6446520" y="3108960"/>
            <a:ext cx="5074920" cy="548640"/>
          </a:xfrm>
          <a:prstGeom prst="rect">
            <a:avLst/>
          </a:prstGeom>
          <a:noFill/>
          <a:ln/>
        </p:spPr>
        <p:txBody>
          <a:bodyPr wrap="square" lIns="0" tIns="0" rIns="0" bIns="0" rtlCol="0" anchor="ctr"/>
          <a:lstStyle/>
          <a:p>
            <a:pPr marL="0" indent="0">
              <a:buNone/>
            </a:pPr>
            <a:r>
              <a:rPr lang="en-US" sz="1300" dirty="0">
                <a:solidFill>
                  <a:srgbClr val="17233A"/>
                </a:solidFill>
                <a:latin typeface="Courier New" pitchFamily="34" charset="0"/>
                <a:ea typeface="Courier New" pitchFamily="34" charset="-122"/>
                <a:cs typeface="Courier New" pitchFamily="34" charset="-120"/>
              </a:rPr>
              <a:t>(−14,000 / 2,400,000) × 1,000</a:t>
            </a:r>
            <a:endParaRPr lang="en-US" sz="1300" dirty="0"/>
          </a:p>
        </p:txBody>
      </p:sp>
      <p:sp>
        <p:nvSpPr>
          <p:cNvPr id="13" name="Text 11"/>
          <p:cNvSpPr txBox="1"/>
          <p:nvPr/>
        </p:nvSpPr>
        <p:spPr>
          <a:xfrm>
            <a:off x="6446520" y="3794760"/>
            <a:ext cx="5074920" cy="822960"/>
          </a:xfrm>
          <a:prstGeom prst="rect">
            <a:avLst/>
          </a:prstGeom>
          <a:noFill/>
          <a:ln/>
        </p:spPr>
        <p:txBody>
          <a:bodyPr wrap="square" lIns="0" tIns="0" rIns="0" bIns="0" rtlCol="0" anchor="ctr"/>
          <a:lstStyle/>
          <a:p>
            <a:pPr marL="0" indent="0">
              <a:buNone/>
            </a:pPr>
            <a:r>
              <a:rPr lang="en-US" sz="2200" b="1" dirty="0">
                <a:solidFill>
                  <a:srgbClr val="1B2A4A"/>
                </a:solidFill>
                <a:latin typeface="Cambria" pitchFamily="34" charset="0"/>
                <a:ea typeface="Cambria" pitchFamily="34" charset="-122"/>
                <a:cs typeface="Cambria" pitchFamily="34" charset="-120"/>
              </a:rPr>
              <a:t>≈ −5.8</a:t>
            </a:r>
            <a:endParaRPr lang="en-US" sz="2200" dirty="0"/>
          </a:p>
        </p:txBody>
      </p:sp>
      <p:sp>
        <p:nvSpPr>
          <p:cNvPr id="14" name="Shape 12"/>
          <p:cNvSpPr/>
          <p:nvPr/>
        </p:nvSpPr>
        <p:spPr>
          <a:xfrm>
            <a:off x="502920" y="5029200"/>
            <a:ext cx="11201400" cy="914400"/>
          </a:xfrm>
          <a:prstGeom prst="roundRect">
            <a:avLst>
              <a:gd name="adj" fmla="val 8000"/>
            </a:avLst>
          </a:prstGeom>
          <a:solidFill>
            <a:srgbClr val="1B2A4A"/>
          </a:solidFill>
          <a:ln/>
        </p:spPr>
      </p:sp>
      <p:sp>
        <p:nvSpPr>
          <p:cNvPr id="15" name="Text 13"/>
          <p:cNvSpPr txBox="1"/>
          <p:nvPr/>
        </p:nvSpPr>
        <p:spPr>
          <a:xfrm>
            <a:off x="777240" y="5029200"/>
            <a:ext cx="10652760" cy="91440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DISCUSS: This province is a net sender of migrants — what data would you need to know if it is also losing its most educated workers (selectivity)?</a:t>
            </a:r>
            <a:endParaRPr lang="en-US" sz="1300" dirty="0"/>
          </a:p>
        </p:txBody>
      </p:sp>
      <p:sp>
        <p:nvSpPr>
          <p:cNvPr id="16" name="Text 14"/>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17" name="Text 15"/>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17 / 57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EXAMPLE 3 — JAPAN, 2024 (REAL DATA)</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A Second Worked Net Migration Rate: Japan</a:t>
            </a:r>
            <a:endParaRPr lang="en-US" sz="2900" dirty="0"/>
          </a:p>
        </p:txBody>
      </p:sp>
      <p:sp>
        <p:nvSpPr>
          <p:cNvPr id="4" name="Shape 2"/>
          <p:cNvSpPr/>
          <p:nvPr/>
        </p:nvSpPr>
        <p:spPr>
          <a:xfrm>
            <a:off x="502920" y="1508760"/>
            <a:ext cx="11201400" cy="914400"/>
          </a:xfrm>
          <a:prstGeom prst="roundRect">
            <a:avLst>
              <a:gd name="adj" fmla="val 8000"/>
            </a:avLst>
          </a:prstGeom>
          <a:solidFill>
            <a:srgbClr val="E7EEF7"/>
          </a:solidFill>
          <a:ln/>
        </p:spPr>
      </p:sp>
      <p:sp>
        <p:nvSpPr>
          <p:cNvPr id="5" name="Text 3"/>
          <p:cNvSpPr txBox="1"/>
          <p:nvPr/>
        </p:nvSpPr>
        <p:spPr>
          <a:xfrm>
            <a:off x="777240" y="1508760"/>
            <a:ext cx="10652760" cy="914400"/>
          </a:xfrm>
          <a:prstGeom prst="rect">
            <a:avLst/>
          </a:prstGeom>
          <a:noFill/>
          <a:ln/>
        </p:spPr>
        <p:txBody>
          <a:bodyPr wrap="square" lIns="0" tIns="0" rIns="0" bIns="0" rtlCol="0" anchor="ctr"/>
          <a:lstStyle/>
          <a:p>
            <a:pPr marL="0" indent="0">
              <a:buNone/>
            </a:pPr>
            <a:r>
              <a:rPr lang="en-US" sz="1450" dirty="0">
                <a:solidFill>
                  <a:srgbClr val="17233A"/>
                </a:solidFill>
                <a:latin typeface="Calibri" pitchFamily="34" charset="0"/>
                <a:ea typeface="Calibri" pitchFamily="34" charset="-122"/>
                <a:cs typeface="Calibri" pitchFamily="34" charset="-120"/>
              </a:rPr>
              <a:t>Japan recorded net migration of approximately +153,357 people in 2024 against a population of roughly 123.9 million — even as births fell to a record low of 686,061.</a:t>
            </a:r>
            <a:endParaRPr lang="en-US" sz="1450" dirty="0"/>
          </a:p>
        </p:txBody>
      </p:sp>
      <p:sp>
        <p:nvSpPr>
          <p:cNvPr id="6" name="Shape 4"/>
          <p:cNvSpPr/>
          <p:nvPr/>
        </p:nvSpPr>
        <p:spPr>
          <a:xfrm>
            <a:off x="502920" y="2606040"/>
            <a:ext cx="3520440" cy="2148840"/>
          </a:xfrm>
          <a:prstGeom prst="roundRect">
            <a:avLst>
              <a:gd name="adj" fmla="val 3404"/>
            </a:avLst>
          </a:prstGeom>
          <a:solidFill>
            <a:srgbClr val="F3F6FA"/>
          </a:solidFill>
          <a:ln/>
        </p:spPr>
      </p:sp>
      <p:sp>
        <p:nvSpPr>
          <p:cNvPr id="7" name="Text 5"/>
          <p:cNvSpPr txBox="1"/>
          <p:nvPr/>
        </p:nvSpPr>
        <p:spPr>
          <a:xfrm>
            <a:off x="685800" y="2743200"/>
            <a:ext cx="3154680" cy="365760"/>
          </a:xfrm>
          <a:prstGeom prst="rect">
            <a:avLst/>
          </a:prstGeom>
          <a:noFill/>
          <a:ln/>
        </p:spPr>
        <p:txBody>
          <a:bodyPr wrap="square" lIns="0" tIns="0" rIns="0" bIns="0" rtlCol="0" anchor="ctr"/>
          <a:lstStyle/>
          <a:p>
            <a:pPr marL="0" indent="0">
              <a:buNone/>
            </a:pPr>
            <a:r>
              <a:rPr lang="en-US" sz="1250" b="1" dirty="0">
                <a:solidFill>
                  <a:srgbClr val="0E7C7B"/>
                </a:solidFill>
                <a:latin typeface="Calibri" pitchFamily="34" charset="0"/>
                <a:ea typeface="Calibri" pitchFamily="34" charset="-122"/>
                <a:cs typeface="Calibri" pitchFamily="34" charset="-120"/>
              </a:rPr>
              <a:t>NET MIGRATION (2024)</a:t>
            </a:r>
            <a:endParaRPr lang="en-US" sz="1250" dirty="0"/>
          </a:p>
        </p:txBody>
      </p:sp>
      <p:sp>
        <p:nvSpPr>
          <p:cNvPr id="8" name="Text 6"/>
          <p:cNvSpPr txBox="1"/>
          <p:nvPr/>
        </p:nvSpPr>
        <p:spPr>
          <a:xfrm>
            <a:off x="685800" y="3108960"/>
            <a:ext cx="3154680" cy="548640"/>
          </a:xfrm>
          <a:prstGeom prst="rect">
            <a:avLst/>
          </a:prstGeom>
          <a:noFill/>
          <a:ln/>
        </p:spPr>
        <p:txBody>
          <a:bodyPr wrap="square" lIns="0" tIns="0" rIns="0" bIns="0" rtlCol="0" anchor="ctr"/>
          <a:lstStyle/>
          <a:p>
            <a:pPr marL="0" indent="0">
              <a:buNone/>
            </a:pPr>
            <a:r>
              <a:rPr lang="en-US" sz="1300" dirty="0">
                <a:solidFill>
                  <a:srgbClr val="17233A"/>
                </a:solidFill>
                <a:latin typeface="Courier New" pitchFamily="34" charset="0"/>
                <a:ea typeface="Courier New" pitchFamily="34" charset="-122"/>
                <a:cs typeface="Courier New" pitchFamily="34" charset="-120"/>
              </a:rPr>
              <a:t>+153,357 people</a:t>
            </a:r>
            <a:endParaRPr lang="en-US" sz="1300" dirty="0"/>
          </a:p>
        </p:txBody>
      </p:sp>
      <p:sp>
        <p:nvSpPr>
          <p:cNvPr id="9" name="Text 7"/>
          <p:cNvSpPr txBox="1"/>
          <p:nvPr/>
        </p:nvSpPr>
        <p:spPr>
          <a:xfrm>
            <a:off x="685800" y="3794760"/>
            <a:ext cx="3154680" cy="822960"/>
          </a:xfrm>
          <a:prstGeom prst="rect">
            <a:avLst/>
          </a:prstGeom>
          <a:noFill/>
          <a:ln/>
        </p:spPr>
        <p:txBody>
          <a:bodyPr wrap="square" lIns="0" tIns="0" rIns="0" bIns="0" rtlCol="0" anchor="ctr"/>
          <a:lstStyle/>
          <a:p>
            <a:pPr marL="0" indent="0">
              <a:buNone/>
            </a:pPr>
            <a:r>
              <a:rPr lang="en-US" sz="2200" b="1" dirty="0">
                <a:solidFill>
                  <a:srgbClr val="1B2A4A"/>
                </a:solidFill>
                <a:latin typeface="Cambria" pitchFamily="34" charset="0"/>
                <a:ea typeface="Cambria" pitchFamily="34" charset="-122"/>
                <a:cs typeface="Cambria" pitchFamily="34" charset="-120"/>
              </a:rPr>
              <a:t>positive</a:t>
            </a:r>
            <a:endParaRPr lang="en-US" sz="2200" dirty="0"/>
          </a:p>
        </p:txBody>
      </p:sp>
      <p:sp>
        <p:nvSpPr>
          <p:cNvPr id="10" name="Shape 8"/>
          <p:cNvSpPr/>
          <p:nvPr/>
        </p:nvSpPr>
        <p:spPr>
          <a:xfrm>
            <a:off x="4343400" y="2606040"/>
            <a:ext cx="3520440" cy="2148840"/>
          </a:xfrm>
          <a:prstGeom prst="roundRect">
            <a:avLst>
              <a:gd name="adj" fmla="val 3404"/>
            </a:avLst>
          </a:prstGeom>
          <a:solidFill>
            <a:srgbClr val="F3F6FA"/>
          </a:solidFill>
          <a:ln/>
        </p:spPr>
      </p:sp>
      <p:sp>
        <p:nvSpPr>
          <p:cNvPr id="11" name="Text 9"/>
          <p:cNvSpPr txBox="1"/>
          <p:nvPr/>
        </p:nvSpPr>
        <p:spPr>
          <a:xfrm>
            <a:off x="4526280" y="2743200"/>
            <a:ext cx="3154680" cy="365760"/>
          </a:xfrm>
          <a:prstGeom prst="rect">
            <a:avLst/>
          </a:prstGeom>
          <a:noFill/>
          <a:ln/>
        </p:spPr>
        <p:txBody>
          <a:bodyPr wrap="square" lIns="0" tIns="0" rIns="0" bIns="0" rtlCol="0" anchor="ctr"/>
          <a:lstStyle/>
          <a:p>
            <a:pPr marL="0" indent="0">
              <a:buNone/>
            </a:pPr>
            <a:r>
              <a:rPr lang="en-US" sz="1250" b="1" dirty="0">
                <a:solidFill>
                  <a:srgbClr val="0E7C7B"/>
                </a:solidFill>
                <a:latin typeface="Calibri" pitchFamily="34" charset="0"/>
                <a:ea typeface="Calibri" pitchFamily="34" charset="-122"/>
                <a:cs typeface="Calibri" pitchFamily="34" charset="-120"/>
              </a:rPr>
              <a:t>MID-YEAR POPULATION</a:t>
            </a:r>
            <a:endParaRPr lang="en-US" sz="1250" dirty="0"/>
          </a:p>
        </p:txBody>
      </p:sp>
      <p:sp>
        <p:nvSpPr>
          <p:cNvPr id="12" name="Text 10"/>
          <p:cNvSpPr txBox="1"/>
          <p:nvPr/>
        </p:nvSpPr>
        <p:spPr>
          <a:xfrm>
            <a:off x="4526280" y="3108960"/>
            <a:ext cx="3154680" cy="548640"/>
          </a:xfrm>
          <a:prstGeom prst="rect">
            <a:avLst/>
          </a:prstGeom>
          <a:noFill/>
          <a:ln/>
        </p:spPr>
        <p:txBody>
          <a:bodyPr wrap="square" lIns="0" tIns="0" rIns="0" bIns="0" rtlCol="0" anchor="ctr"/>
          <a:lstStyle/>
          <a:p>
            <a:pPr marL="0" indent="0">
              <a:buNone/>
            </a:pPr>
            <a:r>
              <a:rPr lang="en-US" sz="1300" dirty="0">
                <a:solidFill>
                  <a:srgbClr val="17233A"/>
                </a:solidFill>
                <a:latin typeface="Courier New" pitchFamily="34" charset="0"/>
                <a:ea typeface="Courier New" pitchFamily="34" charset="-122"/>
                <a:cs typeface="Courier New" pitchFamily="34" charset="-120"/>
              </a:rPr>
              <a:t>≈ 123,900,000</a:t>
            </a:r>
            <a:endParaRPr lang="en-US" sz="1300" dirty="0"/>
          </a:p>
        </p:txBody>
      </p:sp>
      <p:sp>
        <p:nvSpPr>
          <p:cNvPr id="13" name="Text 11"/>
          <p:cNvSpPr txBox="1"/>
          <p:nvPr/>
        </p:nvSpPr>
        <p:spPr>
          <a:xfrm>
            <a:off x="4526280" y="3794760"/>
            <a:ext cx="3154680" cy="822960"/>
          </a:xfrm>
          <a:prstGeom prst="rect">
            <a:avLst/>
          </a:prstGeom>
          <a:noFill/>
          <a:ln/>
        </p:spPr>
        <p:txBody>
          <a:bodyPr wrap="square" lIns="0" tIns="0" rIns="0" bIns="0" rtlCol="0" anchor="ctr"/>
          <a:lstStyle/>
          <a:p>
            <a:pPr marL="0" indent="0">
              <a:buNone/>
            </a:pPr>
            <a:r>
              <a:rPr lang="en-US" sz="2200" b="1" dirty="0">
                <a:solidFill>
                  <a:srgbClr val="1B2A4A"/>
                </a:solidFill>
                <a:latin typeface="Cambria" pitchFamily="34" charset="0"/>
                <a:ea typeface="Cambria" pitchFamily="34" charset="-122"/>
                <a:cs typeface="Cambria" pitchFamily="34" charset="-120"/>
              </a:rPr>
              <a:t>123.9M</a:t>
            </a:r>
            <a:endParaRPr lang="en-US" sz="2200" dirty="0"/>
          </a:p>
        </p:txBody>
      </p:sp>
      <p:sp>
        <p:nvSpPr>
          <p:cNvPr id="14" name="Shape 12"/>
          <p:cNvSpPr/>
          <p:nvPr/>
        </p:nvSpPr>
        <p:spPr>
          <a:xfrm>
            <a:off x="8183880" y="2606040"/>
            <a:ext cx="3520440" cy="2148840"/>
          </a:xfrm>
          <a:prstGeom prst="roundRect">
            <a:avLst>
              <a:gd name="adj" fmla="val 3404"/>
            </a:avLst>
          </a:prstGeom>
          <a:solidFill>
            <a:srgbClr val="F3F6FA"/>
          </a:solidFill>
          <a:ln/>
        </p:spPr>
      </p:sp>
      <p:sp>
        <p:nvSpPr>
          <p:cNvPr id="15" name="Text 13"/>
          <p:cNvSpPr txBox="1"/>
          <p:nvPr/>
        </p:nvSpPr>
        <p:spPr>
          <a:xfrm>
            <a:off x="8366760" y="2743200"/>
            <a:ext cx="3154680" cy="365760"/>
          </a:xfrm>
          <a:prstGeom prst="rect">
            <a:avLst/>
          </a:prstGeom>
          <a:noFill/>
          <a:ln/>
        </p:spPr>
        <p:txBody>
          <a:bodyPr wrap="square" lIns="0" tIns="0" rIns="0" bIns="0" rtlCol="0" anchor="ctr"/>
          <a:lstStyle/>
          <a:p>
            <a:pPr marL="0" indent="0">
              <a:buNone/>
            </a:pPr>
            <a:r>
              <a:rPr lang="en-US" sz="1250" b="1" dirty="0">
                <a:solidFill>
                  <a:srgbClr val="0E7C7B"/>
                </a:solidFill>
                <a:latin typeface="Calibri" pitchFamily="34" charset="0"/>
                <a:ea typeface="Calibri" pitchFamily="34" charset="-122"/>
                <a:cs typeface="Calibri" pitchFamily="34" charset="-120"/>
              </a:rPr>
              <a:t>NET MIGRATION RATE</a:t>
            </a:r>
            <a:endParaRPr lang="en-US" sz="1250" dirty="0"/>
          </a:p>
        </p:txBody>
      </p:sp>
      <p:sp>
        <p:nvSpPr>
          <p:cNvPr id="16" name="Text 14"/>
          <p:cNvSpPr txBox="1"/>
          <p:nvPr/>
        </p:nvSpPr>
        <p:spPr>
          <a:xfrm>
            <a:off x="8366760" y="3108960"/>
            <a:ext cx="3154680" cy="548640"/>
          </a:xfrm>
          <a:prstGeom prst="rect">
            <a:avLst/>
          </a:prstGeom>
          <a:noFill/>
          <a:ln/>
        </p:spPr>
        <p:txBody>
          <a:bodyPr wrap="square" lIns="0" tIns="0" rIns="0" bIns="0" rtlCol="0" anchor="ctr"/>
          <a:lstStyle/>
          <a:p>
            <a:pPr marL="0" indent="0">
              <a:buNone/>
            </a:pPr>
            <a:r>
              <a:rPr lang="en-US" sz="1300" dirty="0">
                <a:solidFill>
                  <a:srgbClr val="17233A"/>
                </a:solidFill>
                <a:latin typeface="Courier New" pitchFamily="34" charset="0"/>
                <a:ea typeface="Courier New" pitchFamily="34" charset="-122"/>
                <a:cs typeface="Courier New" pitchFamily="34" charset="-120"/>
              </a:rPr>
              <a:t>(153,357 / 123,900,000) × 1,000</a:t>
            </a:r>
            <a:endParaRPr lang="en-US" sz="1300" dirty="0"/>
          </a:p>
        </p:txBody>
      </p:sp>
      <p:sp>
        <p:nvSpPr>
          <p:cNvPr id="17" name="Text 15"/>
          <p:cNvSpPr txBox="1"/>
          <p:nvPr/>
        </p:nvSpPr>
        <p:spPr>
          <a:xfrm>
            <a:off x="8366760" y="3794760"/>
            <a:ext cx="3154680" cy="822960"/>
          </a:xfrm>
          <a:prstGeom prst="rect">
            <a:avLst/>
          </a:prstGeom>
          <a:noFill/>
          <a:ln/>
        </p:spPr>
        <p:txBody>
          <a:bodyPr wrap="square" lIns="0" tIns="0" rIns="0" bIns="0" rtlCol="0" anchor="ctr"/>
          <a:lstStyle/>
          <a:p>
            <a:pPr marL="0" indent="0">
              <a:buNone/>
            </a:pPr>
            <a:r>
              <a:rPr lang="en-US" sz="2200" b="1" dirty="0">
                <a:solidFill>
                  <a:srgbClr val="1B2A4A"/>
                </a:solidFill>
                <a:latin typeface="Cambria" pitchFamily="34" charset="0"/>
                <a:ea typeface="Cambria" pitchFamily="34" charset="-122"/>
                <a:cs typeface="Cambria" pitchFamily="34" charset="-120"/>
              </a:rPr>
              <a:t>≈ +1.2</a:t>
            </a:r>
            <a:endParaRPr lang="en-US" sz="2200" dirty="0"/>
          </a:p>
        </p:txBody>
      </p:sp>
      <p:sp>
        <p:nvSpPr>
          <p:cNvPr id="18" name="Shape 16"/>
          <p:cNvSpPr/>
          <p:nvPr/>
        </p:nvSpPr>
        <p:spPr>
          <a:xfrm>
            <a:off x="502920" y="5029200"/>
            <a:ext cx="11201400" cy="914400"/>
          </a:xfrm>
          <a:prstGeom prst="roundRect">
            <a:avLst>
              <a:gd name="adj" fmla="val 8000"/>
            </a:avLst>
          </a:prstGeom>
          <a:solidFill>
            <a:srgbClr val="1B2A4A"/>
          </a:solidFill>
          <a:ln/>
        </p:spPr>
      </p:sp>
      <p:sp>
        <p:nvSpPr>
          <p:cNvPr id="19" name="Text 17"/>
          <p:cNvSpPr txBox="1"/>
          <p:nvPr/>
        </p:nvSpPr>
        <p:spPr>
          <a:xfrm>
            <a:off x="777240" y="5029200"/>
            <a:ext cx="10652760" cy="91440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DISCUSS: Japan is simultaneously shrinking from natural decrease and growing slightly from net immigration — the two components can move in opposite directions in the same country.</a:t>
            </a:r>
            <a:endParaRPr lang="en-US" sz="1300" dirty="0"/>
          </a:p>
        </p:txBody>
      </p:sp>
      <p:sp>
        <p:nvSpPr>
          <p:cNvPr id="20" name="Text 18"/>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21" name="Text 19"/>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18 / 57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IN-CLASS DISCUSSION</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Discuss in Pairs (5 Minutes)</a:t>
            </a:r>
            <a:endParaRPr lang="en-US" sz="2900" dirty="0"/>
          </a:p>
        </p:txBody>
      </p:sp>
      <p:sp>
        <p:nvSpPr>
          <p:cNvPr id="4" name="Shape 2"/>
          <p:cNvSpPr/>
          <p:nvPr/>
        </p:nvSpPr>
        <p:spPr>
          <a:xfrm>
            <a:off x="10149840" y="457200"/>
            <a:ext cx="1234440" cy="1234440"/>
          </a:xfrm>
          <a:prstGeom prst="ellipse">
            <a:avLst/>
          </a:prstGeom>
          <a:solidFill>
            <a:srgbClr val="0E7C7B"/>
          </a:solidFill>
          <a:ln/>
        </p:spPr>
      </p:sp>
      <p:pic>
        <p:nvPicPr>
          <p:cNvPr id="5" name="Image 0" descr="/sessions/blissful-modest-newton/mnt/outputs/scratch/build/icons/chat.png"/>
          <p:cNvPicPr>
            <a:picLocks noChangeAspect="1"/>
          </p:cNvPicPr>
          <p:nvPr/>
        </p:nvPicPr>
        <p:blipFill>
          <a:blip r:embed="rId3"/>
          <a:stretch>
            <a:fillRect/>
          </a:stretch>
        </p:blipFill>
        <p:spPr>
          <a:xfrm>
            <a:off x="10421417" y="728777"/>
            <a:ext cx="691286" cy="691286"/>
          </a:xfrm>
          <a:prstGeom prst="rect">
            <a:avLst/>
          </a:prstGeom>
        </p:spPr>
      </p:pic>
      <p:sp>
        <p:nvSpPr>
          <p:cNvPr id="6" name="Shape 3"/>
          <p:cNvSpPr/>
          <p:nvPr/>
        </p:nvSpPr>
        <p:spPr>
          <a:xfrm>
            <a:off x="502920" y="1691640"/>
            <a:ext cx="11201400" cy="1325880"/>
          </a:xfrm>
          <a:prstGeom prst="roundRect">
            <a:avLst>
              <a:gd name="adj" fmla="val 5517"/>
            </a:avLst>
          </a:prstGeom>
          <a:solidFill>
            <a:srgbClr val="F3F6FA"/>
          </a:solidFill>
          <a:ln/>
        </p:spPr>
      </p:sp>
      <p:sp>
        <p:nvSpPr>
          <p:cNvPr id="7" name="Shape 4"/>
          <p:cNvSpPr/>
          <p:nvPr/>
        </p:nvSpPr>
        <p:spPr>
          <a:xfrm>
            <a:off x="731520" y="2103120"/>
            <a:ext cx="502920" cy="502920"/>
          </a:xfrm>
          <a:prstGeom prst="ellipse">
            <a:avLst/>
          </a:prstGeom>
          <a:solidFill>
            <a:srgbClr val="1B2A4A"/>
          </a:solidFill>
          <a:ln/>
        </p:spPr>
      </p:sp>
      <p:sp>
        <p:nvSpPr>
          <p:cNvPr id="8" name="Text 5"/>
          <p:cNvSpPr txBox="1"/>
          <p:nvPr/>
        </p:nvSpPr>
        <p:spPr>
          <a:xfrm>
            <a:off x="731520" y="21031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6"/>
          <p:cNvSpPr txBox="1"/>
          <p:nvPr/>
        </p:nvSpPr>
        <p:spPr>
          <a:xfrm>
            <a:off x="1463040" y="1783080"/>
            <a:ext cx="9966960" cy="1143000"/>
          </a:xfrm>
          <a:prstGeom prst="rect">
            <a:avLst/>
          </a:prstGeom>
          <a:noFill/>
          <a:ln/>
        </p:spPr>
        <p:txBody>
          <a:bodyPr wrap="square" lIns="0" tIns="0" rIns="0" bIns="0" rtlCol="0" anchor="ctr"/>
          <a:lstStyle/>
          <a:p>
            <a:pPr marL="0" indent="0">
              <a:lnSpc>
                <a:spcPct val="112000"/>
              </a:lnSpc>
              <a:buNone/>
            </a:pPr>
            <a:r>
              <a:rPr lang="en-US" sz="1400" dirty="0">
                <a:solidFill>
                  <a:srgbClr val="17233A"/>
                </a:solidFill>
                <a:latin typeface="Calibri" pitchFamily="34" charset="0"/>
                <a:ea typeface="Calibri" pitchFamily="34" charset="-122"/>
                <a:cs typeface="Calibri" pitchFamily="34" charset="-120"/>
              </a:rPr>
              <a:t>Net migration is a residual (in minus out). Name two very different real situations that could produce the exact same net migration rate.</a:t>
            </a:r>
            <a:endParaRPr lang="en-US" sz="1400" dirty="0"/>
          </a:p>
        </p:txBody>
      </p:sp>
      <p:sp>
        <p:nvSpPr>
          <p:cNvPr id="10" name="Shape 7"/>
          <p:cNvSpPr/>
          <p:nvPr/>
        </p:nvSpPr>
        <p:spPr>
          <a:xfrm>
            <a:off x="502920" y="3200400"/>
            <a:ext cx="11201400" cy="1325880"/>
          </a:xfrm>
          <a:prstGeom prst="roundRect">
            <a:avLst>
              <a:gd name="adj" fmla="val 5517"/>
            </a:avLst>
          </a:prstGeom>
          <a:solidFill>
            <a:srgbClr val="E7EEF7"/>
          </a:solidFill>
          <a:ln/>
        </p:spPr>
      </p:sp>
      <p:sp>
        <p:nvSpPr>
          <p:cNvPr id="11" name="Shape 8"/>
          <p:cNvSpPr/>
          <p:nvPr/>
        </p:nvSpPr>
        <p:spPr>
          <a:xfrm>
            <a:off x="731520" y="3611880"/>
            <a:ext cx="502920" cy="502920"/>
          </a:xfrm>
          <a:prstGeom prst="ellipse">
            <a:avLst/>
          </a:prstGeom>
          <a:solidFill>
            <a:srgbClr val="1B2A4A"/>
          </a:solidFill>
          <a:ln/>
        </p:spPr>
      </p:sp>
      <p:sp>
        <p:nvSpPr>
          <p:cNvPr id="12" name="Text 9"/>
          <p:cNvSpPr txBox="1"/>
          <p:nvPr/>
        </p:nvSpPr>
        <p:spPr>
          <a:xfrm>
            <a:off x="731520" y="36118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0"/>
          <p:cNvSpPr txBox="1"/>
          <p:nvPr/>
        </p:nvSpPr>
        <p:spPr>
          <a:xfrm>
            <a:off x="1463040" y="3291840"/>
            <a:ext cx="9966960" cy="1143000"/>
          </a:xfrm>
          <a:prstGeom prst="rect">
            <a:avLst/>
          </a:prstGeom>
          <a:noFill/>
          <a:ln/>
        </p:spPr>
        <p:txBody>
          <a:bodyPr wrap="square" lIns="0" tIns="0" rIns="0" bIns="0" rtlCol="0" anchor="ctr"/>
          <a:lstStyle/>
          <a:p>
            <a:pPr marL="0" indent="0">
              <a:lnSpc>
                <a:spcPct val="112000"/>
              </a:lnSpc>
              <a:buNone/>
            </a:pPr>
            <a:r>
              <a:rPr lang="en-US" sz="1400" dirty="0">
                <a:solidFill>
                  <a:srgbClr val="17233A"/>
                </a:solidFill>
                <a:latin typeface="Calibri" pitchFamily="34" charset="0"/>
                <a:ea typeface="Calibri" pitchFamily="34" charset="-122"/>
                <a:cs typeface="Calibri" pitchFamily="34" charset="-120"/>
              </a:rPr>
              <a:t>A country counts anyone staying &gt; 1 year as a migrant; its neighbor uses &gt; 3 months. What happens when you compare their migration rates directly?</a:t>
            </a:r>
            <a:endParaRPr lang="en-US" sz="1400" dirty="0"/>
          </a:p>
        </p:txBody>
      </p:sp>
      <p:sp>
        <p:nvSpPr>
          <p:cNvPr id="14" name="Shape 11"/>
          <p:cNvSpPr/>
          <p:nvPr/>
        </p:nvSpPr>
        <p:spPr>
          <a:xfrm>
            <a:off x="502920" y="4709160"/>
            <a:ext cx="11201400" cy="1325880"/>
          </a:xfrm>
          <a:prstGeom prst="roundRect">
            <a:avLst>
              <a:gd name="adj" fmla="val 5517"/>
            </a:avLst>
          </a:prstGeom>
          <a:solidFill>
            <a:srgbClr val="F3F6FA"/>
          </a:solidFill>
          <a:ln/>
        </p:spPr>
      </p:sp>
      <p:sp>
        <p:nvSpPr>
          <p:cNvPr id="15" name="Shape 12"/>
          <p:cNvSpPr/>
          <p:nvPr/>
        </p:nvSpPr>
        <p:spPr>
          <a:xfrm>
            <a:off x="731520" y="5120640"/>
            <a:ext cx="502920" cy="502920"/>
          </a:xfrm>
          <a:prstGeom prst="ellipse">
            <a:avLst/>
          </a:prstGeom>
          <a:solidFill>
            <a:srgbClr val="1B2A4A"/>
          </a:solidFill>
          <a:ln/>
        </p:spPr>
      </p:sp>
      <p:sp>
        <p:nvSpPr>
          <p:cNvPr id="16" name="Text 13"/>
          <p:cNvSpPr txBox="1"/>
          <p:nvPr/>
        </p:nvSpPr>
        <p:spPr>
          <a:xfrm>
            <a:off x="731520" y="51206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4"/>
          <p:cNvSpPr txBox="1"/>
          <p:nvPr/>
        </p:nvSpPr>
        <p:spPr>
          <a:xfrm>
            <a:off x="1463040" y="4800600"/>
            <a:ext cx="9966960" cy="1143000"/>
          </a:xfrm>
          <a:prstGeom prst="rect">
            <a:avLst/>
          </a:prstGeom>
          <a:noFill/>
          <a:ln/>
        </p:spPr>
        <p:txBody>
          <a:bodyPr wrap="square" lIns="0" tIns="0" rIns="0" bIns="0" rtlCol="0" anchor="ctr"/>
          <a:lstStyle/>
          <a:p>
            <a:pPr marL="0" indent="0">
              <a:lnSpc>
                <a:spcPct val="112000"/>
              </a:lnSpc>
              <a:buNone/>
            </a:pPr>
            <a:r>
              <a:rPr lang="en-US" sz="1400" dirty="0">
                <a:solidFill>
                  <a:srgbClr val="17233A"/>
                </a:solidFill>
                <a:latin typeface="Calibri" pitchFamily="34" charset="0"/>
                <a:ea typeface="Calibri" pitchFamily="34" charset="-122"/>
                <a:cs typeface="Calibri" pitchFamily="34" charset="-120"/>
              </a:rPr>
              <a:t>Why might global totals of emigration and immigration fail to match, even though every emigrant is, by definition, someone's immigrant?</a:t>
            </a:r>
            <a:endParaRPr lang="en-US" sz="1400" dirty="0"/>
          </a:p>
        </p:txBody>
      </p:sp>
      <p:sp>
        <p:nvSpPr>
          <p:cNvPr id="18" name="Text 15"/>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19" name="Text 16"/>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19 / 57</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GROUP WORK 1</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Three Real Migration Situations, One World</a:t>
            </a:r>
            <a:endParaRPr lang="en-US" sz="2900" dirty="0"/>
          </a:p>
        </p:txBody>
      </p:sp>
      <p:sp>
        <p:nvSpPr>
          <p:cNvPr id="4" name="Shape 2"/>
          <p:cNvSpPr/>
          <p:nvPr/>
        </p:nvSpPr>
        <p:spPr>
          <a:xfrm>
            <a:off x="10195560" y="384048"/>
            <a:ext cx="1051560" cy="1051560"/>
          </a:xfrm>
          <a:prstGeom prst="ellipse">
            <a:avLst/>
          </a:prstGeom>
          <a:solidFill>
            <a:srgbClr val="E8A33D"/>
          </a:solidFill>
          <a:ln/>
        </p:spPr>
      </p:sp>
      <p:pic>
        <p:nvPicPr>
          <p:cNvPr id="5" name="Image 0" descr="/sessions/blissful-modest-newton/mnt/outputs/scratch/build/icons/handshake.png"/>
          <p:cNvPicPr>
            <a:picLocks noChangeAspect="1"/>
          </p:cNvPicPr>
          <p:nvPr/>
        </p:nvPicPr>
        <p:blipFill>
          <a:blip r:embed="rId3"/>
          <a:stretch>
            <a:fillRect/>
          </a:stretch>
        </p:blipFill>
        <p:spPr>
          <a:xfrm>
            <a:off x="10426903" y="615391"/>
            <a:ext cx="588874" cy="588874"/>
          </a:xfrm>
          <a:prstGeom prst="rect">
            <a:avLst/>
          </a:prstGeom>
        </p:spPr>
      </p:pic>
      <p:sp>
        <p:nvSpPr>
          <p:cNvPr id="6" name="Text 3"/>
          <p:cNvSpPr txBox="1"/>
          <p:nvPr/>
        </p:nvSpPr>
        <p:spPr>
          <a:xfrm>
            <a:off x="548640" y="1417320"/>
            <a:ext cx="11064240" cy="777240"/>
          </a:xfrm>
          <a:prstGeom prst="rect">
            <a:avLst/>
          </a:prstGeom>
          <a:noFill/>
          <a:ln/>
        </p:spPr>
        <p:txBody>
          <a:bodyPr wrap="square" lIns="0" tIns="0" rIns="0" bIns="0" rtlCol="0" anchor="ctr"/>
          <a:lstStyle/>
          <a:p>
            <a:pPr marL="0" indent="0">
              <a:lnSpc>
                <a:spcPct val="115000"/>
              </a:lnSpc>
              <a:buNone/>
            </a:pPr>
            <a:r>
              <a:rPr lang="en-US" sz="1400" i="1" dirty="0">
                <a:solidFill>
                  <a:srgbClr val="17233A"/>
                </a:solidFill>
                <a:latin typeface="Calibri" pitchFamily="34" charset="0"/>
                <a:ea typeface="Calibri" pitchFamily="34" charset="-122"/>
                <a:cs typeface="Calibri" pitchFamily="34" charset="-120"/>
              </a:rPr>
              <a:t>Assigned real, contrasting cases show </a:t>
            </a:r>
            <a:r>
              <a:rPr lang="en-US" sz="1400" i="1" dirty="0" err="1">
                <a:solidFill>
                  <a:srgbClr val="17233A"/>
                </a:solidFill>
                <a:latin typeface="Calibri" pitchFamily="34" charset="0"/>
                <a:ea typeface="Calibri" pitchFamily="34" charset="-122"/>
                <a:cs typeface="Calibri" pitchFamily="34" charset="-120"/>
              </a:rPr>
              <a:t>migraton</a:t>
            </a:r>
            <a:r>
              <a:rPr lang="en-US" sz="1400" i="1" dirty="0">
                <a:solidFill>
                  <a:srgbClr val="17233A"/>
                </a:solidFill>
                <a:latin typeface="Calibri" pitchFamily="34" charset="0"/>
                <a:ea typeface="Calibri" pitchFamily="34" charset="-122"/>
                <a:cs typeface="Calibri" pitchFamily="34" charset="-120"/>
              </a:rPr>
              <a:t> moving for very different reasons in 2024-2025 — a destination/transit hub, a major labor corridor, and a forced-displacement crisis.</a:t>
            </a:r>
            <a:endParaRPr lang="en-US" sz="1400" dirty="0"/>
          </a:p>
        </p:txBody>
      </p:sp>
      <p:sp>
        <p:nvSpPr>
          <p:cNvPr id="7" name="Shape 4"/>
          <p:cNvSpPr/>
          <p:nvPr/>
        </p:nvSpPr>
        <p:spPr>
          <a:xfrm>
            <a:off x="502920" y="2286000"/>
            <a:ext cx="11201400" cy="502920"/>
          </a:xfrm>
          <a:prstGeom prst="roundRect">
            <a:avLst>
              <a:gd name="adj" fmla="val 12727"/>
            </a:avLst>
          </a:prstGeom>
          <a:solidFill>
            <a:srgbClr val="1B2A4A"/>
          </a:solidFill>
          <a:ln/>
        </p:spPr>
      </p:sp>
      <p:sp>
        <p:nvSpPr>
          <p:cNvPr id="8" name="Text 5"/>
          <p:cNvSpPr txBox="1"/>
          <p:nvPr/>
        </p:nvSpPr>
        <p:spPr>
          <a:xfrm>
            <a:off x="685800" y="2286000"/>
            <a:ext cx="10835640" cy="5029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Group size: Groups of 2-3     Time: 15 min prep + 3 groups × 5 min report-back + 5-10 min synthesis discussion</a:t>
            </a:r>
            <a:endParaRPr lang="en-US" sz="1300" dirty="0"/>
          </a:p>
        </p:txBody>
      </p:sp>
      <p:sp>
        <p:nvSpPr>
          <p:cNvPr id="9" name="Text 6"/>
          <p:cNvSpPr txBox="1"/>
          <p:nvPr/>
        </p:nvSpPr>
        <p:spPr>
          <a:xfrm>
            <a:off x="548640" y="2999232"/>
            <a:ext cx="11064240" cy="320040"/>
          </a:xfrm>
          <a:prstGeom prst="rect">
            <a:avLst/>
          </a:prstGeom>
          <a:noFill/>
          <a:ln/>
        </p:spPr>
        <p:txBody>
          <a:bodyPr wrap="square" lIns="0" tIns="0" rIns="0" bIns="0" rtlCol="0" anchor="ctr"/>
          <a:lstStyle/>
          <a:p>
            <a:pPr marL="0" indent="0">
              <a:buNone/>
            </a:pPr>
            <a:r>
              <a:rPr lang="en-US" sz="1200" b="1" kern="0" spc="100" dirty="0">
                <a:solidFill>
                  <a:srgbClr val="0E7C7B"/>
                </a:solidFill>
                <a:latin typeface="Calibri" pitchFamily="34" charset="0"/>
                <a:ea typeface="Calibri" pitchFamily="34" charset="-122"/>
                <a:cs typeface="Calibri" pitchFamily="34" charset="-120"/>
              </a:rPr>
              <a:t>COMMON GUIDING QUESTIONS — EVERY GROUP ANSWERS BOTH, REGARDLESS OF ASSIGNED CASE</a:t>
            </a:r>
            <a:endParaRPr lang="en-US" sz="1200" dirty="0"/>
          </a:p>
        </p:txBody>
      </p:sp>
      <p:sp>
        <p:nvSpPr>
          <p:cNvPr id="10" name="Shape 7"/>
          <p:cNvSpPr/>
          <p:nvPr/>
        </p:nvSpPr>
        <p:spPr>
          <a:xfrm>
            <a:off x="502920" y="3401568"/>
            <a:ext cx="11201400" cy="1143000"/>
          </a:xfrm>
          <a:prstGeom prst="roundRect">
            <a:avLst>
              <a:gd name="adj" fmla="val 6400"/>
            </a:avLst>
          </a:prstGeom>
          <a:solidFill>
            <a:srgbClr val="F3F6FA"/>
          </a:solidFill>
          <a:ln/>
        </p:spPr>
      </p:sp>
      <p:sp>
        <p:nvSpPr>
          <p:cNvPr id="11" name="Shape 8"/>
          <p:cNvSpPr/>
          <p:nvPr/>
        </p:nvSpPr>
        <p:spPr>
          <a:xfrm>
            <a:off x="713232" y="3744468"/>
            <a:ext cx="457200" cy="457200"/>
          </a:xfrm>
          <a:prstGeom prst="ellipse">
            <a:avLst/>
          </a:prstGeom>
          <a:solidFill>
            <a:srgbClr val="1B2A4A"/>
          </a:solidFill>
          <a:ln/>
        </p:spPr>
      </p:sp>
      <p:sp>
        <p:nvSpPr>
          <p:cNvPr id="12" name="Text 9"/>
          <p:cNvSpPr txBox="1"/>
          <p:nvPr/>
        </p:nvSpPr>
        <p:spPr>
          <a:xfrm>
            <a:off x="713232" y="374446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3" name="Text 10"/>
          <p:cNvSpPr txBox="1"/>
          <p:nvPr/>
        </p:nvSpPr>
        <p:spPr>
          <a:xfrm>
            <a:off x="1371600" y="3474720"/>
            <a:ext cx="6826738" cy="996696"/>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Explore your own country. What data source best captures this flow?</a:t>
            </a:r>
            <a:endParaRPr lang="en-US" sz="1300" dirty="0"/>
          </a:p>
        </p:txBody>
      </p:sp>
      <p:sp>
        <p:nvSpPr>
          <p:cNvPr id="14" name="Shape 11"/>
          <p:cNvSpPr/>
          <p:nvPr/>
        </p:nvSpPr>
        <p:spPr>
          <a:xfrm>
            <a:off x="502920" y="4690872"/>
            <a:ext cx="11201400" cy="1143000"/>
          </a:xfrm>
          <a:prstGeom prst="roundRect">
            <a:avLst>
              <a:gd name="adj" fmla="val 6400"/>
            </a:avLst>
          </a:prstGeom>
          <a:solidFill>
            <a:srgbClr val="E7EEF7"/>
          </a:solidFill>
          <a:ln/>
        </p:spPr>
      </p:sp>
      <p:sp>
        <p:nvSpPr>
          <p:cNvPr id="15" name="Shape 12"/>
          <p:cNvSpPr/>
          <p:nvPr/>
        </p:nvSpPr>
        <p:spPr>
          <a:xfrm>
            <a:off x="713232" y="5033772"/>
            <a:ext cx="457200" cy="457200"/>
          </a:xfrm>
          <a:prstGeom prst="ellipse">
            <a:avLst/>
          </a:prstGeom>
          <a:solidFill>
            <a:srgbClr val="1B2A4A"/>
          </a:solidFill>
          <a:ln/>
        </p:spPr>
      </p:sp>
      <p:sp>
        <p:nvSpPr>
          <p:cNvPr id="16" name="Text 13"/>
          <p:cNvSpPr txBox="1"/>
          <p:nvPr/>
        </p:nvSpPr>
        <p:spPr>
          <a:xfrm>
            <a:off x="713232" y="503377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7" name="Text 14"/>
          <p:cNvSpPr txBox="1"/>
          <p:nvPr/>
        </p:nvSpPr>
        <p:spPr>
          <a:xfrm>
            <a:off x="1371600" y="4764024"/>
            <a:ext cx="7139354" cy="996696"/>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What is one policy implication for the origin country, and one for the destination/transit country?</a:t>
            </a:r>
            <a:endParaRPr lang="en-US" sz="1300" dirty="0"/>
          </a:p>
        </p:txBody>
      </p:sp>
      <p:sp>
        <p:nvSpPr>
          <p:cNvPr id="18" name="Text 15"/>
          <p:cNvSpPr txBox="1"/>
          <p:nvPr/>
        </p:nvSpPr>
        <p:spPr>
          <a:xfrm>
            <a:off x="548640" y="6025896"/>
            <a:ext cx="11064240" cy="365760"/>
          </a:xfrm>
          <a:prstGeom prst="rect">
            <a:avLst/>
          </a:prstGeom>
          <a:noFill/>
          <a:ln/>
        </p:spPr>
        <p:txBody>
          <a:bodyPr wrap="square" lIns="0" tIns="0" rIns="0" bIns="0" rtlCol="0" anchor="ctr"/>
          <a:lstStyle/>
          <a:p>
            <a:pPr marL="0" indent="0">
              <a:buNone/>
            </a:pPr>
            <a:r>
              <a:rPr lang="en-US" sz="1200" i="1" dirty="0">
                <a:solidFill>
                  <a:srgbClr val="5B6B82"/>
                </a:solidFill>
                <a:latin typeface="Calibri" pitchFamily="34" charset="0"/>
                <a:ea typeface="Calibri" pitchFamily="34" charset="-122"/>
                <a:cs typeface="Calibri" pitchFamily="34" charset="-120"/>
              </a:rPr>
              <a:t>Report-back: each group presents for the allotted time, then answers both guiding questions before the synthesis discussion.</a:t>
            </a:r>
            <a:endParaRPr lang="en-US" sz="1200" dirty="0"/>
          </a:p>
        </p:txBody>
      </p:sp>
      <p:sp>
        <p:nvSpPr>
          <p:cNvPr id="19" name="Text 16"/>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20" name="Text 17"/>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20 / 57</a:t>
            </a:r>
            <a:endParaRPr lang="en-US" sz="900" dirty="0"/>
          </a:p>
        </p:txBody>
      </p:sp>
      <p:sp>
        <p:nvSpPr>
          <p:cNvPr id="22" name="Text 14">
            <a:extLst>
              <a:ext uri="{FF2B5EF4-FFF2-40B4-BE49-F238E27FC236}">
                <a16:creationId xmlns:a16="http://schemas.microsoft.com/office/drawing/2014/main" id="{B99F649E-A13E-F431-DAA0-159609832BEE}"/>
              </a:ext>
            </a:extLst>
          </p:cNvPr>
          <p:cNvSpPr txBox="1"/>
          <p:nvPr/>
        </p:nvSpPr>
        <p:spPr>
          <a:xfrm>
            <a:off x="8842327" y="2807208"/>
            <a:ext cx="3044873" cy="3218688"/>
          </a:xfrm>
          <a:prstGeom prst="rect">
            <a:avLst/>
          </a:prstGeom>
          <a:noFill/>
          <a:ln/>
        </p:spPr>
        <p:txBody>
          <a:bodyPr wrap="square" lIns="0" tIns="0" rIns="0" bIns="0" rtlCol="0" anchor="ctr"/>
          <a:lstStyle/>
          <a:p>
            <a:pPr marL="0" indent="0">
              <a:lnSpc>
                <a:spcPct val="110000"/>
              </a:lnSpc>
              <a:buNone/>
            </a:pPr>
            <a:r>
              <a:rPr lang="en-US" sz="4000" dirty="0"/>
              <a:t>SEE UNDESA: MIGRATION STOCK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GROUP WORK 1</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Assigned Cases</a:t>
            </a:r>
            <a:endParaRPr lang="en-US" sz="2900" dirty="0"/>
          </a:p>
        </p:txBody>
      </p:sp>
      <p:sp>
        <p:nvSpPr>
          <p:cNvPr id="4" name="Shape 2"/>
          <p:cNvSpPr/>
          <p:nvPr/>
        </p:nvSpPr>
        <p:spPr>
          <a:xfrm>
            <a:off x="502920" y="1600200"/>
            <a:ext cx="3611880" cy="4297680"/>
          </a:xfrm>
          <a:prstGeom prst="roundRect">
            <a:avLst>
              <a:gd name="adj" fmla="val 2532"/>
            </a:avLst>
          </a:prstGeom>
          <a:solidFill>
            <a:srgbClr val="F3F6FA"/>
          </a:solidFill>
          <a:ln/>
        </p:spPr>
      </p:sp>
      <p:sp>
        <p:nvSpPr>
          <p:cNvPr id="5" name="Shape 3"/>
          <p:cNvSpPr/>
          <p:nvPr/>
        </p:nvSpPr>
        <p:spPr>
          <a:xfrm>
            <a:off x="502920" y="1600200"/>
            <a:ext cx="3611880" cy="502920"/>
          </a:xfrm>
          <a:prstGeom prst="roundRect">
            <a:avLst>
              <a:gd name="adj" fmla="val 18182"/>
            </a:avLst>
          </a:prstGeom>
          <a:solidFill>
            <a:srgbClr val="1B2A4A"/>
          </a:solidFill>
          <a:ln/>
        </p:spPr>
      </p:sp>
      <p:sp>
        <p:nvSpPr>
          <p:cNvPr id="6" name="Text 4"/>
          <p:cNvSpPr txBox="1"/>
          <p:nvPr/>
        </p:nvSpPr>
        <p:spPr>
          <a:xfrm>
            <a:off x="502920" y="1600200"/>
            <a:ext cx="3611880" cy="502920"/>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GROUP 1</a:t>
            </a:r>
            <a:endParaRPr lang="en-US" sz="1300" dirty="0"/>
          </a:p>
        </p:txBody>
      </p:sp>
      <p:sp>
        <p:nvSpPr>
          <p:cNvPr id="7" name="Text 5"/>
          <p:cNvSpPr txBox="1"/>
          <p:nvPr/>
        </p:nvSpPr>
        <p:spPr>
          <a:xfrm>
            <a:off x="685800" y="2240280"/>
            <a:ext cx="3246120" cy="777240"/>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Thailand — Destination &amp; Transit</a:t>
            </a:r>
            <a:endParaRPr lang="en-US" sz="1550" dirty="0"/>
          </a:p>
        </p:txBody>
      </p:sp>
      <p:sp>
        <p:nvSpPr>
          <p:cNvPr id="8" name="Text 6"/>
          <p:cNvSpPr txBox="1"/>
          <p:nvPr/>
        </p:nvSpPr>
        <p:spPr>
          <a:xfrm>
            <a:off x="685800" y="3063240"/>
            <a:ext cx="3246120" cy="2377440"/>
          </a:xfrm>
          <a:prstGeom prst="rect">
            <a:avLst/>
          </a:prstGeom>
          <a:noFill/>
          <a:ln/>
        </p:spPr>
        <p:txBody>
          <a:bodyPr wrap="square" lIns="0" tIns="0" rIns="0" bIns="0" rtlCol="0" anchor="ctr"/>
          <a:lstStyle/>
          <a:p>
            <a:pPr marL="0" indent="0">
              <a:lnSpc>
                <a:spcPct val="115000"/>
              </a:lnSpc>
              <a:buNone/>
            </a:pPr>
            <a:r>
              <a:rPr lang="en-US" sz="1200" dirty="0">
                <a:solidFill>
                  <a:srgbClr val="17233A"/>
                </a:solidFill>
                <a:latin typeface="Calibri" pitchFamily="34" charset="0"/>
                <a:ea typeface="Calibri" pitchFamily="34" charset="-122"/>
                <a:cs typeface="Calibri" pitchFamily="34" charset="-120"/>
              </a:rPr>
              <a:t>Thailand hosts at least 5.3 million non-Thai nationals (2024), including ~3.1 million regular migrant workers, mostly from Cambodia, Lao PDR, and Myanmar. Since Myanmar's 2021 coup, 2.3M+ Myanmar nationals have entered — a mix of labor migration and displacement.</a:t>
            </a:r>
            <a:endParaRPr lang="en-US" sz="1200" dirty="0"/>
          </a:p>
        </p:txBody>
      </p:sp>
      <p:sp>
        <p:nvSpPr>
          <p:cNvPr id="9" name="Text 7"/>
          <p:cNvSpPr txBox="1"/>
          <p:nvPr/>
        </p:nvSpPr>
        <p:spPr>
          <a:xfrm>
            <a:off x="685800" y="5394960"/>
            <a:ext cx="3246120" cy="457200"/>
          </a:xfrm>
          <a:prstGeom prst="rect">
            <a:avLst/>
          </a:prstGeom>
          <a:noFill/>
          <a:ln/>
        </p:spPr>
        <p:txBody>
          <a:bodyPr wrap="square" lIns="0" tIns="0" rIns="0" bIns="0" rtlCol="0" anchor="ctr"/>
          <a:lstStyle/>
          <a:p>
            <a:pPr marL="0" indent="0">
              <a:buNone/>
            </a:pPr>
            <a:r>
              <a:rPr lang="en-US" sz="950" i="1" dirty="0">
                <a:solidFill>
                  <a:srgbClr val="5B6B82"/>
                </a:solidFill>
                <a:latin typeface="Calibri" pitchFamily="34" charset="0"/>
                <a:ea typeface="Calibri" pitchFamily="34" charset="-122"/>
                <a:cs typeface="Calibri" pitchFamily="34" charset="-120"/>
              </a:rPr>
              <a:t>ILO (2024), Thailand Migration Report 2024.</a:t>
            </a:r>
            <a:endParaRPr lang="en-US" sz="950" dirty="0"/>
          </a:p>
        </p:txBody>
      </p:sp>
      <p:sp>
        <p:nvSpPr>
          <p:cNvPr id="10" name="Shape 8"/>
          <p:cNvSpPr/>
          <p:nvPr/>
        </p:nvSpPr>
        <p:spPr>
          <a:xfrm>
            <a:off x="4297680" y="1600200"/>
            <a:ext cx="3611880" cy="4297680"/>
          </a:xfrm>
          <a:prstGeom prst="roundRect">
            <a:avLst>
              <a:gd name="adj" fmla="val 2532"/>
            </a:avLst>
          </a:prstGeom>
          <a:solidFill>
            <a:srgbClr val="F3F6FA"/>
          </a:solidFill>
          <a:ln/>
        </p:spPr>
      </p:sp>
      <p:sp>
        <p:nvSpPr>
          <p:cNvPr id="11" name="Shape 9"/>
          <p:cNvSpPr/>
          <p:nvPr/>
        </p:nvSpPr>
        <p:spPr>
          <a:xfrm>
            <a:off x="4297680" y="1600200"/>
            <a:ext cx="3611880" cy="502920"/>
          </a:xfrm>
          <a:prstGeom prst="roundRect">
            <a:avLst>
              <a:gd name="adj" fmla="val 18182"/>
            </a:avLst>
          </a:prstGeom>
          <a:solidFill>
            <a:srgbClr val="1B2A4A"/>
          </a:solidFill>
          <a:ln/>
        </p:spPr>
      </p:sp>
      <p:sp>
        <p:nvSpPr>
          <p:cNvPr id="12" name="Text 10"/>
          <p:cNvSpPr txBox="1"/>
          <p:nvPr/>
        </p:nvSpPr>
        <p:spPr>
          <a:xfrm>
            <a:off x="4297680" y="1600200"/>
            <a:ext cx="3611880" cy="502920"/>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GROUP 2</a:t>
            </a:r>
            <a:endParaRPr lang="en-US" sz="1300" dirty="0"/>
          </a:p>
        </p:txBody>
      </p:sp>
      <p:sp>
        <p:nvSpPr>
          <p:cNvPr id="13" name="Text 11"/>
          <p:cNvSpPr txBox="1"/>
          <p:nvPr/>
        </p:nvSpPr>
        <p:spPr>
          <a:xfrm>
            <a:off x="4480560" y="2240280"/>
            <a:ext cx="3246120" cy="777240"/>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Mexico → United States — Labor Corridor</a:t>
            </a:r>
            <a:endParaRPr lang="en-US" sz="1550" dirty="0"/>
          </a:p>
        </p:txBody>
      </p:sp>
      <p:sp>
        <p:nvSpPr>
          <p:cNvPr id="14" name="Text 12"/>
          <p:cNvSpPr txBox="1"/>
          <p:nvPr/>
        </p:nvSpPr>
        <p:spPr>
          <a:xfrm>
            <a:off x="4480560" y="3063240"/>
            <a:ext cx="3246120" cy="2377440"/>
          </a:xfrm>
          <a:prstGeom prst="rect">
            <a:avLst/>
          </a:prstGeom>
          <a:noFill/>
          <a:ln/>
        </p:spPr>
        <p:txBody>
          <a:bodyPr wrap="square" lIns="0" tIns="0" rIns="0" bIns="0" rtlCol="0" anchor="ctr"/>
          <a:lstStyle/>
          <a:p>
            <a:pPr marL="0" indent="0">
              <a:lnSpc>
                <a:spcPct val="115000"/>
              </a:lnSpc>
              <a:buNone/>
            </a:pPr>
            <a:r>
              <a:rPr lang="en-US" sz="1200" dirty="0">
                <a:solidFill>
                  <a:srgbClr val="17233A"/>
                </a:solidFill>
                <a:latin typeface="Calibri" pitchFamily="34" charset="0"/>
                <a:ea typeface="Calibri" pitchFamily="34" charset="-122"/>
                <a:cs typeface="Calibri" pitchFamily="34" charset="-120"/>
              </a:rPr>
              <a:t>About 12-13.6 million Mexican-born migrants live in the US. The corridor generated US$64.7 billion in remittances to Mexico in 2024 — the world's largest bilateral remittance flow, equal to ~3.7% of Mexico's GDP.</a:t>
            </a:r>
            <a:endParaRPr lang="en-US" sz="1200" dirty="0"/>
          </a:p>
        </p:txBody>
      </p:sp>
      <p:sp>
        <p:nvSpPr>
          <p:cNvPr id="15" name="Text 13"/>
          <p:cNvSpPr txBox="1"/>
          <p:nvPr/>
        </p:nvSpPr>
        <p:spPr>
          <a:xfrm>
            <a:off x="4480560" y="5394960"/>
            <a:ext cx="3246120" cy="457200"/>
          </a:xfrm>
          <a:prstGeom prst="rect">
            <a:avLst/>
          </a:prstGeom>
          <a:noFill/>
          <a:ln/>
        </p:spPr>
        <p:txBody>
          <a:bodyPr wrap="square" lIns="0" tIns="0" rIns="0" bIns="0" rtlCol="0" anchor="ctr"/>
          <a:lstStyle/>
          <a:p>
            <a:pPr marL="0" indent="0">
              <a:buNone/>
            </a:pPr>
            <a:r>
              <a:rPr lang="en-US" sz="950" i="1" dirty="0">
                <a:solidFill>
                  <a:srgbClr val="5B6B82"/>
                </a:solidFill>
                <a:latin typeface="Calibri" pitchFamily="34" charset="0"/>
                <a:ea typeface="Calibri" pitchFamily="34" charset="-122"/>
                <a:cs typeface="Calibri" pitchFamily="34" charset="-120"/>
              </a:rPr>
              <a:t>Migration Policy Institute (2024); World Bank (2024).</a:t>
            </a:r>
            <a:endParaRPr lang="en-US" sz="950" dirty="0"/>
          </a:p>
        </p:txBody>
      </p:sp>
      <p:sp>
        <p:nvSpPr>
          <p:cNvPr id="16" name="Shape 14"/>
          <p:cNvSpPr/>
          <p:nvPr/>
        </p:nvSpPr>
        <p:spPr>
          <a:xfrm>
            <a:off x="8092440" y="1600200"/>
            <a:ext cx="3611880" cy="4297680"/>
          </a:xfrm>
          <a:prstGeom prst="roundRect">
            <a:avLst>
              <a:gd name="adj" fmla="val 2532"/>
            </a:avLst>
          </a:prstGeom>
          <a:solidFill>
            <a:srgbClr val="F3F6FA"/>
          </a:solidFill>
          <a:ln/>
        </p:spPr>
      </p:sp>
      <p:sp>
        <p:nvSpPr>
          <p:cNvPr id="17" name="Shape 15"/>
          <p:cNvSpPr/>
          <p:nvPr/>
        </p:nvSpPr>
        <p:spPr>
          <a:xfrm>
            <a:off x="8092440" y="1600200"/>
            <a:ext cx="3611880" cy="502920"/>
          </a:xfrm>
          <a:prstGeom prst="roundRect">
            <a:avLst>
              <a:gd name="adj" fmla="val 18182"/>
            </a:avLst>
          </a:prstGeom>
          <a:solidFill>
            <a:srgbClr val="1B2A4A"/>
          </a:solidFill>
          <a:ln/>
        </p:spPr>
      </p:sp>
      <p:sp>
        <p:nvSpPr>
          <p:cNvPr id="18" name="Text 16"/>
          <p:cNvSpPr txBox="1"/>
          <p:nvPr/>
        </p:nvSpPr>
        <p:spPr>
          <a:xfrm>
            <a:off x="8092440" y="1600200"/>
            <a:ext cx="3611880" cy="502920"/>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GROUP 3</a:t>
            </a:r>
            <a:endParaRPr lang="en-US" sz="1300" dirty="0"/>
          </a:p>
        </p:txBody>
      </p:sp>
      <p:sp>
        <p:nvSpPr>
          <p:cNvPr id="19" name="Text 17"/>
          <p:cNvSpPr txBox="1"/>
          <p:nvPr/>
        </p:nvSpPr>
        <p:spPr>
          <a:xfrm>
            <a:off x="8275320" y="2240280"/>
            <a:ext cx="3246120" cy="777240"/>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Myanmar — Forced Displacement Crisis</a:t>
            </a:r>
            <a:endParaRPr lang="en-US" sz="1550" dirty="0"/>
          </a:p>
        </p:txBody>
      </p:sp>
      <p:sp>
        <p:nvSpPr>
          <p:cNvPr id="20" name="Text 18"/>
          <p:cNvSpPr txBox="1"/>
          <p:nvPr/>
        </p:nvSpPr>
        <p:spPr>
          <a:xfrm>
            <a:off x="8275320" y="3063240"/>
            <a:ext cx="3246120" cy="2377440"/>
          </a:xfrm>
          <a:prstGeom prst="rect">
            <a:avLst/>
          </a:prstGeom>
          <a:noFill/>
          <a:ln/>
        </p:spPr>
        <p:txBody>
          <a:bodyPr wrap="square" lIns="0" tIns="0" rIns="0" bIns="0" rtlCol="0" anchor="ctr"/>
          <a:lstStyle/>
          <a:p>
            <a:pPr marL="0" indent="0">
              <a:lnSpc>
                <a:spcPct val="115000"/>
              </a:lnSpc>
              <a:buNone/>
            </a:pPr>
            <a:r>
              <a:rPr lang="en-US" sz="1200" dirty="0">
                <a:solidFill>
                  <a:srgbClr val="17233A"/>
                </a:solidFill>
                <a:latin typeface="Calibri" pitchFamily="34" charset="0"/>
                <a:ea typeface="Calibri" pitchFamily="34" charset="-122"/>
                <a:cs typeface="Calibri" pitchFamily="34" charset="-120"/>
              </a:rPr>
              <a:t>More than 3.5-3.6 million people are internally displaced inside Myanmar as of 2025, with UNHCR supporting over 4.2 million forcibly displaced and stateless people — driven by conflict following the 2021 military takeover.</a:t>
            </a:r>
            <a:endParaRPr lang="en-US" sz="1200" dirty="0"/>
          </a:p>
        </p:txBody>
      </p:sp>
      <p:sp>
        <p:nvSpPr>
          <p:cNvPr id="21" name="Text 19"/>
          <p:cNvSpPr txBox="1"/>
          <p:nvPr/>
        </p:nvSpPr>
        <p:spPr>
          <a:xfrm>
            <a:off x="8275320" y="5394960"/>
            <a:ext cx="3246120" cy="457200"/>
          </a:xfrm>
          <a:prstGeom prst="rect">
            <a:avLst/>
          </a:prstGeom>
          <a:noFill/>
          <a:ln/>
        </p:spPr>
        <p:txBody>
          <a:bodyPr wrap="square" lIns="0" tIns="0" rIns="0" bIns="0" rtlCol="0" anchor="ctr"/>
          <a:lstStyle/>
          <a:p>
            <a:pPr marL="0" indent="0">
              <a:buNone/>
            </a:pPr>
            <a:r>
              <a:rPr lang="en-US" sz="950" i="1" dirty="0">
                <a:solidFill>
                  <a:srgbClr val="5B6B82"/>
                </a:solidFill>
                <a:latin typeface="Calibri" pitchFamily="34" charset="0"/>
                <a:ea typeface="Calibri" pitchFamily="34" charset="-122"/>
                <a:cs typeface="Calibri" pitchFamily="34" charset="-120"/>
              </a:rPr>
              <a:t>UNHCR (2025), Myanmar Displacement Overview.</a:t>
            </a:r>
            <a:endParaRPr lang="en-US" sz="950" dirty="0"/>
          </a:p>
        </p:txBody>
      </p:sp>
      <p:sp>
        <p:nvSpPr>
          <p:cNvPr id="22" name="Text 20"/>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23" name="Text 21"/>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21 / 57</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7EEF7"/>
        </a:solidFill>
        <a:effectLst/>
      </p:bgPr>
    </p:bg>
    <p:spTree>
      <p:nvGrpSpPr>
        <p:cNvPr id="1" name=""/>
        <p:cNvGrpSpPr/>
        <p:nvPr/>
      </p:nvGrpSpPr>
      <p:grpSpPr>
        <a:xfrm>
          <a:off x="0" y="0"/>
          <a:ext cx="0" cy="0"/>
          <a:chOff x="0" y="0"/>
          <a:chExt cx="0" cy="0"/>
        </a:xfrm>
      </p:grpSpPr>
      <p:sp>
        <p:nvSpPr>
          <p:cNvPr id="2" name="Shape 0"/>
          <p:cNvSpPr/>
          <p:nvPr/>
        </p:nvSpPr>
        <p:spPr>
          <a:xfrm>
            <a:off x="5410048" y="1554480"/>
            <a:ext cx="1371600" cy="1371600"/>
          </a:xfrm>
          <a:prstGeom prst="ellipse">
            <a:avLst/>
          </a:prstGeom>
          <a:solidFill>
            <a:srgbClr val="1B2A4A"/>
          </a:solidFill>
          <a:ln/>
        </p:spPr>
      </p:sp>
      <p:pic>
        <p:nvPicPr>
          <p:cNvPr id="3" name="Image 0" descr="/sessions/blissful-modest-newton/mnt/outputs/scratch/build/icons/clock.png"/>
          <p:cNvPicPr>
            <a:picLocks noChangeAspect="1"/>
          </p:cNvPicPr>
          <p:nvPr/>
        </p:nvPicPr>
        <p:blipFill>
          <a:blip r:embed="rId3"/>
          <a:stretch>
            <a:fillRect/>
          </a:stretch>
        </p:blipFill>
        <p:spPr>
          <a:xfrm>
            <a:off x="5711800" y="1856232"/>
            <a:ext cx="768096" cy="768096"/>
          </a:xfrm>
          <a:prstGeom prst="rect">
            <a:avLst/>
          </a:prstGeom>
        </p:spPr>
      </p:pic>
      <p:sp>
        <p:nvSpPr>
          <p:cNvPr id="4" name="Text 1"/>
          <p:cNvSpPr txBox="1"/>
          <p:nvPr/>
        </p:nvSpPr>
        <p:spPr>
          <a:xfrm>
            <a:off x="0" y="3200400"/>
            <a:ext cx="12191695" cy="640080"/>
          </a:xfrm>
          <a:prstGeom prst="rect">
            <a:avLst/>
          </a:prstGeom>
          <a:noFill/>
          <a:ln/>
        </p:spPr>
        <p:txBody>
          <a:bodyPr wrap="square" lIns="0" tIns="0" rIns="0" bIns="0" rtlCol="0" anchor="ctr"/>
          <a:lstStyle/>
          <a:p>
            <a:pPr marL="0" indent="0" algn="ctr">
              <a:buNone/>
            </a:pPr>
            <a:r>
              <a:rPr lang="en-US" sz="3000" b="1" dirty="0">
                <a:solidFill>
                  <a:srgbClr val="1B2A4A"/>
                </a:solidFill>
                <a:latin typeface="Cambria" pitchFamily="34" charset="0"/>
                <a:ea typeface="Cambria" pitchFamily="34" charset="-122"/>
                <a:cs typeface="Cambria" pitchFamily="34" charset="-120"/>
              </a:rPr>
              <a:t>10-Minute Break</a:t>
            </a:r>
            <a:endParaRPr lang="en-US" sz="3000" dirty="0"/>
          </a:p>
        </p:txBody>
      </p:sp>
      <p:sp>
        <p:nvSpPr>
          <p:cNvPr id="5" name="Text 2"/>
          <p:cNvSpPr txBox="1"/>
          <p:nvPr/>
        </p:nvSpPr>
        <p:spPr>
          <a:xfrm>
            <a:off x="1371600" y="3931920"/>
            <a:ext cx="9448495" cy="548640"/>
          </a:xfrm>
          <a:prstGeom prst="rect">
            <a:avLst/>
          </a:prstGeom>
          <a:noFill/>
          <a:ln/>
        </p:spPr>
        <p:txBody>
          <a:bodyPr wrap="square" lIns="0" tIns="0" rIns="0" bIns="0" rtlCol="0" anchor="ctr"/>
          <a:lstStyle/>
          <a:p>
            <a:pPr marL="0" indent="0" algn="ctr">
              <a:buNone/>
            </a:pPr>
            <a:r>
              <a:rPr lang="en-US" sz="1500" i="1" dirty="0">
                <a:solidFill>
                  <a:srgbClr val="17233A"/>
                </a:solidFill>
                <a:latin typeface="Calibri" pitchFamily="34" charset="0"/>
                <a:ea typeface="Calibri" pitchFamily="34" charset="-122"/>
                <a:cs typeface="Calibri" pitchFamily="34" charset="-120"/>
              </a:rPr>
              <a:t>Next: migration selectivity, brain drain, and how digital data is changing what we can measure.</a:t>
            </a:r>
            <a:endParaRPr lang="en-US" sz="1500" dirty="0"/>
          </a:p>
        </p:txBody>
      </p:sp>
      <p:sp>
        <p:nvSpPr>
          <p:cNvPr id="6" name="Text 3"/>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7" name="Text 4"/>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22 / 57</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D33"/>
        </a:solidFill>
        <a:effectLst/>
      </p:bgPr>
    </p:bg>
    <p:spTree>
      <p:nvGrpSpPr>
        <p:cNvPr id="1" name=""/>
        <p:cNvGrpSpPr/>
        <p:nvPr/>
      </p:nvGrpSpPr>
      <p:grpSpPr>
        <a:xfrm>
          <a:off x="0" y="0"/>
          <a:ext cx="0" cy="0"/>
          <a:chOff x="0" y="0"/>
          <a:chExt cx="0" cy="0"/>
        </a:xfrm>
      </p:grpSpPr>
      <p:sp>
        <p:nvSpPr>
          <p:cNvPr id="2" name="Shape 0"/>
          <p:cNvSpPr/>
          <p:nvPr/>
        </p:nvSpPr>
        <p:spPr>
          <a:xfrm>
            <a:off x="8046720" y="2011680"/>
            <a:ext cx="6400800" cy="6400800"/>
          </a:xfrm>
          <a:prstGeom prst="ellipse">
            <a:avLst/>
          </a:prstGeom>
          <a:solidFill>
            <a:srgbClr val="1B2A4A">
              <a:alpha val="55000"/>
            </a:srgbClr>
          </a:solidFill>
          <a:ln/>
        </p:spPr>
      </p:sp>
      <p:sp>
        <p:nvSpPr>
          <p:cNvPr id="3" name="Shape 1"/>
          <p:cNvSpPr/>
          <p:nvPr/>
        </p:nvSpPr>
        <p:spPr>
          <a:xfrm>
            <a:off x="685800" y="2331720"/>
            <a:ext cx="1371600" cy="1371600"/>
          </a:xfrm>
          <a:prstGeom prst="ellipse">
            <a:avLst/>
          </a:prstGeom>
          <a:solidFill>
            <a:srgbClr val="0E7C7B"/>
          </a:solidFill>
          <a:ln/>
        </p:spPr>
      </p:sp>
      <p:pic>
        <p:nvPicPr>
          <p:cNvPr id="4" name="Image 0" descr="/sessions/blissful-modest-newton/mnt/outputs/scratch/build/icons/cap.png"/>
          <p:cNvPicPr>
            <a:picLocks noChangeAspect="1"/>
          </p:cNvPicPr>
          <p:nvPr/>
        </p:nvPicPr>
        <p:blipFill>
          <a:blip r:embed="rId3"/>
          <a:stretch>
            <a:fillRect/>
          </a:stretch>
        </p:blipFill>
        <p:spPr>
          <a:xfrm>
            <a:off x="973836" y="2619756"/>
            <a:ext cx="795528" cy="795528"/>
          </a:xfrm>
          <a:prstGeom prst="rect">
            <a:avLst/>
          </a:prstGeom>
        </p:spPr>
      </p:pic>
      <p:sp>
        <p:nvSpPr>
          <p:cNvPr id="5" name="Text 2"/>
          <p:cNvSpPr txBox="1"/>
          <p:nvPr/>
        </p:nvSpPr>
        <p:spPr>
          <a:xfrm>
            <a:off x="685800" y="3840480"/>
            <a:ext cx="9144000" cy="365760"/>
          </a:xfrm>
          <a:prstGeom prst="rect">
            <a:avLst/>
          </a:prstGeom>
          <a:noFill/>
          <a:ln/>
        </p:spPr>
        <p:txBody>
          <a:bodyPr wrap="square" lIns="0" tIns="0" rIns="0" bIns="0" rtlCol="0" anchor="ctr"/>
          <a:lstStyle/>
          <a:p>
            <a:pPr marL="0" indent="0">
              <a:buNone/>
            </a:pPr>
            <a:r>
              <a:rPr lang="en-US" sz="1500" b="1" kern="0" spc="200" dirty="0">
                <a:solidFill>
                  <a:srgbClr val="E8A33D"/>
                </a:solidFill>
                <a:latin typeface="Calibri" pitchFamily="34" charset="0"/>
                <a:ea typeface="Calibri" pitchFamily="34" charset="-122"/>
                <a:cs typeface="Calibri" pitchFamily="34" charset="-120"/>
              </a:rPr>
              <a:t>BLOCK 2</a:t>
            </a:r>
            <a:endParaRPr lang="en-US" sz="1500" dirty="0"/>
          </a:p>
        </p:txBody>
      </p:sp>
      <p:sp>
        <p:nvSpPr>
          <p:cNvPr id="6" name="Text 3"/>
          <p:cNvSpPr txBox="1"/>
          <p:nvPr/>
        </p:nvSpPr>
        <p:spPr>
          <a:xfrm>
            <a:off x="685800" y="4187952"/>
            <a:ext cx="10058400" cy="11887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Selectivity, Brain Drain &amp; Data Sources — Old and New</a:t>
            </a:r>
            <a:endParaRPr lang="en-US" sz="3400" dirty="0"/>
          </a:p>
        </p:txBody>
      </p:sp>
      <p:sp>
        <p:nvSpPr>
          <p:cNvPr id="7" name="Text 4"/>
          <p:cNvSpPr txBox="1"/>
          <p:nvPr/>
        </p:nvSpPr>
        <p:spPr>
          <a:xfrm>
            <a:off x="685800" y="5349240"/>
            <a:ext cx="9875520" cy="822960"/>
          </a:xfrm>
          <a:prstGeom prst="rect">
            <a:avLst/>
          </a:prstGeom>
          <a:noFill/>
          <a:ln/>
        </p:spPr>
        <p:txBody>
          <a:bodyPr wrap="square" lIns="0" tIns="0" rIns="0" bIns="0" rtlCol="0" anchor="ctr"/>
          <a:lstStyle/>
          <a:p>
            <a:pPr marL="0" indent="0">
              <a:buNone/>
            </a:pPr>
            <a:r>
              <a:rPr lang="en-US" sz="1500" i="1" dirty="0">
                <a:solidFill>
                  <a:srgbClr val="C9D6E8"/>
                </a:solidFill>
                <a:latin typeface="Calibri" pitchFamily="34" charset="0"/>
                <a:ea typeface="Calibri" pitchFamily="34" charset="-122"/>
                <a:cs typeface="Calibri" pitchFamily="34" charset="-120"/>
              </a:rPr>
              <a:t>Who moves is never random. And how we know who moved is changing fast, from paper registers to mobile-network data.</a:t>
            </a:r>
            <a:endParaRPr lang="en-US" sz="1500" dirty="0"/>
          </a:p>
        </p:txBody>
      </p:sp>
      <p:sp>
        <p:nvSpPr>
          <p:cNvPr id="8" name="Text 5"/>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C9D6E8"/>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9" name="Text 6"/>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C9D6E8"/>
                </a:solidFill>
                <a:latin typeface="Calibri" pitchFamily="34" charset="0"/>
                <a:ea typeface="Calibri" pitchFamily="34" charset="-122"/>
                <a:cs typeface="Calibri" pitchFamily="34" charset="-120"/>
              </a:rPr>
              <a:t>23 / 57</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MIGRATION IS NOT RANDOM</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Migration Selectivity &amp; “Brain Drain”</a:t>
            </a:r>
            <a:endParaRPr lang="en-US" sz="2900" dirty="0"/>
          </a:p>
        </p:txBody>
      </p:sp>
      <p:sp>
        <p:nvSpPr>
          <p:cNvPr id="4" name="Shape 2"/>
          <p:cNvSpPr/>
          <p:nvPr/>
        </p:nvSpPr>
        <p:spPr>
          <a:xfrm>
            <a:off x="502920" y="1691640"/>
            <a:ext cx="3520440" cy="4114800"/>
          </a:xfrm>
          <a:prstGeom prst="roundRect">
            <a:avLst>
              <a:gd name="adj" fmla="val 2338"/>
            </a:avLst>
          </a:prstGeom>
          <a:solidFill>
            <a:srgbClr val="F3F6FA"/>
          </a:solidFill>
          <a:ln/>
        </p:spPr>
      </p:sp>
      <p:sp>
        <p:nvSpPr>
          <p:cNvPr id="5" name="Shape 3"/>
          <p:cNvSpPr/>
          <p:nvPr/>
        </p:nvSpPr>
        <p:spPr>
          <a:xfrm>
            <a:off x="1874520" y="1947672"/>
            <a:ext cx="777240" cy="777240"/>
          </a:xfrm>
          <a:prstGeom prst="ellipse">
            <a:avLst/>
          </a:prstGeom>
          <a:solidFill>
            <a:srgbClr val="1B2A4A"/>
          </a:solidFill>
          <a:ln/>
        </p:spPr>
      </p:sp>
      <p:pic>
        <p:nvPicPr>
          <p:cNvPr id="6" name="Image 0" descr="/sessions/blissful-modest-newton/mnt/outputs/scratch/build/icons/cap.png"/>
          <p:cNvPicPr>
            <a:picLocks noChangeAspect="1"/>
          </p:cNvPicPr>
          <p:nvPr/>
        </p:nvPicPr>
        <p:blipFill>
          <a:blip r:embed="rId3"/>
          <a:stretch>
            <a:fillRect/>
          </a:stretch>
        </p:blipFill>
        <p:spPr>
          <a:xfrm>
            <a:off x="2045513" y="2118665"/>
            <a:ext cx="435254" cy="435254"/>
          </a:xfrm>
          <a:prstGeom prst="rect">
            <a:avLst/>
          </a:prstGeom>
        </p:spPr>
      </p:pic>
      <p:sp>
        <p:nvSpPr>
          <p:cNvPr id="7" name="Text 4"/>
          <p:cNvSpPr txBox="1"/>
          <p:nvPr/>
        </p:nvSpPr>
        <p:spPr>
          <a:xfrm>
            <a:off x="685800" y="2862072"/>
            <a:ext cx="3154680" cy="640080"/>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Brain Drain</a:t>
            </a:r>
            <a:endParaRPr lang="en-US" sz="1600" dirty="0"/>
          </a:p>
        </p:txBody>
      </p:sp>
      <p:sp>
        <p:nvSpPr>
          <p:cNvPr id="8" name="Text 5"/>
          <p:cNvSpPr txBox="1"/>
          <p:nvPr/>
        </p:nvSpPr>
        <p:spPr>
          <a:xfrm>
            <a:off x="731520" y="3520440"/>
            <a:ext cx="3063240" cy="21031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Migrants are rarely a random sample of the sending population — selected on age, education, skill, and ambition. When highly educated people leave in disproportionate numbers, we call it brain drain.</a:t>
            </a:r>
            <a:endParaRPr lang="en-US" sz="1250" dirty="0"/>
          </a:p>
        </p:txBody>
      </p:sp>
      <p:sp>
        <p:nvSpPr>
          <p:cNvPr id="9" name="Shape 6"/>
          <p:cNvSpPr/>
          <p:nvPr/>
        </p:nvSpPr>
        <p:spPr>
          <a:xfrm>
            <a:off x="4343400" y="1691640"/>
            <a:ext cx="3520440" cy="4114800"/>
          </a:xfrm>
          <a:prstGeom prst="roundRect">
            <a:avLst>
              <a:gd name="adj" fmla="val 2338"/>
            </a:avLst>
          </a:prstGeom>
          <a:solidFill>
            <a:srgbClr val="E7EEF7"/>
          </a:solidFill>
          <a:ln/>
        </p:spPr>
      </p:sp>
      <p:sp>
        <p:nvSpPr>
          <p:cNvPr id="10" name="Shape 7"/>
          <p:cNvSpPr/>
          <p:nvPr/>
        </p:nvSpPr>
        <p:spPr>
          <a:xfrm>
            <a:off x="5715000" y="1947672"/>
            <a:ext cx="777240" cy="777240"/>
          </a:xfrm>
          <a:prstGeom prst="ellipse">
            <a:avLst/>
          </a:prstGeom>
          <a:solidFill>
            <a:srgbClr val="1B2A4A"/>
          </a:solidFill>
          <a:ln/>
        </p:spPr>
      </p:sp>
      <p:pic>
        <p:nvPicPr>
          <p:cNvPr id="11" name="Image 1" descr="/sessions/blissful-modest-newton/mnt/outputs/scratch/build/icons/briefcase.png"/>
          <p:cNvPicPr>
            <a:picLocks noChangeAspect="1"/>
          </p:cNvPicPr>
          <p:nvPr/>
        </p:nvPicPr>
        <p:blipFill>
          <a:blip r:embed="rId4"/>
          <a:stretch>
            <a:fillRect/>
          </a:stretch>
        </p:blipFill>
        <p:spPr>
          <a:xfrm>
            <a:off x="5885993" y="2118665"/>
            <a:ext cx="435254" cy="435254"/>
          </a:xfrm>
          <a:prstGeom prst="rect">
            <a:avLst/>
          </a:prstGeom>
        </p:spPr>
      </p:pic>
      <p:sp>
        <p:nvSpPr>
          <p:cNvPr id="12" name="Text 8"/>
          <p:cNvSpPr txBox="1"/>
          <p:nvPr/>
        </p:nvSpPr>
        <p:spPr>
          <a:xfrm>
            <a:off x="4526280" y="2862072"/>
            <a:ext cx="3154680" cy="640080"/>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Fiscal &amp; Human-Capital Cost</a:t>
            </a:r>
            <a:endParaRPr lang="en-US" sz="1600" dirty="0"/>
          </a:p>
        </p:txBody>
      </p:sp>
      <p:sp>
        <p:nvSpPr>
          <p:cNvPr id="13" name="Text 9"/>
          <p:cNvSpPr txBox="1"/>
          <p:nvPr/>
        </p:nvSpPr>
        <p:spPr>
          <a:xfrm>
            <a:off x="4572000" y="3520440"/>
            <a:ext cx="3063240" cy="21031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Origin countries lose the return on their investment in educating emigrants — a real fiscal and human-capital cost to the sending economy and its public services.</a:t>
            </a:r>
            <a:endParaRPr lang="en-US" sz="1250" dirty="0"/>
          </a:p>
        </p:txBody>
      </p:sp>
      <p:sp>
        <p:nvSpPr>
          <p:cNvPr id="14" name="Shape 10"/>
          <p:cNvSpPr/>
          <p:nvPr/>
        </p:nvSpPr>
        <p:spPr>
          <a:xfrm>
            <a:off x="8183880" y="1691640"/>
            <a:ext cx="3520440" cy="4114800"/>
          </a:xfrm>
          <a:prstGeom prst="roundRect">
            <a:avLst>
              <a:gd name="adj" fmla="val 2338"/>
            </a:avLst>
          </a:prstGeom>
          <a:solidFill>
            <a:srgbClr val="F3F6FA"/>
          </a:solidFill>
          <a:ln/>
        </p:spPr>
      </p:sp>
      <p:sp>
        <p:nvSpPr>
          <p:cNvPr id="15" name="Shape 11"/>
          <p:cNvSpPr/>
          <p:nvPr/>
        </p:nvSpPr>
        <p:spPr>
          <a:xfrm>
            <a:off x="9555480" y="1947672"/>
            <a:ext cx="777240" cy="777240"/>
          </a:xfrm>
          <a:prstGeom prst="ellipse">
            <a:avLst/>
          </a:prstGeom>
          <a:solidFill>
            <a:srgbClr val="1B2A4A"/>
          </a:solidFill>
          <a:ln/>
        </p:spPr>
      </p:sp>
      <p:pic>
        <p:nvPicPr>
          <p:cNvPr id="16" name="Image 2" descr="/sessions/blissful-modest-newton/mnt/outputs/scratch/build/icons/handshake.png"/>
          <p:cNvPicPr>
            <a:picLocks noChangeAspect="1"/>
          </p:cNvPicPr>
          <p:nvPr/>
        </p:nvPicPr>
        <p:blipFill>
          <a:blip r:embed="rId5"/>
          <a:stretch>
            <a:fillRect/>
          </a:stretch>
        </p:blipFill>
        <p:spPr>
          <a:xfrm>
            <a:off x="9726473" y="2118665"/>
            <a:ext cx="435254" cy="435254"/>
          </a:xfrm>
          <a:prstGeom prst="rect">
            <a:avLst/>
          </a:prstGeom>
        </p:spPr>
      </p:pic>
      <p:sp>
        <p:nvSpPr>
          <p:cNvPr id="17" name="Text 12"/>
          <p:cNvSpPr txBox="1"/>
          <p:nvPr/>
        </p:nvSpPr>
        <p:spPr>
          <a:xfrm>
            <a:off x="8366760" y="2862072"/>
            <a:ext cx="3154680" cy="640080"/>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Brain Gain &amp; Brain Circulation</a:t>
            </a:r>
            <a:endParaRPr lang="en-US" sz="1600" dirty="0"/>
          </a:p>
        </p:txBody>
      </p:sp>
      <p:sp>
        <p:nvSpPr>
          <p:cNvPr id="18" name="Text 13"/>
          <p:cNvSpPr txBox="1"/>
          <p:nvPr/>
        </p:nvSpPr>
        <p:spPr>
          <a:xfrm>
            <a:off x="8412480" y="3520440"/>
            <a:ext cx="3063240" cy="21031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Destination countries gain “brain gain” — skilled workers filling labor shortages. Some migrants later return with skills, capital, and networks (“brain circulation”), partly offsetting the loss.</a:t>
            </a:r>
            <a:endParaRPr lang="en-US" sz="1250" dirty="0"/>
          </a:p>
        </p:txBody>
      </p:sp>
      <p:sp>
        <p:nvSpPr>
          <p:cNvPr id="19" name="Text 14"/>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20" name="Text 15"/>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24 / 57</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EXAMPLE 4 — THAILAND, 2024</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Thailand: Both Destination and Transit Country</a:t>
            </a:r>
            <a:endParaRPr lang="en-US" sz="2900" dirty="0"/>
          </a:p>
        </p:txBody>
      </p:sp>
      <p:sp>
        <p:nvSpPr>
          <p:cNvPr id="4" name="Shape 2"/>
          <p:cNvSpPr/>
          <p:nvPr/>
        </p:nvSpPr>
        <p:spPr>
          <a:xfrm>
            <a:off x="548640" y="1691640"/>
            <a:ext cx="3520440" cy="2331720"/>
          </a:xfrm>
          <a:prstGeom prst="roundRect">
            <a:avLst>
              <a:gd name="adj" fmla="val 3922"/>
            </a:avLst>
          </a:prstGeom>
          <a:solidFill>
            <a:srgbClr val="F3F6FA"/>
          </a:solidFill>
          <a:ln/>
        </p:spPr>
      </p:sp>
      <p:sp>
        <p:nvSpPr>
          <p:cNvPr id="5" name="Text 3"/>
          <p:cNvSpPr txBox="1"/>
          <p:nvPr/>
        </p:nvSpPr>
        <p:spPr>
          <a:xfrm>
            <a:off x="731520" y="1874520"/>
            <a:ext cx="3154680" cy="914400"/>
          </a:xfrm>
          <a:prstGeom prst="rect">
            <a:avLst/>
          </a:prstGeom>
          <a:noFill/>
          <a:ln/>
        </p:spPr>
        <p:txBody>
          <a:bodyPr wrap="square" lIns="0" tIns="0" rIns="0" bIns="0" rtlCol="0" anchor="ctr"/>
          <a:lstStyle/>
          <a:p>
            <a:pPr marL="0" indent="0">
              <a:buNone/>
            </a:pPr>
            <a:r>
              <a:rPr lang="en-US" sz="3800" b="1" dirty="0">
                <a:solidFill>
                  <a:srgbClr val="0E7C7B"/>
                </a:solidFill>
                <a:latin typeface="Cambria" pitchFamily="34" charset="0"/>
                <a:ea typeface="Cambria" pitchFamily="34" charset="-122"/>
                <a:cs typeface="Cambria" pitchFamily="34" charset="-120"/>
              </a:rPr>
              <a:t>5.3M</a:t>
            </a:r>
            <a:endParaRPr lang="en-US" sz="3800" dirty="0"/>
          </a:p>
        </p:txBody>
      </p:sp>
      <p:sp>
        <p:nvSpPr>
          <p:cNvPr id="6" name="Text 4"/>
          <p:cNvSpPr txBox="1"/>
          <p:nvPr/>
        </p:nvSpPr>
        <p:spPr>
          <a:xfrm>
            <a:off x="731520" y="2743200"/>
            <a:ext cx="3154680" cy="1188720"/>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non-Thai nationals residing in Thailand — an 8% rise on the prior report, including ~3.1M regular migrant workers</a:t>
            </a:r>
            <a:endParaRPr lang="en-US" sz="1300" dirty="0"/>
          </a:p>
        </p:txBody>
      </p:sp>
      <p:sp>
        <p:nvSpPr>
          <p:cNvPr id="7" name="Shape 5"/>
          <p:cNvSpPr/>
          <p:nvPr/>
        </p:nvSpPr>
        <p:spPr>
          <a:xfrm>
            <a:off x="4389120" y="1691640"/>
            <a:ext cx="3520440" cy="2331720"/>
          </a:xfrm>
          <a:prstGeom prst="roundRect">
            <a:avLst>
              <a:gd name="adj" fmla="val 3922"/>
            </a:avLst>
          </a:prstGeom>
          <a:solidFill>
            <a:srgbClr val="F3F6FA"/>
          </a:solidFill>
          <a:ln/>
        </p:spPr>
      </p:sp>
      <p:sp>
        <p:nvSpPr>
          <p:cNvPr id="8" name="Text 6"/>
          <p:cNvSpPr txBox="1"/>
          <p:nvPr/>
        </p:nvSpPr>
        <p:spPr>
          <a:xfrm>
            <a:off x="4572000" y="1874520"/>
            <a:ext cx="3154680" cy="914400"/>
          </a:xfrm>
          <a:prstGeom prst="rect">
            <a:avLst/>
          </a:prstGeom>
          <a:noFill/>
          <a:ln/>
        </p:spPr>
        <p:txBody>
          <a:bodyPr wrap="square" lIns="0" tIns="0" rIns="0" bIns="0" rtlCol="0" anchor="ctr"/>
          <a:lstStyle/>
          <a:p>
            <a:pPr marL="0" indent="0">
              <a:buNone/>
            </a:pPr>
            <a:r>
              <a:rPr lang="en-US" sz="3800" b="1" dirty="0">
                <a:solidFill>
                  <a:srgbClr val="0E7C7B"/>
                </a:solidFill>
                <a:latin typeface="Cambria" pitchFamily="34" charset="0"/>
                <a:ea typeface="Cambria" pitchFamily="34" charset="-122"/>
                <a:cs typeface="Cambria" pitchFamily="34" charset="-120"/>
              </a:rPr>
              <a:t>2.3M+</a:t>
            </a:r>
            <a:endParaRPr lang="en-US" sz="3800" dirty="0"/>
          </a:p>
        </p:txBody>
      </p:sp>
      <p:sp>
        <p:nvSpPr>
          <p:cNvPr id="9" name="Text 7"/>
          <p:cNvSpPr txBox="1"/>
          <p:nvPr/>
        </p:nvSpPr>
        <p:spPr>
          <a:xfrm>
            <a:off x="4572000" y="2743200"/>
            <a:ext cx="3154680" cy="1188720"/>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Myanmar nationals estimated to have moved into Thailand since the 2021 coup — a mix of labor migration and displacement</a:t>
            </a:r>
            <a:endParaRPr lang="en-US" sz="1300" dirty="0"/>
          </a:p>
        </p:txBody>
      </p:sp>
      <p:sp>
        <p:nvSpPr>
          <p:cNvPr id="10" name="Shape 8"/>
          <p:cNvSpPr/>
          <p:nvPr/>
        </p:nvSpPr>
        <p:spPr>
          <a:xfrm>
            <a:off x="8229600" y="1691640"/>
            <a:ext cx="3520440" cy="2331720"/>
          </a:xfrm>
          <a:prstGeom prst="roundRect">
            <a:avLst>
              <a:gd name="adj" fmla="val 3922"/>
            </a:avLst>
          </a:prstGeom>
          <a:solidFill>
            <a:srgbClr val="F3F6FA"/>
          </a:solidFill>
          <a:ln/>
        </p:spPr>
      </p:sp>
      <p:sp>
        <p:nvSpPr>
          <p:cNvPr id="11" name="Text 9"/>
          <p:cNvSpPr txBox="1"/>
          <p:nvPr/>
        </p:nvSpPr>
        <p:spPr>
          <a:xfrm>
            <a:off x="8412480" y="1874520"/>
            <a:ext cx="3154680" cy="914400"/>
          </a:xfrm>
          <a:prstGeom prst="rect">
            <a:avLst/>
          </a:prstGeom>
          <a:noFill/>
          <a:ln/>
        </p:spPr>
        <p:txBody>
          <a:bodyPr wrap="square" lIns="0" tIns="0" rIns="0" bIns="0" rtlCol="0" anchor="ctr"/>
          <a:lstStyle/>
          <a:p>
            <a:pPr marL="0" indent="0">
              <a:buNone/>
            </a:pPr>
            <a:r>
              <a:rPr lang="en-US" sz="3800" b="1" dirty="0">
                <a:solidFill>
                  <a:srgbClr val="0E7C7B"/>
                </a:solidFill>
                <a:latin typeface="Cambria" pitchFamily="34" charset="0"/>
                <a:ea typeface="Cambria" pitchFamily="34" charset="-122"/>
                <a:cs typeface="Cambria" pitchFamily="34" charset="-120"/>
              </a:rPr>
              <a:t>5.6%</a:t>
            </a:r>
            <a:endParaRPr lang="en-US" sz="3800" dirty="0"/>
          </a:p>
        </p:txBody>
      </p:sp>
      <p:sp>
        <p:nvSpPr>
          <p:cNvPr id="12" name="Text 10"/>
          <p:cNvSpPr txBox="1"/>
          <p:nvPr/>
        </p:nvSpPr>
        <p:spPr>
          <a:xfrm>
            <a:off x="8412480" y="2743200"/>
            <a:ext cx="3154680" cy="1188720"/>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of registered migrant workers classified as “skilled” — Thailand's inflows are dominated by low-skilled labor, the mirror image of brain drain upstream</a:t>
            </a:r>
            <a:endParaRPr lang="en-US" sz="1300" dirty="0"/>
          </a:p>
        </p:txBody>
      </p:sp>
      <p:sp>
        <p:nvSpPr>
          <p:cNvPr id="13" name="Text 11"/>
          <p:cNvSpPr txBox="1"/>
          <p:nvPr/>
        </p:nvSpPr>
        <p:spPr>
          <a:xfrm>
            <a:off x="548640" y="4206240"/>
            <a:ext cx="11064240" cy="822960"/>
          </a:xfrm>
          <a:prstGeom prst="rect">
            <a:avLst/>
          </a:prstGeom>
          <a:noFill/>
          <a:ln/>
        </p:spPr>
        <p:txBody>
          <a:bodyPr wrap="square" lIns="0" tIns="0" rIns="0" bIns="0" rtlCol="0" anchor="ctr"/>
          <a:lstStyle/>
          <a:p>
            <a:pPr marL="0" indent="0">
              <a:lnSpc>
                <a:spcPct val="115000"/>
              </a:lnSpc>
              <a:buNone/>
            </a:pPr>
            <a:r>
              <a:rPr lang="en-US" sz="1350" i="1" dirty="0">
                <a:solidFill>
                  <a:srgbClr val="17233A"/>
                </a:solidFill>
                <a:latin typeface="Calibri" pitchFamily="34" charset="0"/>
                <a:ea typeface="Calibri" pitchFamily="34" charset="-122"/>
                <a:cs typeface="Calibri" pitchFamily="34" charset="-120"/>
              </a:rPr>
              <a:t>Cambodia, Lao PDR, and Myanmar supply the overwhelming majority of Thailand's migrant workforce — making Thailand a critical case for both migration measurement and regional labor policy.</a:t>
            </a:r>
            <a:endParaRPr lang="en-US" sz="1350" dirty="0"/>
          </a:p>
        </p:txBody>
      </p:sp>
      <p:sp>
        <p:nvSpPr>
          <p:cNvPr id="14" name="Text 12"/>
          <p:cNvSpPr txBox="1"/>
          <p:nvPr/>
        </p:nvSpPr>
        <p:spPr>
          <a:xfrm>
            <a:off x="548640" y="6108192"/>
            <a:ext cx="11064240" cy="384048"/>
          </a:xfrm>
          <a:prstGeom prst="rect">
            <a:avLst/>
          </a:prstGeom>
          <a:noFill/>
          <a:ln/>
        </p:spPr>
        <p:txBody>
          <a:bodyPr wrap="square" lIns="0" tIns="0" rIns="0" bIns="0" rtlCol="0" anchor="ctr"/>
          <a:lstStyle/>
          <a:p>
            <a:pPr marL="0" indent="0">
              <a:buNone/>
            </a:pPr>
            <a:r>
              <a:rPr lang="en-US" sz="1050" i="1" dirty="0">
                <a:solidFill>
                  <a:srgbClr val="5B6B82"/>
                </a:solidFill>
                <a:latin typeface="Calibri" pitchFamily="34" charset="0"/>
                <a:ea typeface="Calibri" pitchFamily="34" charset="-122"/>
                <a:cs typeface="Calibri" pitchFamily="34" charset="-120"/>
              </a:rPr>
              <a:t>Source: International Labour Organization. (2024). Thailand Migration Report 2024. https://www.ilo.org/sites/default/files/2024-12/thailand-migration-report-2024.pdf</a:t>
            </a:r>
            <a:endParaRPr lang="en-US" sz="1050" dirty="0"/>
          </a:p>
        </p:txBody>
      </p:sp>
      <p:sp>
        <p:nvSpPr>
          <p:cNvPr id="15" name="Text 13"/>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16" name="Text 14"/>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25 / 57</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MEASURING WHO MOVED</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Traditional Migration Data Sources</a:t>
            </a:r>
            <a:endParaRPr lang="en-US" sz="2900" dirty="0"/>
          </a:p>
        </p:txBody>
      </p:sp>
      <p:sp>
        <p:nvSpPr>
          <p:cNvPr id="4" name="Shape 2"/>
          <p:cNvSpPr/>
          <p:nvPr/>
        </p:nvSpPr>
        <p:spPr>
          <a:xfrm>
            <a:off x="502920" y="1691640"/>
            <a:ext cx="3520440" cy="4114800"/>
          </a:xfrm>
          <a:prstGeom prst="roundRect">
            <a:avLst>
              <a:gd name="adj" fmla="val 2338"/>
            </a:avLst>
          </a:prstGeom>
          <a:solidFill>
            <a:srgbClr val="F3F6FA"/>
          </a:solidFill>
          <a:ln/>
        </p:spPr>
      </p:sp>
      <p:sp>
        <p:nvSpPr>
          <p:cNvPr id="5" name="Shape 3"/>
          <p:cNvSpPr/>
          <p:nvPr/>
        </p:nvSpPr>
        <p:spPr>
          <a:xfrm>
            <a:off x="1874520" y="1947672"/>
            <a:ext cx="777240" cy="777240"/>
          </a:xfrm>
          <a:prstGeom prst="ellipse">
            <a:avLst/>
          </a:prstGeom>
          <a:solidFill>
            <a:srgbClr val="1B2A4A"/>
          </a:solidFill>
          <a:ln/>
        </p:spPr>
      </p:sp>
      <p:pic>
        <p:nvPicPr>
          <p:cNvPr id="6" name="Image 0" descr="/sessions/blissful-modest-newton/mnt/outputs/scratch/build/icons/database.png"/>
          <p:cNvPicPr>
            <a:picLocks noChangeAspect="1"/>
          </p:cNvPicPr>
          <p:nvPr/>
        </p:nvPicPr>
        <p:blipFill>
          <a:blip r:embed="rId3"/>
          <a:stretch>
            <a:fillRect/>
          </a:stretch>
        </p:blipFill>
        <p:spPr>
          <a:xfrm>
            <a:off x="2045513" y="2118665"/>
            <a:ext cx="435254" cy="435254"/>
          </a:xfrm>
          <a:prstGeom prst="rect">
            <a:avLst/>
          </a:prstGeom>
        </p:spPr>
      </p:pic>
      <p:sp>
        <p:nvSpPr>
          <p:cNvPr id="7" name="Text 4"/>
          <p:cNvSpPr txBox="1"/>
          <p:nvPr/>
        </p:nvSpPr>
        <p:spPr>
          <a:xfrm>
            <a:off x="685800" y="2862072"/>
            <a:ext cx="3154680" cy="640080"/>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Administrative Records</a:t>
            </a:r>
            <a:endParaRPr lang="en-US" sz="1600" dirty="0"/>
          </a:p>
        </p:txBody>
      </p:sp>
      <p:sp>
        <p:nvSpPr>
          <p:cNvPr id="8" name="Text 5"/>
          <p:cNvSpPr txBox="1"/>
          <p:nvPr/>
        </p:nvSpPr>
        <p:spPr>
          <a:xfrm>
            <a:off x="731520" y="3520440"/>
            <a:ext cx="3063240" cy="21031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Population registers, visas, residence permits. Continuous &amp; authoritative, but excludes unregistered/irregular migrants entirely.</a:t>
            </a:r>
            <a:endParaRPr lang="en-US" sz="1250" dirty="0"/>
          </a:p>
        </p:txBody>
      </p:sp>
      <p:sp>
        <p:nvSpPr>
          <p:cNvPr id="9" name="Shape 6"/>
          <p:cNvSpPr/>
          <p:nvPr/>
        </p:nvSpPr>
        <p:spPr>
          <a:xfrm>
            <a:off x="4343400" y="1691640"/>
            <a:ext cx="3520440" cy="4114800"/>
          </a:xfrm>
          <a:prstGeom prst="roundRect">
            <a:avLst>
              <a:gd name="adj" fmla="val 2338"/>
            </a:avLst>
          </a:prstGeom>
          <a:solidFill>
            <a:srgbClr val="E7EEF7"/>
          </a:solidFill>
          <a:ln/>
        </p:spPr>
      </p:sp>
      <p:sp>
        <p:nvSpPr>
          <p:cNvPr id="10" name="Shape 7"/>
          <p:cNvSpPr/>
          <p:nvPr/>
        </p:nvSpPr>
        <p:spPr>
          <a:xfrm>
            <a:off x="5715000" y="1947672"/>
            <a:ext cx="777240" cy="777240"/>
          </a:xfrm>
          <a:prstGeom prst="ellipse">
            <a:avLst/>
          </a:prstGeom>
          <a:solidFill>
            <a:srgbClr val="1B2A4A"/>
          </a:solidFill>
          <a:ln/>
        </p:spPr>
      </p:sp>
      <p:pic>
        <p:nvPicPr>
          <p:cNvPr id="11" name="Image 1" descr="/sessions/blissful-modest-newton/mnt/outputs/scratch/build/icons/checklist.png"/>
          <p:cNvPicPr>
            <a:picLocks noChangeAspect="1"/>
          </p:cNvPicPr>
          <p:nvPr/>
        </p:nvPicPr>
        <p:blipFill>
          <a:blip r:embed="rId4"/>
          <a:stretch>
            <a:fillRect/>
          </a:stretch>
        </p:blipFill>
        <p:spPr>
          <a:xfrm>
            <a:off x="5885993" y="2118665"/>
            <a:ext cx="435254" cy="435254"/>
          </a:xfrm>
          <a:prstGeom prst="rect">
            <a:avLst/>
          </a:prstGeom>
        </p:spPr>
      </p:pic>
      <p:sp>
        <p:nvSpPr>
          <p:cNvPr id="12" name="Text 8"/>
          <p:cNvSpPr txBox="1"/>
          <p:nvPr/>
        </p:nvSpPr>
        <p:spPr>
          <a:xfrm>
            <a:off x="4526280" y="2862072"/>
            <a:ext cx="3154680" cy="640080"/>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Census Residence Questions</a:t>
            </a:r>
            <a:endParaRPr lang="en-US" sz="1600" dirty="0"/>
          </a:p>
        </p:txBody>
      </p:sp>
      <p:sp>
        <p:nvSpPr>
          <p:cNvPr id="13" name="Text 9"/>
          <p:cNvSpPr txBox="1"/>
          <p:nvPr/>
        </p:nvSpPr>
        <p:spPr>
          <a:xfrm>
            <a:off x="4572000" y="3520440"/>
            <a:ext cx="3063240" cy="21031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“Where did you live 1 or 5 years ago?” Covers the whole population, but only periodic (every 5-10 years) and retrospective.</a:t>
            </a:r>
            <a:endParaRPr lang="en-US" sz="1250" dirty="0"/>
          </a:p>
        </p:txBody>
      </p:sp>
      <p:sp>
        <p:nvSpPr>
          <p:cNvPr id="14" name="Shape 10"/>
          <p:cNvSpPr/>
          <p:nvPr/>
        </p:nvSpPr>
        <p:spPr>
          <a:xfrm>
            <a:off x="8183880" y="1691640"/>
            <a:ext cx="3520440" cy="4114800"/>
          </a:xfrm>
          <a:prstGeom prst="roundRect">
            <a:avLst>
              <a:gd name="adj" fmla="val 2338"/>
            </a:avLst>
          </a:prstGeom>
          <a:solidFill>
            <a:srgbClr val="F3F6FA"/>
          </a:solidFill>
          <a:ln/>
        </p:spPr>
      </p:sp>
      <p:sp>
        <p:nvSpPr>
          <p:cNvPr id="15" name="Shape 11"/>
          <p:cNvSpPr/>
          <p:nvPr/>
        </p:nvSpPr>
        <p:spPr>
          <a:xfrm>
            <a:off x="9555480" y="1947672"/>
            <a:ext cx="777240" cy="777240"/>
          </a:xfrm>
          <a:prstGeom prst="ellipse">
            <a:avLst/>
          </a:prstGeom>
          <a:solidFill>
            <a:srgbClr val="1B2A4A"/>
          </a:solidFill>
          <a:ln/>
        </p:spPr>
      </p:sp>
      <p:pic>
        <p:nvPicPr>
          <p:cNvPr id="16" name="Image 2" descr="/sessions/blissful-modest-newton/mnt/outputs/scratch/build/icons/chart.png"/>
          <p:cNvPicPr>
            <a:picLocks noChangeAspect="1"/>
          </p:cNvPicPr>
          <p:nvPr/>
        </p:nvPicPr>
        <p:blipFill>
          <a:blip r:embed="rId5"/>
          <a:stretch>
            <a:fillRect/>
          </a:stretch>
        </p:blipFill>
        <p:spPr>
          <a:xfrm>
            <a:off x="9726473" y="2118665"/>
            <a:ext cx="435254" cy="435254"/>
          </a:xfrm>
          <a:prstGeom prst="rect">
            <a:avLst/>
          </a:prstGeom>
        </p:spPr>
      </p:pic>
      <p:sp>
        <p:nvSpPr>
          <p:cNvPr id="17" name="Text 12"/>
          <p:cNvSpPr txBox="1"/>
          <p:nvPr/>
        </p:nvSpPr>
        <p:spPr>
          <a:xfrm>
            <a:off x="8366760" y="2862072"/>
            <a:ext cx="3154680" cy="640080"/>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Targeted Surveys</a:t>
            </a:r>
            <a:endParaRPr lang="en-US" sz="1600" dirty="0"/>
          </a:p>
        </p:txBody>
      </p:sp>
      <p:sp>
        <p:nvSpPr>
          <p:cNvPr id="18" name="Text 13"/>
          <p:cNvSpPr txBox="1"/>
          <p:nvPr/>
        </p:nvSpPr>
        <p:spPr>
          <a:xfrm>
            <a:off x="8412480" y="3520440"/>
            <a:ext cx="3063240" cy="21031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Labor-force and dedicated migration surveys give rich detail on motives &amp; selectivity, but are costly, sample-based, and origin-country surveys can't observe emigrants who already left.</a:t>
            </a:r>
            <a:endParaRPr lang="en-US" sz="1250" dirty="0"/>
          </a:p>
        </p:txBody>
      </p:sp>
      <p:sp>
        <p:nvSpPr>
          <p:cNvPr id="19" name="Text 14"/>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20" name="Text 15"/>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26 / 57</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EXAMPLE 5 — GLOBAL, 2024</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International Migrant Stock 2024: Key Facts</a:t>
            </a:r>
            <a:endParaRPr lang="en-US" sz="2900" dirty="0"/>
          </a:p>
        </p:txBody>
      </p:sp>
      <p:sp>
        <p:nvSpPr>
          <p:cNvPr id="4" name="Shape 2"/>
          <p:cNvSpPr/>
          <p:nvPr/>
        </p:nvSpPr>
        <p:spPr>
          <a:xfrm>
            <a:off x="548640" y="1691640"/>
            <a:ext cx="3520440" cy="2331720"/>
          </a:xfrm>
          <a:prstGeom prst="roundRect">
            <a:avLst>
              <a:gd name="adj" fmla="val 3922"/>
            </a:avLst>
          </a:prstGeom>
          <a:solidFill>
            <a:srgbClr val="F3F6FA"/>
          </a:solidFill>
          <a:ln/>
        </p:spPr>
      </p:sp>
      <p:sp>
        <p:nvSpPr>
          <p:cNvPr id="5" name="Text 3"/>
          <p:cNvSpPr txBox="1"/>
          <p:nvPr/>
        </p:nvSpPr>
        <p:spPr>
          <a:xfrm>
            <a:off x="731520" y="1874520"/>
            <a:ext cx="3154680" cy="914400"/>
          </a:xfrm>
          <a:prstGeom prst="rect">
            <a:avLst/>
          </a:prstGeom>
          <a:noFill/>
          <a:ln/>
        </p:spPr>
        <p:txBody>
          <a:bodyPr wrap="square" lIns="0" tIns="0" rIns="0" bIns="0" rtlCol="0" anchor="ctr"/>
          <a:lstStyle/>
          <a:p>
            <a:pPr marL="0" indent="0">
              <a:buNone/>
            </a:pPr>
            <a:r>
              <a:rPr lang="en-US" sz="3800" b="1" dirty="0">
                <a:solidFill>
                  <a:srgbClr val="0E7C7B"/>
                </a:solidFill>
                <a:latin typeface="Cambria" pitchFamily="34" charset="0"/>
                <a:ea typeface="Cambria" pitchFamily="34" charset="-122"/>
                <a:cs typeface="Cambria" pitchFamily="34" charset="-120"/>
              </a:rPr>
              <a:t>281M</a:t>
            </a:r>
            <a:endParaRPr lang="en-US" sz="3800" dirty="0"/>
          </a:p>
        </p:txBody>
      </p:sp>
      <p:sp>
        <p:nvSpPr>
          <p:cNvPr id="6" name="Text 4"/>
          <p:cNvSpPr txBox="1"/>
          <p:nvPr/>
        </p:nvSpPr>
        <p:spPr>
          <a:xfrm>
            <a:off x="731520" y="2743200"/>
            <a:ext cx="3154680" cy="1188720"/>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international migrants counted in the 2024 stock estimates (UN DESA methodology)</a:t>
            </a:r>
            <a:endParaRPr lang="en-US" sz="1300" dirty="0"/>
          </a:p>
        </p:txBody>
      </p:sp>
      <p:sp>
        <p:nvSpPr>
          <p:cNvPr id="7" name="Shape 5"/>
          <p:cNvSpPr/>
          <p:nvPr/>
        </p:nvSpPr>
        <p:spPr>
          <a:xfrm>
            <a:off x="4389120" y="1691640"/>
            <a:ext cx="3520440" cy="2331720"/>
          </a:xfrm>
          <a:prstGeom prst="roundRect">
            <a:avLst>
              <a:gd name="adj" fmla="val 3922"/>
            </a:avLst>
          </a:prstGeom>
          <a:solidFill>
            <a:srgbClr val="F3F6FA"/>
          </a:solidFill>
          <a:ln/>
        </p:spPr>
      </p:sp>
      <p:sp>
        <p:nvSpPr>
          <p:cNvPr id="8" name="Text 6"/>
          <p:cNvSpPr txBox="1"/>
          <p:nvPr/>
        </p:nvSpPr>
        <p:spPr>
          <a:xfrm>
            <a:off x="4572000" y="1874520"/>
            <a:ext cx="3154680" cy="914400"/>
          </a:xfrm>
          <a:prstGeom prst="rect">
            <a:avLst/>
          </a:prstGeom>
          <a:noFill/>
          <a:ln/>
        </p:spPr>
        <p:txBody>
          <a:bodyPr wrap="square" lIns="0" tIns="0" rIns="0" bIns="0" rtlCol="0" anchor="ctr"/>
          <a:lstStyle/>
          <a:p>
            <a:pPr marL="0" indent="0">
              <a:buNone/>
            </a:pPr>
            <a:r>
              <a:rPr lang="en-US" sz="3800" b="1" dirty="0">
                <a:solidFill>
                  <a:srgbClr val="0E7C7B"/>
                </a:solidFill>
                <a:latin typeface="Cambria" pitchFamily="34" charset="0"/>
                <a:ea typeface="Cambria" pitchFamily="34" charset="-122"/>
                <a:cs typeface="Cambria" pitchFamily="34" charset="-120"/>
              </a:rPr>
              <a:t>USA</a:t>
            </a:r>
            <a:endParaRPr lang="en-US" sz="3800" dirty="0"/>
          </a:p>
        </p:txBody>
      </p:sp>
      <p:sp>
        <p:nvSpPr>
          <p:cNvPr id="9" name="Text 7"/>
          <p:cNvSpPr txBox="1"/>
          <p:nvPr/>
        </p:nvSpPr>
        <p:spPr>
          <a:xfrm>
            <a:off x="4572000" y="2743200"/>
            <a:ext cx="3154680" cy="1188720"/>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remains the single largest destination country for international migrants</a:t>
            </a:r>
            <a:endParaRPr lang="en-US" sz="1300" dirty="0"/>
          </a:p>
        </p:txBody>
      </p:sp>
      <p:sp>
        <p:nvSpPr>
          <p:cNvPr id="10" name="Shape 8"/>
          <p:cNvSpPr/>
          <p:nvPr/>
        </p:nvSpPr>
        <p:spPr>
          <a:xfrm>
            <a:off x="8229600" y="1691640"/>
            <a:ext cx="3520440" cy="2331720"/>
          </a:xfrm>
          <a:prstGeom prst="roundRect">
            <a:avLst>
              <a:gd name="adj" fmla="val 3922"/>
            </a:avLst>
          </a:prstGeom>
          <a:solidFill>
            <a:srgbClr val="F3F6FA"/>
          </a:solidFill>
          <a:ln/>
        </p:spPr>
      </p:sp>
      <p:sp>
        <p:nvSpPr>
          <p:cNvPr id="11" name="Text 9"/>
          <p:cNvSpPr txBox="1"/>
          <p:nvPr/>
        </p:nvSpPr>
        <p:spPr>
          <a:xfrm>
            <a:off x="8412480" y="1874520"/>
            <a:ext cx="3154680" cy="914400"/>
          </a:xfrm>
          <a:prstGeom prst="rect">
            <a:avLst/>
          </a:prstGeom>
          <a:noFill/>
          <a:ln/>
        </p:spPr>
        <p:txBody>
          <a:bodyPr wrap="square" lIns="0" tIns="0" rIns="0" bIns="0" rtlCol="0" anchor="ctr"/>
          <a:lstStyle/>
          <a:p>
            <a:pPr marL="0" indent="0">
              <a:buNone/>
            </a:pPr>
            <a:r>
              <a:rPr lang="en-US" sz="3800" b="1" dirty="0">
                <a:solidFill>
                  <a:srgbClr val="0E7C7B"/>
                </a:solidFill>
                <a:latin typeface="Cambria" pitchFamily="34" charset="0"/>
                <a:ea typeface="Cambria" pitchFamily="34" charset="-122"/>
                <a:cs typeface="Cambria" pitchFamily="34" charset="-120"/>
              </a:rPr>
              <a:t>61%</a:t>
            </a:r>
            <a:endParaRPr lang="en-US" sz="3800" dirty="0"/>
          </a:p>
        </p:txBody>
      </p:sp>
      <p:sp>
        <p:nvSpPr>
          <p:cNvPr id="12" name="Text 10"/>
          <p:cNvSpPr txBox="1"/>
          <p:nvPr/>
        </p:nvSpPr>
        <p:spPr>
          <a:xfrm>
            <a:off x="8412480" y="2743200"/>
            <a:ext cx="3154680" cy="1188720"/>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of international migrants live in high-income countries</a:t>
            </a:r>
            <a:endParaRPr lang="en-US" sz="1300" dirty="0"/>
          </a:p>
        </p:txBody>
      </p:sp>
      <p:sp>
        <p:nvSpPr>
          <p:cNvPr id="13" name="Text 11"/>
          <p:cNvSpPr txBox="1"/>
          <p:nvPr/>
        </p:nvSpPr>
        <p:spPr>
          <a:xfrm>
            <a:off x="548640" y="6108192"/>
            <a:ext cx="11064240" cy="384048"/>
          </a:xfrm>
          <a:prstGeom prst="rect">
            <a:avLst/>
          </a:prstGeom>
          <a:noFill/>
          <a:ln/>
        </p:spPr>
        <p:txBody>
          <a:bodyPr wrap="square" lIns="0" tIns="0" rIns="0" bIns="0" rtlCol="0" anchor="ctr"/>
          <a:lstStyle/>
          <a:p>
            <a:pPr marL="0" indent="0">
              <a:buNone/>
            </a:pPr>
            <a:r>
              <a:rPr lang="en-US" sz="1050" i="1" dirty="0">
                <a:solidFill>
                  <a:srgbClr val="5B6B82"/>
                </a:solidFill>
                <a:latin typeface="Calibri" pitchFamily="34" charset="0"/>
                <a:ea typeface="Calibri" pitchFamily="34" charset="-122"/>
                <a:cs typeface="Calibri" pitchFamily="34" charset="-120"/>
              </a:rPr>
              <a:t>Source: United Nations, DESA, Population Division. (2025). International Migrant Stock 2024: Key Facts and Figures. https://www.un.org/development/desa/pd</a:t>
            </a:r>
            <a:endParaRPr lang="en-US" sz="1050" dirty="0"/>
          </a:p>
        </p:txBody>
      </p:sp>
      <p:sp>
        <p:nvSpPr>
          <p:cNvPr id="14" name="Text 12"/>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15" name="Text 13"/>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27 / 57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THE MEASUREMENT GAP</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Why Traditional Sources Struggle in a Crisis</a:t>
            </a:r>
            <a:endParaRPr lang="en-US" sz="2900" dirty="0"/>
          </a:p>
        </p:txBody>
      </p:sp>
      <p:sp>
        <p:nvSpPr>
          <p:cNvPr id="4" name="Shape 2"/>
          <p:cNvSpPr/>
          <p:nvPr/>
        </p:nvSpPr>
        <p:spPr>
          <a:xfrm>
            <a:off x="502920" y="1691640"/>
            <a:ext cx="3520440" cy="4114800"/>
          </a:xfrm>
          <a:prstGeom prst="roundRect">
            <a:avLst>
              <a:gd name="adj" fmla="val 2338"/>
            </a:avLst>
          </a:prstGeom>
          <a:solidFill>
            <a:srgbClr val="F3F6FA"/>
          </a:solidFill>
          <a:ln/>
        </p:spPr>
      </p:sp>
      <p:sp>
        <p:nvSpPr>
          <p:cNvPr id="5" name="Shape 3"/>
          <p:cNvSpPr/>
          <p:nvPr/>
        </p:nvSpPr>
        <p:spPr>
          <a:xfrm>
            <a:off x="1874520" y="1947672"/>
            <a:ext cx="777240" cy="777240"/>
          </a:xfrm>
          <a:prstGeom prst="ellipse">
            <a:avLst/>
          </a:prstGeom>
          <a:solidFill>
            <a:srgbClr val="1B2A4A"/>
          </a:solidFill>
          <a:ln/>
        </p:spPr>
      </p:sp>
      <p:pic>
        <p:nvPicPr>
          <p:cNvPr id="6" name="Image 0" descr="/sessions/blissful-modest-newton/mnt/outputs/scratch/build/icons/clock.png"/>
          <p:cNvPicPr>
            <a:picLocks noChangeAspect="1"/>
          </p:cNvPicPr>
          <p:nvPr/>
        </p:nvPicPr>
        <p:blipFill>
          <a:blip r:embed="rId3"/>
          <a:stretch>
            <a:fillRect/>
          </a:stretch>
        </p:blipFill>
        <p:spPr>
          <a:xfrm>
            <a:off x="2045513" y="2118665"/>
            <a:ext cx="435254" cy="435254"/>
          </a:xfrm>
          <a:prstGeom prst="rect">
            <a:avLst/>
          </a:prstGeom>
        </p:spPr>
      </p:pic>
      <p:sp>
        <p:nvSpPr>
          <p:cNvPr id="7" name="Text 4"/>
          <p:cNvSpPr txBox="1"/>
          <p:nvPr/>
        </p:nvSpPr>
        <p:spPr>
          <a:xfrm>
            <a:off x="685800" y="2862072"/>
            <a:ext cx="3154680" cy="640080"/>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Time Lag</a:t>
            </a:r>
            <a:endParaRPr lang="en-US" sz="1600" dirty="0"/>
          </a:p>
        </p:txBody>
      </p:sp>
      <p:sp>
        <p:nvSpPr>
          <p:cNvPr id="8" name="Text 5"/>
          <p:cNvSpPr txBox="1"/>
          <p:nvPr/>
        </p:nvSpPr>
        <p:spPr>
          <a:xfrm>
            <a:off x="731520" y="3520440"/>
            <a:ext cx="3063240" cy="21031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Censuses run once a decade; even annual surveys can take months to process and publish — far too slow for a fast-moving crisis.</a:t>
            </a:r>
            <a:endParaRPr lang="en-US" sz="1250" dirty="0"/>
          </a:p>
        </p:txBody>
      </p:sp>
      <p:sp>
        <p:nvSpPr>
          <p:cNvPr id="9" name="Shape 6"/>
          <p:cNvSpPr/>
          <p:nvPr/>
        </p:nvSpPr>
        <p:spPr>
          <a:xfrm>
            <a:off x="4343400" y="1691640"/>
            <a:ext cx="3520440" cy="4114800"/>
          </a:xfrm>
          <a:prstGeom prst="roundRect">
            <a:avLst>
              <a:gd name="adj" fmla="val 2338"/>
            </a:avLst>
          </a:prstGeom>
          <a:solidFill>
            <a:srgbClr val="E7EEF7"/>
          </a:solidFill>
          <a:ln/>
        </p:spPr>
      </p:sp>
      <p:sp>
        <p:nvSpPr>
          <p:cNvPr id="10" name="Shape 7"/>
          <p:cNvSpPr/>
          <p:nvPr/>
        </p:nvSpPr>
        <p:spPr>
          <a:xfrm>
            <a:off x="5715000" y="1947672"/>
            <a:ext cx="777240" cy="777240"/>
          </a:xfrm>
          <a:prstGeom prst="ellipse">
            <a:avLst/>
          </a:prstGeom>
          <a:solidFill>
            <a:srgbClr val="1B2A4A"/>
          </a:solidFill>
          <a:ln/>
        </p:spPr>
      </p:sp>
      <p:pic>
        <p:nvPicPr>
          <p:cNvPr id="11" name="Image 1" descr="/sessions/blissful-modest-newton/mnt/outputs/scratch/build/icons/alert.png"/>
          <p:cNvPicPr>
            <a:picLocks noChangeAspect="1"/>
          </p:cNvPicPr>
          <p:nvPr/>
        </p:nvPicPr>
        <p:blipFill>
          <a:blip r:embed="rId4"/>
          <a:stretch>
            <a:fillRect/>
          </a:stretch>
        </p:blipFill>
        <p:spPr>
          <a:xfrm>
            <a:off x="5885993" y="2118665"/>
            <a:ext cx="435254" cy="435254"/>
          </a:xfrm>
          <a:prstGeom prst="rect">
            <a:avLst/>
          </a:prstGeom>
        </p:spPr>
      </p:pic>
      <p:sp>
        <p:nvSpPr>
          <p:cNvPr id="12" name="Text 8"/>
          <p:cNvSpPr txBox="1"/>
          <p:nvPr/>
        </p:nvSpPr>
        <p:spPr>
          <a:xfrm>
            <a:off x="4526280" y="2862072"/>
            <a:ext cx="3154680" cy="640080"/>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Undercount of Irregular Migration</a:t>
            </a:r>
            <a:endParaRPr lang="en-US" sz="1600" dirty="0"/>
          </a:p>
        </p:txBody>
      </p:sp>
      <p:sp>
        <p:nvSpPr>
          <p:cNvPr id="13" name="Text 9"/>
          <p:cNvSpPr txBox="1"/>
          <p:nvPr/>
        </p:nvSpPr>
        <p:spPr>
          <a:xfrm>
            <a:off x="4572000" y="3520440"/>
            <a:ext cx="3063240" cy="21031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Unregistered and undocumented moves are, by design, invisible to administrative records and most registers.</a:t>
            </a:r>
            <a:endParaRPr lang="en-US" sz="1250" dirty="0"/>
          </a:p>
        </p:txBody>
      </p:sp>
      <p:sp>
        <p:nvSpPr>
          <p:cNvPr id="14" name="Shape 10"/>
          <p:cNvSpPr/>
          <p:nvPr/>
        </p:nvSpPr>
        <p:spPr>
          <a:xfrm>
            <a:off x="8183880" y="1691640"/>
            <a:ext cx="3520440" cy="4114800"/>
          </a:xfrm>
          <a:prstGeom prst="roundRect">
            <a:avLst>
              <a:gd name="adj" fmla="val 2338"/>
            </a:avLst>
          </a:prstGeom>
          <a:solidFill>
            <a:srgbClr val="F3F6FA"/>
          </a:solidFill>
          <a:ln/>
        </p:spPr>
      </p:sp>
      <p:sp>
        <p:nvSpPr>
          <p:cNvPr id="15" name="Shape 11"/>
          <p:cNvSpPr/>
          <p:nvPr/>
        </p:nvSpPr>
        <p:spPr>
          <a:xfrm>
            <a:off x="9555480" y="1947672"/>
            <a:ext cx="777240" cy="777240"/>
          </a:xfrm>
          <a:prstGeom prst="ellipse">
            <a:avLst/>
          </a:prstGeom>
          <a:solidFill>
            <a:srgbClr val="1B2A4A"/>
          </a:solidFill>
          <a:ln/>
        </p:spPr>
      </p:sp>
      <p:pic>
        <p:nvPicPr>
          <p:cNvPr id="16" name="Image 2" descr="/sessions/blissful-modest-newton/mnt/outputs/scratch/build/icons/fire.png"/>
          <p:cNvPicPr>
            <a:picLocks noChangeAspect="1"/>
          </p:cNvPicPr>
          <p:nvPr/>
        </p:nvPicPr>
        <p:blipFill>
          <a:blip r:embed="rId5"/>
          <a:stretch>
            <a:fillRect/>
          </a:stretch>
        </p:blipFill>
        <p:spPr>
          <a:xfrm>
            <a:off x="9726473" y="2118665"/>
            <a:ext cx="435254" cy="435254"/>
          </a:xfrm>
          <a:prstGeom prst="rect">
            <a:avLst/>
          </a:prstGeom>
        </p:spPr>
      </p:pic>
      <p:sp>
        <p:nvSpPr>
          <p:cNvPr id="17" name="Text 12"/>
          <p:cNvSpPr txBox="1"/>
          <p:nvPr/>
        </p:nvSpPr>
        <p:spPr>
          <a:xfrm>
            <a:off x="8366760" y="2862072"/>
            <a:ext cx="3154680" cy="640080"/>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Too Slow for Sudden Crises</a:t>
            </a:r>
            <a:endParaRPr lang="en-US" sz="1600" dirty="0"/>
          </a:p>
        </p:txBody>
      </p:sp>
      <p:sp>
        <p:nvSpPr>
          <p:cNvPr id="18" name="Text 13"/>
          <p:cNvSpPr txBox="1"/>
          <p:nvPr/>
        </p:nvSpPr>
        <p:spPr>
          <a:xfrm>
            <a:off x="8412480" y="3520440"/>
            <a:ext cx="3063240" cy="21031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Conflict, disaster, and displacement can move hundreds of thousands of people in days — far faster than any census cycle.</a:t>
            </a:r>
            <a:endParaRPr lang="en-US" sz="1250" dirty="0"/>
          </a:p>
        </p:txBody>
      </p:sp>
      <p:sp>
        <p:nvSpPr>
          <p:cNvPr id="19" name="Text 14"/>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20" name="Text 15"/>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28 / 57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D33"/>
        </a:solidFill>
        <a:effectLst/>
      </p:bgPr>
    </p:bg>
    <p:spTree>
      <p:nvGrpSpPr>
        <p:cNvPr id="1" name=""/>
        <p:cNvGrpSpPr/>
        <p:nvPr/>
      </p:nvGrpSpPr>
      <p:grpSpPr>
        <a:xfrm>
          <a:off x="0" y="0"/>
          <a:ext cx="0" cy="0"/>
          <a:chOff x="0" y="0"/>
          <a:chExt cx="0" cy="0"/>
        </a:xfrm>
      </p:grpSpPr>
      <p:sp>
        <p:nvSpPr>
          <p:cNvPr id="2" name="Shape 0"/>
          <p:cNvSpPr/>
          <p:nvPr/>
        </p:nvSpPr>
        <p:spPr>
          <a:xfrm>
            <a:off x="8686800" y="-1645920"/>
            <a:ext cx="5486400" cy="5486400"/>
          </a:xfrm>
          <a:prstGeom prst="ellipse">
            <a:avLst/>
          </a:prstGeom>
          <a:solidFill>
            <a:srgbClr val="1B2A4A">
              <a:alpha val="55000"/>
            </a:srgbClr>
          </a:solidFill>
          <a:ln/>
        </p:spPr>
      </p:sp>
      <p:sp>
        <p:nvSpPr>
          <p:cNvPr id="3" name="Text 1"/>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THE 2026 TOOLKIT</a:t>
            </a:r>
            <a:endParaRPr lang="en-US" sz="1300" dirty="0"/>
          </a:p>
        </p:txBody>
      </p:sp>
      <p:sp>
        <p:nvSpPr>
          <p:cNvPr id="4" name="Text 2"/>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FFFFFF"/>
                </a:solidFill>
                <a:latin typeface="Cambria" pitchFamily="34" charset="0"/>
                <a:ea typeface="Cambria" pitchFamily="34" charset="-122"/>
                <a:cs typeface="Cambria" pitchFamily="34" charset="-120"/>
              </a:rPr>
              <a:t>Digital Trace Data for Mobility</a:t>
            </a:r>
            <a:endParaRPr lang="en-US" sz="2900" dirty="0"/>
          </a:p>
        </p:txBody>
      </p:sp>
      <p:sp>
        <p:nvSpPr>
          <p:cNvPr id="5" name="Text 3"/>
          <p:cNvSpPr txBox="1"/>
          <p:nvPr/>
        </p:nvSpPr>
        <p:spPr>
          <a:xfrm>
            <a:off x="548640" y="1508760"/>
            <a:ext cx="10607040" cy="914400"/>
          </a:xfrm>
          <a:prstGeom prst="rect">
            <a:avLst/>
          </a:prstGeom>
          <a:noFill/>
          <a:ln/>
        </p:spPr>
        <p:txBody>
          <a:bodyPr wrap="square" lIns="0" tIns="0" rIns="0" bIns="0" rtlCol="0" anchor="ctr"/>
          <a:lstStyle/>
          <a:p>
            <a:pPr marL="0" indent="0">
              <a:lnSpc>
                <a:spcPct val="120000"/>
              </a:lnSpc>
              <a:buNone/>
            </a:pPr>
            <a:r>
              <a:rPr lang="en-US" sz="1500" dirty="0">
                <a:solidFill>
                  <a:srgbClr val="FFFFFF"/>
                </a:solidFill>
                <a:latin typeface="Calibri" pitchFamily="34" charset="0"/>
                <a:ea typeface="Calibri" pitchFamily="34" charset="-122"/>
                <a:cs typeface="Calibri" pitchFamily="34" charset="-120"/>
              </a:rPr>
              <a:t>Anonymized, aggregated digital signals — from phones, satellites, and social platforms — can estimate population distribution and movement in near-real time, often within days rather than years.</a:t>
            </a:r>
            <a:endParaRPr lang="en-US" sz="1500" dirty="0"/>
          </a:p>
        </p:txBody>
      </p:sp>
      <p:sp>
        <p:nvSpPr>
          <p:cNvPr id="6" name="Shape 4"/>
          <p:cNvSpPr/>
          <p:nvPr/>
        </p:nvSpPr>
        <p:spPr>
          <a:xfrm>
            <a:off x="548640" y="2697480"/>
            <a:ext cx="3520440" cy="3017520"/>
          </a:xfrm>
          <a:prstGeom prst="roundRect">
            <a:avLst>
              <a:gd name="adj" fmla="val 3030"/>
            </a:avLst>
          </a:prstGeom>
          <a:solidFill>
            <a:srgbClr val="1B2A4A">
              <a:alpha val="85000"/>
            </a:srgbClr>
          </a:solidFill>
          <a:ln/>
        </p:spPr>
      </p:sp>
      <p:sp>
        <p:nvSpPr>
          <p:cNvPr id="7" name="Shape 5"/>
          <p:cNvSpPr/>
          <p:nvPr/>
        </p:nvSpPr>
        <p:spPr>
          <a:xfrm>
            <a:off x="1920240" y="2971800"/>
            <a:ext cx="777240" cy="777240"/>
          </a:xfrm>
          <a:prstGeom prst="ellipse">
            <a:avLst/>
          </a:prstGeom>
          <a:solidFill>
            <a:srgbClr val="0E7C7B"/>
          </a:solidFill>
          <a:ln/>
        </p:spPr>
      </p:sp>
      <p:pic>
        <p:nvPicPr>
          <p:cNvPr id="8" name="Image 0" descr="/sessions/blissful-modest-newton/mnt/outputs/scratch/build/icons/phone.png"/>
          <p:cNvPicPr>
            <a:picLocks noChangeAspect="1"/>
          </p:cNvPicPr>
          <p:nvPr/>
        </p:nvPicPr>
        <p:blipFill>
          <a:blip r:embed="rId3"/>
          <a:stretch>
            <a:fillRect/>
          </a:stretch>
        </p:blipFill>
        <p:spPr>
          <a:xfrm>
            <a:off x="2091233" y="3142793"/>
            <a:ext cx="435254" cy="435254"/>
          </a:xfrm>
          <a:prstGeom prst="rect">
            <a:avLst/>
          </a:prstGeom>
        </p:spPr>
      </p:pic>
      <p:sp>
        <p:nvSpPr>
          <p:cNvPr id="9" name="Text 6"/>
          <p:cNvSpPr txBox="1"/>
          <p:nvPr/>
        </p:nvSpPr>
        <p:spPr>
          <a:xfrm>
            <a:off x="731520" y="3931920"/>
            <a:ext cx="3154680" cy="457200"/>
          </a:xfrm>
          <a:prstGeom prst="rect">
            <a:avLst/>
          </a:prstGeom>
          <a:noFill/>
          <a:ln/>
        </p:spPr>
        <p:txBody>
          <a:bodyPr wrap="square" lIns="0" tIns="0" rIns="0" bIns="0" rtlCol="0" anchor="ctr"/>
          <a:lstStyle/>
          <a:p>
            <a:pPr marL="0" indent="0" algn="ctr">
              <a:buNone/>
            </a:pPr>
            <a:r>
              <a:rPr lang="en-US" sz="1550" b="1" dirty="0">
                <a:solidFill>
                  <a:srgbClr val="FFFFFF"/>
                </a:solidFill>
                <a:latin typeface="Cambria" pitchFamily="34" charset="0"/>
                <a:ea typeface="Cambria" pitchFamily="34" charset="-122"/>
                <a:cs typeface="Cambria" pitchFamily="34" charset="-120"/>
              </a:rPr>
              <a:t>Mobile-Phone Data</a:t>
            </a:r>
            <a:endParaRPr lang="en-US" sz="1550" dirty="0"/>
          </a:p>
        </p:txBody>
      </p:sp>
      <p:sp>
        <p:nvSpPr>
          <p:cNvPr id="10" name="Text 7"/>
          <p:cNvSpPr txBox="1"/>
          <p:nvPr/>
        </p:nvSpPr>
        <p:spPr>
          <a:xfrm>
            <a:off x="777240" y="4480560"/>
            <a:ext cx="3063240" cy="1097280"/>
          </a:xfrm>
          <a:prstGeom prst="rect">
            <a:avLst/>
          </a:prstGeom>
          <a:noFill/>
          <a:ln/>
        </p:spPr>
        <p:txBody>
          <a:bodyPr wrap="square" lIns="0" tIns="0" rIns="0" bIns="0" rtlCol="0" anchor="ctr"/>
          <a:lstStyle/>
          <a:p>
            <a:pPr marL="0" indent="0" algn="ctr">
              <a:lnSpc>
                <a:spcPct val="115000"/>
              </a:lnSpc>
              <a:buNone/>
            </a:pPr>
            <a:r>
              <a:rPr lang="en-US" sz="1250" dirty="0">
                <a:solidFill>
                  <a:srgbClr val="C9D6E8"/>
                </a:solidFill>
                <a:latin typeface="Calibri" pitchFamily="34" charset="0"/>
                <a:ea typeface="Calibri" pitchFamily="34" charset="-122"/>
                <a:cs typeface="Calibri" pitchFamily="34" charset="-120"/>
              </a:rPr>
              <a:t>Call detail records (CDRs) and app location pings from mobile network operators.</a:t>
            </a:r>
            <a:endParaRPr lang="en-US" sz="1250" dirty="0"/>
          </a:p>
        </p:txBody>
      </p:sp>
      <p:sp>
        <p:nvSpPr>
          <p:cNvPr id="11" name="Shape 8"/>
          <p:cNvSpPr/>
          <p:nvPr/>
        </p:nvSpPr>
        <p:spPr>
          <a:xfrm>
            <a:off x="4389120" y="2697480"/>
            <a:ext cx="3520440" cy="3017520"/>
          </a:xfrm>
          <a:prstGeom prst="roundRect">
            <a:avLst>
              <a:gd name="adj" fmla="val 3030"/>
            </a:avLst>
          </a:prstGeom>
          <a:solidFill>
            <a:srgbClr val="1B2A4A">
              <a:alpha val="85000"/>
            </a:srgbClr>
          </a:solidFill>
          <a:ln/>
        </p:spPr>
      </p:sp>
      <p:sp>
        <p:nvSpPr>
          <p:cNvPr id="12" name="Shape 9"/>
          <p:cNvSpPr/>
          <p:nvPr/>
        </p:nvSpPr>
        <p:spPr>
          <a:xfrm>
            <a:off x="5760720" y="2971800"/>
            <a:ext cx="777240" cy="777240"/>
          </a:xfrm>
          <a:prstGeom prst="ellipse">
            <a:avLst/>
          </a:prstGeom>
          <a:solidFill>
            <a:srgbClr val="0E7C7B"/>
          </a:solidFill>
          <a:ln/>
        </p:spPr>
      </p:sp>
      <p:pic>
        <p:nvPicPr>
          <p:cNvPr id="13" name="Image 1" descr="/sessions/blissful-modest-newton/mnt/outputs/scratch/build/icons/satellite.png"/>
          <p:cNvPicPr>
            <a:picLocks noChangeAspect="1"/>
          </p:cNvPicPr>
          <p:nvPr/>
        </p:nvPicPr>
        <p:blipFill>
          <a:blip r:embed="rId4"/>
          <a:stretch>
            <a:fillRect/>
          </a:stretch>
        </p:blipFill>
        <p:spPr>
          <a:xfrm>
            <a:off x="5931713" y="3142793"/>
            <a:ext cx="435254" cy="435254"/>
          </a:xfrm>
          <a:prstGeom prst="rect">
            <a:avLst/>
          </a:prstGeom>
        </p:spPr>
      </p:pic>
      <p:sp>
        <p:nvSpPr>
          <p:cNvPr id="14" name="Text 10"/>
          <p:cNvSpPr txBox="1"/>
          <p:nvPr/>
        </p:nvSpPr>
        <p:spPr>
          <a:xfrm>
            <a:off x="4572000" y="3931920"/>
            <a:ext cx="3154680" cy="457200"/>
          </a:xfrm>
          <a:prstGeom prst="rect">
            <a:avLst/>
          </a:prstGeom>
          <a:noFill/>
          <a:ln/>
        </p:spPr>
        <p:txBody>
          <a:bodyPr wrap="square" lIns="0" tIns="0" rIns="0" bIns="0" rtlCol="0" anchor="ctr"/>
          <a:lstStyle/>
          <a:p>
            <a:pPr marL="0" indent="0" algn="ctr">
              <a:buNone/>
            </a:pPr>
            <a:r>
              <a:rPr lang="en-US" sz="1550" b="1" dirty="0">
                <a:solidFill>
                  <a:srgbClr val="FFFFFF"/>
                </a:solidFill>
                <a:latin typeface="Cambria" pitchFamily="34" charset="0"/>
                <a:ea typeface="Cambria" pitchFamily="34" charset="-122"/>
                <a:cs typeface="Cambria" pitchFamily="34" charset="-120"/>
              </a:rPr>
              <a:t>Satellite Imagery</a:t>
            </a:r>
            <a:endParaRPr lang="en-US" sz="1550" dirty="0"/>
          </a:p>
        </p:txBody>
      </p:sp>
      <p:sp>
        <p:nvSpPr>
          <p:cNvPr id="15" name="Text 11"/>
          <p:cNvSpPr txBox="1"/>
          <p:nvPr/>
        </p:nvSpPr>
        <p:spPr>
          <a:xfrm>
            <a:off x="4617720" y="4480560"/>
            <a:ext cx="3063240" cy="1097280"/>
          </a:xfrm>
          <a:prstGeom prst="rect">
            <a:avLst/>
          </a:prstGeom>
          <a:noFill/>
          <a:ln/>
        </p:spPr>
        <p:txBody>
          <a:bodyPr wrap="square" lIns="0" tIns="0" rIns="0" bIns="0" rtlCol="0" anchor="ctr"/>
          <a:lstStyle/>
          <a:p>
            <a:pPr marL="0" indent="0" algn="ctr">
              <a:lnSpc>
                <a:spcPct val="115000"/>
              </a:lnSpc>
              <a:buNone/>
            </a:pPr>
            <a:r>
              <a:rPr lang="en-US" sz="1250" dirty="0">
                <a:solidFill>
                  <a:srgbClr val="C9D6E8"/>
                </a:solidFill>
                <a:latin typeface="Calibri" pitchFamily="34" charset="0"/>
                <a:ea typeface="Calibri" pitchFamily="34" charset="-122"/>
                <a:cs typeface="Calibri" pitchFamily="34" charset="-120"/>
              </a:rPr>
              <a:t>Nighttime-lights intensity and high-resolution imagery of built-up areas and settlements.</a:t>
            </a:r>
            <a:endParaRPr lang="en-US" sz="1250" dirty="0"/>
          </a:p>
        </p:txBody>
      </p:sp>
      <p:sp>
        <p:nvSpPr>
          <p:cNvPr id="16" name="Shape 12"/>
          <p:cNvSpPr/>
          <p:nvPr/>
        </p:nvSpPr>
        <p:spPr>
          <a:xfrm>
            <a:off x="8229600" y="2697480"/>
            <a:ext cx="3520440" cy="3017520"/>
          </a:xfrm>
          <a:prstGeom prst="roundRect">
            <a:avLst>
              <a:gd name="adj" fmla="val 3030"/>
            </a:avLst>
          </a:prstGeom>
          <a:solidFill>
            <a:srgbClr val="1B2A4A">
              <a:alpha val="85000"/>
            </a:srgbClr>
          </a:solidFill>
          <a:ln/>
        </p:spPr>
      </p:sp>
      <p:sp>
        <p:nvSpPr>
          <p:cNvPr id="17" name="Shape 13"/>
          <p:cNvSpPr/>
          <p:nvPr/>
        </p:nvSpPr>
        <p:spPr>
          <a:xfrm>
            <a:off x="9601200" y="2971800"/>
            <a:ext cx="777240" cy="777240"/>
          </a:xfrm>
          <a:prstGeom prst="ellipse">
            <a:avLst/>
          </a:prstGeom>
          <a:solidFill>
            <a:srgbClr val="0E7C7B"/>
          </a:solidFill>
          <a:ln/>
        </p:spPr>
      </p:sp>
      <p:pic>
        <p:nvPicPr>
          <p:cNvPr id="18" name="Image 2" descr="/sessions/blissful-modest-newton/mnt/outputs/scratch/build/icons/chat.png"/>
          <p:cNvPicPr>
            <a:picLocks noChangeAspect="1"/>
          </p:cNvPicPr>
          <p:nvPr/>
        </p:nvPicPr>
        <p:blipFill>
          <a:blip r:embed="rId5"/>
          <a:stretch>
            <a:fillRect/>
          </a:stretch>
        </p:blipFill>
        <p:spPr>
          <a:xfrm>
            <a:off x="9772193" y="3142793"/>
            <a:ext cx="435254" cy="435254"/>
          </a:xfrm>
          <a:prstGeom prst="rect">
            <a:avLst/>
          </a:prstGeom>
        </p:spPr>
      </p:pic>
      <p:sp>
        <p:nvSpPr>
          <p:cNvPr id="19" name="Text 14"/>
          <p:cNvSpPr txBox="1"/>
          <p:nvPr/>
        </p:nvSpPr>
        <p:spPr>
          <a:xfrm>
            <a:off x="8412480" y="3931920"/>
            <a:ext cx="3154680" cy="457200"/>
          </a:xfrm>
          <a:prstGeom prst="rect">
            <a:avLst/>
          </a:prstGeom>
          <a:noFill/>
          <a:ln/>
        </p:spPr>
        <p:txBody>
          <a:bodyPr wrap="square" lIns="0" tIns="0" rIns="0" bIns="0" rtlCol="0" anchor="ctr"/>
          <a:lstStyle/>
          <a:p>
            <a:pPr marL="0" indent="0" algn="ctr">
              <a:buNone/>
            </a:pPr>
            <a:r>
              <a:rPr lang="en-US" sz="1550" b="1" dirty="0">
                <a:solidFill>
                  <a:srgbClr val="FFFFFF"/>
                </a:solidFill>
                <a:latin typeface="Cambria" pitchFamily="34" charset="0"/>
                <a:ea typeface="Cambria" pitchFamily="34" charset="-122"/>
                <a:cs typeface="Cambria" pitchFamily="34" charset="-120"/>
              </a:rPr>
              <a:t>Social Media Data</a:t>
            </a:r>
            <a:endParaRPr lang="en-US" sz="1550" dirty="0"/>
          </a:p>
        </p:txBody>
      </p:sp>
      <p:sp>
        <p:nvSpPr>
          <p:cNvPr id="20" name="Text 15"/>
          <p:cNvSpPr txBox="1"/>
          <p:nvPr/>
        </p:nvSpPr>
        <p:spPr>
          <a:xfrm>
            <a:off x="8458200" y="4480560"/>
            <a:ext cx="3063240" cy="1097280"/>
          </a:xfrm>
          <a:prstGeom prst="rect">
            <a:avLst/>
          </a:prstGeom>
          <a:noFill/>
          <a:ln/>
        </p:spPr>
        <p:txBody>
          <a:bodyPr wrap="square" lIns="0" tIns="0" rIns="0" bIns="0" rtlCol="0" anchor="ctr"/>
          <a:lstStyle/>
          <a:p>
            <a:pPr marL="0" indent="0" algn="ctr">
              <a:lnSpc>
                <a:spcPct val="115000"/>
              </a:lnSpc>
              <a:buNone/>
            </a:pPr>
            <a:r>
              <a:rPr lang="en-US" sz="1250" dirty="0">
                <a:solidFill>
                  <a:srgbClr val="C9D6E8"/>
                </a:solidFill>
                <a:latin typeface="Calibri" pitchFamily="34" charset="0"/>
                <a:ea typeface="Calibri" pitchFamily="34" charset="-122"/>
                <a:cs typeface="Calibri" pitchFamily="34" charset="-120"/>
              </a:rPr>
              <a:t>Geotagged posts and platform-reported location signals aggregated at scale.</a:t>
            </a:r>
            <a:endParaRPr lang="en-US" sz="1250" dirty="0"/>
          </a:p>
        </p:txBody>
      </p:sp>
      <p:sp>
        <p:nvSpPr>
          <p:cNvPr id="21" name="Text 16"/>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C9D6E8"/>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22" name="Text 17"/>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C9D6E8"/>
                </a:solidFill>
                <a:latin typeface="Calibri" pitchFamily="34" charset="0"/>
                <a:ea typeface="Calibri" pitchFamily="34" charset="-122"/>
                <a:cs typeface="Calibri" pitchFamily="34" charset="-120"/>
              </a:rPr>
              <a:t>29 / 57</a:t>
            </a:r>
            <a:endParaRPr lang="en-US" sz="900" dirty="0"/>
          </a:p>
        </p:txBody>
      </p:sp>
      <p:sp>
        <p:nvSpPr>
          <p:cNvPr id="24" name="TextBox 23">
            <a:extLst>
              <a:ext uri="{FF2B5EF4-FFF2-40B4-BE49-F238E27FC236}">
                <a16:creationId xmlns:a16="http://schemas.microsoft.com/office/drawing/2014/main" id="{E4DDEE0A-95BE-A42D-B21A-101E0BAC0A18}"/>
              </a:ext>
            </a:extLst>
          </p:cNvPr>
          <p:cNvSpPr txBox="1"/>
          <p:nvPr/>
        </p:nvSpPr>
        <p:spPr>
          <a:xfrm>
            <a:off x="4398420" y="5946386"/>
            <a:ext cx="4014060" cy="646331"/>
          </a:xfrm>
          <a:prstGeom prst="rect">
            <a:avLst/>
          </a:prstGeom>
          <a:noFill/>
        </p:spPr>
        <p:txBody>
          <a:bodyPr wrap="square">
            <a:spAutoFit/>
          </a:bodyPr>
          <a:lstStyle/>
          <a:p>
            <a:r>
              <a:rPr lang="en-US" dirty="0">
                <a:solidFill>
                  <a:schemeClr val="bg1"/>
                </a:solidFill>
              </a:rPr>
              <a:t>https://www.migrationdataportal.org/data-sources/satellite-data</a:t>
            </a:r>
          </a:p>
        </p:txBody>
      </p:sp>
      <p:sp>
        <p:nvSpPr>
          <p:cNvPr id="28" name="TextBox 27">
            <a:extLst>
              <a:ext uri="{FF2B5EF4-FFF2-40B4-BE49-F238E27FC236}">
                <a16:creationId xmlns:a16="http://schemas.microsoft.com/office/drawing/2014/main" id="{E782ED6D-4C16-A4E5-8055-94D3CF3660C9}"/>
              </a:ext>
            </a:extLst>
          </p:cNvPr>
          <p:cNvSpPr txBox="1"/>
          <p:nvPr/>
        </p:nvSpPr>
        <p:spPr>
          <a:xfrm>
            <a:off x="3545237" y="2426798"/>
            <a:ext cx="7090474" cy="369332"/>
          </a:xfrm>
          <a:prstGeom prst="rect">
            <a:avLst/>
          </a:prstGeom>
          <a:noFill/>
        </p:spPr>
        <p:txBody>
          <a:bodyPr wrap="square">
            <a:spAutoFit/>
          </a:bodyPr>
          <a:lstStyle/>
          <a:p>
            <a:r>
              <a:rPr lang="en-US" dirty="0"/>
              <a:t>https://www.migrationdataportal.org/data-sources/social-media</a:t>
            </a:r>
          </a:p>
        </p:txBody>
      </p:sp>
      <p:sp>
        <p:nvSpPr>
          <p:cNvPr id="30" name="TextBox 29">
            <a:extLst>
              <a:ext uri="{FF2B5EF4-FFF2-40B4-BE49-F238E27FC236}">
                <a16:creationId xmlns:a16="http://schemas.microsoft.com/office/drawing/2014/main" id="{FD45AB39-BE46-579F-AC08-A513088EC74E}"/>
              </a:ext>
            </a:extLst>
          </p:cNvPr>
          <p:cNvSpPr txBox="1"/>
          <p:nvPr/>
        </p:nvSpPr>
        <p:spPr>
          <a:xfrm>
            <a:off x="8458200" y="5896528"/>
            <a:ext cx="3063240" cy="584775"/>
          </a:xfrm>
          <a:prstGeom prst="rect">
            <a:avLst/>
          </a:prstGeom>
          <a:noFill/>
        </p:spPr>
        <p:txBody>
          <a:bodyPr wrap="square">
            <a:spAutoFit/>
          </a:bodyPr>
          <a:lstStyle/>
          <a:p>
            <a:r>
              <a:rPr lang="en-US" sz="1600" dirty="0">
                <a:solidFill>
                  <a:schemeClr val="bg1"/>
                </a:solidFill>
              </a:rPr>
              <a:t>https://www.migrationdataportal.org/data-sources/social-media</a:t>
            </a:r>
          </a:p>
        </p:txBody>
      </p:sp>
      <p:sp>
        <p:nvSpPr>
          <p:cNvPr id="32" name="TextBox 31">
            <a:extLst>
              <a:ext uri="{FF2B5EF4-FFF2-40B4-BE49-F238E27FC236}">
                <a16:creationId xmlns:a16="http://schemas.microsoft.com/office/drawing/2014/main" id="{FF51B09B-F202-38D4-DC45-77A4852DA723}"/>
              </a:ext>
            </a:extLst>
          </p:cNvPr>
          <p:cNvSpPr txBox="1"/>
          <p:nvPr/>
        </p:nvSpPr>
        <p:spPr>
          <a:xfrm>
            <a:off x="830323" y="5780801"/>
            <a:ext cx="3063240" cy="830997"/>
          </a:xfrm>
          <a:prstGeom prst="rect">
            <a:avLst/>
          </a:prstGeom>
          <a:noFill/>
        </p:spPr>
        <p:txBody>
          <a:bodyPr wrap="square">
            <a:spAutoFit/>
          </a:bodyPr>
          <a:lstStyle/>
          <a:p>
            <a:r>
              <a:rPr lang="en-US" sz="1600" dirty="0">
                <a:solidFill>
                  <a:schemeClr val="bg1"/>
                </a:solidFill>
              </a:rPr>
              <a:t>https://www.migrationdataportal.org/data-sources/mobile-phone-data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DIGITAL TRACE DATA — MOBILE CDRS</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How Call Detail Records Estimate Mobility</a:t>
            </a:r>
            <a:endParaRPr lang="en-US" sz="2900" dirty="0"/>
          </a:p>
        </p:txBody>
      </p:sp>
      <p:sp>
        <p:nvSpPr>
          <p:cNvPr id="4" name="Text 2"/>
          <p:cNvSpPr txBox="1"/>
          <p:nvPr/>
        </p:nvSpPr>
        <p:spPr>
          <a:xfrm>
            <a:off x="548640" y="1417320"/>
            <a:ext cx="11064240" cy="685800"/>
          </a:xfrm>
          <a:prstGeom prst="rect">
            <a:avLst/>
          </a:prstGeom>
          <a:noFill/>
          <a:ln/>
        </p:spPr>
        <p:txBody>
          <a:bodyPr wrap="square" lIns="0" tIns="0" rIns="0" bIns="0" rtlCol="0" anchor="ctr"/>
          <a:lstStyle/>
          <a:p>
            <a:pPr marL="0" indent="0">
              <a:lnSpc>
                <a:spcPct val="115000"/>
              </a:lnSpc>
              <a:buNone/>
            </a:pPr>
            <a:r>
              <a:rPr lang="en-US" sz="1350" dirty="0">
                <a:solidFill>
                  <a:srgbClr val="17233A"/>
                </a:solidFill>
                <a:latin typeface="Calibri" pitchFamily="34" charset="0"/>
                <a:ea typeface="Calibri" pitchFamily="34" charset="-122"/>
                <a:cs typeface="Calibri" pitchFamily="34" charset="-120"/>
              </a:rPr>
              <a:t>Mobile network operators log which tower/cell a phone connects to over time — the raw signal behind near-real-time mobility estimation.</a:t>
            </a:r>
            <a:endParaRPr lang="en-US" sz="1350" dirty="0"/>
          </a:p>
        </p:txBody>
      </p:sp>
      <p:sp>
        <p:nvSpPr>
          <p:cNvPr id="5" name="Shape 3"/>
          <p:cNvSpPr/>
          <p:nvPr/>
        </p:nvSpPr>
        <p:spPr>
          <a:xfrm>
            <a:off x="502920" y="2286000"/>
            <a:ext cx="3550920" cy="3337560"/>
          </a:xfrm>
          <a:prstGeom prst="roundRect">
            <a:avLst>
              <a:gd name="adj" fmla="val 2466"/>
            </a:avLst>
          </a:prstGeom>
          <a:solidFill>
            <a:srgbClr val="F3F6FA"/>
          </a:solidFill>
          <a:ln/>
        </p:spPr>
      </p:sp>
      <p:sp>
        <p:nvSpPr>
          <p:cNvPr id="6" name="Shape 4"/>
          <p:cNvSpPr/>
          <p:nvPr/>
        </p:nvSpPr>
        <p:spPr>
          <a:xfrm>
            <a:off x="1912620" y="2542032"/>
            <a:ext cx="731520" cy="731520"/>
          </a:xfrm>
          <a:prstGeom prst="ellipse">
            <a:avLst/>
          </a:prstGeom>
          <a:solidFill>
            <a:srgbClr val="1B2A4A"/>
          </a:solidFill>
          <a:ln/>
        </p:spPr>
      </p:sp>
      <p:pic>
        <p:nvPicPr>
          <p:cNvPr id="7" name="Image 0" descr="/sessions/blissful-modest-newton/mnt/outputs/scratch/build/icons/wifi.png"/>
          <p:cNvPicPr>
            <a:picLocks noChangeAspect="1"/>
          </p:cNvPicPr>
          <p:nvPr/>
        </p:nvPicPr>
        <p:blipFill>
          <a:blip r:embed="rId3"/>
          <a:stretch>
            <a:fillRect/>
          </a:stretch>
        </p:blipFill>
        <p:spPr>
          <a:xfrm>
            <a:off x="2073554" y="2702966"/>
            <a:ext cx="409651" cy="409651"/>
          </a:xfrm>
          <a:prstGeom prst="rect">
            <a:avLst/>
          </a:prstGeom>
        </p:spPr>
      </p:pic>
      <p:sp>
        <p:nvSpPr>
          <p:cNvPr id="8" name="Text 5"/>
          <p:cNvSpPr txBox="1"/>
          <p:nvPr/>
        </p:nvSpPr>
        <p:spPr>
          <a:xfrm>
            <a:off x="685800" y="3401568"/>
            <a:ext cx="3185160" cy="594360"/>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1.  Signal Collection</a:t>
            </a:r>
            <a:endParaRPr lang="en-US" sz="1450" dirty="0"/>
          </a:p>
        </p:txBody>
      </p:sp>
      <p:sp>
        <p:nvSpPr>
          <p:cNvPr id="9" name="Text 6"/>
          <p:cNvSpPr txBox="1"/>
          <p:nvPr/>
        </p:nvSpPr>
        <p:spPr>
          <a:xfrm>
            <a:off x="704088" y="4069080"/>
            <a:ext cx="3148584" cy="1417320"/>
          </a:xfrm>
          <a:prstGeom prst="rect">
            <a:avLst/>
          </a:prstGeom>
          <a:noFill/>
          <a:ln/>
        </p:spPr>
        <p:txBody>
          <a:bodyPr wrap="square" lIns="0" tIns="0" rIns="0" bIns="0" rtlCol="0" anchor="ctr"/>
          <a:lstStyle/>
          <a:p>
            <a:pPr marL="0" indent="0">
              <a:lnSpc>
                <a:spcPct val="112000"/>
              </a:lnSpc>
              <a:buNone/>
            </a:pPr>
            <a:r>
              <a:rPr lang="en-US" sz="1200" dirty="0">
                <a:solidFill>
                  <a:srgbClr val="17233A"/>
                </a:solidFill>
                <a:latin typeface="Calibri" pitchFamily="34" charset="0"/>
                <a:ea typeface="Calibri" pitchFamily="34" charset="-122"/>
                <a:cs typeface="Calibri" pitchFamily="34" charset="-120"/>
              </a:rPr>
              <a:t>Mobile network operators log which tower/cell a phone connects to as the user moves, second by second.</a:t>
            </a:r>
            <a:endParaRPr lang="en-US" sz="1200" dirty="0"/>
          </a:p>
        </p:txBody>
      </p:sp>
      <p:sp>
        <p:nvSpPr>
          <p:cNvPr id="10" name="Shape 7"/>
          <p:cNvSpPr/>
          <p:nvPr/>
        </p:nvSpPr>
        <p:spPr>
          <a:xfrm>
            <a:off x="4328160" y="2286000"/>
            <a:ext cx="3550920" cy="3337560"/>
          </a:xfrm>
          <a:prstGeom prst="roundRect">
            <a:avLst>
              <a:gd name="adj" fmla="val 2466"/>
            </a:avLst>
          </a:prstGeom>
          <a:solidFill>
            <a:srgbClr val="E7EEF7"/>
          </a:solidFill>
          <a:ln/>
        </p:spPr>
      </p:sp>
      <p:sp>
        <p:nvSpPr>
          <p:cNvPr id="11" name="Shape 8"/>
          <p:cNvSpPr/>
          <p:nvPr/>
        </p:nvSpPr>
        <p:spPr>
          <a:xfrm>
            <a:off x="5737860" y="2542032"/>
            <a:ext cx="731520" cy="731520"/>
          </a:xfrm>
          <a:prstGeom prst="ellipse">
            <a:avLst/>
          </a:prstGeom>
          <a:solidFill>
            <a:srgbClr val="1B2A4A"/>
          </a:solidFill>
          <a:ln/>
        </p:spPr>
      </p:sp>
      <p:pic>
        <p:nvPicPr>
          <p:cNvPr id="12" name="Image 1" descr="/sessions/blissful-modest-newton/mnt/outputs/scratch/build/icons/house.png"/>
          <p:cNvPicPr>
            <a:picLocks noChangeAspect="1"/>
          </p:cNvPicPr>
          <p:nvPr/>
        </p:nvPicPr>
        <p:blipFill>
          <a:blip r:embed="rId4"/>
          <a:stretch>
            <a:fillRect/>
          </a:stretch>
        </p:blipFill>
        <p:spPr>
          <a:xfrm>
            <a:off x="5898794" y="2702966"/>
            <a:ext cx="409651" cy="409651"/>
          </a:xfrm>
          <a:prstGeom prst="rect">
            <a:avLst/>
          </a:prstGeom>
        </p:spPr>
      </p:pic>
      <p:sp>
        <p:nvSpPr>
          <p:cNvPr id="13" name="Text 9"/>
          <p:cNvSpPr txBox="1"/>
          <p:nvPr/>
        </p:nvSpPr>
        <p:spPr>
          <a:xfrm>
            <a:off x="4511040" y="3401568"/>
            <a:ext cx="3185160" cy="594360"/>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2.  Home-Location Modeling</a:t>
            </a:r>
            <a:endParaRPr lang="en-US" sz="1450" dirty="0"/>
          </a:p>
        </p:txBody>
      </p:sp>
      <p:sp>
        <p:nvSpPr>
          <p:cNvPr id="14" name="Text 10"/>
          <p:cNvSpPr txBox="1"/>
          <p:nvPr/>
        </p:nvSpPr>
        <p:spPr>
          <a:xfrm>
            <a:off x="4529328" y="4069080"/>
            <a:ext cx="3148584" cy="1417320"/>
          </a:xfrm>
          <a:prstGeom prst="rect">
            <a:avLst/>
          </a:prstGeom>
          <a:noFill/>
          <a:ln/>
        </p:spPr>
        <p:txBody>
          <a:bodyPr wrap="square" lIns="0" tIns="0" rIns="0" bIns="0" rtlCol="0" anchor="ctr"/>
          <a:lstStyle/>
          <a:p>
            <a:pPr marL="0" indent="0">
              <a:lnSpc>
                <a:spcPct val="112000"/>
              </a:lnSpc>
              <a:buNone/>
            </a:pPr>
            <a:r>
              <a:rPr lang="en-US" sz="1200" dirty="0">
                <a:solidFill>
                  <a:srgbClr val="17233A"/>
                </a:solidFill>
                <a:latin typeface="Calibri" pitchFamily="34" charset="0"/>
                <a:ea typeface="Calibri" pitchFamily="34" charset="-122"/>
                <a:cs typeface="Calibri" pitchFamily="34" charset="-120"/>
              </a:rPr>
              <a:t>A user's “home” is estimated as their modal (most frequent) nighttime location over a baseline period.</a:t>
            </a:r>
            <a:endParaRPr lang="en-US" sz="1200" dirty="0"/>
          </a:p>
        </p:txBody>
      </p:sp>
      <p:sp>
        <p:nvSpPr>
          <p:cNvPr id="15" name="Shape 11"/>
          <p:cNvSpPr/>
          <p:nvPr/>
        </p:nvSpPr>
        <p:spPr>
          <a:xfrm>
            <a:off x="8153400" y="2286000"/>
            <a:ext cx="3550920" cy="3337560"/>
          </a:xfrm>
          <a:prstGeom prst="roundRect">
            <a:avLst>
              <a:gd name="adj" fmla="val 2466"/>
            </a:avLst>
          </a:prstGeom>
          <a:solidFill>
            <a:srgbClr val="F3F6FA"/>
          </a:solidFill>
          <a:ln/>
        </p:spPr>
      </p:sp>
      <p:sp>
        <p:nvSpPr>
          <p:cNvPr id="16" name="Shape 12"/>
          <p:cNvSpPr/>
          <p:nvPr/>
        </p:nvSpPr>
        <p:spPr>
          <a:xfrm>
            <a:off x="9563100" y="2542032"/>
            <a:ext cx="731520" cy="731520"/>
          </a:xfrm>
          <a:prstGeom prst="ellipse">
            <a:avLst/>
          </a:prstGeom>
          <a:solidFill>
            <a:srgbClr val="1B2A4A"/>
          </a:solidFill>
          <a:ln/>
        </p:spPr>
      </p:sp>
      <p:pic>
        <p:nvPicPr>
          <p:cNvPr id="17" name="Image 2" descr="/sessions/blissful-modest-newton/mnt/outputs/scratch/build/icons/alert.png"/>
          <p:cNvPicPr>
            <a:picLocks noChangeAspect="1"/>
          </p:cNvPicPr>
          <p:nvPr/>
        </p:nvPicPr>
        <p:blipFill>
          <a:blip r:embed="rId5"/>
          <a:stretch>
            <a:fillRect/>
          </a:stretch>
        </p:blipFill>
        <p:spPr>
          <a:xfrm>
            <a:off x="9724034" y="2702966"/>
            <a:ext cx="409651" cy="409651"/>
          </a:xfrm>
          <a:prstGeom prst="rect">
            <a:avLst/>
          </a:prstGeom>
        </p:spPr>
      </p:pic>
      <p:sp>
        <p:nvSpPr>
          <p:cNvPr id="18" name="Text 13"/>
          <p:cNvSpPr txBox="1"/>
          <p:nvPr/>
        </p:nvSpPr>
        <p:spPr>
          <a:xfrm>
            <a:off x="8336280" y="3401568"/>
            <a:ext cx="3185160" cy="594360"/>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3.  Displacement Detection</a:t>
            </a:r>
            <a:endParaRPr lang="en-US" sz="1450" dirty="0"/>
          </a:p>
        </p:txBody>
      </p:sp>
      <p:sp>
        <p:nvSpPr>
          <p:cNvPr id="19" name="Text 14"/>
          <p:cNvSpPr txBox="1"/>
          <p:nvPr/>
        </p:nvSpPr>
        <p:spPr>
          <a:xfrm>
            <a:off x="8354568" y="4069080"/>
            <a:ext cx="3148584" cy="1417320"/>
          </a:xfrm>
          <a:prstGeom prst="rect">
            <a:avLst/>
          </a:prstGeom>
          <a:noFill/>
          <a:ln/>
        </p:spPr>
        <p:txBody>
          <a:bodyPr wrap="square" lIns="0" tIns="0" rIns="0" bIns="0" rtlCol="0" anchor="ctr"/>
          <a:lstStyle/>
          <a:p>
            <a:pPr marL="0" indent="0">
              <a:lnSpc>
                <a:spcPct val="112000"/>
              </a:lnSpc>
              <a:buNone/>
            </a:pPr>
            <a:r>
              <a:rPr lang="en-US" sz="1200" dirty="0">
                <a:solidFill>
                  <a:srgbClr val="17233A"/>
                </a:solidFill>
                <a:latin typeface="Calibri" pitchFamily="34" charset="0"/>
                <a:ea typeface="Calibri" pitchFamily="34" charset="-122"/>
                <a:cs typeface="Calibri" pitchFamily="34" charset="-120"/>
              </a:rPr>
              <a:t>A sustained shift away from the modeled home location signals migration or displacement, often within days.</a:t>
            </a:r>
            <a:endParaRPr lang="en-US" sz="1200" dirty="0"/>
          </a:p>
        </p:txBody>
      </p:sp>
      <p:sp>
        <p:nvSpPr>
          <p:cNvPr id="20" name="Text 15"/>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21" name="Text 16"/>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30 / 57</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DIGITAL TRACE DATA — SATELLITE &amp; NIGHTTIME LIGHTS</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Seeing Population Change From Orbit</a:t>
            </a:r>
            <a:endParaRPr lang="en-US" sz="2900" dirty="0"/>
          </a:p>
        </p:txBody>
      </p:sp>
      <p:sp>
        <p:nvSpPr>
          <p:cNvPr id="4" name="Text 2"/>
          <p:cNvSpPr txBox="1"/>
          <p:nvPr/>
        </p:nvSpPr>
        <p:spPr>
          <a:xfrm>
            <a:off x="548640" y="1417320"/>
            <a:ext cx="11064240" cy="685800"/>
          </a:xfrm>
          <a:prstGeom prst="rect">
            <a:avLst/>
          </a:prstGeom>
          <a:noFill/>
          <a:ln/>
        </p:spPr>
        <p:txBody>
          <a:bodyPr wrap="square" lIns="0" tIns="0" rIns="0" bIns="0" rtlCol="0" anchor="ctr"/>
          <a:lstStyle/>
          <a:p>
            <a:pPr marL="0" indent="0">
              <a:lnSpc>
                <a:spcPct val="115000"/>
              </a:lnSpc>
              <a:buNone/>
            </a:pPr>
            <a:r>
              <a:rPr lang="en-US" sz="1350" dirty="0">
                <a:solidFill>
                  <a:srgbClr val="17233A"/>
                </a:solidFill>
                <a:latin typeface="Calibri" pitchFamily="34" charset="0"/>
                <a:ea typeface="Calibri" pitchFamily="34" charset="-122"/>
                <a:cs typeface="Calibri" pitchFamily="34" charset="-120"/>
              </a:rPr>
              <a:t>Satellite sensors track how brightly and how far a settlement's lights extend at night, and how built-up land cover expands — both are strong proxies for population growth and urban expansion where ground data is thin.</a:t>
            </a:r>
            <a:endParaRPr lang="en-US" sz="1350" dirty="0"/>
          </a:p>
        </p:txBody>
      </p:sp>
      <p:sp>
        <p:nvSpPr>
          <p:cNvPr id="5" name="Shape 3"/>
          <p:cNvSpPr/>
          <p:nvPr/>
        </p:nvSpPr>
        <p:spPr>
          <a:xfrm>
            <a:off x="502920" y="2286000"/>
            <a:ext cx="3550920" cy="3337560"/>
          </a:xfrm>
          <a:prstGeom prst="roundRect">
            <a:avLst>
              <a:gd name="adj" fmla="val 2466"/>
            </a:avLst>
          </a:prstGeom>
          <a:solidFill>
            <a:srgbClr val="F3F6FA"/>
          </a:solidFill>
          <a:ln/>
        </p:spPr>
      </p:sp>
      <p:sp>
        <p:nvSpPr>
          <p:cNvPr id="6" name="Shape 4"/>
          <p:cNvSpPr/>
          <p:nvPr/>
        </p:nvSpPr>
        <p:spPr>
          <a:xfrm>
            <a:off x="1912620" y="2542032"/>
            <a:ext cx="731520" cy="731520"/>
          </a:xfrm>
          <a:prstGeom prst="ellipse">
            <a:avLst/>
          </a:prstGeom>
          <a:solidFill>
            <a:srgbClr val="1B2A4A"/>
          </a:solidFill>
          <a:ln/>
        </p:spPr>
      </p:sp>
      <p:pic>
        <p:nvPicPr>
          <p:cNvPr id="7" name="Image 0" descr="/sessions/blissful-modest-newton/mnt/outputs/scratch/build/icons/satellite.png"/>
          <p:cNvPicPr>
            <a:picLocks noChangeAspect="1"/>
          </p:cNvPicPr>
          <p:nvPr/>
        </p:nvPicPr>
        <p:blipFill>
          <a:blip r:embed="rId3"/>
          <a:stretch>
            <a:fillRect/>
          </a:stretch>
        </p:blipFill>
        <p:spPr>
          <a:xfrm>
            <a:off x="2073554" y="2702966"/>
            <a:ext cx="409651" cy="409651"/>
          </a:xfrm>
          <a:prstGeom prst="rect">
            <a:avLst/>
          </a:prstGeom>
        </p:spPr>
      </p:pic>
      <p:sp>
        <p:nvSpPr>
          <p:cNvPr id="8" name="Text 5"/>
          <p:cNvSpPr txBox="1"/>
          <p:nvPr/>
        </p:nvSpPr>
        <p:spPr>
          <a:xfrm>
            <a:off x="685800" y="3401568"/>
            <a:ext cx="3185160" cy="594360"/>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1.  Nighttime-Lights Intensity</a:t>
            </a:r>
            <a:endParaRPr lang="en-US" sz="1450" dirty="0"/>
          </a:p>
        </p:txBody>
      </p:sp>
      <p:sp>
        <p:nvSpPr>
          <p:cNvPr id="9" name="Text 6"/>
          <p:cNvSpPr txBox="1"/>
          <p:nvPr/>
        </p:nvSpPr>
        <p:spPr>
          <a:xfrm>
            <a:off x="704088" y="4069080"/>
            <a:ext cx="3148584" cy="1417320"/>
          </a:xfrm>
          <a:prstGeom prst="rect">
            <a:avLst/>
          </a:prstGeom>
          <a:noFill/>
          <a:ln/>
        </p:spPr>
        <p:txBody>
          <a:bodyPr wrap="square" lIns="0" tIns="0" rIns="0" bIns="0" rtlCol="0" anchor="ctr"/>
          <a:lstStyle/>
          <a:p>
            <a:pPr marL="0" indent="0">
              <a:lnSpc>
                <a:spcPct val="112000"/>
              </a:lnSpc>
              <a:buNone/>
            </a:pPr>
            <a:r>
              <a:rPr lang="en-US" sz="1200" dirty="0">
                <a:solidFill>
                  <a:srgbClr val="17233A"/>
                </a:solidFill>
                <a:latin typeface="Calibri" pitchFamily="34" charset="0"/>
                <a:ea typeface="Calibri" pitchFamily="34" charset="-122"/>
                <a:cs typeface="Calibri" pitchFamily="34" charset="-120"/>
              </a:rPr>
              <a:t>Rising brightness/extent over a settlement correlates with population and economic activity growth over time.</a:t>
            </a:r>
            <a:endParaRPr lang="en-US" sz="1200" dirty="0"/>
          </a:p>
        </p:txBody>
      </p:sp>
      <p:sp>
        <p:nvSpPr>
          <p:cNvPr id="10" name="Shape 7"/>
          <p:cNvSpPr/>
          <p:nvPr/>
        </p:nvSpPr>
        <p:spPr>
          <a:xfrm>
            <a:off x="4328160" y="2286000"/>
            <a:ext cx="3550920" cy="3337560"/>
          </a:xfrm>
          <a:prstGeom prst="roundRect">
            <a:avLst>
              <a:gd name="adj" fmla="val 2466"/>
            </a:avLst>
          </a:prstGeom>
          <a:solidFill>
            <a:srgbClr val="E7EEF7"/>
          </a:solidFill>
          <a:ln/>
        </p:spPr>
      </p:sp>
      <p:sp>
        <p:nvSpPr>
          <p:cNvPr id="11" name="Shape 8"/>
          <p:cNvSpPr/>
          <p:nvPr/>
        </p:nvSpPr>
        <p:spPr>
          <a:xfrm>
            <a:off x="5737860" y="2542032"/>
            <a:ext cx="731520" cy="731520"/>
          </a:xfrm>
          <a:prstGeom prst="ellipse">
            <a:avLst/>
          </a:prstGeom>
          <a:solidFill>
            <a:srgbClr val="1B2A4A"/>
          </a:solidFill>
          <a:ln/>
        </p:spPr>
      </p:sp>
      <p:pic>
        <p:nvPicPr>
          <p:cNvPr id="12" name="Image 1" descr="/sessions/blissful-modest-newton/mnt/outputs/scratch/build/icons/city.png"/>
          <p:cNvPicPr>
            <a:picLocks noChangeAspect="1"/>
          </p:cNvPicPr>
          <p:nvPr/>
        </p:nvPicPr>
        <p:blipFill>
          <a:blip r:embed="rId4"/>
          <a:stretch>
            <a:fillRect/>
          </a:stretch>
        </p:blipFill>
        <p:spPr>
          <a:xfrm>
            <a:off x="5898794" y="2702966"/>
            <a:ext cx="409651" cy="409651"/>
          </a:xfrm>
          <a:prstGeom prst="rect">
            <a:avLst/>
          </a:prstGeom>
        </p:spPr>
      </p:pic>
      <p:sp>
        <p:nvSpPr>
          <p:cNvPr id="13" name="Text 9"/>
          <p:cNvSpPr txBox="1"/>
          <p:nvPr/>
        </p:nvSpPr>
        <p:spPr>
          <a:xfrm>
            <a:off x="4511040" y="3401568"/>
            <a:ext cx="3185160" cy="594360"/>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2.  Built-Up Area Change</a:t>
            </a:r>
            <a:endParaRPr lang="en-US" sz="1450" dirty="0"/>
          </a:p>
        </p:txBody>
      </p:sp>
      <p:sp>
        <p:nvSpPr>
          <p:cNvPr id="14" name="Text 10"/>
          <p:cNvSpPr txBox="1"/>
          <p:nvPr/>
        </p:nvSpPr>
        <p:spPr>
          <a:xfrm>
            <a:off x="4529328" y="4069080"/>
            <a:ext cx="3148584" cy="1417320"/>
          </a:xfrm>
          <a:prstGeom prst="rect">
            <a:avLst/>
          </a:prstGeom>
          <a:noFill/>
          <a:ln/>
        </p:spPr>
        <p:txBody>
          <a:bodyPr wrap="square" lIns="0" tIns="0" rIns="0" bIns="0" rtlCol="0" anchor="ctr"/>
          <a:lstStyle/>
          <a:p>
            <a:pPr marL="0" indent="0">
              <a:lnSpc>
                <a:spcPct val="112000"/>
              </a:lnSpc>
              <a:buNone/>
            </a:pPr>
            <a:r>
              <a:rPr lang="en-US" sz="1200" dirty="0">
                <a:solidFill>
                  <a:srgbClr val="17233A"/>
                </a:solidFill>
                <a:latin typeface="Calibri" pitchFamily="34" charset="0"/>
                <a:ea typeface="Calibri" pitchFamily="34" charset="-122"/>
                <a:cs typeface="Calibri" pitchFamily="34" charset="-120"/>
              </a:rPr>
              <a:t>High-resolution imagery detects new construction and informal-settlement growth between census rounds.</a:t>
            </a:r>
            <a:endParaRPr lang="en-US" sz="1200" dirty="0"/>
          </a:p>
        </p:txBody>
      </p:sp>
      <p:sp>
        <p:nvSpPr>
          <p:cNvPr id="15" name="Shape 11"/>
          <p:cNvSpPr/>
          <p:nvPr/>
        </p:nvSpPr>
        <p:spPr>
          <a:xfrm>
            <a:off x="8153400" y="2286000"/>
            <a:ext cx="3550920" cy="3337560"/>
          </a:xfrm>
          <a:prstGeom prst="roundRect">
            <a:avLst>
              <a:gd name="adj" fmla="val 2466"/>
            </a:avLst>
          </a:prstGeom>
          <a:solidFill>
            <a:srgbClr val="F3F6FA"/>
          </a:solidFill>
          <a:ln/>
        </p:spPr>
      </p:sp>
      <p:sp>
        <p:nvSpPr>
          <p:cNvPr id="16" name="Shape 12"/>
          <p:cNvSpPr/>
          <p:nvPr/>
        </p:nvSpPr>
        <p:spPr>
          <a:xfrm>
            <a:off x="9563100" y="2542032"/>
            <a:ext cx="731520" cy="731520"/>
          </a:xfrm>
          <a:prstGeom prst="ellipse">
            <a:avLst/>
          </a:prstGeom>
          <a:solidFill>
            <a:srgbClr val="1B2A4A"/>
          </a:solidFill>
          <a:ln/>
        </p:spPr>
      </p:sp>
      <p:pic>
        <p:nvPicPr>
          <p:cNvPr id="17" name="Image 2" descr="/sessions/blissful-modest-newton/mnt/outputs/scratch/build/icons/chart.png"/>
          <p:cNvPicPr>
            <a:picLocks noChangeAspect="1"/>
          </p:cNvPicPr>
          <p:nvPr/>
        </p:nvPicPr>
        <p:blipFill>
          <a:blip r:embed="rId5"/>
          <a:stretch>
            <a:fillRect/>
          </a:stretch>
        </p:blipFill>
        <p:spPr>
          <a:xfrm>
            <a:off x="9724034" y="2702966"/>
            <a:ext cx="409651" cy="409651"/>
          </a:xfrm>
          <a:prstGeom prst="rect">
            <a:avLst/>
          </a:prstGeom>
        </p:spPr>
      </p:pic>
      <p:sp>
        <p:nvSpPr>
          <p:cNvPr id="18" name="Text 13"/>
          <p:cNvSpPr txBox="1"/>
          <p:nvPr/>
        </p:nvSpPr>
        <p:spPr>
          <a:xfrm>
            <a:off x="8336280" y="3401568"/>
            <a:ext cx="3185160" cy="594360"/>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3.  Ground-Truthing</a:t>
            </a:r>
            <a:endParaRPr lang="en-US" sz="1450" dirty="0"/>
          </a:p>
        </p:txBody>
      </p:sp>
      <p:sp>
        <p:nvSpPr>
          <p:cNvPr id="19" name="Text 14"/>
          <p:cNvSpPr txBox="1"/>
          <p:nvPr/>
        </p:nvSpPr>
        <p:spPr>
          <a:xfrm>
            <a:off x="8354568" y="4069080"/>
            <a:ext cx="3148584" cy="1417320"/>
          </a:xfrm>
          <a:prstGeom prst="rect">
            <a:avLst/>
          </a:prstGeom>
          <a:noFill/>
          <a:ln/>
        </p:spPr>
        <p:txBody>
          <a:bodyPr wrap="square" lIns="0" tIns="0" rIns="0" bIns="0" rtlCol="0" anchor="ctr"/>
          <a:lstStyle/>
          <a:p>
            <a:pPr marL="0" indent="0">
              <a:lnSpc>
                <a:spcPct val="112000"/>
              </a:lnSpc>
              <a:buNone/>
            </a:pPr>
            <a:r>
              <a:rPr lang="en-US" sz="1200" dirty="0">
                <a:solidFill>
                  <a:srgbClr val="17233A"/>
                </a:solidFill>
                <a:latin typeface="Calibri" pitchFamily="34" charset="0"/>
                <a:ea typeface="Calibri" pitchFamily="34" charset="-122"/>
                <a:cs typeface="Calibri" pitchFamily="34" charset="-120"/>
              </a:rPr>
              <a:t>Best used validated against census or mobile data — satellite proxies alone can miss vertical (high-rise) density growth.</a:t>
            </a:r>
            <a:endParaRPr lang="en-US" sz="1200" dirty="0"/>
          </a:p>
        </p:txBody>
      </p:sp>
      <p:sp>
        <p:nvSpPr>
          <p:cNvPr id="20" name="Text 15"/>
          <p:cNvSpPr txBox="1"/>
          <p:nvPr/>
        </p:nvSpPr>
        <p:spPr>
          <a:xfrm>
            <a:off x="548640" y="6108192"/>
            <a:ext cx="11064240" cy="384048"/>
          </a:xfrm>
          <a:prstGeom prst="rect">
            <a:avLst/>
          </a:prstGeom>
          <a:noFill/>
          <a:ln/>
        </p:spPr>
        <p:txBody>
          <a:bodyPr wrap="square" lIns="0" tIns="0" rIns="0" bIns="0" rtlCol="0" anchor="ctr"/>
          <a:lstStyle/>
          <a:p>
            <a:pPr marL="0" indent="0">
              <a:buNone/>
            </a:pPr>
            <a:r>
              <a:rPr lang="en-US" sz="1050" i="1" dirty="0">
                <a:solidFill>
                  <a:srgbClr val="5B6B82"/>
                </a:solidFill>
                <a:latin typeface="Calibri" pitchFamily="34" charset="0"/>
                <a:ea typeface="Calibri" pitchFamily="34" charset="-122"/>
                <a:cs typeface="Calibri" pitchFamily="34" charset="-120"/>
              </a:rPr>
              <a:t>Example: Rwanda's Space Agency and Planet (2024) launched a national satellite-imagery program used to refine urban planning and zoning in Kigali and beyond.</a:t>
            </a:r>
            <a:endParaRPr lang="en-US" sz="1050" dirty="0"/>
          </a:p>
        </p:txBody>
      </p:sp>
      <p:sp>
        <p:nvSpPr>
          <p:cNvPr id="21" name="Text 16"/>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22" name="Text 17"/>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31 / 57</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DIGITAL TRACE DATA — SOCIAL MEDIA DATA</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Geotagged Posts as a Mobility Signal</a:t>
            </a:r>
            <a:endParaRPr lang="en-US" sz="2900" dirty="0"/>
          </a:p>
        </p:txBody>
      </p:sp>
      <p:sp>
        <p:nvSpPr>
          <p:cNvPr id="4" name="Text 2"/>
          <p:cNvSpPr txBox="1"/>
          <p:nvPr/>
        </p:nvSpPr>
        <p:spPr>
          <a:xfrm>
            <a:off x="548640" y="1417320"/>
            <a:ext cx="11064240" cy="685800"/>
          </a:xfrm>
          <a:prstGeom prst="rect">
            <a:avLst/>
          </a:prstGeom>
          <a:noFill/>
          <a:ln/>
        </p:spPr>
        <p:txBody>
          <a:bodyPr wrap="square" lIns="0" tIns="0" rIns="0" bIns="0" rtlCol="0" anchor="ctr"/>
          <a:lstStyle/>
          <a:p>
            <a:pPr marL="0" indent="0">
              <a:lnSpc>
                <a:spcPct val="115000"/>
              </a:lnSpc>
              <a:buNone/>
            </a:pPr>
            <a:r>
              <a:rPr lang="en-US" sz="1350" dirty="0">
                <a:solidFill>
                  <a:srgbClr val="17233A"/>
                </a:solidFill>
                <a:latin typeface="Calibri" pitchFamily="34" charset="0"/>
                <a:ea typeface="Calibri" pitchFamily="34" charset="-122"/>
                <a:cs typeface="Calibri" pitchFamily="34" charset="-120"/>
              </a:rPr>
              <a:t>Aggregated, anonymized location signals from social platforms can flag sudden population movement in near-real time — a complement to, not a replacement for, phone and satellite data.</a:t>
            </a:r>
            <a:endParaRPr lang="en-US" sz="1350" dirty="0"/>
          </a:p>
        </p:txBody>
      </p:sp>
      <p:sp>
        <p:nvSpPr>
          <p:cNvPr id="5" name="Shape 3"/>
          <p:cNvSpPr/>
          <p:nvPr/>
        </p:nvSpPr>
        <p:spPr>
          <a:xfrm>
            <a:off x="502920" y="2286000"/>
            <a:ext cx="3550920" cy="3337560"/>
          </a:xfrm>
          <a:prstGeom prst="roundRect">
            <a:avLst>
              <a:gd name="adj" fmla="val 2466"/>
            </a:avLst>
          </a:prstGeom>
          <a:solidFill>
            <a:srgbClr val="F3F6FA"/>
          </a:solidFill>
          <a:ln/>
        </p:spPr>
      </p:sp>
      <p:sp>
        <p:nvSpPr>
          <p:cNvPr id="6" name="Shape 4"/>
          <p:cNvSpPr/>
          <p:nvPr/>
        </p:nvSpPr>
        <p:spPr>
          <a:xfrm>
            <a:off x="1912620" y="2542032"/>
            <a:ext cx="731520" cy="731520"/>
          </a:xfrm>
          <a:prstGeom prst="ellipse">
            <a:avLst/>
          </a:prstGeom>
          <a:solidFill>
            <a:srgbClr val="1B2A4A"/>
          </a:solidFill>
          <a:ln/>
        </p:spPr>
      </p:sp>
      <p:pic>
        <p:nvPicPr>
          <p:cNvPr id="7" name="Image 0" descr="/sessions/blissful-modest-newton/mnt/outputs/scratch/build/icons/chat.png"/>
          <p:cNvPicPr>
            <a:picLocks noChangeAspect="1"/>
          </p:cNvPicPr>
          <p:nvPr/>
        </p:nvPicPr>
        <p:blipFill>
          <a:blip r:embed="rId3"/>
          <a:stretch>
            <a:fillRect/>
          </a:stretch>
        </p:blipFill>
        <p:spPr>
          <a:xfrm>
            <a:off x="2073554" y="2702966"/>
            <a:ext cx="409651" cy="409651"/>
          </a:xfrm>
          <a:prstGeom prst="rect">
            <a:avLst/>
          </a:prstGeom>
        </p:spPr>
      </p:pic>
      <p:sp>
        <p:nvSpPr>
          <p:cNvPr id="8" name="Text 5"/>
          <p:cNvSpPr txBox="1"/>
          <p:nvPr/>
        </p:nvSpPr>
        <p:spPr>
          <a:xfrm>
            <a:off x="685800" y="3401568"/>
            <a:ext cx="3185160" cy="594360"/>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1.  Geotagged Activity</a:t>
            </a:r>
            <a:endParaRPr lang="en-US" sz="1450" dirty="0"/>
          </a:p>
        </p:txBody>
      </p:sp>
      <p:sp>
        <p:nvSpPr>
          <p:cNvPr id="9" name="Text 6"/>
          <p:cNvSpPr txBox="1"/>
          <p:nvPr/>
        </p:nvSpPr>
        <p:spPr>
          <a:xfrm>
            <a:off x="704088" y="4069080"/>
            <a:ext cx="3148584" cy="1417320"/>
          </a:xfrm>
          <a:prstGeom prst="rect">
            <a:avLst/>
          </a:prstGeom>
          <a:noFill/>
          <a:ln/>
        </p:spPr>
        <p:txBody>
          <a:bodyPr wrap="square" lIns="0" tIns="0" rIns="0" bIns="0" rtlCol="0" anchor="ctr"/>
          <a:lstStyle/>
          <a:p>
            <a:pPr marL="0" indent="0">
              <a:lnSpc>
                <a:spcPct val="112000"/>
              </a:lnSpc>
              <a:buNone/>
            </a:pPr>
            <a:r>
              <a:rPr lang="en-US" sz="1200" dirty="0">
                <a:solidFill>
                  <a:srgbClr val="17233A"/>
                </a:solidFill>
                <a:latin typeface="Calibri" pitchFamily="34" charset="0"/>
                <a:ea typeface="Calibri" pitchFamily="34" charset="-122"/>
                <a:cs typeface="Calibri" pitchFamily="34" charset="-120"/>
              </a:rPr>
              <a:t>Posts, check-ins, and platform location settings reveal where active users are clustering or leaving from.</a:t>
            </a:r>
            <a:endParaRPr lang="en-US" sz="1200" dirty="0"/>
          </a:p>
        </p:txBody>
      </p:sp>
      <p:sp>
        <p:nvSpPr>
          <p:cNvPr id="10" name="Shape 7"/>
          <p:cNvSpPr/>
          <p:nvPr/>
        </p:nvSpPr>
        <p:spPr>
          <a:xfrm>
            <a:off x="4328160" y="2286000"/>
            <a:ext cx="3550920" cy="3337560"/>
          </a:xfrm>
          <a:prstGeom prst="roundRect">
            <a:avLst>
              <a:gd name="adj" fmla="val 2466"/>
            </a:avLst>
          </a:prstGeom>
          <a:solidFill>
            <a:srgbClr val="E7EEF7"/>
          </a:solidFill>
          <a:ln/>
        </p:spPr>
      </p:sp>
      <p:sp>
        <p:nvSpPr>
          <p:cNvPr id="11" name="Shape 8"/>
          <p:cNvSpPr/>
          <p:nvPr/>
        </p:nvSpPr>
        <p:spPr>
          <a:xfrm>
            <a:off x="5737860" y="2542032"/>
            <a:ext cx="731520" cy="731520"/>
          </a:xfrm>
          <a:prstGeom prst="ellipse">
            <a:avLst/>
          </a:prstGeom>
          <a:solidFill>
            <a:srgbClr val="1B2A4A"/>
          </a:solidFill>
          <a:ln/>
        </p:spPr>
      </p:sp>
      <p:pic>
        <p:nvPicPr>
          <p:cNvPr id="12" name="Image 1" descr="/sessions/blissful-modest-newton/mnt/outputs/scratch/build/icons/clock.png"/>
          <p:cNvPicPr>
            <a:picLocks noChangeAspect="1"/>
          </p:cNvPicPr>
          <p:nvPr/>
        </p:nvPicPr>
        <p:blipFill>
          <a:blip r:embed="rId4"/>
          <a:stretch>
            <a:fillRect/>
          </a:stretch>
        </p:blipFill>
        <p:spPr>
          <a:xfrm>
            <a:off x="5898794" y="2702966"/>
            <a:ext cx="409651" cy="409651"/>
          </a:xfrm>
          <a:prstGeom prst="rect">
            <a:avLst/>
          </a:prstGeom>
        </p:spPr>
      </p:pic>
      <p:sp>
        <p:nvSpPr>
          <p:cNvPr id="13" name="Text 9"/>
          <p:cNvSpPr txBox="1"/>
          <p:nvPr/>
        </p:nvSpPr>
        <p:spPr>
          <a:xfrm>
            <a:off x="4511040" y="3401568"/>
            <a:ext cx="3185160" cy="594360"/>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2.  Near-Real-Time Flags</a:t>
            </a:r>
            <a:endParaRPr lang="en-US" sz="1450" dirty="0"/>
          </a:p>
        </p:txBody>
      </p:sp>
      <p:sp>
        <p:nvSpPr>
          <p:cNvPr id="14" name="Text 10"/>
          <p:cNvSpPr txBox="1"/>
          <p:nvPr/>
        </p:nvSpPr>
        <p:spPr>
          <a:xfrm>
            <a:off x="4529328" y="4069080"/>
            <a:ext cx="3148584" cy="1417320"/>
          </a:xfrm>
          <a:prstGeom prst="rect">
            <a:avLst/>
          </a:prstGeom>
          <a:noFill/>
          <a:ln/>
        </p:spPr>
        <p:txBody>
          <a:bodyPr wrap="square" lIns="0" tIns="0" rIns="0" bIns="0" rtlCol="0" anchor="ctr"/>
          <a:lstStyle/>
          <a:p>
            <a:pPr marL="0" indent="0">
              <a:lnSpc>
                <a:spcPct val="112000"/>
              </a:lnSpc>
              <a:buNone/>
            </a:pPr>
            <a:r>
              <a:rPr lang="en-US" sz="1200" dirty="0">
                <a:solidFill>
                  <a:srgbClr val="17233A"/>
                </a:solidFill>
                <a:latin typeface="Calibri" pitchFamily="34" charset="0"/>
                <a:ea typeface="Calibri" pitchFamily="34" charset="-122"/>
                <a:cs typeface="Calibri" pitchFamily="34" charset="-120"/>
              </a:rPr>
              <a:t>Sudden spikes or drops in activity in a location can flag a crisis or mass movement within hours.</a:t>
            </a:r>
            <a:endParaRPr lang="en-US" sz="1200" dirty="0"/>
          </a:p>
        </p:txBody>
      </p:sp>
      <p:sp>
        <p:nvSpPr>
          <p:cNvPr id="15" name="Shape 11"/>
          <p:cNvSpPr/>
          <p:nvPr/>
        </p:nvSpPr>
        <p:spPr>
          <a:xfrm>
            <a:off x="8153400" y="2286000"/>
            <a:ext cx="3550920" cy="3337560"/>
          </a:xfrm>
          <a:prstGeom prst="roundRect">
            <a:avLst>
              <a:gd name="adj" fmla="val 2466"/>
            </a:avLst>
          </a:prstGeom>
          <a:solidFill>
            <a:srgbClr val="F3F6FA"/>
          </a:solidFill>
          <a:ln/>
        </p:spPr>
      </p:sp>
      <p:sp>
        <p:nvSpPr>
          <p:cNvPr id="16" name="Shape 12"/>
          <p:cNvSpPr/>
          <p:nvPr/>
        </p:nvSpPr>
        <p:spPr>
          <a:xfrm>
            <a:off x="9563100" y="2542032"/>
            <a:ext cx="731520" cy="731520"/>
          </a:xfrm>
          <a:prstGeom prst="ellipse">
            <a:avLst/>
          </a:prstGeom>
          <a:solidFill>
            <a:srgbClr val="1B2A4A"/>
          </a:solidFill>
          <a:ln/>
        </p:spPr>
      </p:sp>
      <p:pic>
        <p:nvPicPr>
          <p:cNvPr id="17" name="Image 2" descr="/sessions/blissful-modest-newton/mnt/outputs/scratch/build/icons/alert.png"/>
          <p:cNvPicPr>
            <a:picLocks noChangeAspect="1"/>
          </p:cNvPicPr>
          <p:nvPr/>
        </p:nvPicPr>
        <p:blipFill>
          <a:blip r:embed="rId5"/>
          <a:stretch>
            <a:fillRect/>
          </a:stretch>
        </p:blipFill>
        <p:spPr>
          <a:xfrm>
            <a:off x="9724034" y="2702966"/>
            <a:ext cx="409651" cy="409651"/>
          </a:xfrm>
          <a:prstGeom prst="rect">
            <a:avLst/>
          </a:prstGeom>
        </p:spPr>
      </p:pic>
      <p:sp>
        <p:nvSpPr>
          <p:cNvPr id="18" name="Text 13"/>
          <p:cNvSpPr txBox="1"/>
          <p:nvPr/>
        </p:nvSpPr>
        <p:spPr>
          <a:xfrm>
            <a:off x="8336280" y="3401568"/>
            <a:ext cx="3185160" cy="594360"/>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3.  Strong Selection Bias</a:t>
            </a:r>
            <a:endParaRPr lang="en-US" sz="1450" dirty="0"/>
          </a:p>
        </p:txBody>
      </p:sp>
      <p:sp>
        <p:nvSpPr>
          <p:cNvPr id="19" name="Text 14"/>
          <p:cNvSpPr txBox="1"/>
          <p:nvPr/>
        </p:nvSpPr>
        <p:spPr>
          <a:xfrm>
            <a:off x="8354568" y="4069080"/>
            <a:ext cx="3148584" cy="1417320"/>
          </a:xfrm>
          <a:prstGeom prst="rect">
            <a:avLst/>
          </a:prstGeom>
          <a:noFill/>
          <a:ln/>
        </p:spPr>
        <p:txBody>
          <a:bodyPr wrap="square" lIns="0" tIns="0" rIns="0" bIns="0" rtlCol="0" anchor="ctr"/>
          <a:lstStyle/>
          <a:p>
            <a:pPr marL="0" indent="0">
              <a:lnSpc>
                <a:spcPct val="112000"/>
              </a:lnSpc>
              <a:buNone/>
            </a:pPr>
            <a:r>
              <a:rPr lang="en-US" sz="1200" dirty="0">
                <a:solidFill>
                  <a:srgbClr val="17233A"/>
                </a:solidFill>
                <a:latin typeface="Calibri" pitchFamily="34" charset="0"/>
                <a:ea typeface="Calibri" pitchFamily="34" charset="-122"/>
                <a:cs typeface="Calibri" pitchFamily="34" charset="-120"/>
              </a:rPr>
              <a:t>Coverage skews toward younger, urban, platform-using populations — a major limitation for representativeness.</a:t>
            </a:r>
            <a:endParaRPr lang="en-US" sz="1200" dirty="0"/>
          </a:p>
        </p:txBody>
      </p:sp>
      <p:sp>
        <p:nvSpPr>
          <p:cNvPr id="20" name="Text 15"/>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21" name="Text 16"/>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32 / 57</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EXAMPLE 6 — METHODOLOGY, 2014</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Dynamic Population Mapping Using Mobile-Phone Data</a:t>
            </a:r>
            <a:endParaRPr lang="en-US" sz="2900" dirty="0"/>
          </a:p>
        </p:txBody>
      </p:sp>
      <p:sp>
        <p:nvSpPr>
          <p:cNvPr id="4" name="Shape 2"/>
          <p:cNvSpPr/>
          <p:nvPr/>
        </p:nvSpPr>
        <p:spPr>
          <a:xfrm>
            <a:off x="548640" y="1691640"/>
            <a:ext cx="3520440" cy="2331720"/>
          </a:xfrm>
          <a:prstGeom prst="roundRect">
            <a:avLst>
              <a:gd name="adj" fmla="val 3922"/>
            </a:avLst>
          </a:prstGeom>
          <a:solidFill>
            <a:srgbClr val="F3F6FA"/>
          </a:solidFill>
          <a:ln/>
        </p:spPr>
      </p:sp>
      <p:sp>
        <p:nvSpPr>
          <p:cNvPr id="5" name="Text 3"/>
          <p:cNvSpPr txBox="1"/>
          <p:nvPr/>
        </p:nvSpPr>
        <p:spPr>
          <a:xfrm>
            <a:off x="731520" y="1874520"/>
            <a:ext cx="3154680" cy="914400"/>
          </a:xfrm>
          <a:prstGeom prst="rect">
            <a:avLst/>
          </a:prstGeom>
          <a:noFill/>
          <a:ln/>
        </p:spPr>
        <p:txBody>
          <a:bodyPr wrap="square" lIns="0" tIns="0" rIns="0" bIns="0" rtlCol="0" anchor="ctr"/>
          <a:lstStyle/>
          <a:p>
            <a:pPr marL="0" indent="0">
              <a:buNone/>
            </a:pPr>
            <a:r>
              <a:rPr lang="en-US" sz="3800" b="1" dirty="0">
                <a:solidFill>
                  <a:srgbClr val="0E7C7B"/>
                </a:solidFill>
                <a:latin typeface="Cambria" pitchFamily="34" charset="0"/>
                <a:ea typeface="Cambria" pitchFamily="34" charset="-122"/>
                <a:cs typeface="Cambria" pitchFamily="34" charset="-120"/>
              </a:rPr>
              <a:t>2014</a:t>
            </a:r>
            <a:endParaRPr lang="en-US" sz="3800" dirty="0"/>
          </a:p>
        </p:txBody>
      </p:sp>
      <p:sp>
        <p:nvSpPr>
          <p:cNvPr id="6" name="Text 4"/>
          <p:cNvSpPr txBox="1"/>
          <p:nvPr/>
        </p:nvSpPr>
        <p:spPr>
          <a:xfrm>
            <a:off x="731520" y="2743200"/>
            <a:ext cx="3154680" cy="1188720"/>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Proceedings of the National Academy of Sciences, 111(45)</a:t>
            </a:r>
            <a:endParaRPr lang="en-US" sz="1300" dirty="0"/>
          </a:p>
        </p:txBody>
      </p:sp>
      <p:sp>
        <p:nvSpPr>
          <p:cNvPr id="7" name="Shape 5"/>
          <p:cNvSpPr/>
          <p:nvPr/>
        </p:nvSpPr>
        <p:spPr>
          <a:xfrm>
            <a:off x="4389120" y="1691640"/>
            <a:ext cx="3520440" cy="2331720"/>
          </a:xfrm>
          <a:prstGeom prst="roundRect">
            <a:avLst>
              <a:gd name="adj" fmla="val 3922"/>
            </a:avLst>
          </a:prstGeom>
          <a:solidFill>
            <a:srgbClr val="F3F6FA"/>
          </a:solidFill>
          <a:ln/>
        </p:spPr>
      </p:sp>
      <p:sp>
        <p:nvSpPr>
          <p:cNvPr id="8" name="Text 6"/>
          <p:cNvSpPr txBox="1"/>
          <p:nvPr/>
        </p:nvSpPr>
        <p:spPr>
          <a:xfrm>
            <a:off x="4572000" y="1874520"/>
            <a:ext cx="3154680" cy="914400"/>
          </a:xfrm>
          <a:prstGeom prst="rect">
            <a:avLst/>
          </a:prstGeom>
          <a:noFill/>
          <a:ln/>
        </p:spPr>
        <p:txBody>
          <a:bodyPr wrap="square" lIns="0" tIns="0" rIns="0" bIns="0" rtlCol="0" anchor="ctr"/>
          <a:lstStyle/>
          <a:p>
            <a:pPr marL="0" indent="0">
              <a:buNone/>
            </a:pPr>
            <a:r>
              <a:rPr lang="en-US" sz="3800" b="1" dirty="0">
                <a:solidFill>
                  <a:srgbClr val="0E7C7B"/>
                </a:solidFill>
                <a:latin typeface="Cambria" pitchFamily="34" charset="0"/>
                <a:ea typeface="Cambria" pitchFamily="34" charset="-122"/>
                <a:cs typeface="Cambria" pitchFamily="34" charset="-120"/>
              </a:rPr>
              <a:t>2</a:t>
            </a:r>
            <a:endParaRPr lang="en-US" sz="3800" dirty="0"/>
          </a:p>
        </p:txBody>
      </p:sp>
      <p:sp>
        <p:nvSpPr>
          <p:cNvPr id="9" name="Text 7"/>
          <p:cNvSpPr txBox="1"/>
          <p:nvPr/>
        </p:nvSpPr>
        <p:spPr>
          <a:xfrm>
            <a:off x="4572000" y="2743200"/>
            <a:ext cx="3154680" cy="1188720"/>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countries studied — Portugal and France, using mobile operator CDR data</a:t>
            </a:r>
            <a:endParaRPr lang="en-US" sz="1300" dirty="0"/>
          </a:p>
        </p:txBody>
      </p:sp>
      <p:sp>
        <p:nvSpPr>
          <p:cNvPr id="10" name="Shape 8"/>
          <p:cNvSpPr/>
          <p:nvPr/>
        </p:nvSpPr>
        <p:spPr>
          <a:xfrm>
            <a:off x="8229600" y="1691640"/>
            <a:ext cx="3520440" cy="2331720"/>
          </a:xfrm>
          <a:prstGeom prst="roundRect">
            <a:avLst>
              <a:gd name="adj" fmla="val 3922"/>
            </a:avLst>
          </a:prstGeom>
          <a:solidFill>
            <a:srgbClr val="F3F6FA"/>
          </a:solidFill>
          <a:ln/>
        </p:spPr>
      </p:sp>
      <p:sp>
        <p:nvSpPr>
          <p:cNvPr id="11" name="Text 9"/>
          <p:cNvSpPr txBox="1"/>
          <p:nvPr/>
        </p:nvSpPr>
        <p:spPr>
          <a:xfrm>
            <a:off x="8412480" y="1874520"/>
            <a:ext cx="3154680" cy="914400"/>
          </a:xfrm>
          <a:prstGeom prst="rect">
            <a:avLst/>
          </a:prstGeom>
          <a:noFill/>
          <a:ln/>
        </p:spPr>
        <p:txBody>
          <a:bodyPr wrap="square" lIns="0" tIns="0" rIns="0" bIns="0" rtlCol="0" anchor="ctr"/>
          <a:lstStyle/>
          <a:p>
            <a:pPr marL="0" indent="0">
              <a:buNone/>
            </a:pPr>
            <a:r>
              <a:rPr lang="en-US" sz="3800" b="1" dirty="0">
                <a:solidFill>
                  <a:srgbClr val="0E7C7B"/>
                </a:solidFill>
                <a:latin typeface="Cambria" pitchFamily="34" charset="0"/>
                <a:ea typeface="Cambria" pitchFamily="34" charset="-122"/>
                <a:cs typeface="Cambria" pitchFamily="34" charset="-120"/>
              </a:rPr>
              <a:t>15,888–15,893</a:t>
            </a:r>
            <a:endParaRPr lang="en-US" sz="3800" dirty="0"/>
          </a:p>
        </p:txBody>
      </p:sp>
      <p:sp>
        <p:nvSpPr>
          <p:cNvPr id="12" name="Text 10"/>
          <p:cNvSpPr txBox="1"/>
          <p:nvPr/>
        </p:nvSpPr>
        <p:spPr>
          <a:xfrm>
            <a:off x="8412480" y="2743200"/>
            <a:ext cx="3154680" cy="1188720"/>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page range of the landmark Deville et al. study</a:t>
            </a:r>
            <a:endParaRPr lang="en-US" sz="1300" dirty="0"/>
          </a:p>
        </p:txBody>
      </p:sp>
      <p:sp>
        <p:nvSpPr>
          <p:cNvPr id="13" name="Text 11"/>
          <p:cNvSpPr txBox="1"/>
          <p:nvPr/>
        </p:nvSpPr>
        <p:spPr>
          <a:xfrm>
            <a:off x="548640" y="4206240"/>
            <a:ext cx="11064240" cy="822960"/>
          </a:xfrm>
          <a:prstGeom prst="rect">
            <a:avLst/>
          </a:prstGeom>
          <a:noFill/>
          <a:ln/>
        </p:spPr>
        <p:txBody>
          <a:bodyPr wrap="square" lIns="0" tIns="0" rIns="0" bIns="0" rtlCol="0" anchor="ctr"/>
          <a:lstStyle/>
          <a:p>
            <a:pPr marL="0" indent="0">
              <a:lnSpc>
                <a:spcPct val="115000"/>
              </a:lnSpc>
              <a:buNone/>
            </a:pPr>
            <a:r>
              <a:rPr lang="en-US" sz="1350" i="1" dirty="0">
                <a:solidFill>
                  <a:srgbClr val="17233A"/>
                </a:solidFill>
                <a:latin typeface="Calibri" pitchFamily="34" charset="0"/>
                <a:ea typeface="Calibri" pitchFamily="34" charset="-122"/>
                <a:cs typeface="Calibri" pitchFamily="34" charset="-120"/>
              </a:rPr>
              <a:t>A landmark PNAS study by Deville et al. (2014) showed that CDR data could reconstruct population distribution at fine spatial and temporal resolution, validated against census benchmarks — establishing the methodological foundation now used to estimate displacement after disasters and conflict.</a:t>
            </a:r>
            <a:endParaRPr lang="en-US" sz="1350" dirty="0"/>
          </a:p>
        </p:txBody>
      </p:sp>
      <p:sp>
        <p:nvSpPr>
          <p:cNvPr id="14" name="Text 12"/>
          <p:cNvSpPr txBox="1"/>
          <p:nvPr/>
        </p:nvSpPr>
        <p:spPr>
          <a:xfrm>
            <a:off x="548640" y="6108192"/>
            <a:ext cx="11064240" cy="384048"/>
          </a:xfrm>
          <a:prstGeom prst="rect">
            <a:avLst/>
          </a:prstGeom>
          <a:noFill/>
          <a:ln/>
        </p:spPr>
        <p:txBody>
          <a:bodyPr wrap="square" lIns="0" tIns="0" rIns="0" bIns="0" rtlCol="0" anchor="ctr"/>
          <a:lstStyle/>
          <a:p>
            <a:pPr marL="0" indent="0">
              <a:buNone/>
            </a:pPr>
            <a:r>
              <a:rPr lang="en-US" sz="1050" i="1" dirty="0">
                <a:solidFill>
                  <a:srgbClr val="5B6B82"/>
                </a:solidFill>
                <a:latin typeface="Calibri" pitchFamily="34" charset="0"/>
                <a:ea typeface="Calibri" pitchFamily="34" charset="-122"/>
                <a:cs typeface="Calibri" pitchFamily="34" charset="-120"/>
              </a:rPr>
              <a:t>Source: Deville, P. et al. (2014). Dynamic population mapping using mobile phone data. PNAS, 111(45), 15888-15893. https://doi.org/10.1073/pnas.1408439111</a:t>
            </a:r>
            <a:endParaRPr lang="en-US" sz="1050" dirty="0"/>
          </a:p>
        </p:txBody>
      </p:sp>
      <p:sp>
        <p:nvSpPr>
          <p:cNvPr id="15" name="Text 13"/>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16" name="Text 14"/>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33 / 57</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EXAMPLE 7 — 2025</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600" b="1" dirty="0">
                <a:solidFill>
                  <a:srgbClr val="17233A"/>
                </a:solidFill>
                <a:latin typeface="Cambria" pitchFamily="34" charset="0"/>
                <a:ea typeface="Cambria" pitchFamily="34" charset="-122"/>
                <a:cs typeface="Cambria" pitchFamily="34" charset="-120"/>
              </a:rPr>
              <a:t>From Method to Practice: Displacement Tracking in 2025</a:t>
            </a:r>
            <a:endParaRPr lang="en-US" sz="2600" dirty="0"/>
          </a:p>
        </p:txBody>
      </p:sp>
      <p:sp>
        <p:nvSpPr>
          <p:cNvPr id="4" name="Shape 2"/>
          <p:cNvSpPr/>
          <p:nvPr/>
        </p:nvSpPr>
        <p:spPr>
          <a:xfrm>
            <a:off x="502920" y="1691640"/>
            <a:ext cx="3520440" cy="4114800"/>
          </a:xfrm>
          <a:prstGeom prst="roundRect">
            <a:avLst>
              <a:gd name="adj" fmla="val 2338"/>
            </a:avLst>
          </a:prstGeom>
          <a:solidFill>
            <a:srgbClr val="F3F6FA"/>
          </a:solidFill>
          <a:ln/>
        </p:spPr>
      </p:sp>
      <p:sp>
        <p:nvSpPr>
          <p:cNvPr id="5" name="Shape 3"/>
          <p:cNvSpPr/>
          <p:nvPr/>
        </p:nvSpPr>
        <p:spPr>
          <a:xfrm>
            <a:off x="1874520" y="1947672"/>
            <a:ext cx="777240" cy="777240"/>
          </a:xfrm>
          <a:prstGeom prst="ellipse">
            <a:avLst/>
          </a:prstGeom>
          <a:solidFill>
            <a:srgbClr val="1B2A4A"/>
          </a:solidFill>
          <a:ln/>
        </p:spPr>
      </p:sp>
      <p:pic>
        <p:nvPicPr>
          <p:cNvPr id="6" name="Image 0" descr="/sessions/blissful-modest-newton/mnt/outputs/scratch/build/icons/database.png"/>
          <p:cNvPicPr>
            <a:picLocks noChangeAspect="1"/>
          </p:cNvPicPr>
          <p:nvPr/>
        </p:nvPicPr>
        <p:blipFill>
          <a:blip r:embed="rId3"/>
          <a:stretch>
            <a:fillRect/>
          </a:stretch>
        </p:blipFill>
        <p:spPr>
          <a:xfrm>
            <a:off x="2045513" y="2118665"/>
            <a:ext cx="435254" cy="435254"/>
          </a:xfrm>
          <a:prstGeom prst="rect">
            <a:avLst/>
          </a:prstGeom>
        </p:spPr>
      </p:pic>
      <p:sp>
        <p:nvSpPr>
          <p:cNvPr id="7" name="Text 4"/>
          <p:cNvSpPr txBox="1"/>
          <p:nvPr/>
        </p:nvSpPr>
        <p:spPr>
          <a:xfrm>
            <a:off x="685800" y="2862072"/>
            <a:ext cx="3154680" cy="640080"/>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IOM's DTM</a:t>
            </a:r>
            <a:endParaRPr lang="en-US" sz="1600" dirty="0"/>
          </a:p>
        </p:txBody>
      </p:sp>
      <p:sp>
        <p:nvSpPr>
          <p:cNvPr id="8" name="Text 5"/>
          <p:cNvSpPr txBox="1"/>
          <p:nvPr/>
        </p:nvSpPr>
        <p:spPr>
          <a:xfrm>
            <a:off x="731520" y="3520440"/>
            <a:ext cx="3063240" cy="21031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The Displacement Tracking Matrix now formally incorporates digital trace data — mobile apps, CDRs, and social-media signals — alongside traditional field surveys to monitor crisis-driven population movement.</a:t>
            </a:r>
            <a:endParaRPr lang="en-US" sz="1250" dirty="0"/>
          </a:p>
        </p:txBody>
      </p:sp>
      <p:sp>
        <p:nvSpPr>
          <p:cNvPr id="9" name="Shape 6"/>
          <p:cNvSpPr/>
          <p:nvPr/>
        </p:nvSpPr>
        <p:spPr>
          <a:xfrm>
            <a:off x="4343400" y="1691640"/>
            <a:ext cx="3520440" cy="4114800"/>
          </a:xfrm>
          <a:prstGeom prst="roundRect">
            <a:avLst>
              <a:gd name="adj" fmla="val 2338"/>
            </a:avLst>
          </a:prstGeom>
          <a:solidFill>
            <a:srgbClr val="E7EEF7"/>
          </a:solidFill>
          <a:ln/>
        </p:spPr>
      </p:sp>
      <p:sp>
        <p:nvSpPr>
          <p:cNvPr id="10" name="Shape 7"/>
          <p:cNvSpPr/>
          <p:nvPr/>
        </p:nvSpPr>
        <p:spPr>
          <a:xfrm>
            <a:off x="5715000" y="1947672"/>
            <a:ext cx="777240" cy="777240"/>
          </a:xfrm>
          <a:prstGeom prst="ellipse">
            <a:avLst/>
          </a:prstGeom>
          <a:solidFill>
            <a:srgbClr val="1B2A4A"/>
          </a:solidFill>
          <a:ln/>
        </p:spPr>
      </p:sp>
      <p:pic>
        <p:nvPicPr>
          <p:cNvPr id="11" name="Image 1" descr="/sessions/blissful-modest-newton/mnt/outputs/scratch/build/icons/shield.png"/>
          <p:cNvPicPr>
            <a:picLocks noChangeAspect="1"/>
          </p:cNvPicPr>
          <p:nvPr/>
        </p:nvPicPr>
        <p:blipFill>
          <a:blip r:embed="rId4"/>
          <a:stretch>
            <a:fillRect/>
          </a:stretch>
        </p:blipFill>
        <p:spPr>
          <a:xfrm>
            <a:off x="5885993" y="2118665"/>
            <a:ext cx="435254" cy="435254"/>
          </a:xfrm>
          <a:prstGeom prst="rect">
            <a:avLst/>
          </a:prstGeom>
        </p:spPr>
      </p:pic>
      <p:sp>
        <p:nvSpPr>
          <p:cNvPr id="12" name="Text 8"/>
          <p:cNvSpPr txBox="1"/>
          <p:nvPr/>
        </p:nvSpPr>
        <p:spPr>
          <a:xfrm>
            <a:off x="4526280" y="2862072"/>
            <a:ext cx="3154680" cy="640080"/>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Flowminder's Flowkit</a:t>
            </a:r>
            <a:endParaRPr lang="en-US" sz="1600" dirty="0"/>
          </a:p>
        </p:txBody>
      </p:sp>
      <p:sp>
        <p:nvSpPr>
          <p:cNvPr id="13" name="Text 9"/>
          <p:cNvSpPr txBox="1"/>
          <p:nvPr/>
        </p:nvSpPr>
        <p:spPr>
          <a:xfrm>
            <a:off x="4572000" y="3520440"/>
            <a:ext cx="3063240" cy="21031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Flowminder Foundation operates “Flowkit,” privacy-preserving software that computes mobility indicators directly on mobile operators' servers, so raw personal data never leaves the operator.</a:t>
            </a:r>
            <a:endParaRPr lang="en-US" sz="1250" dirty="0"/>
          </a:p>
        </p:txBody>
      </p:sp>
      <p:sp>
        <p:nvSpPr>
          <p:cNvPr id="14" name="Shape 10"/>
          <p:cNvSpPr/>
          <p:nvPr/>
        </p:nvSpPr>
        <p:spPr>
          <a:xfrm>
            <a:off x="8183880" y="1691640"/>
            <a:ext cx="3520440" cy="4114800"/>
          </a:xfrm>
          <a:prstGeom prst="roundRect">
            <a:avLst>
              <a:gd name="adj" fmla="val 2338"/>
            </a:avLst>
          </a:prstGeom>
          <a:solidFill>
            <a:srgbClr val="F3F6FA"/>
          </a:solidFill>
          <a:ln/>
        </p:spPr>
      </p:sp>
      <p:sp>
        <p:nvSpPr>
          <p:cNvPr id="15" name="Shape 11"/>
          <p:cNvSpPr/>
          <p:nvPr/>
        </p:nvSpPr>
        <p:spPr>
          <a:xfrm>
            <a:off x="9555480" y="1947672"/>
            <a:ext cx="777240" cy="777240"/>
          </a:xfrm>
          <a:prstGeom prst="ellipse">
            <a:avLst/>
          </a:prstGeom>
          <a:solidFill>
            <a:srgbClr val="1B2A4A"/>
          </a:solidFill>
          <a:ln/>
        </p:spPr>
      </p:sp>
      <p:pic>
        <p:nvPicPr>
          <p:cNvPr id="16" name="Image 2" descr="/sessions/blissful-modest-newton/mnt/outputs/scratch/build/icons/handshake.png"/>
          <p:cNvPicPr>
            <a:picLocks noChangeAspect="1"/>
          </p:cNvPicPr>
          <p:nvPr/>
        </p:nvPicPr>
        <p:blipFill>
          <a:blip r:embed="rId5"/>
          <a:stretch>
            <a:fillRect/>
          </a:stretch>
        </p:blipFill>
        <p:spPr>
          <a:xfrm>
            <a:off x="9726473" y="2118665"/>
            <a:ext cx="435254" cy="435254"/>
          </a:xfrm>
          <a:prstGeom prst="rect">
            <a:avLst/>
          </a:prstGeom>
        </p:spPr>
      </p:pic>
      <p:sp>
        <p:nvSpPr>
          <p:cNvPr id="17" name="Text 12"/>
          <p:cNvSpPr txBox="1"/>
          <p:nvPr/>
        </p:nvSpPr>
        <p:spPr>
          <a:xfrm>
            <a:off x="8366760" y="2862072"/>
            <a:ext cx="3154680" cy="640080"/>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Combined Approach</a:t>
            </a:r>
            <a:endParaRPr lang="en-US" sz="1600" dirty="0"/>
          </a:p>
        </p:txBody>
      </p:sp>
      <p:sp>
        <p:nvSpPr>
          <p:cNvPr id="18" name="Text 13"/>
          <p:cNvSpPr txBox="1"/>
          <p:nvPr/>
        </p:nvSpPr>
        <p:spPr>
          <a:xfrm>
            <a:off x="8412480" y="3520440"/>
            <a:ext cx="3063240" cy="21031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Digital signals flag where and when a movement is likely happening; field-based DTM teams verify and add context — neither source alone is sufficient.</a:t>
            </a:r>
            <a:endParaRPr lang="en-US" sz="1250" dirty="0"/>
          </a:p>
        </p:txBody>
      </p:sp>
      <p:sp>
        <p:nvSpPr>
          <p:cNvPr id="19" name="Text 14"/>
          <p:cNvSpPr txBox="1"/>
          <p:nvPr/>
        </p:nvSpPr>
        <p:spPr>
          <a:xfrm>
            <a:off x="548640" y="6108192"/>
            <a:ext cx="11064240" cy="384048"/>
          </a:xfrm>
          <a:prstGeom prst="rect">
            <a:avLst/>
          </a:prstGeom>
          <a:noFill/>
          <a:ln/>
        </p:spPr>
        <p:txBody>
          <a:bodyPr wrap="square" lIns="0" tIns="0" rIns="0" bIns="0" rtlCol="0" anchor="ctr"/>
          <a:lstStyle/>
          <a:p>
            <a:pPr marL="0" indent="0">
              <a:buNone/>
            </a:pPr>
            <a:r>
              <a:rPr lang="en-US" sz="1050" i="1" dirty="0">
                <a:solidFill>
                  <a:srgbClr val="5B6B82"/>
                </a:solidFill>
                <a:latin typeface="Calibri" pitchFamily="34" charset="0"/>
                <a:ea typeface="Calibri" pitchFamily="34" charset="-122"/>
                <a:cs typeface="Calibri" pitchFamily="34" charset="-120"/>
              </a:rPr>
              <a:t>Source: IOM Displacement Tracking Matrix. (2025). New report explores how digital trace data can strengthen displacement monitoring in crises. https://dtm.iom.int</a:t>
            </a:r>
            <a:endParaRPr lang="en-US" sz="1050" dirty="0"/>
          </a:p>
        </p:txBody>
      </p:sp>
      <p:sp>
        <p:nvSpPr>
          <p:cNvPr id="20" name="Text 15"/>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21" name="Text 16"/>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34 / 57</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EXAMPLE 8 — CLIMATE &amp; DISASTER DISPLACEMENT, 2024-2025</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When Disaster Displacement Sets a New Record</a:t>
            </a:r>
            <a:endParaRPr lang="en-US" sz="2900" dirty="0"/>
          </a:p>
        </p:txBody>
      </p:sp>
      <p:sp>
        <p:nvSpPr>
          <p:cNvPr id="4" name="Shape 2"/>
          <p:cNvSpPr/>
          <p:nvPr/>
        </p:nvSpPr>
        <p:spPr>
          <a:xfrm>
            <a:off x="548640" y="1691640"/>
            <a:ext cx="3520440" cy="2331720"/>
          </a:xfrm>
          <a:prstGeom prst="roundRect">
            <a:avLst>
              <a:gd name="adj" fmla="val 3922"/>
            </a:avLst>
          </a:prstGeom>
          <a:solidFill>
            <a:srgbClr val="F3F6FA"/>
          </a:solidFill>
          <a:ln/>
        </p:spPr>
      </p:sp>
      <p:sp>
        <p:nvSpPr>
          <p:cNvPr id="5" name="Text 3"/>
          <p:cNvSpPr txBox="1"/>
          <p:nvPr/>
        </p:nvSpPr>
        <p:spPr>
          <a:xfrm>
            <a:off x="731520" y="1874520"/>
            <a:ext cx="3154680" cy="914400"/>
          </a:xfrm>
          <a:prstGeom prst="rect">
            <a:avLst/>
          </a:prstGeom>
          <a:noFill/>
          <a:ln/>
        </p:spPr>
        <p:txBody>
          <a:bodyPr wrap="square" lIns="0" tIns="0" rIns="0" bIns="0" rtlCol="0" anchor="ctr"/>
          <a:lstStyle/>
          <a:p>
            <a:pPr marL="0" indent="0">
              <a:buNone/>
            </a:pPr>
            <a:r>
              <a:rPr lang="en-US" sz="3800" b="1" dirty="0">
                <a:solidFill>
                  <a:srgbClr val="0E7C7B"/>
                </a:solidFill>
                <a:latin typeface="Cambria" pitchFamily="34" charset="0"/>
                <a:ea typeface="Cambria" pitchFamily="34" charset="-122"/>
                <a:cs typeface="Cambria" pitchFamily="34" charset="-120"/>
              </a:rPr>
              <a:t>45.8M</a:t>
            </a:r>
            <a:endParaRPr lang="en-US" sz="3800" dirty="0"/>
          </a:p>
        </p:txBody>
      </p:sp>
      <p:sp>
        <p:nvSpPr>
          <p:cNvPr id="6" name="Text 4"/>
          <p:cNvSpPr txBox="1"/>
          <p:nvPr/>
        </p:nvSpPr>
        <p:spPr>
          <a:xfrm>
            <a:off x="731520" y="2743200"/>
            <a:ext cx="3154680" cy="1188720"/>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internal displacements triggered by disasters in 2024 — the highest annual figure since monitoring began in 2008</a:t>
            </a:r>
            <a:endParaRPr lang="en-US" sz="1300" dirty="0"/>
          </a:p>
        </p:txBody>
      </p:sp>
      <p:sp>
        <p:nvSpPr>
          <p:cNvPr id="7" name="Shape 5"/>
          <p:cNvSpPr/>
          <p:nvPr/>
        </p:nvSpPr>
        <p:spPr>
          <a:xfrm>
            <a:off x="4389120" y="1691640"/>
            <a:ext cx="3520440" cy="2331720"/>
          </a:xfrm>
          <a:prstGeom prst="roundRect">
            <a:avLst>
              <a:gd name="adj" fmla="val 3922"/>
            </a:avLst>
          </a:prstGeom>
          <a:solidFill>
            <a:srgbClr val="F3F6FA"/>
          </a:solidFill>
          <a:ln/>
        </p:spPr>
      </p:sp>
      <p:sp>
        <p:nvSpPr>
          <p:cNvPr id="8" name="Text 6"/>
          <p:cNvSpPr txBox="1"/>
          <p:nvPr/>
        </p:nvSpPr>
        <p:spPr>
          <a:xfrm>
            <a:off x="4572000" y="1874520"/>
            <a:ext cx="3154680" cy="914400"/>
          </a:xfrm>
          <a:prstGeom prst="rect">
            <a:avLst/>
          </a:prstGeom>
          <a:noFill/>
          <a:ln/>
        </p:spPr>
        <p:txBody>
          <a:bodyPr wrap="square" lIns="0" tIns="0" rIns="0" bIns="0" rtlCol="0" anchor="ctr"/>
          <a:lstStyle/>
          <a:p>
            <a:pPr marL="0" indent="0">
              <a:buNone/>
            </a:pPr>
            <a:r>
              <a:rPr lang="en-US" sz="3800" b="1" dirty="0">
                <a:solidFill>
                  <a:srgbClr val="0E7C7B"/>
                </a:solidFill>
                <a:latin typeface="Cambria" pitchFamily="34" charset="0"/>
                <a:ea typeface="Cambria" pitchFamily="34" charset="-122"/>
                <a:cs typeface="Cambria" pitchFamily="34" charset="-120"/>
              </a:rPr>
              <a:t>99.5%</a:t>
            </a:r>
            <a:endParaRPr lang="en-US" sz="3800" dirty="0"/>
          </a:p>
        </p:txBody>
      </p:sp>
      <p:sp>
        <p:nvSpPr>
          <p:cNvPr id="9" name="Text 7"/>
          <p:cNvSpPr txBox="1"/>
          <p:nvPr/>
        </p:nvSpPr>
        <p:spPr>
          <a:xfrm>
            <a:off x="4572000" y="2743200"/>
            <a:ext cx="3154680" cy="1188720"/>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of 2024 disaster displacements were weather-related — many events intensified by climate change</a:t>
            </a:r>
            <a:endParaRPr lang="en-US" sz="1300" dirty="0"/>
          </a:p>
        </p:txBody>
      </p:sp>
      <p:sp>
        <p:nvSpPr>
          <p:cNvPr id="10" name="Shape 8"/>
          <p:cNvSpPr/>
          <p:nvPr/>
        </p:nvSpPr>
        <p:spPr>
          <a:xfrm>
            <a:off x="8229600" y="1691640"/>
            <a:ext cx="3520440" cy="2331720"/>
          </a:xfrm>
          <a:prstGeom prst="roundRect">
            <a:avLst>
              <a:gd name="adj" fmla="val 3922"/>
            </a:avLst>
          </a:prstGeom>
          <a:solidFill>
            <a:srgbClr val="F3F6FA"/>
          </a:solidFill>
          <a:ln/>
        </p:spPr>
      </p:sp>
      <p:sp>
        <p:nvSpPr>
          <p:cNvPr id="11" name="Text 9"/>
          <p:cNvSpPr txBox="1"/>
          <p:nvPr/>
        </p:nvSpPr>
        <p:spPr>
          <a:xfrm>
            <a:off x="8412480" y="1874520"/>
            <a:ext cx="3154680" cy="914400"/>
          </a:xfrm>
          <a:prstGeom prst="rect">
            <a:avLst/>
          </a:prstGeom>
          <a:noFill/>
          <a:ln/>
        </p:spPr>
        <p:txBody>
          <a:bodyPr wrap="square" lIns="0" tIns="0" rIns="0" bIns="0" rtlCol="0" anchor="ctr"/>
          <a:lstStyle/>
          <a:p>
            <a:pPr marL="0" indent="0">
              <a:buNone/>
            </a:pPr>
            <a:r>
              <a:rPr lang="en-US" sz="3800" b="1" dirty="0">
                <a:solidFill>
                  <a:srgbClr val="0E7C7B"/>
                </a:solidFill>
                <a:latin typeface="Cambria" pitchFamily="34" charset="0"/>
                <a:ea typeface="Cambria" pitchFamily="34" charset="-122"/>
                <a:cs typeface="Cambria" pitchFamily="34" charset="-120"/>
              </a:rPr>
              <a:t>29</a:t>
            </a:r>
            <a:endParaRPr lang="en-US" sz="3800" dirty="0"/>
          </a:p>
        </p:txBody>
      </p:sp>
      <p:sp>
        <p:nvSpPr>
          <p:cNvPr id="12" name="Text 10"/>
          <p:cNvSpPr txBox="1"/>
          <p:nvPr/>
        </p:nvSpPr>
        <p:spPr>
          <a:xfrm>
            <a:off x="8412480" y="2743200"/>
            <a:ext cx="3154680" cy="1188720"/>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countries and territories that recorded their highest-ever disaster-displacement figures in 2024, including the United States</a:t>
            </a:r>
            <a:endParaRPr lang="en-US" sz="1300" dirty="0"/>
          </a:p>
        </p:txBody>
      </p:sp>
      <p:sp>
        <p:nvSpPr>
          <p:cNvPr id="13" name="Text 11"/>
          <p:cNvSpPr txBox="1"/>
          <p:nvPr/>
        </p:nvSpPr>
        <p:spPr>
          <a:xfrm>
            <a:off x="548640" y="4206240"/>
            <a:ext cx="11064240" cy="822960"/>
          </a:xfrm>
          <a:prstGeom prst="rect">
            <a:avLst/>
          </a:prstGeom>
          <a:noFill/>
          <a:ln/>
        </p:spPr>
        <p:txBody>
          <a:bodyPr wrap="square" lIns="0" tIns="0" rIns="0" bIns="0" rtlCol="0" anchor="ctr"/>
          <a:lstStyle/>
          <a:p>
            <a:pPr marL="0" indent="0">
              <a:lnSpc>
                <a:spcPct val="115000"/>
              </a:lnSpc>
              <a:buNone/>
            </a:pPr>
            <a:r>
              <a:rPr lang="en-US" sz="1350" i="1" dirty="0">
                <a:solidFill>
                  <a:srgbClr val="17233A"/>
                </a:solidFill>
                <a:latin typeface="Calibri" pitchFamily="34" charset="0"/>
                <a:ea typeface="Calibri" pitchFamily="34" charset="-122"/>
                <a:cs typeface="Calibri" pitchFamily="34" charset="-120"/>
              </a:rPr>
              <a:t>Cyclones (Helene, Milton, Typhoon Yagi) and floods across Chad, Brazil, Afghanistan, the Philippines, and Europe drove the bulk of 2024's disaster displacement — events that mobile and satellite data can now flag within hours.</a:t>
            </a:r>
            <a:endParaRPr lang="en-US" sz="1350" dirty="0"/>
          </a:p>
        </p:txBody>
      </p:sp>
      <p:sp>
        <p:nvSpPr>
          <p:cNvPr id="14" name="Text 12"/>
          <p:cNvSpPr txBox="1"/>
          <p:nvPr/>
        </p:nvSpPr>
        <p:spPr>
          <a:xfrm>
            <a:off x="548640" y="6108192"/>
            <a:ext cx="11064240" cy="384048"/>
          </a:xfrm>
          <a:prstGeom prst="rect">
            <a:avLst/>
          </a:prstGeom>
          <a:noFill/>
          <a:ln/>
        </p:spPr>
        <p:txBody>
          <a:bodyPr wrap="square" lIns="0" tIns="0" rIns="0" bIns="0" rtlCol="0" anchor="ctr"/>
          <a:lstStyle/>
          <a:p>
            <a:pPr marL="0" indent="0">
              <a:buNone/>
            </a:pPr>
            <a:r>
              <a:rPr lang="en-US" sz="1050" i="1" dirty="0">
                <a:solidFill>
                  <a:srgbClr val="5B6B82"/>
                </a:solidFill>
                <a:latin typeface="Calibri" pitchFamily="34" charset="0"/>
                <a:ea typeface="Calibri" pitchFamily="34" charset="-122"/>
                <a:cs typeface="Calibri" pitchFamily="34" charset="-120"/>
              </a:rPr>
              <a:t>Source: Internal Displacement Monitoring Centre. (2025). Global Report on Internal Displacement (GRID) 2025. https://www.internal-displacement.org/global-report/grid2025/</a:t>
            </a:r>
            <a:endParaRPr lang="en-US" sz="1050" dirty="0"/>
          </a:p>
        </p:txBody>
      </p:sp>
      <p:sp>
        <p:nvSpPr>
          <p:cNvPr id="15" name="Text 13"/>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16" name="Text 14"/>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35 / 57</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IN-CLASS DISCUSSION</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Discuss: Ethics &amp; Privacy of Mobility Data</a:t>
            </a:r>
            <a:endParaRPr lang="en-US" sz="2900" dirty="0"/>
          </a:p>
        </p:txBody>
      </p:sp>
      <p:sp>
        <p:nvSpPr>
          <p:cNvPr id="4" name="Shape 2"/>
          <p:cNvSpPr/>
          <p:nvPr/>
        </p:nvSpPr>
        <p:spPr>
          <a:xfrm>
            <a:off x="10149840" y="457200"/>
            <a:ext cx="1234440" cy="1234440"/>
          </a:xfrm>
          <a:prstGeom prst="ellipse">
            <a:avLst/>
          </a:prstGeom>
          <a:solidFill>
            <a:srgbClr val="0E7C7B"/>
          </a:solidFill>
          <a:ln/>
        </p:spPr>
      </p:sp>
      <p:pic>
        <p:nvPicPr>
          <p:cNvPr id="5" name="Image 0" descr="/sessions/blissful-modest-newton/mnt/outputs/scratch/build/icons/shield.png"/>
          <p:cNvPicPr>
            <a:picLocks noChangeAspect="1"/>
          </p:cNvPicPr>
          <p:nvPr/>
        </p:nvPicPr>
        <p:blipFill>
          <a:blip r:embed="rId3"/>
          <a:stretch>
            <a:fillRect/>
          </a:stretch>
        </p:blipFill>
        <p:spPr>
          <a:xfrm>
            <a:off x="10421417" y="728777"/>
            <a:ext cx="691286" cy="691286"/>
          </a:xfrm>
          <a:prstGeom prst="rect">
            <a:avLst/>
          </a:prstGeom>
        </p:spPr>
      </p:pic>
      <p:sp>
        <p:nvSpPr>
          <p:cNvPr id="6" name="Shape 3"/>
          <p:cNvSpPr/>
          <p:nvPr/>
        </p:nvSpPr>
        <p:spPr>
          <a:xfrm>
            <a:off x="502920" y="1691640"/>
            <a:ext cx="11201400" cy="1325880"/>
          </a:xfrm>
          <a:prstGeom prst="roundRect">
            <a:avLst>
              <a:gd name="adj" fmla="val 5517"/>
            </a:avLst>
          </a:prstGeom>
          <a:solidFill>
            <a:srgbClr val="F3F6FA"/>
          </a:solidFill>
          <a:ln/>
        </p:spPr>
      </p:sp>
      <p:sp>
        <p:nvSpPr>
          <p:cNvPr id="7" name="Shape 4"/>
          <p:cNvSpPr/>
          <p:nvPr/>
        </p:nvSpPr>
        <p:spPr>
          <a:xfrm>
            <a:off x="731520" y="2103120"/>
            <a:ext cx="502920" cy="502920"/>
          </a:xfrm>
          <a:prstGeom prst="ellipse">
            <a:avLst/>
          </a:prstGeom>
          <a:solidFill>
            <a:srgbClr val="1B2A4A"/>
          </a:solidFill>
          <a:ln/>
        </p:spPr>
      </p:sp>
      <p:sp>
        <p:nvSpPr>
          <p:cNvPr id="8" name="Text 5"/>
          <p:cNvSpPr txBox="1"/>
          <p:nvPr/>
        </p:nvSpPr>
        <p:spPr>
          <a:xfrm>
            <a:off x="731520" y="21031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6"/>
          <p:cNvSpPr txBox="1"/>
          <p:nvPr/>
        </p:nvSpPr>
        <p:spPr>
          <a:xfrm>
            <a:off x="1463040" y="1783080"/>
            <a:ext cx="9966960" cy="1143000"/>
          </a:xfrm>
          <a:prstGeom prst="rect">
            <a:avLst/>
          </a:prstGeom>
          <a:noFill/>
          <a:ln/>
        </p:spPr>
        <p:txBody>
          <a:bodyPr wrap="square" lIns="0" tIns="0" rIns="0" bIns="0" rtlCol="0" anchor="ctr"/>
          <a:lstStyle/>
          <a:p>
            <a:pPr marL="0" indent="0">
              <a:lnSpc>
                <a:spcPct val="112000"/>
              </a:lnSpc>
              <a:buNone/>
            </a:pPr>
            <a:r>
              <a:rPr lang="en-US" sz="1400" dirty="0">
                <a:solidFill>
                  <a:srgbClr val="17233A"/>
                </a:solidFill>
                <a:latin typeface="Calibri" pitchFamily="34" charset="0"/>
                <a:ea typeface="Calibri" pitchFamily="34" charset="-122"/>
                <a:cs typeface="Calibri" pitchFamily="34" charset="-120"/>
              </a:rPr>
              <a:t>Mobile-phone data can reveal displacement without consent from any individual being tracked. What safeguards would you require before using it for research or policy?</a:t>
            </a:r>
            <a:endParaRPr lang="en-US" sz="1400" dirty="0"/>
          </a:p>
        </p:txBody>
      </p:sp>
      <p:sp>
        <p:nvSpPr>
          <p:cNvPr id="10" name="Shape 7"/>
          <p:cNvSpPr/>
          <p:nvPr/>
        </p:nvSpPr>
        <p:spPr>
          <a:xfrm>
            <a:off x="502920" y="3200400"/>
            <a:ext cx="11201400" cy="1325880"/>
          </a:xfrm>
          <a:prstGeom prst="roundRect">
            <a:avLst>
              <a:gd name="adj" fmla="val 5517"/>
            </a:avLst>
          </a:prstGeom>
          <a:solidFill>
            <a:srgbClr val="E7EEF7"/>
          </a:solidFill>
          <a:ln/>
        </p:spPr>
      </p:sp>
      <p:sp>
        <p:nvSpPr>
          <p:cNvPr id="11" name="Shape 8"/>
          <p:cNvSpPr/>
          <p:nvPr/>
        </p:nvSpPr>
        <p:spPr>
          <a:xfrm>
            <a:off x="731520" y="3611880"/>
            <a:ext cx="502920" cy="502920"/>
          </a:xfrm>
          <a:prstGeom prst="ellipse">
            <a:avLst/>
          </a:prstGeom>
          <a:solidFill>
            <a:srgbClr val="1B2A4A"/>
          </a:solidFill>
          <a:ln/>
        </p:spPr>
      </p:sp>
      <p:sp>
        <p:nvSpPr>
          <p:cNvPr id="12" name="Text 9"/>
          <p:cNvSpPr txBox="1"/>
          <p:nvPr/>
        </p:nvSpPr>
        <p:spPr>
          <a:xfrm>
            <a:off x="731520" y="36118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0"/>
          <p:cNvSpPr txBox="1"/>
          <p:nvPr/>
        </p:nvSpPr>
        <p:spPr>
          <a:xfrm>
            <a:off x="1463040" y="3291840"/>
            <a:ext cx="9966960" cy="1143000"/>
          </a:xfrm>
          <a:prstGeom prst="rect">
            <a:avLst/>
          </a:prstGeom>
          <a:noFill/>
          <a:ln/>
        </p:spPr>
        <p:txBody>
          <a:bodyPr wrap="square" lIns="0" tIns="0" rIns="0" bIns="0" rtlCol="0" anchor="ctr"/>
          <a:lstStyle/>
          <a:p>
            <a:pPr marL="0" indent="0">
              <a:lnSpc>
                <a:spcPct val="112000"/>
              </a:lnSpc>
              <a:buNone/>
            </a:pPr>
            <a:r>
              <a:rPr lang="en-US" sz="1400" dirty="0">
                <a:solidFill>
                  <a:srgbClr val="17233A"/>
                </a:solidFill>
                <a:latin typeface="Calibri" pitchFamily="34" charset="0"/>
                <a:ea typeface="Calibri" pitchFamily="34" charset="-122"/>
                <a:cs typeface="Calibri" pitchFamily="34" charset="-120"/>
              </a:rPr>
              <a:t>Who owns and controls this data — telecom operators, governments, or international agencies — and how might that affect what gets measured?</a:t>
            </a:r>
            <a:endParaRPr lang="en-US" sz="1400" dirty="0"/>
          </a:p>
        </p:txBody>
      </p:sp>
      <p:sp>
        <p:nvSpPr>
          <p:cNvPr id="14" name="Shape 11"/>
          <p:cNvSpPr/>
          <p:nvPr/>
        </p:nvSpPr>
        <p:spPr>
          <a:xfrm>
            <a:off x="502920" y="4709160"/>
            <a:ext cx="11201400" cy="1325880"/>
          </a:xfrm>
          <a:prstGeom prst="roundRect">
            <a:avLst>
              <a:gd name="adj" fmla="val 5517"/>
            </a:avLst>
          </a:prstGeom>
          <a:solidFill>
            <a:srgbClr val="F3F6FA"/>
          </a:solidFill>
          <a:ln/>
        </p:spPr>
      </p:sp>
      <p:sp>
        <p:nvSpPr>
          <p:cNvPr id="15" name="Shape 12"/>
          <p:cNvSpPr/>
          <p:nvPr/>
        </p:nvSpPr>
        <p:spPr>
          <a:xfrm>
            <a:off x="731520" y="5120640"/>
            <a:ext cx="502920" cy="502920"/>
          </a:xfrm>
          <a:prstGeom prst="ellipse">
            <a:avLst/>
          </a:prstGeom>
          <a:solidFill>
            <a:srgbClr val="1B2A4A"/>
          </a:solidFill>
          <a:ln/>
        </p:spPr>
      </p:sp>
      <p:sp>
        <p:nvSpPr>
          <p:cNvPr id="16" name="Text 13"/>
          <p:cNvSpPr txBox="1"/>
          <p:nvPr/>
        </p:nvSpPr>
        <p:spPr>
          <a:xfrm>
            <a:off x="731520" y="51206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4"/>
          <p:cNvSpPr txBox="1"/>
          <p:nvPr/>
        </p:nvSpPr>
        <p:spPr>
          <a:xfrm>
            <a:off x="1463040" y="4800600"/>
            <a:ext cx="9966960" cy="1143000"/>
          </a:xfrm>
          <a:prstGeom prst="rect">
            <a:avLst/>
          </a:prstGeom>
          <a:noFill/>
          <a:ln/>
        </p:spPr>
        <p:txBody>
          <a:bodyPr wrap="square" lIns="0" tIns="0" rIns="0" bIns="0" rtlCol="0" anchor="ctr"/>
          <a:lstStyle/>
          <a:p>
            <a:pPr marL="0" indent="0">
              <a:lnSpc>
                <a:spcPct val="112000"/>
              </a:lnSpc>
              <a:buNone/>
            </a:pPr>
            <a:r>
              <a:rPr lang="en-US" sz="1400" dirty="0">
                <a:solidFill>
                  <a:srgbClr val="17233A"/>
                </a:solidFill>
                <a:latin typeface="Calibri" pitchFamily="34" charset="0"/>
                <a:ea typeface="Calibri" pitchFamily="34" charset="-122"/>
                <a:cs typeface="Calibri" pitchFamily="34" charset="-120"/>
              </a:rPr>
              <a:t>Digital trace data likely under-represents people without phones or network access. Which populations might be systematically invisible?</a:t>
            </a:r>
            <a:endParaRPr lang="en-US" sz="1400" dirty="0"/>
          </a:p>
        </p:txBody>
      </p:sp>
      <p:sp>
        <p:nvSpPr>
          <p:cNvPr id="18" name="Text 15"/>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19" name="Text 16"/>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36 / 57</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SYNTHESIS</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Traditional vs. Digital Data: Complements, Not Rivals</a:t>
            </a:r>
            <a:endParaRPr lang="en-US" sz="2900" dirty="0"/>
          </a:p>
        </p:txBody>
      </p:sp>
      <p:sp>
        <p:nvSpPr>
          <p:cNvPr id="4" name="Shape 2"/>
          <p:cNvSpPr/>
          <p:nvPr/>
        </p:nvSpPr>
        <p:spPr>
          <a:xfrm>
            <a:off x="502920" y="1554480"/>
            <a:ext cx="5349240" cy="4434840"/>
          </a:xfrm>
          <a:prstGeom prst="roundRect">
            <a:avLst>
              <a:gd name="adj" fmla="val 2062"/>
            </a:avLst>
          </a:prstGeom>
          <a:solidFill>
            <a:srgbClr val="F3F6FA"/>
          </a:solidFill>
          <a:ln/>
        </p:spPr>
      </p:sp>
      <p:sp>
        <p:nvSpPr>
          <p:cNvPr id="5" name="Text 3"/>
          <p:cNvSpPr txBox="1"/>
          <p:nvPr/>
        </p:nvSpPr>
        <p:spPr>
          <a:xfrm>
            <a:off x="822960" y="1737360"/>
            <a:ext cx="4709160" cy="45720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TRADITIONAL SOURCES</a:t>
            </a:r>
            <a:endParaRPr lang="en-US" sz="1800" dirty="0"/>
          </a:p>
        </p:txBody>
      </p:sp>
      <p:sp>
        <p:nvSpPr>
          <p:cNvPr id="6" name="Text 4"/>
          <p:cNvSpPr txBox="1"/>
          <p:nvPr/>
        </p:nvSpPr>
        <p:spPr>
          <a:xfrm>
            <a:off x="822960" y="2331720"/>
            <a:ext cx="4754880" cy="3520440"/>
          </a:xfrm>
          <a:prstGeom prst="rect">
            <a:avLst/>
          </a:prstGeom>
          <a:noFill/>
          <a:ln/>
        </p:spPr>
        <p:txBody>
          <a:bodyPr wrap="square" lIns="0" tIns="0" rIns="0" bIns="0" rtlCol="0" anchor="ctr"/>
          <a:lstStyle/>
          <a:p>
            <a:pPr marL="0" indent="0">
              <a:spcAft>
                <a:spcPts val="1200"/>
              </a:spcAft>
              <a:buNone/>
            </a:pPr>
            <a:r>
              <a:rPr lang="en-US" sz="1350" dirty="0">
                <a:solidFill>
                  <a:srgbClr val="17233A"/>
                </a:solidFill>
                <a:latin typeface="Calibri" pitchFamily="34" charset="0"/>
                <a:ea typeface="Calibri" pitchFamily="34" charset="-122"/>
                <a:cs typeface="Calibri" pitchFamily="34" charset="-120"/>
              </a:rPr>
              <a:t>+ Full population coverage, legally defined categories</a:t>
            </a:r>
            <a:endParaRPr lang="en-US" sz="1350" dirty="0"/>
          </a:p>
          <a:p>
            <a:pPr marL="0" indent="0">
              <a:spcAft>
                <a:spcPts val="1200"/>
              </a:spcAft>
              <a:buNone/>
            </a:pPr>
            <a:r>
              <a:rPr lang="en-US" sz="1350" dirty="0">
                <a:solidFill>
                  <a:srgbClr val="17233A"/>
                </a:solidFill>
                <a:latin typeface="Calibri" pitchFamily="34" charset="0"/>
                <a:ea typeface="Calibri" pitchFamily="34" charset="-122"/>
                <a:cs typeface="Calibri" pitchFamily="34" charset="-120"/>
              </a:rPr>
              <a:t>+ Long, comparable historical time series</a:t>
            </a:r>
            <a:endParaRPr lang="en-US" sz="1350" dirty="0"/>
          </a:p>
          <a:p>
            <a:pPr marL="0" indent="0">
              <a:spcAft>
                <a:spcPts val="1200"/>
              </a:spcAft>
              <a:buNone/>
            </a:pPr>
            <a:r>
              <a:rPr lang="en-US" sz="1350" dirty="0">
                <a:solidFill>
                  <a:srgbClr val="17233A"/>
                </a:solidFill>
                <a:latin typeface="Calibri" pitchFamily="34" charset="0"/>
                <a:ea typeface="Calibri" pitchFamily="34" charset="-122"/>
                <a:cs typeface="Calibri" pitchFamily="34" charset="-120"/>
              </a:rPr>
              <a:t>− Slow: years between updates</a:t>
            </a:r>
            <a:endParaRPr lang="en-US" sz="1350" dirty="0"/>
          </a:p>
          <a:p>
            <a:pPr marL="0" indent="0">
              <a:spcAft>
                <a:spcPts val="1200"/>
              </a:spcAft>
              <a:buNone/>
            </a:pPr>
            <a:r>
              <a:rPr lang="en-US" sz="1350" dirty="0">
                <a:solidFill>
                  <a:srgbClr val="17233A"/>
                </a:solidFill>
                <a:latin typeface="Calibri" pitchFamily="34" charset="0"/>
                <a:ea typeface="Calibri" pitchFamily="34" charset="-122"/>
                <a:cs typeface="Calibri" pitchFamily="34" charset="-120"/>
              </a:rPr>
              <a:t>− Blind to irregular/undocumented migration</a:t>
            </a:r>
            <a:endParaRPr lang="en-US" sz="1350" dirty="0"/>
          </a:p>
        </p:txBody>
      </p:sp>
      <p:sp>
        <p:nvSpPr>
          <p:cNvPr id="7" name="Shape 5"/>
          <p:cNvSpPr/>
          <p:nvPr/>
        </p:nvSpPr>
        <p:spPr>
          <a:xfrm>
            <a:off x="6126480" y="1554480"/>
            <a:ext cx="5349240" cy="4434840"/>
          </a:xfrm>
          <a:prstGeom prst="roundRect">
            <a:avLst>
              <a:gd name="adj" fmla="val 2062"/>
            </a:avLst>
          </a:prstGeom>
          <a:solidFill>
            <a:srgbClr val="E7EEF7"/>
          </a:solidFill>
          <a:ln/>
        </p:spPr>
      </p:sp>
      <p:sp>
        <p:nvSpPr>
          <p:cNvPr id="8" name="Text 6"/>
          <p:cNvSpPr txBox="1"/>
          <p:nvPr/>
        </p:nvSpPr>
        <p:spPr>
          <a:xfrm>
            <a:off x="6446520" y="1737360"/>
            <a:ext cx="4709160" cy="457200"/>
          </a:xfrm>
          <a:prstGeom prst="rect">
            <a:avLst/>
          </a:prstGeom>
          <a:noFill/>
          <a:ln/>
        </p:spPr>
        <p:txBody>
          <a:bodyPr wrap="square" lIns="0" tIns="0" rIns="0" bIns="0" rtlCol="0" anchor="ctr"/>
          <a:lstStyle/>
          <a:p>
            <a:pPr marL="0" indent="0">
              <a:buNone/>
            </a:pPr>
            <a:r>
              <a:rPr lang="en-US" sz="1800" b="1" dirty="0">
                <a:solidFill>
                  <a:srgbClr val="0E7C7B"/>
                </a:solidFill>
                <a:latin typeface="Cambria" pitchFamily="34" charset="0"/>
                <a:ea typeface="Cambria" pitchFamily="34" charset="-122"/>
                <a:cs typeface="Cambria" pitchFamily="34" charset="-120"/>
              </a:rPr>
              <a:t>DIGITAL TRACE DATA</a:t>
            </a:r>
            <a:endParaRPr lang="en-US" sz="1800" dirty="0"/>
          </a:p>
        </p:txBody>
      </p:sp>
      <p:sp>
        <p:nvSpPr>
          <p:cNvPr id="9" name="Text 7"/>
          <p:cNvSpPr txBox="1"/>
          <p:nvPr/>
        </p:nvSpPr>
        <p:spPr>
          <a:xfrm>
            <a:off x="6446520" y="2331720"/>
            <a:ext cx="4754880" cy="3520440"/>
          </a:xfrm>
          <a:prstGeom prst="rect">
            <a:avLst/>
          </a:prstGeom>
          <a:noFill/>
          <a:ln/>
        </p:spPr>
        <p:txBody>
          <a:bodyPr wrap="square" lIns="0" tIns="0" rIns="0" bIns="0" rtlCol="0" anchor="ctr"/>
          <a:lstStyle/>
          <a:p>
            <a:pPr marL="0" indent="0">
              <a:spcAft>
                <a:spcPts val="1200"/>
              </a:spcAft>
              <a:buNone/>
            </a:pPr>
            <a:r>
              <a:rPr lang="en-US" sz="1350" dirty="0">
                <a:solidFill>
                  <a:srgbClr val="17233A"/>
                </a:solidFill>
                <a:latin typeface="Calibri" pitchFamily="34" charset="0"/>
                <a:ea typeface="Calibri" pitchFamily="34" charset="-122"/>
                <a:cs typeface="Calibri" pitchFamily="34" charset="-120"/>
              </a:rPr>
              <a:t>+ Near-real-time — days, not years</a:t>
            </a:r>
            <a:endParaRPr lang="en-US" sz="1350" dirty="0"/>
          </a:p>
          <a:p>
            <a:pPr marL="0" indent="0">
              <a:spcAft>
                <a:spcPts val="1200"/>
              </a:spcAft>
              <a:buNone/>
            </a:pPr>
            <a:r>
              <a:rPr lang="en-US" sz="1350" dirty="0">
                <a:solidFill>
                  <a:srgbClr val="17233A"/>
                </a:solidFill>
                <a:latin typeface="Calibri" pitchFamily="34" charset="0"/>
                <a:ea typeface="Calibri" pitchFamily="34" charset="-122"/>
                <a:cs typeface="Calibri" pitchFamily="34" charset="-120"/>
              </a:rPr>
              <a:t>+ Captures sudden displacement events</a:t>
            </a:r>
            <a:endParaRPr lang="en-US" sz="1350" dirty="0"/>
          </a:p>
          <a:p>
            <a:pPr marL="0" indent="0">
              <a:spcAft>
                <a:spcPts val="1200"/>
              </a:spcAft>
              <a:buNone/>
            </a:pPr>
            <a:r>
              <a:rPr lang="en-US" sz="1350" dirty="0">
                <a:solidFill>
                  <a:srgbClr val="17233A"/>
                </a:solidFill>
                <a:latin typeface="Calibri" pitchFamily="34" charset="0"/>
                <a:ea typeface="Calibri" pitchFamily="34" charset="-122"/>
                <a:cs typeface="Calibri" pitchFamily="34" charset="-120"/>
              </a:rPr>
              <a:t>− Coverage biased toward phone/platform owners</a:t>
            </a:r>
            <a:endParaRPr lang="en-US" sz="1350" dirty="0"/>
          </a:p>
          <a:p>
            <a:pPr marL="0" indent="0">
              <a:spcAft>
                <a:spcPts val="1200"/>
              </a:spcAft>
              <a:buNone/>
            </a:pPr>
            <a:r>
              <a:rPr lang="en-US" sz="1350" dirty="0">
                <a:solidFill>
                  <a:srgbClr val="17233A"/>
                </a:solidFill>
                <a:latin typeface="Calibri" pitchFamily="34" charset="0"/>
                <a:ea typeface="Calibri" pitchFamily="34" charset="-122"/>
                <a:cs typeface="Calibri" pitchFamily="34" charset="-120"/>
              </a:rPr>
              <a:t>− Privacy, consent &amp; governance challenges</a:t>
            </a:r>
            <a:endParaRPr lang="en-US" sz="1350" dirty="0"/>
          </a:p>
        </p:txBody>
      </p:sp>
      <p:sp>
        <p:nvSpPr>
          <p:cNvPr id="10" name="Text 8"/>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11" name="Text 9"/>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37 / 57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solidFill>
          <a:srgbClr val="111D33"/>
        </a:solidFill>
        <a:effectLst/>
      </p:bgPr>
    </p:bg>
    <p:spTree>
      <p:nvGrpSpPr>
        <p:cNvPr id="1" name=""/>
        <p:cNvGrpSpPr/>
        <p:nvPr/>
      </p:nvGrpSpPr>
      <p:grpSpPr>
        <a:xfrm>
          <a:off x="0" y="0"/>
          <a:ext cx="0" cy="0"/>
          <a:chOff x="0" y="0"/>
          <a:chExt cx="0" cy="0"/>
        </a:xfrm>
      </p:grpSpPr>
      <p:sp>
        <p:nvSpPr>
          <p:cNvPr id="2" name="Shape 0"/>
          <p:cNvSpPr/>
          <p:nvPr/>
        </p:nvSpPr>
        <p:spPr>
          <a:xfrm>
            <a:off x="8046720" y="2011680"/>
            <a:ext cx="6400800" cy="6400800"/>
          </a:xfrm>
          <a:prstGeom prst="ellipse">
            <a:avLst/>
          </a:prstGeom>
          <a:solidFill>
            <a:srgbClr val="1B2A4A">
              <a:alpha val="55000"/>
            </a:srgbClr>
          </a:solidFill>
          <a:ln/>
        </p:spPr>
      </p:sp>
      <p:sp>
        <p:nvSpPr>
          <p:cNvPr id="3" name="Shape 1"/>
          <p:cNvSpPr/>
          <p:nvPr/>
        </p:nvSpPr>
        <p:spPr>
          <a:xfrm>
            <a:off x="685800" y="2331720"/>
            <a:ext cx="1371600" cy="1371600"/>
          </a:xfrm>
          <a:prstGeom prst="ellipse">
            <a:avLst/>
          </a:prstGeom>
          <a:solidFill>
            <a:srgbClr val="0E7C7B"/>
          </a:solidFill>
          <a:ln/>
        </p:spPr>
      </p:sp>
      <p:pic>
        <p:nvPicPr>
          <p:cNvPr id="4" name="Image 0" descr="/sessions/blissful-modest-newton/mnt/outputs/scratch/build/icons/city.png"/>
          <p:cNvPicPr>
            <a:picLocks noChangeAspect="1"/>
          </p:cNvPicPr>
          <p:nvPr/>
        </p:nvPicPr>
        <p:blipFill>
          <a:blip r:embed="rId3"/>
          <a:stretch>
            <a:fillRect/>
          </a:stretch>
        </p:blipFill>
        <p:spPr>
          <a:xfrm>
            <a:off x="973836" y="2619756"/>
            <a:ext cx="795528" cy="795528"/>
          </a:xfrm>
          <a:prstGeom prst="rect">
            <a:avLst/>
          </a:prstGeom>
        </p:spPr>
      </p:pic>
      <p:sp>
        <p:nvSpPr>
          <p:cNvPr id="5" name="Text 2"/>
          <p:cNvSpPr txBox="1"/>
          <p:nvPr/>
        </p:nvSpPr>
        <p:spPr>
          <a:xfrm>
            <a:off x="685800" y="3840480"/>
            <a:ext cx="9144000" cy="365760"/>
          </a:xfrm>
          <a:prstGeom prst="rect">
            <a:avLst/>
          </a:prstGeom>
          <a:noFill/>
          <a:ln/>
        </p:spPr>
        <p:txBody>
          <a:bodyPr wrap="square" lIns="0" tIns="0" rIns="0" bIns="0" rtlCol="0" anchor="ctr"/>
          <a:lstStyle/>
          <a:p>
            <a:pPr marL="0" indent="0">
              <a:buNone/>
            </a:pPr>
            <a:r>
              <a:rPr lang="en-US" sz="1500" b="1" kern="0" spc="200" dirty="0">
                <a:solidFill>
                  <a:srgbClr val="E8A33D"/>
                </a:solidFill>
                <a:latin typeface="Calibri" pitchFamily="34" charset="0"/>
                <a:ea typeface="Calibri" pitchFamily="34" charset="-122"/>
                <a:cs typeface="Calibri" pitchFamily="34" charset="-120"/>
              </a:rPr>
              <a:t>BLOCK 3</a:t>
            </a:r>
            <a:endParaRPr lang="en-US" sz="1500" dirty="0"/>
          </a:p>
        </p:txBody>
      </p:sp>
      <p:sp>
        <p:nvSpPr>
          <p:cNvPr id="6" name="Text 3"/>
          <p:cNvSpPr txBox="1"/>
          <p:nvPr/>
        </p:nvSpPr>
        <p:spPr>
          <a:xfrm>
            <a:off x="685800" y="4187952"/>
            <a:ext cx="10058400" cy="11887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Urbanization in a Connected World</a:t>
            </a:r>
            <a:endParaRPr lang="en-US" sz="3400" dirty="0"/>
          </a:p>
        </p:txBody>
      </p:sp>
      <p:sp>
        <p:nvSpPr>
          <p:cNvPr id="7" name="Text 4"/>
          <p:cNvSpPr txBox="1"/>
          <p:nvPr/>
        </p:nvSpPr>
        <p:spPr>
          <a:xfrm>
            <a:off x="685800" y="5349240"/>
            <a:ext cx="9875520" cy="822960"/>
          </a:xfrm>
          <a:prstGeom prst="rect">
            <a:avLst/>
          </a:prstGeom>
          <a:noFill/>
          <a:ln/>
        </p:spPr>
        <p:txBody>
          <a:bodyPr wrap="square" lIns="0" tIns="0" rIns="0" bIns="0" rtlCol="0" anchor="ctr"/>
          <a:lstStyle/>
          <a:p>
            <a:pPr marL="0" indent="0">
              <a:buNone/>
            </a:pPr>
            <a:r>
              <a:rPr lang="en-US" sz="1500" i="1" dirty="0">
                <a:solidFill>
                  <a:srgbClr val="C9D6E8"/>
                </a:solidFill>
                <a:latin typeface="Calibri" pitchFamily="34" charset="0"/>
                <a:ea typeface="Calibri" pitchFamily="34" charset="-122"/>
                <a:cs typeface="Calibri" pitchFamily="34" charset="-120"/>
              </a:rPr>
              <a:t>How the world became predominantly urban — and how the definition of “urban” itself is being rewritten in 2025.</a:t>
            </a:r>
            <a:endParaRPr lang="en-US" sz="1500" dirty="0"/>
          </a:p>
        </p:txBody>
      </p:sp>
      <p:sp>
        <p:nvSpPr>
          <p:cNvPr id="8" name="Text 5"/>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C9D6E8"/>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9" name="Text 6"/>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C9D6E8"/>
                </a:solidFill>
                <a:latin typeface="Calibri" pitchFamily="34" charset="0"/>
                <a:ea typeface="Calibri" pitchFamily="34" charset="-122"/>
                <a:cs typeface="Calibri" pitchFamily="34" charset="-120"/>
              </a:rPr>
              <a:t>39 / 57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DEFINITIONS &amp; MEASUREMENT</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What Counts as “Urban”?</a:t>
            </a:r>
            <a:endParaRPr lang="en-US" sz="2900" dirty="0"/>
          </a:p>
        </p:txBody>
      </p:sp>
      <p:sp>
        <p:nvSpPr>
          <p:cNvPr id="4" name="Shape 2"/>
          <p:cNvSpPr/>
          <p:nvPr/>
        </p:nvSpPr>
        <p:spPr>
          <a:xfrm>
            <a:off x="502920" y="1554480"/>
            <a:ext cx="5440680" cy="2103120"/>
          </a:xfrm>
          <a:prstGeom prst="roundRect">
            <a:avLst>
              <a:gd name="adj" fmla="val 3913"/>
            </a:avLst>
          </a:prstGeom>
          <a:solidFill>
            <a:srgbClr val="F3F6FA"/>
          </a:solidFill>
          <a:ln/>
        </p:spPr>
      </p:sp>
      <p:sp>
        <p:nvSpPr>
          <p:cNvPr id="5" name="Shape 3"/>
          <p:cNvSpPr/>
          <p:nvPr/>
        </p:nvSpPr>
        <p:spPr>
          <a:xfrm>
            <a:off x="731520" y="1783080"/>
            <a:ext cx="658368" cy="658368"/>
          </a:xfrm>
          <a:prstGeom prst="ellipse">
            <a:avLst/>
          </a:prstGeom>
          <a:solidFill>
            <a:srgbClr val="1B2A4A"/>
          </a:solidFill>
          <a:ln/>
        </p:spPr>
      </p:sp>
      <p:pic>
        <p:nvPicPr>
          <p:cNvPr id="6" name="Image 0" descr="/sessions/blissful-modest-newton/mnt/outputs/scratch/build/icons/globe.png"/>
          <p:cNvPicPr>
            <a:picLocks noChangeAspect="1"/>
          </p:cNvPicPr>
          <p:nvPr/>
        </p:nvPicPr>
        <p:blipFill>
          <a:blip r:embed="rId3"/>
          <a:stretch>
            <a:fillRect/>
          </a:stretch>
        </p:blipFill>
        <p:spPr>
          <a:xfrm>
            <a:off x="876361" y="1927921"/>
            <a:ext cx="368686" cy="368686"/>
          </a:xfrm>
          <a:prstGeom prst="rect">
            <a:avLst/>
          </a:prstGeom>
        </p:spPr>
      </p:pic>
      <p:sp>
        <p:nvSpPr>
          <p:cNvPr id="7" name="Text 4"/>
          <p:cNvSpPr txBox="1"/>
          <p:nvPr/>
        </p:nvSpPr>
        <p:spPr>
          <a:xfrm>
            <a:off x="1508760" y="1719072"/>
            <a:ext cx="4251960" cy="45720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Degree of Urbanization</a:t>
            </a:r>
            <a:endParaRPr lang="en-US" sz="1600" dirty="0"/>
          </a:p>
        </p:txBody>
      </p:sp>
      <p:sp>
        <p:nvSpPr>
          <p:cNvPr id="8" name="Text 5"/>
          <p:cNvSpPr txBox="1"/>
          <p:nvPr/>
        </p:nvSpPr>
        <p:spPr>
          <a:xfrm>
            <a:off x="731520" y="2331720"/>
            <a:ext cx="4983480" cy="11887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The UN's 2020s methodology classifies every location worldwide as a city, town, or rural area using population size &amp; density grids — not just national administrative boundaries.</a:t>
            </a:r>
            <a:endParaRPr lang="en-US" sz="1250" dirty="0"/>
          </a:p>
        </p:txBody>
      </p:sp>
      <p:sp>
        <p:nvSpPr>
          <p:cNvPr id="9" name="Shape 6"/>
          <p:cNvSpPr/>
          <p:nvPr/>
        </p:nvSpPr>
        <p:spPr>
          <a:xfrm>
            <a:off x="6263640" y="1554480"/>
            <a:ext cx="5440680" cy="2103120"/>
          </a:xfrm>
          <a:prstGeom prst="roundRect">
            <a:avLst>
              <a:gd name="adj" fmla="val 3913"/>
            </a:avLst>
          </a:prstGeom>
          <a:solidFill>
            <a:srgbClr val="E7EEF7"/>
          </a:solidFill>
          <a:ln/>
        </p:spPr>
      </p:sp>
      <p:sp>
        <p:nvSpPr>
          <p:cNvPr id="10" name="Shape 7"/>
          <p:cNvSpPr/>
          <p:nvPr/>
        </p:nvSpPr>
        <p:spPr>
          <a:xfrm>
            <a:off x="6492240" y="1783080"/>
            <a:ext cx="658368" cy="658368"/>
          </a:xfrm>
          <a:prstGeom prst="ellipse">
            <a:avLst/>
          </a:prstGeom>
          <a:solidFill>
            <a:srgbClr val="0E7C7B"/>
          </a:solidFill>
          <a:ln/>
        </p:spPr>
      </p:sp>
      <p:pic>
        <p:nvPicPr>
          <p:cNvPr id="11" name="Image 1" descr="/sessions/blissful-modest-newton/mnt/outputs/scratch/build/icons/city.png"/>
          <p:cNvPicPr>
            <a:picLocks noChangeAspect="1"/>
          </p:cNvPicPr>
          <p:nvPr/>
        </p:nvPicPr>
        <p:blipFill>
          <a:blip r:embed="rId4"/>
          <a:stretch>
            <a:fillRect/>
          </a:stretch>
        </p:blipFill>
        <p:spPr>
          <a:xfrm>
            <a:off x="6637081" y="1927921"/>
            <a:ext cx="368686" cy="368686"/>
          </a:xfrm>
          <a:prstGeom prst="rect">
            <a:avLst/>
          </a:prstGeom>
        </p:spPr>
      </p:pic>
      <p:sp>
        <p:nvSpPr>
          <p:cNvPr id="12" name="Text 8"/>
          <p:cNvSpPr txBox="1"/>
          <p:nvPr/>
        </p:nvSpPr>
        <p:spPr>
          <a:xfrm>
            <a:off x="7269480" y="1719072"/>
            <a:ext cx="4251960" cy="457200"/>
          </a:xfrm>
          <a:prstGeom prst="rect">
            <a:avLst/>
          </a:prstGeom>
          <a:noFill/>
          <a:ln/>
        </p:spPr>
        <p:txBody>
          <a:bodyPr wrap="square" lIns="0" tIns="0" rIns="0" bIns="0" rtlCol="0" anchor="ctr"/>
          <a:lstStyle/>
          <a:p>
            <a:pPr marL="0" indent="0">
              <a:buNone/>
            </a:pPr>
            <a:r>
              <a:rPr lang="en-US" sz="1600" b="1" dirty="0">
                <a:solidFill>
                  <a:srgbClr val="0E7C7B"/>
                </a:solidFill>
                <a:latin typeface="Cambria" pitchFamily="34" charset="0"/>
                <a:ea typeface="Cambria" pitchFamily="34" charset="-122"/>
                <a:cs typeface="Cambria" pitchFamily="34" charset="-120"/>
              </a:rPr>
              <a:t>Urban Agglomeration</a:t>
            </a:r>
            <a:endParaRPr lang="en-US" sz="1600" dirty="0"/>
          </a:p>
        </p:txBody>
      </p:sp>
      <p:sp>
        <p:nvSpPr>
          <p:cNvPr id="13" name="Text 9"/>
          <p:cNvSpPr txBox="1"/>
          <p:nvPr/>
        </p:nvSpPr>
        <p:spPr>
          <a:xfrm>
            <a:off x="6492240" y="2331720"/>
            <a:ext cx="4983480" cy="11887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The contiguous built-up area of a city, which may extend beyond a single administrative city boundary.</a:t>
            </a:r>
            <a:endParaRPr lang="en-US" sz="1250" dirty="0"/>
          </a:p>
        </p:txBody>
      </p:sp>
      <p:sp>
        <p:nvSpPr>
          <p:cNvPr id="14" name="Shape 10"/>
          <p:cNvSpPr/>
          <p:nvPr/>
        </p:nvSpPr>
        <p:spPr>
          <a:xfrm>
            <a:off x="502920" y="3913632"/>
            <a:ext cx="5440680" cy="2103120"/>
          </a:xfrm>
          <a:prstGeom prst="roundRect">
            <a:avLst>
              <a:gd name="adj" fmla="val 3913"/>
            </a:avLst>
          </a:prstGeom>
          <a:solidFill>
            <a:srgbClr val="F3F6FA"/>
          </a:solidFill>
          <a:ln/>
        </p:spPr>
      </p:sp>
      <p:sp>
        <p:nvSpPr>
          <p:cNvPr id="15" name="Shape 11"/>
          <p:cNvSpPr/>
          <p:nvPr/>
        </p:nvSpPr>
        <p:spPr>
          <a:xfrm>
            <a:off x="731520" y="4142232"/>
            <a:ext cx="658368" cy="658368"/>
          </a:xfrm>
          <a:prstGeom prst="ellipse">
            <a:avLst/>
          </a:prstGeom>
          <a:solidFill>
            <a:srgbClr val="1B2A4A"/>
          </a:solidFill>
          <a:ln/>
        </p:spPr>
      </p:sp>
      <p:pic>
        <p:nvPicPr>
          <p:cNvPr id="16" name="Image 2" descr="/sessions/blissful-modest-newton/mnt/outputs/scratch/build/icons/chart.png"/>
          <p:cNvPicPr>
            <a:picLocks noChangeAspect="1"/>
          </p:cNvPicPr>
          <p:nvPr/>
        </p:nvPicPr>
        <p:blipFill>
          <a:blip r:embed="rId5"/>
          <a:stretch>
            <a:fillRect/>
          </a:stretch>
        </p:blipFill>
        <p:spPr>
          <a:xfrm>
            <a:off x="876361" y="4287073"/>
            <a:ext cx="368686" cy="368686"/>
          </a:xfrm>
          <a:prstGeom prst="rect">
            <a:avLst/>
          </a:prstGeom>
        </p:spPr>
      </p:pic>
      <p:sp>
        <p:nvSpPr>
          <p:cNvPr id="17" name="Text 12"/>
          <p:cNvSpPr txBox="1"/>
          <p:nvPr/>
        </p:nvSpPr>
        <p:spPr>
          <a:xfrm>
            <a:off x="1508760" y="4078224"/>
            <a:ext cx="4251960" cy="45720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Urbanization Level</a:t>
            </a:r>
            <a:endParaRPr lang="en-US" sz="1600" dirty="0"/>
          </a:p>
        </p:txBody>
      </p:sp>
      <p:sp>
        <p:nvSpPr>
          <p:cNvPr id="18" name="Text 13"/>
          <p:cNvSpPr txBox="1"/>
          <p:nvPr/>
        </p:nvSpPr>
        <p:spPr>
          <a:xfrm>
            <a:off x="731520" y="4690872"/>
            <a:ext cx="4983480" cy="11887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The percentage of a population living in urban areas at a point in time — the most commonly cited urbanization statistic.</a:t>
            </a:r>
            <a:endParaRPr lang="en-US" sz="1250" dirty="0"/>
          </a:p>
        </p:txBody>
      </p:sp>
      <p:sp>
        <p:nvSpPr>
          <p:cNvPr id="19" name="Shape 14"/>
          <p:cNvSpPr/>
          <p:nvPr/>
        </p:nvSpPr>
        <p:spPr>
          <a:xfrm>
            <a:off x="6263640" y="3913632"/>
            <a:ext cx="5440680" cy="2103120"/>
          </a:xfrm>
          <a:prstGeom prst="roundRect">
            <a:avLst>
              <a:gd name="adj" fmla="val 3913"/>
            </a:avLst>
          </a:prstGeom>
          <a:solidFill>
            <a:srgbClr val="E7EEF7"/>
          </a:solidFill>
          <a:ln/>
        </p:spPr>
      </p:sp>
      <p:sp>
        <p:nvSpPr>
          <p:cNvPr id="20" name="Shape 15"/>
          <p:cNvSpPr/>
          <p:nvPr/>
        </p:nvSpPr>
        <p:spPr>
          <a:xfrm>
            <a:off x="6492240" y="4142232"/>
            <a:ext cx="658368" cy="658368"/>
          </a:xfrm>
          <a:prstGeom prst="ellipse">
            <a:avLst/>
          </a:prstGeom>
          <a:solidFill>
            <a:srgbClr val="0E7C7B"/>
          </a:solidFill>
          <a:ln/>
        </p:spPr>
      </p:sp>
      <p:pic>
        <p:nvPicPr>
          <p:cNvPr id="21" name="Image 3" descr="/sessions/blissful-modest-newton/mnt/outputs/scratch/build/icons/clock.png"/>
          <p:cNvPicPr>
            <a:picLocks noChangeAspect="1"/>
          </p:cNvPicPr>
          <p:nvPr/>
        </p:nvPicPr>
        <p:blipFill>
          <a:blip r:embed="rId6"/>
          <a:stretch>
            <a:fillRect/>
          </a:stretch>
        </p:blipFill>
        <p:spPr>
          <a:xfrm>
            <a:off x="6637081" y="4287073"/>
            <a:ext cx="368686" cy="368686"/>
          </a:xfrm>
          <a:prstGeom prst="rect">
            <a:avLst/>
          </a:prstGeom>
        </p:spPr>
      </p:pic>
      <p:sp>
        <p:nvSpPr>
          <p:cNvPr id="22" name="Text 16"/>
          <p:cNvSpPr txBox="1"/>
          <p:nvPr/>
        </p:nvSpPr>
        <p:spPr>
          <a:xfrm>
            <a:off x="7269480" y="4078224"/>
            <a:ext cx="4251960" cy="457200"/>
          </a:xfrm>
          <a:prstGeom prst="rect">
            <a:avLst/>
          </a:prstGeom>
          <a:noFill/>
          <a:ln/>
        </p:spPr>
        <p:txBody>
          <a:bodyPr wrap="square" lIns="0" tIns="0" rIns="0" bIns="0" rtlCol="0" anchor="ctr"/>
          <a:lstStyle/>
          <a:p>
            <a:pPr marL="0" indent="0">
              <a:buNone/>
            </a:pPr>
            <a:r>
              <a:rPr lang="en-US" sz="1600" b="1" dirty="0">
                <a:solidFill>
                  <a:srgbClr val="0E7C7B"/>
                </a:solidFill>
                <a:latin typeface="Cambria" pitchFamily="34" charset="0"/>
                <a:ea typeface="Cambria" pitchFamily="34" charset="-122"/>
                <a:cs typeface="Cambria" pitchFamily="34" charset="-120"/>
              </a:rPr>
              <a:t>Urbanization Rate</a:t>
            </a:r>
            <a:endParaRPr lang="en-US" sz="1600" dirty="0"/>
          </a:p>
        </p:txBody>
      </p:sp>
      <p:sp>
        <p:nvSpPr>
          <p:cNvPr id="23" name="Text 17"/>
          <p:cNvSpPr txBox="1"/>
          <p:nvPr/>
        </p:nvSpPr>
        <p:spPr>
          <a:xfrm>
            <a:off x="6492240" y="4690872"/>
            <a:ext cx="4983480" cy="11887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The pace of change in the urban share over time — distinct from, and often confused with, the urbanization level.</a:t>
            </a:r>
            <a:endParaRPr lang="en-US" sz="1250" dirty="0"/>
          </a:p>
        </p:txBody>
      </p:sp>
      <p:sp>
        <p:nvSpPr>
          <p:cNvPr id="24" name="Text 18"/>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25" name="Text 19"/>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40 / 57</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EXAMPLE 9 — GLOBAL, 2025</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World Urbanization Prospects 2025</a:t>
            </a:r>
            <a:endParaRPr lang="en-US" sz="2900" dirty="0"/>
          </a:p>
        </p:txBody>
      </p:sp>
      <p:sp>
        <p:nvSpPr>
          <p:cNvPr id="4" name="Shape 2"/>
          <p:cNvSpPr/>
          <p:nvPr/>
        </p:nvSpPr>
        <p:spPr>
          <a:xfrm>
            <a:off x="548640" y="1691640"/>
            <a:ext cx="3520440" cy="2331720"/>
          </a:xfrm>
          <a:prstGeom prst="roundRect">
            <a:avLst>
              <a:gd name="adj" fmla="val 3922"/>
            </a:avLst>
          </a:prstGeom>
          <a:solidFill>
            <a:srgbClr val="F3F6FA"/>
          </a:solidFill>
          <a:ln/>
        </p:spPr>
      </p:sp>
      <p:sp>
        <p:nvSpPr>
          <p:cNvPr id="5" name="Text 3"/>
          <p:cNvSpPr txBox="1"/>
          <p:nvPr/>
        </p:nvSpPr>
        <p:spPr>
          <a:xfrm>
            <a:off x="731520" y="1874520"/>
            <a:ext cx="3154680" cy="914400"/>
          </a:xfrm>
          <a:prstGeom prst="rect">
            <a:avLst/>
          </a:prstGeom>
          <a:noFill/>
          <a:ln/>
        </p:spPr>
        <p:txBody>
          <a:bodyPr wrap="square" lIns="0" tIns="0" rIns="0" bIns="0" rtlCol="0" anchor="ctr"/>
          <a:lstStyle/>
          <a:p>
            <a:pPr marL="0" indent="0">
              <a:buNone/>
            </a:pPr>
            <a:r>
              <a:rPr lang="en-US" sz="3800" b="1" dirty="0">
                <a:solidFill>
                  <a:srgbClr val="0E7C7B"/>
                </a:solidFill>
                <a:latin typeface="Cambria" pitchFamily="34" charset="0"/>
                <a:ea typeface="Cambria" pitchFamily="34" charset="-122"/>
                <a:cs typeface="Cambria" pitchFamily="34" charset="-120"/>
              </a:rPr>
              <a:t>45%</a:t>
            </a:r>
            <a:endParaRPr lang="en-US" sz="3800" dirty="0"/>
          </a:p>
        </p:txBody>
      </p:sp>
      <p:sp>
        <p:nvSpPr>
          <p:cNvPr id="6" name="Text 4"/>
          <p:cNvSpPr txBox="1"/>
          <p:nvPr/>
        </p:nvSpPr>
        <p:spPr>
          <a:xfrm>
            <a:off x="731520" y="2743200"/>
            <a:ext cx="3154680" cy="1188720"/>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of the world's 8.2 billion people already live in cities — more than double the 20% share in 1950</a:t>
            </a:r>
            <a:endParaRPr lang="en-US" sz="1300" dirty="0"/>
          </a:p>
        </p:txBody>
      </p:sp>
      <p:sp>
        <p:nvSpPr>
          <p:cNvPr id="7" name="Shape 5"/>
          <p:cNvSpPr/>
          <p:nvPr/>
        </p:nvSpPr>
        <p:spPr>
          <a:xfrm>
            <a:off x="4389120" y="1691640"/>
            <a:ext cx="3520440" cy="2331720"/>
          </a:xfrm>
          <a:prstGeom prst="roundRect">
            <a:avLst>
              <a:gd name="adj" fmla="val 3922"/>
            </a:avLst>
          </a:prstGeom>
          <a:solidFill>
            <a:srgbClr val="F3F6FA"/>
          </a:solidFill>
          <a:ln/>
        </p:spPr>
      </p:sp>
      <p:sp>
        <p:nvSpPr>
          <p:cNvPr id="8" name="Text 6"/>
          <p:cNvSpPr txBox="1"/>
          <p:nvPr/>
        </p:nvSpPr>
        <p:spPr>
          <a:xfrm>
            <a:off x="4572000" y="1874520"/>
            <a:ext cx="3154680" cy="914400"/>
          </a:xfrm>
          <a:prstGeom prst="rect">
            <a:avLst/>
          </a:prstGeom>
          <a:noFill/>
          <a:ln/>
        </p:spPr>
        <p:txBody>
          <a:bodyPr wrap="square" lIns="0" tIns="0" rIns="0" bIns="0" rtlCol="0" anchor="ctr"/>
          <a:lstStyle/>
          <a:p>
            <a:pPr marL="0" indent="0">
              <a:buNone/>
            </a:pPr>
            <a:r>
              <a:rPr lang="en-US" sz="3800" b="1" dirty="0">
                <a:solidFill>
                  <a:srgbClr val="0E7C7B"/>
                </a:solidFill>
                <a:latin typeface="Cambria" pitchFamily="34" charset="0"/>
                <a:ea typeface="Cambria" pitchFamily="34" charset="-122"/>
                <a:cs typeface="Cambria" pitchFamily="34" charset="-120"/>
              </a:rPr>
              <a:t>982M</a:t>
            </a:r>
            <a:endParaRPr lang="en-US" sz="3800" dirty="0"/>
          </a:p>
        </p:txBody>
      </p:sp>
      <p:sp>
        <p:nvSpPr>
          <p:cNvPr id="9" name="Text 7"/>
          <p:cNvSpPr txBox="1"/>
          <p:nvPr/>
        </p:nvSpPr>
        <p:spPr>
          <a:xfrm>
            <a:off x="4572000" y="2743200"/>
            <a:ext cx="3154680" cy="1188720"/>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new city dwellers projected worldwide between 2025 and 2050</a:t>
            </a:r>
            <a:endParaRPr lang="en-US" sz="1300" dirty="0"/>
          </a:p>
        </p:txBody>
      </p:sp>
      <p:sp>
        <p:nvSpPr>
          <p:cNvPr id="10" name="Shape 8"/>
          <p:cNvSpPr/>
          <p:nvPr/>
        </p:nvSpPr>
        <p:spPr>
          <a:xfrm>
            <a:off x="8229600" y="1691640"/>
            <a:ext cx="3520440" cy="2331720"/>
          </a:xfrm>
          <a:prstGeom prst="roundRect">
            <a:avLst>
              <a:gd name="adj" fmla="val 3922"/>
            </a:avLst>
          </a:prstGeom>
          <a:solidFill>
            <a:srgbClr val="F3F6FA"/>
          </a:solidFill>
          <a:ln/>
        </p:spPr>
      </p:sp>
      <p:sp>
        <p:nvSpPr>
          <p:cNvPr id="11" name="Text 9"/>
          <p:cNvSpPr txBox="1"/>
          <p:nvPr/>
        </p:nvSpPr>
        <p:spPr>
          <a:xfrm>
            <a:off x="8412480" y="1874520"/>
            <a:ext cx="3154680" cy="914400"/>
          </a:xfrm>
          <a:prstGeom prst="rect">
            <a:avLst/>
          </a:prstGeom>
          <a:noFill/>
          <a:ln/>
        </p:spPr>
        <p:txBody>
          <a:bodyPr wrap="square" lIns="0" tIns="0" rIns="0" bIns="0" rtlCol="0" anchor="ctr"/>
          <a:lstStyle/>
          <a:p>
            <a:pPr marL="0" indent="0">
              <a:buNone/>
            </a:pPr>
            <a:r>
              <a:rPr lang="en-US" sz="3800" b="1" dirty="0">
                <a:solidFill>
                  <a:srgbClr val="0E7C7B"/>
                </a:solidFill>
                <a:latin typeface="Cambria" pitchFamily="34" charset="0"/>
                <a:ea typeface="Cambria" pitchFamily="34" charset="-122"/>
                <a:cs typeface="Cambria" pitchFamily="34" charset="-120"/>
              </a:rPr>
              <a:t>50,000</a:t>
            </a:r>
            <a:endParaRPr lang="en-US" sz="3800" dirty="0"/>
          </a:p>
        </p:txBody>
      </p:sp>
      <p:sp>
        <p:nvSpPr>
          <p:cNvPr id="12" name="Text 10"/>
          <p:cNvSpPr txBox="1"/>
          <p:nvPr/>
        </p:nvSpPr>
        <p:spPr>
          <a:xfrm>
            <a:off x="8412480" y="2743200"/>
            <a:ext cx="3154680" cy="1188720"/>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the new minimum population threshold for a “city” in the 2025 methodology — down from 300,000</a:t>
            </a:r>
            <a:endParaRPr lang="en-US" sz="1300" dirty="0"/>
          </a:p>
        </p:txBody>
      </p:sp>
      <p:sp>
        <p:nvSpPr>
          <p:cNvPr id="13" name="Text 11"/>
          <p:cNvSpPr txBox="1"/>
          <p:nvPr/>
        </p:nvSpPr>
        <p:spPr>
          <a:xfrm>
            <a:off x="548640" y="6108192"/>
            <a:ext cx="11064240" cy="384048"/>
          </a:xfrm>
          <a:prstGeom prst="rect">
            <a:avLst/>
          </a:prstGeom>
          <a:noFill/>
          <a:ln/>
        </p:spPr>
        <p:txBody>
          <a:bodyPr wrap="square" lIns="0" tIns="0" rIns="0" bIns="0" rtlCol="0" anchor="ctr"/>
          <a:lstStyle/>
          <a:p>
            <a:pPr marL="0" indent="0">
              <a:buNone/>
            </a:pPr>
            <a:r>
              <a:rPr lang="en-US" sz="1050" i="1" dirty="0">
                <a:solidFill>
                  <a:srgbClr val="5B6B82"/>
                </a:solidFill>
                <a:latin typeface="Calibri" pitchFamily="34" charset="0"/>
                <a:ea typeface="Calibri" pitchFamily="34" charset="-122"/>
                <a:cs typeface="Calibri" pitchFamily="34" charset="-120"/>
              </a:rPr>
              <a:t>Source: UN DESA, Population Division. (2025). World Urbanization Prospects 2025: Summary of Results. https://population.un.org/wup</a:t>
            </a:r>
            <a:endParaRPr lang="en-US" sz="1050" dirty="0"/>
          </a:p>
        </p:txBody>
      </p:sp>
      <p:sp>
        <p:nvSpPr>
          <p:cNvPr id="14" name="Text 12"/>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15" name="Text 13"/>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41 / 57</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CHART — REAL UN DESA DATA</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World Urban Population Share, 1950 → 2025 → 2050 (%)</a:t>
            </a:r>
            <a:endParaRPr lang="en-US" sz="2900" dirty="0"/>
          </a:p>
        </p:txBody>
      </p:sp>
      <p:graphicFrame>
        <p:nvGraphicFramePr>
          <p:cNvPr id="4" name="Chart 0"/>
          <p:cNvGraphicFramePr/>
          <p:nvPr/>
        </p:nvGraphicFramePr>
        <p:xfrm>
          <a:off x="640080" y="1600200"/>
          <a:ext cx="1088136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548640" y="5989320"/>
            <a:ext cx="11064240" cy="384048"/>
          </a:xfrm>
          <a:prstGeom prst="rect">
            <a:avLst/>
          </a:prstGeom>
          <a:noFill/>
          <a:ln/>
        </p:spPr>
        <p:txBody>
          <a:bodyPr wrap="square" lIns="0" tIns="0" rIns="0" bIns="0" rtlCol="0" anchor="ctr"/>
          <a:lstStyle/>
          <a:p>
            <a:pPr marL="0" indent="0">
              <a:buNone/>
            </a:pPr>
            <a:r>
              <a:rPr lang="en-US" sz="1050" i="1" dirty="0">
                <a:solidFill>
                  <a:srgbClr val="5B6B82"/>
                </a:solidFill>
                <a:latin typeface="Calibri" pitchFamily="34" charset="0"/>
                <a:ea typeface="Calibri" pitchFamily="34" charset="-122"/>
                <a:cs typeface="Calibri" pitchFamily="34" charset="-120"/>
              </a:rPr>
              <a:t>Source: UN DESA, Population Division (2025), World Urbanization Prospects 2025 (2050 figure is the medium-variant projection).</a:t>
            </a:r>
            <a:endParaRPr lang="en-US" sz="1050" dirty="0"/>
          </a:p>
        </p:txBody>
      </p:sp>
      <p:sp>
        <p:nvSpPr>
          <p:cNvPr id="6" name="Text 3"/>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7" name="Text 4"/>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42 / 57</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THREE ENGINES OF CITY GROWTH</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What Drives Urban Population Growth?</a:t>
            </a:r>
            <a:endParaRPr lang="en-US" sz="2900" dirty="0"/>
          </a:p>
        </p:txBody>
      </p:sp>
      <p:sp>
        <p:nvSpPr>
          <p:cNvPr id="4" name="Shape 2"/>
          <p:cNvSpPr/>
          <p:nvPr/>
        </p:nvSpPr>
        <p:spPr>
          <a:xfrm>
            <a:off x="502920" y="1691640"/>
            <a:ext cx="3520440" cy="4114800"/>
          </a:xfrm>
          <a:prstGeom prst="roundRect">
            <a:avLst>
              <a:gd name="adj" fmla="val 2338"/>
            </a:avLst>
          </a:prstGeom>
          <a:solidFill>
            <a:srgbClr val="F3F6FA"/>
          </a:solidFill>
          <a:ln/>
        </p:spPr>
      </p:sp>
      <p:sp>
        <p:nvSpPr>
          <p:cNvPr id="5" name="Shape 3"/>
          <p:cNvSpPr/>
          <p:nvPr/>
        </p:nvSpPr>
        <p:spPr>
          <a:xfrm>
            <a:off x="1874520" y="1947672"/>
            <a:ext cx="777240" cy="777240"/>
          </a:xfrm>
          <a:prstGeom prst="ellipse">
            <a:avLst/>
          </a:prstGeom>
          <a:solidFill>
            <a:srgbClr val="1B2A4A"/>
          </a:solidFill>
          <a:ln/>
        </p:spPr>
      </p:sp>
      <p:pic>
        <p:nvPicPr>
          <p:cNvPr id="6" name="Image 0" descr="/sessions/blissful-modest-newton/mnt/outputs/scratch/build/icons/arrows.png"/>
          <p:cNvPicPr>
            <a:picLocks noChangeAspect="1"/>
          </p:cNvPicPr>
          <p:nvPr/>
        </p:nvPicPr>
        <p:blipFill>
          <a:blip r:embed="rId3"/>
          <a:stretch>
            <a:fillRect/>
          </a:stretch>
        </p:blipFill>
        <p:spPr>
          <a:xfrm>
            <a:off x="2045513" y="2118665"/>
            <a:ext cx="435254" cy="435254"/>
          </a:xfrm>
          <a:prstGeom prst="rect">
            <a:avLst/>
          </a:prstGeom>
        </p:spPr>
      </p:pic>
      <p:sp>
        <p:nvSpPr>
          <p:cNvPr id="7" name="Text 4"/>
          <p:cNvSpPr txBox="1"/>
          <p:nvPr/>
        </p:nvSpPr>
        <p:spPr>
          <a:xfrm>
            <a:off x="685800" y="2862072"/>
            <a:ext cx="3154680" cy="640080"/>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Rural-to-Urban Migration</a:t>
            </a:r>
            <a:endParaRPr lang="en-US" sz="1600" dirty="0"/>
          </a:p>
        </p:txBody>
      </p:sp>
      <p:sp>
        <p:nvSpPr>
          <p:cNvPr id="8" name="Text 5"/>
          <p:cNvSpPr txBox="1"/>
          <p:nvPr/>
        </p:nvSpPr>
        <p:spPr>
          <a:xfrm>
            <a:off x="731520" y="3520440"/>
            <a:ext cx="3063240" cy="21031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People moving from rural areas to cities for work, education, and services — the classic driver of early urban transitions.</a:t>
            </a:r>
            <a:endParaRPr lang="en-US" sz="1250" dirty="0"/>
          </a:p>
        </p:txBody>
      </p:sp>
      <p:sp>
        <p:nvSpPr>
          <p:cNvPr id="9" name="Shape 6"/>
          <p:cNvSpPr/>
          <p:nvPr/>
        </p:nvSpPr>
        <p:spPr>
          <a:xfrm>
            <a:off x="4343400" y="1691640"/>
            <a:ext cx="3520440" cy="4114800"/>
          </a:xfrm>
          <a:prstGeom prst="roundRect">
            <a:avLst>
              <a:gd name="adj" fmla="val 2338"/>
            </a:avLst>
          </a:prstGeom>
          <a:solidFill>
            <a:srgbClr val="E7EEF7"/>
          </a:solidFill>
          <a:ln/>
        </p:spPr>
      </p:sp>
      <p:sp>
        <p:nvSpPr>
          <p:cNvPr id="10" name="Shape 7"/>
          <p:cNvSpPr/>
          <p:nvPr/>
        </p:nvSpPr>
        <p:spPr>
          <a:xfrm>
            <a:off x="5715000" y="1947672"/>
            <a:ext cx="777240" cy="777240"/>
          </a:xfrm>
          <a:prstGeom prst="ellipse">
            <a:avLst/>
          </a:prstGeom>
          <a:solidFill>
            <a:srgbClr val="1B2A4A"/>
          </a:solidFill>
          <a:ln/>
        </p:spPr>
      </p:sp>
      <p:pic>
        <p:nvPicPr>
          <p:cNvPr id="11" name="Image 1" descr="/sessions/blissful-modest-newton/mnt/outputs/scratch/build/icons/users3.png"/>
          <p:cNvPicPr>
            <a:picLocks noChangeAspect="1"/>
          </p:cNvPicPr>
          <p:nvPr/>
        </p:nvPicPr>
        <p:blipFill>
          <a:blip r:embed="rId4"/>
          <a:stretch>
            <a:fillRect/>
          </a:stretch>
        </p:blipFill>
        <p:spPr>
          <a:xfrm>
            <a:off x="5885993" y="2118665"/>
            <a:ext cx="435254" cy="435254"/>
          </a:xfrm>
          <a:prstGeom prst="rect">
            <a:avLst/>
          </a:prstGeom>
        </p:spPr>
      </p:pic>
      <p:sp>
        <p:nvSpPr>
          <p:cNvPr id="12" name="Text 8"/>
          <p:cNvSpPr txBox="1"/>
          <p:nvPr/>
        </p:nvSpPr>
        <p:spPr>
          <a:xfrm>
            <a:off x="4526280" y="2862072"/>
            <a:ext cx="3154680" cy="640080"/>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Natural Increase</a:t>
            </a:r>
            <a:endParaRPr lang="en-US" sz="1600" dirty="0"/>
          </a:p>
        </p:txBody>
      </p:sp>
      <p:sp>
        <p:nvSpPr>
          <p:cNvPr id="13" name="Text 9"/>
          <p:cNvSpPr txBox="1"/>
          <p:nvPr/>
        </p:nvSpPr>
        <p:spPr>
          <a:xfrm>
            <a:off x="4572000" y="3520440"/>
            <a:ext cx="3063240" cy="21031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Births minus deaths within the existing urban population — the dominant driver in many large cities today, including where migration has slowed.</a:t>
            </a:r>
            <a:endParaRPr lang="en-US" sz="1250" dirty="0"/>
          </a:p>
        </p:txBody>
      </p:sp>
      <p:sp>
        <p:nvSpPr>
          <p:cNvPr id="14" name="Shape 10"/>
          <p:cNvSpPr/>
          <p:nvPr/>
        </p:nvSpPr>
        <p:spPr>
          <a:xfrm>
            <a:off x="8183880" y="1691640"/>
            <a:ext cx="3520440" cy="4114800"/>
          </a:xfrm>
          <a:prstGeom prst="roundRect">
            <a:avLst>
              <a:gd name="adj" fmla="val 2338"/>
            </a:avLst>
          </a:prstGeom>
          <a:solidFill>
            <a:srgbClr val="F3F6FA"/>
          </a:solidFill>
          <a:ln/>
        </p:spPr>
      </p:sp>
      <p:sp>
        <p:nvSpPr>
          <p:cNvPr id="15" name="Shape 11"/>
          <p:cNvSpPr/>
          <p:nvPr/>
        </p:nvSpPr>
        <p:spPr>
          <a:xfrm>
            <a:off x="9555480" y="1947672"/>
            <a:ext cx="777240" cy="777240"/>
          </a:xfrm>
          <a:prstGeom prst="ellipse">
            <a:avLst/>
          </a:prstGeom>
          <a:solidFill>
            <a:srgbClr val="1B2A4A"/>
          </a:solidFill>
          <a:ln/>
        </p:spPr>
      </p:sp>
      <p:pic>
        <p:nvPicPr>
          <p:cNvPr id="16" name="Image 2" descr="/sessions/blissful-modest-newton/mnt/outputs/scratch/build/icons/building.png"/>
          <p:cNvPicPr>
            <a:picLocks noChangeAspect="1"/>
          </p:cNvPicPr>
          <p:nvPr/>
        </p:nvPicPr>
        <p:blipFill>
          <a:blip r:embed="rId5"/>
          <a:stretch>
            <a:fillRect/>
          </a:stretch>
        </p:blipFill>
        <p:spPr>
          <a:xfrm>
            <a:off x="9726473" y="2118665"/>
            <a:ext cx="435254" cy="435254"/>
          </a:xfrm>
          <a:prstGeom prst="rect">
            <a:avLst/>
          </a:prstGeom>
        </p:spPr>
      </p:pic>
      <p:sp>
        <p:nvSpPr>
          <p:cNvPr id="17" name="Text 12"/>
          <p:cNvSpPr txBox="1"/>
          <p:nvPr/>
        </p:nvSpPr>
        <p:spPr>
          <a:xfrm>
            <a:off x="8366760" y="2862072"/>
            <a:ext cx="3154680" cy="640080"/>
          </a:xfrm>
          <a:prstGeom prst="rect">
            <a:avLst/>
          </a:prstGeom>
          <a:noFill/>
          <a:ln/>
        </p:spPr>
        <p:txBody>
          <a:bodyPr wrap="square" lIns="0" tIns="0" rIns="0" bIns="0" rtlCol="0" anchor="ctr"/>
          <a:lstStyle/>
          <a:p>
            <a:pPr marL="0" indent="0" algn="ctr">
              <a:buNone/>
            </a:pPr>
            <a:r>
              <a:rPr lang="en-US" sz="1600" b="1" dirty="0">
                <a:solidFill>
                  <a:srgbClr val="1B2A4A"/>
                </a:solidFill>
                <a:latin typeface="Cambria" pitchFamily="34" charset="0"/>
                <a:ea typeface="Cambria" pitchFamily="34" charset="-122"/>
                <a:cs typeface="Cambria" pitchFamily="34" charset="-120"/>
              </a:rPr>
              <a:t>Reclassification</a:t>
            </a:r>
            <a:endParaRPr lang="en-US" sz="1600" dirty="0"/>
          </a:p>
        </p:txBody>
      </p:sp>
      <p:sp>
        <p:nvSpPr>
          <p:cNvPr id="18" name="Text 13"/>
          <p:cNvSpPr txBox="1"/>
          <p:nvPr/>
        </p:nvSpPr>
        <p:spPr>
          <a:xfrm>
            <a:off x="8412480" y="3520440"/>
            <a:ext cx="3063240" cy="2103120"/>
          </a:xfrm>
          <a:prstGeom prst="rect">
            <a:avLst/>
          </a:prstGeom>
          <a:noFill/>
          <a:ln/>
        </p:spPr>
        <p:txBody>
          <a:bodyPr wrap="square" lIns="0" tIns="0" rIns="0" bIns="0" rtlCol="0" anchor="ctr"/>
          <a:lstStyle/>
          <a:p>
            <a:pPr marL="0" indent="0">
              <a:lnSpc>
                <a:spcPct val="112000"/>
              </a:lnSpc>
              <a:buNone/>
            </a:pPr>
            <a:r>
              <a:rPr lang="en-US" sz="1250" dirty="0">
                <a:solidFill>
                  <a:srgbClr val="17233A"/>
                </a:solidFill>
                <a:latin typeface="Calibri" pitchFamily="34" charset="0"/>
                <a:ea typeface="Calibri" pitchFamily="34" charset="-122"/>
                <a:cs typeface="Calibri" pitchFamily="34" charset="-120"/>
              </a:rPr>
              <a:t>Rural settlements redefined as urban as they grow, or as boundaries/definitions change (e.g., the 2025 threshold shift from 300,000 to 50,000).</a:t>
            </a:r>
            <a:endParaRPr lang="en-US" sz="1250" dirty="0"/>
          </a:p>
        </p:txBody>
      </p:sp>
      <p:sp>
        <p:nvSpPr>
          <p:cNvPr id="19" name="Text 14"/>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20" name="Text 15"/>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43 / 57</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GROUP WORK 2</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Three Cities, Three Engines of Growth</a:t>
            </a:r>
            <a:endParaRPr lang="en-US" sz="2900" dirty="0"/>
          </a:p>
        </p:txBody>
      </p:sp>
      <p:sp>
        <p:nvSpPr>
          <p:cNvPr id="4" name="Shape 2"/>
          <p:cNvSpPr/>
          <p:nvPr/>
        </p:nvSpPr>
        <p:spPr>
          <a:xfrm>
            <a:off x="10195560" y="384048"/>
            <a:ext cx="1051560" cy="1051560"/>
          </a:xfrm>
          <a:prstGeom prst="ellipse">
            <a:avLst/>
          </a:prstGeom>
          <a:solidFill>
            <a:srgbClr val="E8A33D"/>
          </a:solidFill>
          <a:ln/>
        </p:spPr>
      </p:sp>
      <p:pic>
        <p:nvPicPr>
          <p:cNvPr id="5" name="Image 0" descr="/sessions/blissful-modest-newton/mnt/outputs/scratch/build/icons/city.png"/>
          <p:cNvPicPr>
            <a:picLocks noChangeAspect="1"/>
          </p:cNvPicPr>
          <p:nvPr/>
        </p:nvPicPr>
        <p:blipFill>
          <a:blip r:embed="rId3"/>
          <a:stretch>
            <a:fillRect/>
          </a:stretch>
        </p:blipFill>
        <p:spPr>
          <a:xfrm>
            <a:off x="10426903" y="615391"/>
            <a:ext cx="588874" cy="588874"/>
          </a:xfrm>
          <a:prstGeom prst="rect">
            <a:avLst/>
          </a:prstGeom>
        </p:spPr>
      </p:pic>
      <p:sp>
        <p:nvSpPr>
          <p:cNvPr id="6" name="Text 3"/>
          <p:cNvSpPr txBox="1"/>
          <p:nvPr/>
        </p:nvSpPr>
        <p:spPr>
          <a:xfrm>
            <a:off x="548640" y="1417320"/>
            <a:ext cx="11064240" cy="777240"/>
          </a:xfrm>
          <a:prstGeom prst="rect">
            <a:avLst/>
          </a:prstGeom>
          <a:noFill/>
          <a:ln/>
        </p:spPr>
        <p:txBody>
          <a:bodyPr wrap="square" lIns="0" tIns="0" rIns="0" bIns="0" rtlCol="0" anchor="ctr"/>
          <a:lstStyle/>
          <a:p>
            <a:pPr marL="0" indent="0">
              <a:lnSpc>
                <a:spcPct val="115000"/>
              </a:lnSpc>
              <a:buNone/>
            </a:pPr>
            <a:r>
              <a:rPr lang="en-US" sz="1400" i="1" dirty="0">
                <a:solidFill>
                  <a:srgbClr val="17233A"/>
                </a:solidFill>
                <a:latin typeface="Calibri" pitchFamily="34" charset="0"/>
                <a:ea typeface="Calibri" pitchFamily="34" charset="-122"/>
                <a:cs typeface="Calibri" pitchFamily="34" charset="-120"/>
              </a:rPr>
              <a:t>Assigned real cities/countries show urban growth driven by very different combinations of migration, natural increase, reclassification, and new measurement tools in 2024-2025.</a:t>
            </a:r>
            <a:endParaRPr lang="en-US" sz="1400" dirty="0"/>
          </a:p>
        </p:txBody>
      </p:sp>
      <p:sp>
        <p:nvSpPr>
          <p:cNvPr id="7" name="Shape 4"/>
          <p:cNvSpPr/>
          <p:nvPr/>
        </p:nvSpPr>
        <p:spPr>
          <a:xfrm>
            <a:off x="502920" y="2286000"/>
            <a:ext cx="11201400" cy="502920"/>
          </a:xfrm>
          <a:prstGeom prst="roundRect">
            <a:avLst>
              <a:gd name="adj" fmla="val 12727"/>
            </a:avLst>
          </a:prstGeom>
          <a:solidFill>
            <a:srgbClr val="1B2A4A"/>
          </a:solidFill>
          <a:ln/>
        </p:spPr>
      </p:sp>
      <p:sp>
        <p:nvSpPr>
          <p:cNvPr id="8" name="Text 5"/>
          <p:cNvSpPr txBox="1"/>
          <p:nvPr/>
        </p:nvSpPr>
        <p:spPr>
          <a:xfrm>
            <a:off x="685800" y="2286000"/>
            <a:ext cx="10835640" cy="5029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Group size: Groups of 2-3     Time: 15-20 min prep + 3 groups × 5 min report-back + synthesis discussion</a:t>
            </a:r>
            <a:endParaRPr lang="en-US" sz="1300" dirty="0"/>
          </a:p>
        </p:txBody>
      </p:sp>
      <p:sp>
        <p:nvSpPr>
          <p:cNvPr id="9" name="Text 6"/>
          <p:cNvSpPr txBox="1"/>
          <p:nvPr/>
        </p:nvSpPr>
        <p:spPr>
          <a:xfrm>
            <a:off x="548640" y="2999232"/>
            <a:ext cx="11064240" cy="320040"/>
          </a:xfrm>
          <a:prstGeom prst="rect">
            <a:avLst/>
          </a:prstGeom>
          <a:noFill/>
          <a:ln/>
        </p:spPr>
        <p:txBody>
          <a:bodyPr wrap="square" lIns="0" tIns="0" rIns="0" bIns="0" rtlCol="0" anchor="ctr"/>
          <a:lstStyle/>
          <a:p>
            <a:pPr marL="0" indent="0">
              <a:buNone/>
            </a:pPr>
            <a:r>
              <a:rPr lang="en-US" sz="1200" b="1" kern="0" spc="100" dirty="0">
                <a:solidFill>
                  <a:srgbClr val="0E7C7B"/>
                </a:solidFill>
                <a:latin typeface="Calibri" pitchFamily="34" charset="0"/>
                <a:ea typeface="Calibri" pitchFamily="34" charset="-122"/>
                <a:cs typeface="Calibri" pitchFamily="34" charset="-120"/>
              </a:rPr>
              <a:t>COMMON GUIDING QUESTIONS — EVERY GROUP ANSWERS BOTH, REGARDLESS OF ASSIGNED CASE</a:t>
            </a:r>
            <a:endParaRPr lang="en-US" sz="1200" dirty="0"/>
          </a:p>
        </p:txBody>
      </p:sp>
      <p:sp>
        <p:nvSpPr>
          <p:cNvPr id="10" name="Shape 7"/>
          <p:cNvSpPr/>
          <p:nvPr/>
        </p:nvSpPr>
        <p:spPr>
          <a:xfrm>
            <a:off x="502920" y="3401568"/>
            <a:ext cx="11201400" cy="1143000"/>
          </a:xfrm>
          <a:prstGeom prst="roundRect">
            <a:avLst>
              <a:gd name="adj" fmla="val 6400"/>
            </a:avLst>
          </a:prstGeom>
          <a:solidFill>
            <a:srgbClr val="F3F6FA"/>
          </a:solidFill>
          <a:ln/>
        </p:spPr>
      </p:sp>
      <p:sp>
        <p:nvSpPr>
          <p:cNvPr id="11" name="Shape 8"/>
          <p:cNvSpPr/>
          <p:nvPr/>
        </p:nvSpPr>
        <p:spPr>
          <a:xfrm>
            <a:off x="713232" y="3744468"/>
            <a:ext cx="457200" cy="457200"/>
          </a:xfrm>
          <a:prstGeom prst="ellipse">
            <a:avLst/>
          </a:prstGeom>
          <a:solidFill>
            <a:srgbClr val="1B2A4A"/>
          </a:solidFill>
          <a:ln/>
        </p:spPr>
      </p:sp>
      <p:sp>
        <p:nvSpPr>
          <p:cNvPr id="12" name="Text 9"/>
          <p:cNvSpPr txBox="1"/>
          <p:nvPr/>
        </p:nvSpPr>
        <p:spPr>
          <a:xfrm>
            <a:off x="713232" y="374446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3" name="Text 10"/>
          <p:cNvSpPr txBox="1"/>
          <p:nvPr/>
        </p:nvSpPr>
        <p:spPr>
          <a:xfrm>
            <a:off x="1371600" y="3474720"/>
            <a:ext cx="10149840" cy="996696"/>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Which of the three engines of urban growth dominates in this case, and how do you know from the evidence given?</a:t>
            </a:r>
            <a:endParaRPr lang="en-US" sz="1300" dirty="0"/>
          </a:p>
        </p:txBody>
      </p:sp>
      <p:sp>
        <p:nvSpPr>
          <p:cNvPr id="14" name="Shape 11"/>
          <p:cNvSpPr/>
          <p:nvPr/>
        </p:nvSpPr>
        <p:spPr>
          <a:xfrm>
            <a:off x="502920" y="4690872"/>
            <a:ext cx="11201400" cy="1143000"/>
          </a:xfrm>
          <a:prstGeom prst="roundRect">
            <a:avLst>
              <a:gd name="adj" fmla="val 6400"/>
            </a:avLst>
          </a:prstGeom>
          <a:solidFill>
            <a:srgbClr val="E7EEF7"/>
          </a:solidFill>
          <a:ln/>
        </p:spPr>
      </p:sp>
      <p:sp>
        <p:nvSpPr>
          <p:cNvPr id="15" name="Shape 12"/>
          <p:cNvSpPr/>
          <p:nvPr/>
        </p:nvSpPr>
        <p:spPr>
          <a:xfrm>
            <a:off x="713232" y="5033772"/>
            <a:ext cx="457200" cy="457200"/>
          </a:xfrm>
          <a:prstGeom prst="ellipse">
            <a:avLst/>
          </a:prstGeom>
          <a:solidFill>
            <a:srgbClr val="1B2A4A"/>
          </a:solidFill>
          <a:ln/>
        </p:spPr>
      </p:sp>
      <p:sp>
        <p:nvSpPr>
          <p:cNvPr id="16" name="Text 13"/>
          <p:cNvSpPr txBox="1"/>
          <p:nvPr/>
        </p:nvSpPr>
        <p:spPr>
          <a:xfrm>
            <a:off x="713232" y="503377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7" name="Text 14"/>
          <p:cNvSpPr txBox="1"/>
          <p:nvPr/>
        </p:nvSpPr>
        <p:spPr>
          <a:xfrm>
            <a:off x="1371600" y="4764024"/>
            <a:ext cx="10149840" cy="996696"/>
          </a:xfrm>
          <a:prstGeom prst="rect">
            <a:avLst/>
          </a:prstGeom>
          <a:noFill/>
          <a:ln/>
        </p:spPr>
        <p:txBody>
          <a:bodyPr wrap="square" lIns="0" tIns="0" rIns="0" bIns="0" rtlCol="0" anchor="ctr"/>
          <a:lstStyle/>
          <a:p>
            <a:pPr marL="0" indent="0">
              <a:lnSpc>
                <a:spcPct val="110000"/>
              </a:lnSpc>
              <a:buNone/>
            </a:pPr>
            <a:r>
              <a:rPr lang="en-US" sz="1300" dirty="0">
                <a:solidFill>
                  <a:srgbClr val="17233A"/>
                </a:solidFill>
                <a:latin typeface="Calibri" pitchFamily="34" charset="0"/>
                <a:ea typeface="Calibri" pitchFamily="34" charset="-122"/>
                <a:cs typeface="Calibri" pitchFamily="34" charset="-120"/>
              </a:rPr>
              <a:t>What is one infrastructure or policy consequence of this growth pattern for the city or country?</a:t>
            </a:r>
            <a:endParaRPr lang="en-US" sz="1300" dirty="0"/>
          </a:p>
        </p:txBody>
      </p:sp>
      <p:sp>
        <p:nvSpPr>
          <p:cNvPr id="18" name="Text 15"/>
          <p:cNvSpPr txBox="1"/>
          <p:nvPr/>
        </p:nvSpPr>
        <p:spPr>
          <a:xfrm>
            <a:off x="548640" y="6025896"/>
            <a:ext cx="11064240" cy="365760"/>
          </a:xfrm>
          <a:prstGeom prst="rect">
            <a:avLst/>
          </a:prstGeom>
          <a:noFill/>
          <a:ln/>
        </p:spPr>
        <p:txBody>
          <a:bodyPr wrap="square" lIns="0" tIns="0" rIns="0" bIns="0" rtlCol="0" anchor="ctr"/>
          <a:lstStyle/>
          <a:p>
            <a:pPr marL="0" indent="0">
              <a:buNone/>
            </a:pPr>
            <a:r>
              <a:rPr lang="en-US" sz="1200" i="1" dirty="0">
                <a:solidFill>
                  <a:srgbClr val="5B6B82"/>
                </a:solidFill>
                <a:latin typeface="Calibri" pitchFamily="34" charset="0"/>
                <a:ea typeface="Calibri" pitchFamily="34" charset="-122"/>
                <a:cs typeface="Calibri" pitchFamily="34" charset="-120"/>
              </a:rPr>
              <a:t>Report-back: each group presents for the allotted time, then answers both guiding questions before the synthesis discussion.</a:t>
            </a:r>
            <a:endParaRPr lang="en-US" sz="1200" dirty="0"/>
          </a:p>
        </p:txBody>
      </p:sp>
      <p:sp>
        <p:nvSpPr>
          <p:cNvPr id="19" name="Text 16"/>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20" name="Text 17"/>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44 / 57</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GROUP WORK 2</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Assigned Cases</a:t>
            </a:r>
            <a:endParaRPr lang="en-US" sz="2900" dirty="0"/>
          </a:p>
        </p:txBody>
      </p:sp>
      <p:sp>
        <p:nvSpPr>
          <p:cNvPr id="4" name="Shape 2"/>
          <p:cNvSpPr/>
          <p:nvPr/>
        </p:nvSpPr>
        <p:spPr>
          <a:xfrm>
            <a:off x="502920" y="1600200"/>
            <a:ext cx="3611880" cy="4297680"/>
          </a:xfrm>
          <a:prstGeom prst="roundRect">
            <a:avLst>
              <a:gd name="adj" fmla="val 2532"/>
            </a:avLst>
          </a:prstGeom>
          <a:solidFill>
            <a:srgbClr val="F3F6FA"/>
          </a:solidFill>
          <a:ln/>
        </p:spPr>
      </p:sp>
      <p:sp>
        <p:nvSpPr>
          <p:cNvPr id="5" name="Shape 3"/>
          <p:cNvSpPr/>
          <p:nvPr/>
        </p:nvSpPr>
        <p:spPr>
          <a:xfrm>
            <a:off x="502920" y="1600200"/>
            <a:ext cx="3611880" cy="502920"/>
          </a:xfrm>
          <a:prstGeom prst="roundRect">
            <a:avLst>
              <a:gd name="adj" fmla="val 18182"/>
            </a:avLst>
          </a:prstGeom>
          <a:solidFill>
            <a:srgbClr val="1B2A4A"/>
          </a:solidFill>
          <a:ln/>
        </p:spPr>
      </p:sp>
      <p:sp>
        <p:nvSpPr>
          <p:cNvPr id="6" name="Text 4"/>
          <p:cNvSpPr txBox="1"/>
          <p:nvPr/>
        </p:nvSpPr>
        <p:spPr>
          <a:xfrm>
            <a:off x="502920" y="1600200"/>
            <a:ext cx="3611880" cy="502920"/>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GROUP 1</a:t>
            </a:r>
            <a:endParaRPr lang="en-US" sz="1300" dirty="0"/>
          </a:p>
        </p:txBody>
      </p:sp>
      <p:sp>
        <p:nvSpPr>
          <p:cNvPr id="7" name="Text 5"/>
          <p:cNvSpPr txBox="1"/>
          <p:nvPr/>
        </p:nvSpPr>
        <p:spPr>
          <a:xfrm>
            <a:off x="685800" y="2240280"/>
            <a:ext cx="3246120" cy="777240"/>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Lagos, Nigeria — Migration-Driven Megacity</a:t>
            </a:r>
            <a:endParaRPr lang="en-US" sz="1550" dirty="0"/>
          </a:p>
        </p:txBody>
      </p:sp>
      <p:sp>
        <p:nvSpPr>
          <p:cNvPr id="8" name="Text 6"/>
          <p:cNvSpPr txBox="1"/>
          <p:nvPr/>
        </p:nvSpPr>
        <p:spPr>
          <a:xfrm>
            <a:off x="685800" y="3063240"/>
            <a:ext cx="3246120" cy="2377440"/>
          </a:xfrm>
          <a:prstGeom prst="rect">
            <a:avLst/>
          </a:prstGeom>
          <a:noFill/>
          <a:ln/>
        </p:spPr>
        <p:txBody>
          <a:bodyPr wrap="square" lIns="0" tIns="0" rIns="0" bIns="0" rtlCol="0" anchor="ctr"/>
          <a:lstStyle/>
          <a:p>
            <a:pPr marL="0" indent="0">
              <a:lnSpc>
                <a:spcPct val="115000"/>
              </a:lnSpc>
              <a:buNone/>
            </a:pPr>
            <a:r>
              <a:rPr lang="en-US" sz="1200" dirty="0">
                <a:solidFill>
                  <a:srgbClr val="17233A"/>
                </a:solidFill>
                <a:latin typeface="Calibri" pitchFamily="34" charset="0"/>
                <a:ea typeface="Calibri" pitchFamily="34" charset="-122"/>
                <a:cs typeface="Calibri" pitchFamily="34" charset="-120"/>
              </a:rPr>
              <a:t>Lagos's population reached roughly 16.5-17.2 million in 2024-2025, adding about 1.1 million people a year (≈3.3-3.75% annual growth) — reflecting strong rural-urban migration layered on high natural increase.</a:t>
            </a:r>
            <a:endParaRPr lang="en-US" sz="1200" dirty="0"/>
          </a:p>
        </p:txBody>
      </p:sp>
      <p:sp>
        <p:nvSpPr>
          <p:cNvPr id="9" name="Text 7"/>
          <p:cNvSpPr txBox="1"/>
          <p:nvPr/>
        </p:nvSpPr>
        <p:spPr>
          <a:xfrm>
            <a:off x="685800" y="5394960"/>
            <a:ext cx="3246120" cy="457200"/>
          </a:xfrm>
          <a:prstGeom prst="rect">
            <a:avLst/>
          </a:prstGeom>
          <a:noFill/>
          <a:ln/>
        </p:spPr>
        <p:txBody>
          <a:bodyPr wrap="square" lIns="0" tIns="0" rIns="0" bIns="0" rtlCol="0" anchor="ctr"/>
          <a:lstStyle/>
          <a:p>
            <a:pPr marL="0" indent="0">
              <a:buNone/>
            </a:pPr>
            <a:r>
              <a:rPr lang="en-US" sz="950" i="1" dirty="0">
                <a:solidFill>
                  <a:srgbClr val="5B6B82"/>
                </a:solidFill>
                <a:latin typeface="Calibri" pitchFamily="34" charset="0"/>
                <a:ea typeface="Calibri" pitchFamily="34" charset="-122"/>
                <a:cs typeface="Calibri" pitchFamily="34" charset="-120"/>
              </a:rPr>
              <a:t>Statista/World Population Review (2024-2025) estimates.</a:t>
            </a:r>
            <a:endParaRPr lang="en-US" sz="950" dirty="0"/>
          </a:p>
        </p:txBody>
      </p:sp>
      <p:sp>
        <p:nvSpPr>
          <p:cNvPr id="10" name="Shape 8"/>
          <p:cNvSpPr/>
          <p:nvPr/>
        </p:nvSpPr>
        <p:spPr>
          <a:xfrm>
            <a:off x="4297680" y="1600200"/>
            <a:ext cx="3611880" cy="4297680"/>
          </a:xfrm>
          <a:prstGeom prst="roundRect">
            <a:avLst>
              <a:gd name="adj" fmla="val 2532"/>
            </a:avLst>
          </a:prstGeom>
          <a:solidFill>
            <a:srgbClr val="F3F6FA"/>
          </a:solidFill>
          <a:ln/>
        </p:spPr>
      </p:sp>
      <p:sp>
        <p:nvSpPr>
          <p:cNvPr id="11" name="Shape 9"/>
          <p:cNvSpPr/>
          <p:nvPr/>
        </p:nvSpPr>
        <p:spPr>
          <a:xfrm>
            <a:off x="4297680" y="1600200"/>
            <a:ext cx="3611880" cy="502920"/>
          </a:xfrm>
          <a:prstGeom prst="roundRect">
            <a:avLst>
              <a:gd name="adj" fmla="val 18182"/>
            </a:avLst>
          </a:prstGeom>
          <a:solidFill>
            <a:srgbClr val="1B2A4A"/>
          </a:solidFill>
          <a:ln/>
        </p:spPr>
      </p:sp>
      <p:sp>
        <p:nvSpPr>
          <p:cNvPr id="12" name="Text 10"/>
          <p:cNvSpPr txBox="1"/>
          <p:nvPr/>
        </p:nvSpPr>
        <p:spPr>
          <a:xfrm>
            <a:off x="4297680" y="1600200"/>
            <a:ext cx="3611880" cy="502920"/>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GROUP 2</a:t>
            </a:r>
            <a:endParaRPr lang="en-US" sz="1300" dirty="0"/>
          </a:p>
        </p:txBody>
      </p:sp>
      <p:sp>
        <p:nvSpPr>
          <p:cNvPr id="13" name="Text 11"/>
          <p:cNvSpPr txBox="1"/>
          <p:nvPr/>
        </p:nvSpPr>
        <p:spPr>
          <a:xfrm>
            <a:off x="4480560" y="2240280"/>
            <a:ext cx="3246120" cy="777240"/>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Thailand — Reclassification &amp; Slower Growth</a:t>
            </a:r>
            <a:endParaRPr lang="en-US" sz="1550" dirty="0"/>
          </a:p>
        </p:txBody>
      </p:sp>
      <p:sp>
        <p:nvSpPr>
          <p:cNvPr id="14" name="Text 12"/>
          <p:cNvSpPr txBox="1"/>
          <p:nvPr/>
        </p:nvSpPr>
        <p:spPr>
          <a:xfrm>
            <a:off x="4480560" y="3063240"/>
            <a:ext cx="3246120" cy="2377440"/>
          </a:xfrm>
          <a:prstGeom prst="rect">
            <a:avLst/>
          </a:prstGeom>
          <a:noFill/>
          <a:ln/>
        </p:spPr>
        <p:txBody>
          <a:bodyPr wrap="square" lIns="0" tIns="0" rIns="0" bIns="0" rtlCol="0" anchor="ctr"/>
          <a:lstStyle/>
          <a:p>
            <a:pPr marL="0" indent="0">
              <a:lnSpc>
                <a:spcPct val="115000"/>
              </a:lnSpc>
              <a:buNone/>
            </a:pPr>
            <a:r>
              <a:rPr lang="en-US" sz="1200" dirty="0">
                <a:solidFill>
                  <a:srgbClr val="17233A"/>
                </a:solidFill>
                <a:latin typeface="Calibri" pitchFamily="34" charset="0"/>
                <a:ea typeface="Calibri" pitchFamily="34" charset="-122"/>
                <a:cs typeface="Calibri" pitchFamily="34" charset="-120"/>
              </a:rPr>
              <a:t>Thailand's official urban share is reported as 54.3% (World Bank, 2024) but 61.9% under alternate methodology (Statista) — the gap reflects reclassification of municipalities and administrative boundary changes, not sudden migration surges.</a:t>
            </a:r>
            <a:endParaRPr lang="en-US" sz="1200" dirty="0"/>
          </a:p>
        </p:txBody>
      </p:sp>
      <p:sp>
        <p:nvSpPr>
          <p:cNvPr id="15" name="Text 13"/>
          <p:cNvSpPr txBox="1"/>
          <p:nvPr/>
        </p:nvSpPr>
        <p:spPr>
          <a:xfrm>
            <a:off x="4480560" y="5394960"/>
            <a:ext cx="3246120" cy="457200"/>
          </a:xfrm>
          <a:prstGeom prst="rect">
            <a:avLst/>
          </a:prstGeom>
          <a:noFill/>
          <a:ln/>
        </p:spPr>
        <p:txBody>
          <a:bodyPr wrap="square" lIns="0" tIns="0" rIns="0" bIns="0" rtlCol="0" anchor="ctr"/>
          <a:lstStyle/>
          <a:p>
            <a:pPr marL="0" indent="0">
              <a:buNone/>
            </a:pPr>
            <a:r>
              <a:rPr lang="en-US" sz="950" i="1" dirty="0">
                <a:solidFill>
                  <a:srgbClr val="5B6B82"/>
                </a:solidFill>
                <a:latin typeface="Calibri" pitchFamily="34" charset="0"/>
                <a:ea typeface="Calibri" pitchFamily="34" charset="-122"/>
                <a:cs typeface="Calibri" pitchFamily="34" charset="-120"/>
              </a:rPr>
              <a:t>World Bank (2024); Statista (2024) urbanization data.</a:t>
            </a:r>
            <a:endParaRPr lang="en-US" sz="950" dirty="0"/>
          </a:p>
        </p:txBody>
      </p:sp>
      <p:sp>
        <p:nvSpPr>
          <p:cNvPr id="16" name="Shape 14"/>
          <p:cNvSpPr/>
          <p:nvPr/>
        </p:nvSpPr>
        <p:spPr>
          <a:xfrm>
            <a:off x="8092440" y="1600200"/>
            <a:ext cx="3611880" cy="4297680"/>
          </a:xfrm>
          <a:prstGeom prst="roundRect">
            <a:avLst>
              <a:gd name="adj" fmla="val 2532"/>
            </a:avLst>
          </a:prstGeom>
          <a:solidFill>
            <a:srgbClr val="F3F6FA"/>
          </a:solidFill>
          <a:ln/>
        </p:spPr>
      </p:sp>
      <p:sp>
        <p:nvSpPr>
          <p:cNvPr id="17" name="Shape 15"/>
          <p:cNvSpPr/>
          <p:nvPr/>
        </p:nvSpPr>
        <p:spPr>
          <a:xfrm>
            <a:off x="8092440" y="1600200"/>
            <a:ext cx="3611880" cy="502920"/>
          </a:xfrm>
          <a:prstGeom prst="roundRect">
            <a:avLst>
              <a:gd name="adj" fmla="val 18182"/>
            </a:avLst>
          </a:prstGeom>
          <a:solidFill>
            <a:srgbClr val="1B2A4A"/>
          </a:solidFill>
          <a:ln/>
        </p:spPr>
      </p:sp>
      <p:sp>
        <p:nvSpPr>
          <p:cNvPr id="18" name="Text 16"/>
          <p:cNvSpPr txBox="1"/>
          <p:nvPr/>
        </p:nvSpPr>
        <p:spPr>
          <a:xfrm>
            <a:off x="8092440" y="1600200"/>
            <a:ext cx="3611880" cy="502920"/>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GROUP 3</a:t>
            </a:r>
            <a:endParaRPr lang="en-US" sz="1300" dirty="0"/>
          </a:p>
        </p:txBody>
      </p:sp>
      <p:sp>
        <p:nvSpPr>
          <p:cNvPr id="19" name="Text 17"/>
          <p:cNvSpPr txBox="1"/>
          <p:nvPr/>
        </p:nvSpPr>
        <p:spPr>
          <a:xfrm>
            <a:off x="8275320" y="2240280"/>
            <a:ext cx="3246120" cy="777240"/>
          </a:xfrm>
          <a:prstGeom prst="rect">
            <a:avLst/>
          </a:prstGeom>
          <a:noFill/>
          <a:ln/>
        </p:spPr>
        <p:txBody>
          <a:bodyPr wrap="square" lIns="0" tIns="0" rIns="0" bIns="0"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Rwanda — Satellite Data for Urban Planning</a:t>
            </a:r>
            <a:endParaRPr lang="en-US" sz="1550" dirty="0"/>
          </a:p>
        </p:txBody>
      </p:sp>
      <p:sp>
        <p:nvSpPr>
          <p:cNvPr id="20" name="Text 18"/>
          <p:cNvSpPr txBox="1"/>
          <p:nvPr/>
        </p:nvSpPr>
        <p:spPr>
          <a:xfrm>
            <a:off x="8275320" y="3063240"/>
            <a:ext cx="3246120" cy="2377440"/>
          </a:xfrm>
          <a:prstGeom prst="rect">
            <a:avLst/>
          </a:prstGeom>
          <a:noFill/>
          <a:ln/>
        </p:spPr>
        <p:txBody>
          <a:bodyPr wrap="square" lIns="0" tIns="0" rIns="0" bIns="0" rtlCol="0" anchor="ctr"/>
          <a:lstStyle/>
          <a:p>
            <a:pPr marL="0" indent="0">
              <a:lnSpc>
                <a:spcPct val="115000"/>
              </a:lnSpc>
              <a:buNone/>
            </a:pPr>
            <a:r>
              <a:rPr lang="en-US" sz="1200" dirty="0">
                <a:solidFill>
                  <a:srgbClr val="17233A"/>
                </a:solidFill>
                <a:latin typeface="Calibri" pitchFamily="34" charset="0"/>
                <a:ea typeface="Calibri" pitchFamily="34" charset="-122"/>
                <a:cs typeface="Calibri" pitchFamily="34" charset="-120"/>
              </a:rPr>
              <a:t>In 2024, Rwanda's Space Agency partnered with Planet to roll out a national satellite-imagery program, giving government agencies daily feeds used to refine urban planning and zoning in Kigali and beyond.</a:t>
            </a:r>
            <a:endParaRPr lang="en-US" sz="1200" dirty="0"/>
          </a:p>
        </p:txBody>
      </p:sp>
      <p:sp>
        <p:nvSpPr>
          <p:cNvPr id="21" name="Text 19"/>
          <p:cNvSpPr txBox="1"/>
          <p:nvPr/>
        </p:nvSpPr>
        <p:spPr>
          <a:xfrm>
            <a:off x="8275320" y="5394960"/>
            <a:ext cx="3246120" cy="457200"/>
          </a:xfrm>
          <a:prstGeom prst="rect">
            <a:avLst/>
          </a:prstGeom>
          <a:noFill/>
          <a:ln/>
        </p:spPr>
        <p:txBody>
          <a:bodyPr wrap="square" lIns="0" tIns="0" rIns="0" bIns="0" rtlCol="0" anchor="ctr"/>
          <a:lstStyle/>
          <a:p>
            <a:pPr marL="0" indent="0">
              <a:buNone/>
            </a:pPr>
            <a:r>
              <a:rPr lang="en-US" sz="950" i="1" dirty="0">
                <a:solidFill>
                  <a:srgbClr val="5B6B82"/>
                </a:solidFill>
                <a:latin typeface="Calibri" pitchFamily="34" charset="0"/>
                <a:ea typeface="Calibri" pitchFamily="34" charset="-122"/>
                <a:cs typeface="Calibri" pitchFamily="34" charset="-120"/>
              </a:rPr>
              <a:t>Planet &amp; Government of Rwanda (2024) program announcement.</a:t>
            </a:r>
            <a:endParaRPr lang="en-US" sz="950" dirty="0"/>
          </a:p>
        </p:txBody>
      </p:sp>
      <p:sp>
        <p:nvSpPr>
          <p:cNvPr id="22" name="Text 20"/>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23" name="Text 21"/>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45 / 57</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CONNECTING THE THREADS</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The Migration–Urbanization–Development Nexus</a:t>
            </a:r>
            <a:endParaRPr lang="en-US" sz="2900" dirty="0"/>
          </a:p>
        </p:txBody>
      </p:sp>
      <p:sp>
        <p:nvSpPr>
          <p:cNvPr id="4" name="Shape 2"/>
          <p:cNvSpPr/>
          <p:nvPr/>
        </p:nvSpPr>
        <p:spPr>
          <a:xfrm>
            <a:off x="502920" y="2011680"/>
            <a:ext cx="3550920" cy="3337560"/>
          </a:xfrm>
          <a:prstGeom prst="roundRect">
            <a:avLst>
              <a:gd name="adj" fmla="val 2466"/>
            </a:avLst>
          </a:prstGeom>
          <a:solidFill>
            <a:srgbClr val="F3F6FA"/>
          </a:solidFill>
          <a:ln/>
        </p:spPr>
      </p:sp>
      <p:sp>
        <p:nvSpPr>
          <p:cNvPr id="5" name="Shape 3"/>
          <p:cNvSpPr/>
          <p:nvPr/>
        </p:nvSpPr>
        <p:spPr>
          <a:xfrm>
            <a:off x="1912620" y="2267712"/>
            <a:ext cx="731520" cy="731520"/>
          </a:xfrm>
          <a:prstGeom prst="ellipse">
            <a:avLst/>
          </a:prstGeom>
          <a:solidFill>
            <a:srgbClr val="1B2A4A"/>
          </a:solidFill>
          <a:ln/>
        </p:spPr>
      </p:sp>
      <p:pic>
        <p:nvPicPr>
          <p:cNvPr id="6" name="Image 0" descr="/sessions/blissful-modest-newton/mnt/outputs/scratch/build/icons/arrows.png"/>
          <p:cNvPicPr>
            <a:picLocks noChangeAspect="1"/>
          </p:cNvPicPr>
          <p:nvPr/>
        </p:nvPicPr>
        <p:blipFill>
          <a:blip r:embed="rId3"/>
          <a:stretch>
            <a:fillRect/>
          </a:stretch>
        </p:blipFill>
        <p:spPr>
          <a:xfrm>
            <a:off x="2073554" y="2428646"/>
            <a:ext cx="409651" cy="409651"/>
          </a:xfrm>
          <a:prstGeom prst="rect">
            <a:avLst/>
          </a:prstGeom>
        </p:spPr>
      </p:pic>
      <p:sp>
        <p:nvSpPr>
          <p:cNvPr id="7" name="Text 4"/>
          <p:cNvSpPr txBox="1"/>
          <p:nvPr/>
        </p:nvSpPr>
        <p:spPr>
          <a:xfrm>
            <a:off x="685800" y="3127248"/>
            <a:ext cx="3185160" cy="594360"/>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1.  Migration</a:t>
            </a:r>
            <a:endParaRPr lang="en-US" sz="1450" dirty="0"/>
          </a:p>
        </p:txBody>
      </p:sp>
      <p:sp>
        <p:nvSpPr>
          <p:cNvPr id="8" name="Text 5"/>
          <p:cNvSpPr txBox="1"/>
          <p:nvPr/>
        </p:nvSpPr>
        <p:spPr>
          <a:xfrm>
            <a:off x="704088" y="3794760"/>
            <a:ext cx="3148584" cy="1417320"/>
          </a:xfrm>
          <a:prstGeom prst="rect">
            <a:avLst/>
          </a:prstGeom>
          <a:noFill/>
          <a:ln/>
        </p:spPr>
        <p:txBody>
          <a:bodyPr wrap="square" lIns="0" tIns="0" rIns="0" bIns="0" rtlCol="0" anchor="ctr"/>
          <a:lstStyle/>
          <a:p>
            <a:pPr marL="0" indent="0">
              <a:lnSpc>
                <a:spcPct val="112000"/>
              </a:lnSpc>
              <a:buNone/>
            </a:pPr>
            <a:r>
              <a:rPr lang="en-US" sz="1200" dirty="0">
                <a:solidFill>
                  <a:srgbClr val="17233A"/>
                </a:solidFill>
                <a:latin typeface="Calibri" pitchFamily="34" charset="0"/>
                <a:ea typeface="Calibri" pitchFamily="34" charset="-122"/>
                <a:cs typeface="Calibri" pitchFamily="34" charset="-120"/>
              </a:rPr>
              <a:t>Rural-urban and international flows concentrate people, labor, and remittance capital in cities.</a:t>
            </a:r>
            <a:endParaRPr lang="en-US" sz="1200" dirty="0"/>
          </a:p>
        </p:txBody>
      </p:sp>
      <p:sp>
        <p:nvSpPr>
          <p:cNvPr id="9" name="Shape 6"/>
          <p:cNvSpPr/>
          <p:nvPr/>
        </p:nvSpPr>
        <p:spPr>
          <a:xfrm>
            <a:off x="4328160" y="2011680"/>
            <a:ext cx="3550920" cy="3337560"/>
          </a:xfrm>
          <a:prstGeom prst="roundRect">
            <a:avLst>
              <a:gd name="adj" fmla="val 2466"/>
            </a:avLst>
          </a:prstGeom>
          <a:solidFill>
            <a:srgbClr val="E7EEF7"/>
          </a:solidFill>
          <a:ln/>
        </p:spPr>
      </p:sp>
      <p:sp>
        <p:nvSpPr>
          <p:cNvPr id="10" name="Shape 7"/>
          <p:cNvSpPr/>
          <p:nvPr/>
        </p:nvSpPr>
        <p:spPr>
          <a:xfrm>
            <a:off x="5737860" y="2267712"/>
            <a:ext cx="731520" cy="731520"/>
          </a:xfrm>
          <a:prstGeom prst="ellipse">
            <a:avLst/>
          </a:prstGeom>
          <a:solidFill>
            <a:srgbClr val="1B2A4A"/>
          </a:solidFill>
          <a:ln/>
        </p:spPr>
      </p:sp>
      <p:pic>
        <p:nvPicPr>
          <p:cNvPr id="11" name="Image 1" descr="/sessions/blissful-modest-newton/mnt/outputs/scratch/build/icons/city.png"/>
          <p:cNvPicPr>
            <a:picLocks noChangeAspect="1"/>
          </p:cNvPicPr>
          <p:nvPr/>
        </p:nvPicPr>
        <p:blipFill>
          <a:blip r:embed="rId4"/>
          <a:stretch>
            <a:fillRect/>
          </a:stretch>
        </p:blipFill>
        <p:spPr>
          <a:xfrm>
            <a:off x="5898794" y="2428646"/>
            <a:ext cx="409651" cy="409651"/>
          </a:xfrm>
          <a:prstGeom prst="rect">
            <a:avLst/>
          </a:prstGeom>
        </p:spPr>
      </p:pic>
      <p:sp>
        <p:nvSpPr>
          <p:cNvPr id="12" name="Text 8"/>
          <p:cNvSpPr txBox="1"/>
          <p:nvPr/>
        </p:nvSpPr>
        <p:spPr>
          <a:xfrm>
            <a:off x="4511040" y="3127248"/>
            <a:ext cx="3185160" cy="594360"/>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2.  Urbanization</a:t>
            </a:r>
            <a:endParaRPr lang="en-US" sz="1450" dirty="0"/>
          </a:p>
        </p:txBody>
      </p:sp>
      <p:sp>
        <p:nvSpPr>
          <p:cNvPr id="13" name="Text 9"/>
          <p:cNvSpPr txBox="1"/>
          <p:nvPr/>
        </p:nvSpPr>
        <p:spPr>
          <a:xfrm>
            <a:off x="4529328" y="3794760"/>
            <a:ext cx="3148584" cy="1417320"/>
          </a:xfrm>
          <a:prstGeom prst="rect">
            <a:avLst/>
          </a:prstGeom>
          <a:noFill/>
          <a:ln/>
        </p:spPr>
        <p:txBody>
          <a:bodyPr wrap="square" lIns="0" tIns="0" rIns="0" bIns="0" rtlCol="0" anchor="ctr"/>
          <a:lstStyle/>
          <a:p>
            <a:pPr marL="0" indent="0">
              <a:lnSpc>
                <a:spcPct val="112000"/>
              </a:lnSpc>
              <a:buNone/>
            </a:pPr>
            <a:r>
              <a:rPr lang="en-US" sz="1200" dirty="0">
                <a:solidFill>
                  <a:srgbClr val="17233A"/>
                </a:solidFill>
                <a:latin typeface="Calibri" pitchFamily="34" charset="0"/>
                <a:ea typeface="Calibri" pitchFamily="34" charset="-122"/>
                <a:cs typeface="Calibri" pitchFamily="34" charset="-120"/>
              </a:rPr>
              <a:t>Cities grow denser and larger, straining (or building) housing, transit, and service infrastructure.</a:t>
            </a:r>
            <a:endParaRPr lang="en-US" sz="1200" dirty="0"/>
          </a:p>
        </p:txBody>
      </p:sp>
      <p:sp>
        <p:nvSpPr>
          <p:cNvPr id="14" name="Shape 10"/>
          <p:cNvSpPr/>
          <p:nvPr/>
        </p:nvSpPr>
        <p:spPr>
          <a:xfrm>
            <a:off x="8153400" y="2011680"/>
            <a:ext cx="3550920" cy="3337560"/>
          </a:xfrm>
          <a:prstGeom prst="roundRect">
            <a:avLst>
              <a:gd name="adj" fmla="val 2466"/>
            </a:avLst>
          </a:prstGeom>
          <a:solidFill>
            <a:srgbClr val="F3F6FA"/>
          </a:solidFill>
          <a:ln/>
        </p:spPr>
      </p:sp>
      <p:sp>
        <p:nvSpPr>
          <p:cNvPr id="15" name="Shape 11"/>
          <p:cNvSpPr/>
          <p:nvPr/>
        </p:nvSpPr>
        <p:spPr>
          <a:xfrm>
            <a:off x="9563100" y="2267712"/>
            <a:ext cx="731520" cy="731520"/>
          </a:xfrm>
          <a:prstGeom prst="ellipse">
            <a:avLst/>
          </a:prstGeom>
          <a:solidFill>
            <a:srgbClr val="1B2A4A"/>
          </a:solidFill>
          <a:ln/>
        </p:spPr>
      </p:sp>
      <p:pic>
        <p:nvPicPr>
          <p:cNvPr id="16" name="Image 2" descr="/sessions/blissful-modest-newton/mnt/outputs/scratch/build/icons/chart.png"/>
          <p:cNvPicPr>
            <a:picLocks noChangeAspect="1"/>
          </p:cNvPicPr>
          <p:nvPr/>
        </p:nvPicPr>
        <p:blipFill>
          <a:blip r:embed="rId5"/>
          <a:stretch>
            <a:fillRect/>
          </a:stretch>
        </p:blipFill>
        <p:spPr>
          <a:xfrm>
            <a:off x="9724034" y="2428646"/>
            <a:ext cx="409651" cy="409651"/>
          </a:xfrm>
          <a:prstGeom prst="rect">
            <a:avLst/>
          </a:prstGeom>
        </p:spPr>
      </p:pic>
      <p:sp>
        <p:nvSpPr>
          <p:cNvPr id="17" name="Text 12"/>
          <p:cNvSpPr txBox="1"/>
          <p:nvPr/>
        </p:nvSpPr>
        <p:spPr>
          <a:xfrm>
            <a:off x="8336280" y="3127248"/>
            <a:ext cx="3185160" cy="594360"/>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3.  Development</a:t>
            </a:r>
            <a:endParaRPr lang="en-US" sz="1450" dirty="0"/>
          </a:p>
        </p:txBody>
      </p:sp>
      <p:sp>
        <p:nvSpPr>
          <p:cNvPr id="18" name="Text 13"/>
          <p:cNvSpPr txBox="1"/>
          <p:nvPr/>
        </p:nvSpPr>
        <p:spPr>
          <a:xfrm>
            <a:off x="8354568" y="3794760"/>
            <a:ext cx="3148584" cy="1417320"/>
          </a:xfrm>
          <a:prstGeom prst="rect">
            <a:avLst/>
          </a:prstGeom>
          <a:noFill/>
          <a:ln/>
        </p:spPr>
        <p:txBody>
          <a:bodyPr wrap="square" lIns="0" tIns="0" rIns="0" bIns="0" rtlCol="0" anchor="ctr"/>
          <a:lstStyle/>
          <a:p>
            <a:pPr marL="0" indent="0">
              <a:lnSpc>
                <a:spcPct val="112000"/>
              </a:lnSpc>
              <a:buNone/>
            </a:pPr>
            <a:r>
              <a:rPr lang="en-US" sz="1200" dirty="0">
                <a:solidFill>
                  <a:srgbClr val="17233A"/>
                </a:solidFill>
                <a:latin typeface="Calibri" pitchFamily="34" charset="0"/>
                <a:ea typeface="Calibri" pitchFamily="34" charset="-122"/>
                <a:cs typeface="Calibri" pitchFamily="34" charset="-120"/>
              </a:rPr>
              <a:t>Agglomeration raises productivity — but only if governance and planning keep pace with growth.</a:t>
            </a:r>
            <a:endParaRPr lang="en-US" sz="1200" dirty="0"/>
          </a:p>
        </p:txBody>
      </p:sp>
      <p:sp>
        <p:nvSpPr>
          <p:cNvPr id="19" name="Text 14"/>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20" name="Text 15"/>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46 / 57</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SYNTHESIS</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Measuring Mobility in 2026: A Layered Toolkit</a:t>
            </a:r>
            <a:endParaRPr lang="en-US" sz="2900" dirty="0"/>
          </a:p>
        </p:txBody>
      </p:sp>
      <p:sp>
        <p:nvSpPr>
          <p:cNvPr id="4" name="Shape 2"/>
          <p:cNvSpPr/>
          <p:nvPr/>
        </p:nvSpPr>
        <p:spPr>
          <a:xfrm>
            <a:off x="502920" y="2011680"/>
            <a:ext cx="3550920" cy="3337560"/>
          </a:xfrm>
          <a:prstGeom prst="roundRect">
            <a:avLst>
              <a:gd name="adj" fmla="val 2466"/>
            </a:avLst>
          </a:prstGeom>
          <a:solidFill>
            <a:srgbClr val="F3F6FA"/>
          </a:solidFill>
          <a:ln/>
        </p:spPr>
      </p:sp>
      <p:sp>
        <p:nvSpPr>
          <p:cNvPr id="5" name="Shape 3"/>
          <p:cNvSpPr/>
          <p:nvPr/>
        </p:nvSpPr>
        <p:spPr>
          <a:xfrm>
            <a:off x="1912620" y="2267712"/>
            <a:ext cx="731520" cy="731520"/>
          </a:xfrm>
          <a:prstGeom prst="ellipse">
            <a:avLst/>
          </a:prstGeom>
          <a:solidFill>
            <a:srgbClr val="1B2A4A"/>
          </a:solidFill>
          <a:ln/>
        </p:spPr>
      </p:sp>
      <p:pic>
        <p:nvPicPr>
          <p:cNvPr id="6" name="Image 0" descr="/sessions/blissful-modest-newton/mnt/outputs/scratch/build/icons/book.png"/>
          <p:cNvPicPr>
            <a:picLocks noChangeAspect="1"/>
          </p:cNvPicPr>
          <p:nvPr/>
        </p:nvPicPr>
        <p:blipFill>
          <a:blip r:embed="rId3"/>
          <a:stretch>
            <a:fillRect/>
          </a:stretch>
        </p:blipFill>
        <p:spPr>
          <a:xfrm>
            <a:off x="2073554" y="2428646"/>
            <a:ext cx="409651" cy="409651"/>
          </a:xfrm>
          <a:prstGeom prst="rect">
            <a:avLst/>
          </a:prstGeom>
        </p:spPr>
      </p:pic>
      <p:sp>
        <p:nvSpPr>
          <p:cNvPr id="7" name="Text 4"/>
          <p:cNvSpPr txBox="1"/>
          <p:nvPr/>
        </p:nvSpPr>
        <p:spPr>
          <a:xfrm>
            <a:off x="685800" y="3127248"/>
            <a:ext cx="3185160" cy="594360"/>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1.  Census &amp; Admin Records</a:t>
            </a:r>
            <a:endParaRPr lang="en-US" sz="1450" dirty="0"/>
          </a:p>
        </p:txBody>
      </p:sp>
      <p:sp>
        <p:nvSpPr>
          <p:cNvPr id="8" name="Text 5"/>
          <p:cNvSpPr txBox="1"/>
          <p:nvPr/>
        </p:nvSpPr>
        <p:spPr>
          <a:xfrm>
            <a:off x="704088" y="3794760"/>
            <a:ext cx="3148584" cy="1417320"/>
          </a:xfrm>
          <a:prstGeom prst="rect">
            <a:avLst/>
          </a:prstGeom>
          <a:noFill/>
          <a:ln/>
        </p:spPr>
        <p:txBody>
          <a:bodyPr wrap="square" lIns="0" tIns="0" rIns="0" bIns="0" rtlCol="0" anchor="ctr"/>
          <a:lstStyle/>
          <a:p>
            <a:pPr marL="0" indent="0">
              <a:lnSpc>
                <a:spcPct val="112000"/>
              </a:lnSpc>
              <a:buNone/>
            </a:pPr>
            <a:r>
              <a:rPr lang="en-US" sz="1200" dirty="0">
                <a:solidFill>
                  <a:srgbClr val="17233A"/>
                </a:solidFill>
                <a:latin typeface="Calibri" pitchFamily="34" charset="0"/>
                <a:ea typeface="Calibri" pitchFamily="34" charset="-122"/>
                <a:cs typeface="Calibri" pitchFamily="34" charset="-120"/>
              </a:rPr>
              <a:t>The backbone — legally defined, full-coverage, long time series, but slow to update.</a:t>
            </a:r>
            <a:endParaRPr lang="en-US" sz="1200" dirty="0"/>
          </a:p>
        </p:txBody>
      </p:sp>
      <p:sp>
        <p:nvSpPr>
          <p:cNvPr id="9" name="Shape 6"/>
          <p:cNvSpPr/>
          <p:nvPr/>
        </p:nvSpPr>
        <p:spPr>
          <a:xfrm>
            <a:off x="4328160" y="2011680"/>
            <a:ext cx="3550920" cy="3337560"/>
          </a:xfrm>
          <a:prstGeom prst="roundRect">
            <a:avLst>
              <a:gd name="adj" fmla="val 2466"/>
            </a:avLst>
          </a:prstGeom>
          <a:solidFill>
            <a:srgbClr val="E7EEF7"/>
          </a:solidFill>
          <a:ln/>
        </p:spPr>
      </p:sp>
      <p:sp>
        <p:nvSpPr>
          <p:cNvPr id="10" name="Shape 7"/>
          <p:cNvSpPr/>
          <p:nvPr/>
        </p:nvSpPr>
        <p:spPr>
          <a:xfrm>
            <a:off x="5737860" y="2267712"/>
            <a:ext cx="731520" cy="731520"/>
          </a:xfrm>
          <a:prstGeom prst="ellipse">
            <a:avLst/>
          </a:prstGeom>
          <a:solidFill>
            <a:srgbClr val="1B2A4A"/>
          </a:solidFill>
          <a:ln/>
        </p:spPr>
      </p:sp>
      <p:pic>
        <p:nvPicPr>
          <p:cNvPr id="11" name="Image 1" descr="/sessions/blissful-modest-newton/mnt/outputs/scratch/build/icons/chart.png"/>
          <p:cNvPicPr>
            <a:picLocks noChangeAspect="1"/>
          </p:cNvPicPr>
          <p:nvPr/>
        </p:nvPicPr>
        <p:blipFill>
          <a:blip r:embed="rId4"/>
          <a:stretch>
            <a:fillRect/>
          </a:stretch>
        </p:blipFill>
        <p:spPr>
          <a:xfrm>
            <a:off x="5898794" y="2428646"/>
            <a:ext cx="409651" cy="409651"/>
          </a:xfrm>
          <a:prstGeom prst="rect">
            <a:avLst/>
          </a:prstGeom>
        </p:spPr>
      </p:pic>
      <p:sp>
        <p:nvSpPr>
          <p:cNvPr id="12" name="Text 8"/>
          <p:cNvSpPr txBox="1"/>
          <p:nvPr/>
        </p:nvSpPr>
        <p:spPr>
          <a:xfrm>
            <a:off x="4511040" y="3127248"/>
            <a:ext cx="3185160" cy="594360"/>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2.  Household &amp; Migrant Surveys</a:t>
            </a:r>
            <a:endParaRPr lang="en-US" sz="1450" dirty="0"/>
          </a:p>
        </p:txBody>
      </p:sp>
      <p:sp>
        <p:nvSpPr>
          <p:cNvPr id="13" name="Text 9"/>
          <p:cNvSpPr txBox="1"/>
          <p:nvPr/>
        </p:nvSpPr>
        <p:spPr>
          <a:xfrm>
            <a:off x="4529328" y="3794760"/>
            <a:ext cx="3148584" cy="1417320"/>
          </a:xfrm>
          <a:prstGeom prst="rect">
            <a:avLst/>
          </a:prstGeom>
          <a:noFill/>
          <a:ln/>
        </p:spPr>
        <p:txBody>
          <a:bodyPr wrap="square" lIns="0" tIns="0" rIns="0" bIns="0" rtlCol="0" anchor="ctr"/>
          <a:lstStyle/>
          <a:p>
            <a:pPr marL="0" indent="0">
              <a:lnSpc>
                <a:spcPct val="112000"/>
              </a:lnSpc>
              <a:buNone/>
            </a:pPr>
            <a:r>
              <a:rPr lang="en-US" sz="1200" dirty="0">
                <a:solidFill>
                  <a:srgbClr val="17233A"/>
                </a:solidFill>
                <a:latin typeface="Calibri" pitchFamily="34" charset="0"/>
                <a:ea typeface="Calibri" pitchFamily="34" charset="-122"/>
                <a:cs typeface="Calibri" pitchFamily="34" charset="-120"/>
              </a:rPr>
              <a:t>Depth on motives, selectivity, and remittances that registers can't capture.</a:t>
            </a:r>
            <a:endParaRPr lang="en-US" sz="1200" dirty="0"/>
          </a:p>
        </p:txBody>
      </p:sp>
      <p:sp>
        <p:nvSpPr>
          <p:cNvPr id="14" name="Shape 10"/>
          <p:cNvSpPr/>
          <p:nvPr/>
        </p:nvSpPr>
        <p:spPr>
          <a:xfrm>
            <a:off x="8153400" y="2011680"/>
            <a:ext cx="3550920" cy="3337560"/>
          </a:xfrm>
          <a:prstGeom prst="roundRect">
            <a:avLst>
              <a:gd name="adj" fmla="val 2466"/>
            </a:avLst>
          </a:prstGeom>
          <a:solidFill>
            <a:srgbClr val="F3F6FA"/>
          </a:solidFill>
          <a:ln/>
        </p:spPr>
      </p:sp>
      <p:sp>
        <p:nvSpPr>
          <p:cNvPr id="15" name="Shape 11"/>
          <p:cNvSpPr/>
          <p:nvPr/>
        </p:nvSpPr>
        <p:spPr>
          <a:xfrm>
            <a:off x="9563100" y="2267712"/>
            <a:ext cx="731520" cy="731520"/>
          </a:xfrm>
          <a:prstGeom prst="ellipse">
            <a:avLst/>
          </a:prstGeom>
          <a:solidFill>
            <a:srgbClr val="1B2A4A"/>
          </a:solidFill>
          <a:ln/>
        </p:spPr>
      </p:sp>
      <p:pic>
        <p:nvPicPr>
          <p:cNvPr id="16" name="Image 2" descr="/sessions/blissful-modest-newton/mnt/outputs/scratch/build/icons/phone.png"/>
          <p:cNvPicPr>
            <a:picLocks noChangeAspect="1"/>
          </p:cNvPicPr>
          <p:nvPr/>
        </p:nvPicPr>
        <p:blipFill>
          <a:blip r:embed="rId5"/>
          <a:stretch>
            <a:fillRect/>
          </a:stretch>
        </p:blipFill>
        <p:spPr>
          <a:xfrm>
            <a:off x="9724034" y="2428646"/>
            <a:ext cx="409651" cy="409651"/>
          </a:xfrm>
          <a:prstGeom prst="rect">
            <a:avLst/>
          </a:prstGeom>
        </p:spPr>
      </p:pic>
      <p:sp>
        <p:nvSpPr>
          <p:cNvPr id="17" name="Text 12"/>
          <p:cNvSpPr txBox="1"/>
          <p:nvPr/>
        </p:nvSpPr>
        <p:spPr>
          <a:xfrm>
            <a:off x="8336280" y="3127248"/>
            <a:ext cx="3185160" cy="594360"/>
          </a:xfrm>
          <a:prstGeom prst="rect">
            <a:avLst/>
          </a:prstGeom>
          <a:noFill/>
          <a:ln/>
        </p:spPr>
        <p:txBody>
          <a:bodyPr wrap="square" lIns="0" tIns="0" rIns="0" bIns="0" rtlCol="0" anchor="ctr"/>
          <a:lstStyle/>
          <a:p>
            <a:pPr marL="0" indent="0" algn="ctr">
              <a:buNone/>
            </a:pPr>
            <a:r>
              <a:rPr lang="en-US" sz="1450" b="1" dirty="0">
                <a:solidFill>
                  <a:srgbClr val="1B2A4A"/>
                </a:solidFill>
                <a:latin typeface="Cambria" pitchFamily="34" charset="0"/>
                <a:ea typeface="Cambria" pitchFamily="34" charset="-122"/>
                <a:cs typeface="Cambria" pitchFamily="34" charset="-120"/>
              </a:rPr>
              <a:t>3.  Digital Trace Data</a:t>
            </a:r>
            <a:endParaRPr lang="en-US" sz="1450" dirty="0"/>
          </a:p>
        </p:txBody>
      </p:sp>
      <p:sp>
        <p:nvSpPr>
          <p:cNvPr id="18" name="Text 13"/>
          <p:cNvSpPr txBox="1"/>
          <p:nvPr/>
        </p:nvSpPr>
        <p:spPr>
          <a:xfrm>
            <a:off x="8354568" y="3794760"/>
            <a:ext cx="3148584" cy="1417320"/>
          </a:xfrm>
          <a:prstGeom prst="rect">
            <a:avLst/>
          </a:prstGeom>
          <a:noFill/>
          <a:ln/>
        </p:spPr>
        <p:txBody>
          <a:bodyPr wrap="square" lIns="0" tIns="0" rIns="0" bIns="0" rtlCol="0" anchor="ctr"/>
          <a:lstStyle/>
          <a:p>
            <a:pPr marL="0" indent="0">
              <a:lnSpc>
                <a:spcPct val="112000"/>
              </a:lnSpc>
              <a:buNone/>
            </a:pPr>
            <a:r>
              <a:rPr lang="en-US" sz="1200" dirty="0">
                <a:solidFill>
                  <a:srgbClr val="17233A"/>
                </a:solidFill>
                <a:latin typeface="Calibri" pitchFamily="34" charset="0"/>
                <a:ea typeface="Calibri" pitchFamily="34" charset="-122"/>
                <a:cs typeface="Calibri" pitchFamily="34" charset="-120"/>
              </a:rPr>
              <a:t>Near-real-time signals for sudden displacement, validated against ground truth.</a:t>
            </a:r>
            <a:endParaRPr lang="en-US" sz="1200" dirty="0"/>
          </a:p>
        </p:txBody>
      </p:sp>
      <p:sp>
        <p:nvSpPr>
          <p:cNvPr id="19" name="Text 14"/>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20" name="Text 15"/>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47 / 57</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WRAP-UP</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Key Takeaways</a:t>
            </a:r>
            <a:endParaRPr lang="en-US" sz="2900" dirty="0"/>
          </a:p>
        </p:txBody>
      </p:sp>
      <p:sp>
        <p:nvSpPr>
          <p:cNvPr id="4" name="Shape 2"/>
          <p:cNvSpPr/>
          <p:nvPr/>
        </p:nvSpPr>
        <p:spPr>
          <a:xfrm>
            <a:off x="502920" y="1600200"/>
            <a:ext cx="11201400" cy="694944"/>
          </a:xfrm>
          <a:prstGeom prst="roundRect">
            <a:avLst>
              <a:gd name="adj" fmla="val 9211"/>
            </a:avLst>
          </a:prstGeom>
          <a:solidFill>
            <a:srgbClr val="F3F6FA"/>
          </a:solidFill>
          <a:ln/>
        </p:spPr>
      </p:sp>
      <p:sp>
        <p:nvSpPr>
          <p:cNvPr id="5" name="Shape 3"/>
          <p:cNvSpPr/>
          <p:nvPr/>
        </p:nvSpPr>
        <p:spPr>
          <a:xfrm>
            <a:off x="713232" y="1719072"/>
            <a:ext cx="457200" cy="457200"/>
          </a:xfrm>
          <a:prstGeom prst="ellipse">
            <a:avLst/>
          </a:prstGeom>
          <a:solidFill>
            <a:srgbClr val="E8A33D"/>
          </a:solidFill>
          <a:ln/>
        </p:spPr>
      </p:sp>
      <p:sp>
        <p:nvSpPr>
          <p:cNvPr id="6" name="Text 4"/>
          <p:cNvSpPr txBox="1"/>
          <p:nvPr/>
        </p:nvSpPr>
        <p:spPr>
          <a:xfrm>
            <a:off x="713232" y="1719072"/>
            <a:ext cx="457200" cy="457200"/>
          </a:xfrm>
          <a:prstGeom prst="rect">
            <a:avLst/>
          </a:prstGeom>
          <a:noFill/>
          <a:ln/>
        </p:spPr>
        <p:txBody>
          <a:bodyPr wrap="square" lIns="0" tIns="0" rIns="0" bIns="0" rtlCol="0" anchor="ctr"/>
          <a:lstStyle/>
          <a:p>
            <a:pPr marL="0" indent="0" algn="ctr">
              <a:buNone/>
            </a:pPr>
            <a:r>
              <a:rPr lang="en-US" sz="1600" b="1" dirty="0">
                <a:solidFill>
                  <a:srgbClr val="111D33"/>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371600" y="1655064"/>
            <a:ext cx="10058400" cy="585216"/>
          </a:xfrm>
          <a:prstGeom prst="rect">
            <a:avLst/>
          </a:prstGeom>
          <a:noFill/>
          <a:ln/>
        </p:spPr>
        <p:txBody>
          <a:bodyPr wrap="square" lIns="0" tIns="0" rIns="0" bIns="0" rtlCol="0" anchor="ctr"/>
          <a:lstStyle/>
          <a:p>
            <a:pPr marL="0" indent="0">
              <a:lnSpc>
                <a:spcPct val="110000"/>
              </a:lnSpc>
              <a:buNone/>
            </a:pPr>
            <a:r>
              <a:rPr lang="en-US" sz="1350" dirty="0">
                <a:solidFill>
                  <a:srgbClr val="17233A"/>
                </a:solidFill>
                <a:latin typeface="Calibri" pitchFamily="34" charset="0"/>
                <a:ea typeface="Calibri" pitchFamily="34" charset="-122"/>
                <a:cs typeface="Calibri" pitchFamily="34" charset="-120"/>
              </a:rPr>
              <a:t>Migration is a change of usual residence across a boundary; the same move is emigration for the origin and immigration for the destination.</a:t>
            </a:r>
            <a:endParaRPr lang="en-US" sz="1350" dirty="0"/>
          </a:p>
        </p:txBody>
      </p:sp>
      <p:sp>
        <p:nvSpPr>
          <p:cNvPr id="8" name="Shape 6"/>
          <p:cNvSpPr/>
          <p:nvPr/>
        </p:nvSpPr>
        <p:spPr>
          <a:xfrm>
            <a:off x="502920" y="2441448"/>
            <a:ext cx="11201400" cy="694944"/>
          </a:xfrm>
          <a:prstGeom prst="roundRect">
            <a:avLst>
              <a:gd name="adj" fmla="val 9211"/>
            </a:avLst>
          </a:prstGeom>
          <a:solidFill>
            <a:srgbClr val="E7EEF7"/>
          </a:solidFill>
          <a:ln/>
        </p:spPr>
      </p:sp>
      <p:sp>
        <p:nvSpPr>
          <p:cNvPr id="9" name="Shape 7"/>
          <p:cNvSpPr/>
          <p:nvPr/>
        </p:nvSpPr>
        <p:spPr>
          <a:xfrm>
            <a:off x="713232" y="2560320"/>
            <a:ext cx="457200" cy="457200"/>
          </a:xfrm>
          <a:prstGeom prst="ellipse">
            <a:avLst/>
          </a:prstGeom>
          <a:solidFill>
            <a:srgbClr val="E8A33D"/>
          </a:solidFill>
          <a:ln/>
        </p:spPr>
      </p:sp>
      <p:sp>
        <p:nvSpPr>
          <p:cNvPr id="10" name="Text 8"/>
          <p:cNvSpPr txBox="1"/>
          <p:nvPr/>
        </p:nvSpPr>
        <p:spPr>
          <a:xfrm>
            <a:off x="713232" y="2560320"/>
            <a:ext cx="457200" cy="457200"/>
          </a:xfrm>
          <a:prstGeom prst="rect">
            <a:avLst/>
          </a:prstGeom>
          <a:noFill/>
          <a:ln/>
        </p:spPr>
        <p:txBody>
          <a:bodyPr wrap="square" lIns="0" tIns="0" rIns="0" bIns="0" rtlCol="0" anchor="ctr"/>
          <a:lstStyle/>
          <a:p>
            <a:pPr marL="0" indent="0" algn="ctr">
              <a:buNone/>
            </a:pPr>
            <a:r>
              <a:rPr lang="en-US" sz="1600" b="1" dirty="0">
                <a:solidFill>
                  <a:srgbClr val="111D33"/>
                </a:solidFill>
                <a:latin typeface="Cambria" pitchFamily="34" charset="0"/>
                <a:ea typeface="Cambria" pitchFamily="34" charset="-122"/>
                <a:cs typeface="Cambria" pitchFamily="34" charset="-120"/>
              </a:rPr>
              <a:t>2</a:t>
            </a:r>
            <a:endParaRPr lang="en-US" sz="1600" dirty="0"/>
          </a:p>
        </p:txBody>
      </p:sp>
      <p:sp>
        <p:nvSpPr>
          <p:cNvPr id="11" name="Text 9"/>
          <p:cNvSpPr txBox="1"/>
          <p:nvPr/>
        </p:nvSpPr>
        <p:spPr>
          <a:xfrm>
            <a:off x="1371600" y="2496312"/>
            <a:ext cx="10058400" cy="585216"/>
          </a:xfrm>
          <a:prstGeom prst="rect">
            <a:avLst/>
          </a:prstGeom>
          <a:noFill/>
          <a:ln/>
        </p:spPr>
        <p:txBody>
          <a:bodyPr wrap="square" lIns="0" tIns="0" rIns="0" bIns="0" rtlCol="0" anchor="ctr"/>
          <a:lstStyle/>
          <a:p>
            <a:pPr marL="0" indent="0">
              <a:lnSpc>
                <a:spcPct val="110000"/>
              </a:lnSpc>
              <a:buNone/>
            </a:pPr>
            <a:r>
              <a:rPr lang="en-US" sz="1350" dirty="0">
                <a:solidFill>
                  <a:srgbClr val="17233A"/>
                </a:solidFill>
                <a:latin typeface="Calibri" pitchFamily="34" charset="0"/>
                <a:ea typeface="Calibri" pitchFamily="34" charset="-122"/>
                <a:cs typeface="Calibri" pitchFamily="34" charset="-120"/>
              </a:rPr>
              <a:t>Gross migration (in + out) and net migration (in − out) tell different stories — always check which one you're reading, and remember gross interchange reveals streams net figures hide.</a:t>
            </a:r>
            <a:endParaRPr lang="en-US" sz="1350" dirty="0"/>
          </a:p>
        </p:txBody>
      </p:sp>
      <p:sp>
        <p:nvSpPr>
          <p:cNvPr id="12" name="Shape 10"/>
          <p:cNvSpPr/>
          <p:nvPr/>
        </p:nvSpPr>
        <p:spPr>
          <a:xfrm>
            <a:off x="502920" y="3282696"/>
            <a:ext cx="11201400" cy="694944"/>
          </a:xfrm>
          <a:prstGeom prst="roundRect">
            <a:avLst>
              <a:gd name="adj" fmla="val 9211"/>
            </a:avLst>
          </a:prstGeom>
          <a:solidFill>
            <a:srgbClr val="F3F6FA"/>
          </a:solidFill>
          <a:ln/>
        </p:spPr>
      </p:sp>
      <p:sp>
        <p:nvSpPr>
          <p:cNvPr id="13" name="Shape 11"/>
          <p:cNvSpPr/>
          <p:nvPr/>
        </p:nvSpPr>
        <p:spPr>
          <a:xfrm>
            <a:off x="713232" y="3401568"/>
            <a:ext cx="457200" cy="457200"/>
          </a:xfrm>
          <a:prstGeom prst="ellipse">
            <a:avLst/>
          </a:prstGeom>
          <a:solidFill>
            <a:srgbClr val="E8A33D"/>
          </a:solidFill>
          <a:ln/>
        </p:spPr>
      </p:sp>
      <p:sp>
        <p:nvSpPr>
          <p:cNvPr id="14" name="Text 12"/>
          <p:cNvSpPr txBox="1"/>
          <p:nvPr/>
        </p:nvSpPr>
        <p:spPr>
          <a:xfrm>
            <a:off x="713232" y="3401568"/>
            <a:ext cx="457200" cy="457200"/>
          </a:xfrm>
          <a:prstGeom prst="rect">
            <a:avLst/>
          </a:prstGeom>
          <a:noFill/>
          <a:ln/>
        </p:spPr>
        <p:txBody>
          <a:bodyPr wrap="square" lIns="0" tIns="0" rIns="0" bIns="0" rtlCol="0" anchor="ctr"/>
          <a:lstStyle/>
          <a:p>
            <a:pPr marL="0" indent="0" algn="ctr">
              <a:buNone/>
            </a:pPr>
            <a:r>
              <a:rPr lang="en-US" sz="1600" b="1" dirty="0">
                <a:solidFill>
                  <a:srgbClr val="111D33"/>
                </a:solidFill>
                <a:latin typeface="Cambria" pitchFamily="34" charset="0"/>
                <a:ea typeface="Cambria" pitchFamily="34" charset="-122"/>
                <a:cs typeface="Cambria" pitchFamily="34" charset="-120"/>
              </a:rPr>
              <a:t>3</a:t>
            </a:r>
            <a:endParaRPr lang="en-US" sz="1600" dirty="0"/>
          </a:p>
        </p:txBody>
      </p:sp>
      <p:sp>
        <p:nvSpPr>
          <p:cNvPr id="15" name="Text 13"/>
          <p:cNvSpPr txBox="1"/>
          <p:nvPr/>
        </p:nvSpPr>
        <p:spPr>
          <a:xfrm>
            <a:off x="1371600" y="3337560"/>
            <a:ext cx="10058400" cy="585216"/>
          </a:xfrm>
          <a:prstGeom prst="rect">
            <a:avLst/>
          </a:prstGeom>
          <a:noFill/>
          <a:ln/>
        </p:spPr>
        <p:txBody>
          <a:bodyPr wrap="square" lIns="0" tIns="0" rIns="0" bIns="0" rtlCol="0" anchor="ctr"/>
          <a:lstStyle/>
          <a:p>
            <a:pPr marL="0" indent="0">
              <a:lnSpc>
                <a:spcPct val="110000"/>
              </a:lnSpc>
              <a:buNone/>
            </a:pPr>
            <a:r>
              <a:rPr lang="en-US" sz="1350" dirty="0">
                <a:solidFill>
                  <a:srgbClr val="17233A"/>
                </a:solidFill>
                <a:latin typeface="Calibri" pitchFamily="34" charset="0"/>
                <a:ea typeface="Calibri" pitchFamily="34" charset="-122"/>
                <a:cs typeface="Calibri" pitchFamily="34" charset="-120"/>
              </a:rPr>
              <a:t>Migration is selective, not random; large skilled-worker outflows are called “brain drain,” with real fiscal costs for sending countries like remittance-dependent economies.</a:t>
            </a:r>
            <a:endParaRPr lang="en-US" sz="1350" dirty="0"/>
          </a:p>
        </p:txBody>
      </p:sp>
      <p:sp>
        <p:nvSpPr>
          <p:cNvPr id="16" name="Shape 14"/>
          <p:cNvSpPr/>
          <p:nvPr/>
        </p:nvSpPr>
        <p:spPr>
          <a:xfrm>
            <a:off x="502920" y="4123944"/>
            <a:ext cx="11201400" cy="694944"/>
          </a:xfrm>
          <a:prstGeom prst="roundRect">
            <a:avLst>
              <a:gd name="adj" fmla="val 9211"/>
            </a:avLst>
          </a:prstGeom>
          <a:solidFill>
            <a:srgbClr val="E7EEF7"/>
          </a:solidFill>
          <a:ln/>
        </p:spPr>
      </p:sp>
      <p:sp>
        <p:nvSpPr>
          <p:cNvPr id="17" name="Shape 15"/>
          <p:cNvSpPr/>
          <p:nvPr/>
        </p:nvSpPr>
        <p:spPr>
          <a:xfrm>
            <a:off x="713232" y="4242816"/>
            <a:ext cx="457200" cy="457200"/>
          </a:xfrm>
          <a:prstGeom prst="ellipse">
            <a:avLst/>
          </a:prstGeom>
          <a:solidFill>
            <a:srgbClr val="E8A33D"/>
          </a:solidFill>
          <a:ln/>
        </p:spPr>
      </p:sp>
      <p:sp>
        <p:nvSpPr>
          <p:cNvPr id="18" name="Text 16"/>
          <p:cNvSpPr txBox="1"/>
          <p:nvPr/>
        </p:nvSpPr>
        <p:spPr>
          <a:xfrm>
            <a:off x="713232" y="4242816"/>
            <a:ext cx="457200" cy="457200"/>
          </a:xfrm>
          <a:prstGeom prst="rect">
            <a:avLst/>
          </a:prstGeom>
          <a:noFill/>
          <a:ln/>
        </p:spPr>
        <p:txBody>
          <a:bodyPr wrap="square" lIns="0" tIns="0" rIns="0" bIns="0" rtlCol="0" anchor="ctr"/>
          <a:lstStyle/>
          <a:p>
            <a:pPr marL="0" indent="0" algn="ctr">
              <a:buNone/>
            </a:pPr>
            <a:r>
              <a:rPr lang="en-US" sz="1600" b="1" dirty="0">
                <a:solidFill>
                  <a:srgbClr val="111D33"/>
                </a:solidFill>
                <a:latin typeface="Cambria" pitchFamily="34" charset="0"/>
                <a:ea typeface="Cambria" pitchFamily="34" charset="-122"/>
                <a:cs typeface="Cambria" pitchFamily="34" charset="-120"/>
              </a:rPr>
              <a:t>4</a:t>
            </a:r>
            <a:endParaRPr lang="en-US" sz="1600" dirty="0"/>
          </a:p>
        </p:txBody>
      </p:sp>
      <p:sp>
        <p:nvSpPr>
          <p:cNvPr id="19" name="Text 17"/>
          <p:cNvSpPr txBox="1"/>
          <p:nvPr/>
        </p:nvSpPr>
        <p:spPr>
          <a:xfrm>
            <a:off x="1371600" y="4178808"/>
            <a:ext cx="10058400" cy="585216"/>
          </a:xfrm>
          <a:prstGeom prst="rect">
            <a:avLst/>
          </a:prstGeom>
          <a:noFill/>
          <a:ln/>
        </p:spPr>
        <p:txBody>
          <a:bodyPr wrap="square" lIns="0" tIns="0" rIns="0" bIns="0" rtlCol="0" anchor="ctr"/>
          <a:lstStyle/>
          <a:p>
            <a:pPr marL="0" indent="0">
              <a:lnSpc>
                <a:spcPct val="110000"/>
              </a:lnSpc>
              <a:buNone/>
            </a:pPr>
            <a:r>
              <a:rPr lang="en-US" sz="1350" dirty="0">
                <a:solidFill>
                  <a:srgbClr val="17233A"/>
                </a:solidFill>
                <a:latin typeface="Calibri" pitchFamily="34" charset="0"/>
                <a:ea typeface="Calibri" pitchFamily="34" charset="-122"/>
                <a:cs typeface="Calibri" pitchFamily="34" charset="-120"/>
              </a:rPr>
              <a:t>Traditional sources (census, registers, surveys) remain the backbone of migration statistics, but digital trace data — mobile, satellite, and social-media — now enables near-real-time displacement estimation.</a:t>
            </a:r>
            <a:endParaRPr lang="en-US" sz="1350" dirty="0"/>
          </a:p>
        </p:txBody>
      </p:sp>
      <p:sp>
        <p:nvSpPr>
          <p:cNvPr id="20" name="Shape 18"/>
          <p:cNvSpPr/>
          <p:nvPr/>
        </p:nvSpPr>
        <p:spPr>
          <a:xfrm>
            <a:off x="502920" y="4965192"/>
            <a:ext cx="11201400" cy="694944"/>
          </a:xfrm>
          <a:prstGeom prst="roundRect">
            <a:avLst>
              <a:gd name="adj" fmla="val 9211"/>
            </a:avLst>
          </a:prstGeom>
          <a:solidFill>
            <a:srgbClr val="F3F6FA"/>
          </a:solidFill>
          <a:ln/>
        </p:spPr>
      </p:sp>
      <p:sp>
        <p:nvSpPr>
          <p:cNvPr id="21" name="Shape 19"/>
          <p:cNvSpPr/>
          <p:nvPr/>
        </p:nvSpPr>
        <p:spPr>
          <a:xfrm>
            <a:off x="713232" y="5084064"/>
            <a:ext cx="457200" cy="457200"/>
          </a:xfrm>
          <a:prstGeom prst="ellipse">
            <a:avLst/>
          </a:prstGeom>
          <a:solidFill>
            <a:srgbClr val="E8A33D"/>
          </a:solidFill>
          <a:ln/>
        </p:spPr>
      </p:sp>
      <p:sp>
        <p:nvSpPr>
          <p:cNvPr id="22" name="Text 20"/>
          <p:cNvSpPr txBox="1"/>
          <p:nvPr/>
        </p:nvSpPr>
        <p:spPr>
          <a:xfrm>
            <a:off x="713232" y="5084064"/>
            <a:ext cx="457200" cy="457200"/>
          </a:xfrm>
          <a:prstGeom prst="rect">
            <a:avLst/>
          </a:prstGeom>
          <a:noFill/>
          <a:ln/>
        </p:spPr>
        <p:txBody>
          <a:bodyPr wrap="square" lIns="0" tIns="0" rIns="0" bIns="0" rtlCol="0" anchor="ctr"/>
          <a:lstStyle/>
          <a:p>
            <a:pPr marL="0" indent="0" algn="ctr">
              <a:buNone/>
            </a:pPr>
            <a:r>
              <a:rPr lang="en-US" sz="1600" b="1" dirty="0">
                <a:solidFill>
                  <a:srgbClr val="111D33"/>
                </a:solidFill>
                <a:latin typeface="Cambria" pitchFamily="34" charset="0"/>
                <a:ea typeface="Cambria" pitchFamily="34" charset="-122"/>
                <a:cs typeface="Cambria" pitchFamily="34" charset="-120"/>
              </a:rPr>
              <a:t>5</a:t>
            </a:r>
            <a:endParaRPr lang="en-US" sz="1600" dirty="0"/>
          </a:p>
        </p:txBody>
      </p:sp>
      <p:sp>
        <p:nvSpPr>
          <p:cNvPr id="23" name="Text 21"/>
          <p:cNvSpPr txBox="1"/>
          <p:nvPr/>
        </p:nvSpPr>
        <p:spPr>
          <a:xfrm>
            <a:off x="1371600" y="5020056"/>
            <a:ext cx="10058400" cy="585216"/>
          </a:xfrm>
          <a:prstGeom prst="rect">
            <a:avLst/>
          </a:prstGeom>
          <a:noFill/>
          <a:ln/>
        </p:spPr>
        <p:txBody>
          <a:bodyPr wrap="square" lIns="0" tIns="0" rIns="0" bIns="0" rtlCol="0" anchor="ctr"/>
          <a:lstStyle/>
          <a:p>
            <a:pPr marL="0" indent="0">
              <a:lnSpc>
                <a:spcPct val="110000"/>
              </a:lnSpc>
              <a:buNone/>
            </a:pPr>
            <a:r>
              <a:rPr lang="en-US" sz="1350" dirty="0">
                <a:solidFill>
                  <a:srgbClr val="17233A"/>
                </a:solidFill>
                <a:latin typeface="Calibri" pitchFamily="34" charset="0"/>
                <a:ea typeface="Calibri" pitchFamily="34" charset="-122"/>
                <a:cs typeface="Calibri" pitchFamily="34" charset="-120"/>
              </a:rPr>
              <a:t>The world crossed 45% urban in 2025, driven by three engines (migration, natural increase, reclassification) — and how we define “urban” and “city” is itself evolving.</a:t>
            </a:r>
            <a:endParaRPr lang="en-US" sz="1350" dirty="0"/>
          </a:p>
        </p:txBody>
      </p:sp>
      <p:sp>
        <p:nvSpPr>
          <p:cNvPr id="24" name="Text 22"/>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25" name="Text 23"/>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48 / 57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REFERENCES (1 OF 3)</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References</a:t>
            </a:r>
            <a:endParaRPr lang="en-US" sz="2900" dirty="0"/>
          </a:p>
        </p:txBody>
      </p:sp>
      <p:sp>
        <p:nvSpPr>
          <p:cNvPr id="4" name="Text 2"/>
          <p:cNvSpPr txBox="1"/>
          <p:nvPr/>
        </p:nvSpPr>
        <p:spPr>
          <a:xfrm>
            <a:off x="548640" y="1554480"/>
            <a:ext cx="11109960" cy="4480560"/>
          </a:xfrm>
          <a:prstGeom prst="rect">
            <a:avLst/>
          </a:prstGeom>
          <a:noFill/>
          <a:ln/>
        </p:spPr>
        <p:txBody>
          <a:bodyPr wrap="square" lIns="0" tIns="0" rIns="0" bIns="0" rtlCol="0" anchor="ctr"/>
          <a:lstStyle/>
          <a:p>
            <a:pPr marL="0" indent="0">
              <a:lnSpc>
                <a:spcPct val="115000"/>
              </a:lnSpc>
              <a:spcAft>
                <a:spcPts val="1000"/>
              </a:spcAft>
              <a:buNone/>
            </a:pPr>
            <a:r>
              <a:rPr lang="en-US" sz="1150" dirty="0">
                <a:solidFill>
                  <a:srgbClr val="17233A"/>
                </a:solidFill>
                <a:latin typeface="Calibri" pitchFamily="34" charset="0"/>
                <a:ea typeface="Calibri" pitchFamily="34" charset="-122"/>
                <a:cs typeface="Calibri" pitchFamily="34" charset="-120"/>
              </a:rPr>
              <a:t>Deville, P., Linard, C., Martin, S., Gilbert, M., Stevens, F. R., Gaughan, A. E., Blondel, V. D., &amp; Tatem, A. J. (2014). Dynamic population mapping using mobile phone data. Proceedings of the National Academy of Sciences, 111(45), 15888–15893. </a:t>
            </a:r>
            <a:r>
              <a:rPr lang="en-US" sz="1150" dirty="0">
                <a:solidFill>
                  <a:srgbClr val="17233A"/>
                </a:solidFill>
                <a:latin typeface="Calibri" pitchFamily="34" charset="0"/>
                <a:ea typeface="Calibri" pitchFamily="34" charset="-122"/>
                <a:cs typeface="Calibri" pitchFamily="34" charset="-120"/>
                <a:hlinkClick r:id="rId3"/>
              </a:rPr>
              <a:t>https://doi.org/10.1073/pnas.1408439111</a:t>
            </a:r>
            <a:r>
              <a:rPr lang="en-US" sz="1150" dirty="0">
                <a:solidFill>
                  <a:srgbClr val="17233A"/>
                </a:solidFill>
                <a:latin typeface="Calibri" pitchFamily="34" charset="0"/>
                <a:ea typeface="Calibri" pitchFamily="34" charset="-122"/>
                <a:cs typeface="Calibri" pitchFamily="34" charset="-120"/>
              </a:rPr>
              <a:t> </a:t>
            </a:r>
            <a:endParaRPr lang="en-US" sz="1150" dirty="0"/>
          </a:p>
          <a:p>
            <a:pPr marL="0" indent="0">
              <a:lnSpc>
                <a:spcPct val="115000"/>
              </a:lnSpc>
              <a:spcAft>
                <a:spcPts val="1000"/>
              </a:spcAft>
              <a:buNone/>
            </a:pPr>
            <a:r>
              <a:rPr lang="en-US" sz="1150" dirty="0">
                <a:solidFill>
                  <a:srgbClr val="17233A"/>
                </a:solidFill>
                <a:latin typeface="Calibri" pitchFamily="34" charset="0"/>
                <a:ea typeface="Calibri" pitchFamily="34" charset="-122"/>
                <a:cs typeface="Calibri" pitchFamily="34" charset="-120"/>
              </a:rPr>
              <a:t>Internal Displacement Monitoring Centre. (2025). Global report on internal displacement (GRID) 2025. https://www.internal-displacement.org/global-report/grid2025/</a:t>
            </a:r>
            <a:endParaRPr lang="en-US" sz="1150" dirty="0"/>
          </a:p>
          <a:p>
            <a:pPr marL="0" indent="0">
              <a:lnSpc>
                <a:spcPct val="115000"/>
              </a:lnSpc>
              <a:spcAft>
                <a:spcPts val="1000"/>
              </a:spcAft>
              <a:buNone/>
            </a:pPr>
            <a:r>
              <a:rPr lang="en-US" sz="1150" dirty="0">
                <a:solidFill>
                  <a:srgbClr val="17233A"/>
                </a:solidFill>
                <a:latin typeface="Calibri" pitchFamily="34" charset="0"/>
                <a:ea typeface="Calibri" pitchFamily="34" charset="-122"/>
                <a:cs typeface="Calibri" pitchFamily="34" charset="-120"/>
              </a:rPr>
              <a:t>International Labour Organization. (2024). Thailand migration report 2024. https://www.ilo.org/sites/default/files/2024-12/thailand-migration-report-2024.pdf</a:t>
            </a:r>
            <a:endParaRPr lang="en-US" sz="1150" dirty="0"/>
          </a:p>
          <a:p>
            <a:pPr marL="0" indent="0">
              <a:lnSpc>
                <a:spcPct val="115000"/>
              </a:lnSpc>
              <a:spcAft>
                <a:spcPts val="1000"/>
              </a:spcAft>
              <a:buNone/>
            </a:pPr>
            <a:r>
              <a:rPr lang="en-US" sz="1150" dirty="0">
                <a:solidFill>
                  <a:srgbClr val="17233A"/>
                </a:solidFill>
                <a:latin typeface="Calibri" pitchFamily="34" charset="0"/>
                <a:ea typeface="Calibri" pitchFamily="34" charset="-122"/>
                <a:cs typeface="Calibri" pitchFamily="34" charset="-120"/>
              </a:rPr>
              <a:t>International Organization for Migration. (2024). World migration report 2024. https://publications.iom.int/books/world-migration-report-2024</a:t>
            </a:r>
            <a:endParaRPr lang="en-US" sz="1150" dirty="0"/>
          </a:p>
          <a:p>
            <a:pPr marL="0" indent="0">
              <a:lnSpc>
                <a:spcPct val="115000"/>
              </a:lnSpc>
              <a:spcAft>
                <a:spcPts val="1000"/>
              </a:spcAft>
              <a:buNone/>
            </a:pPr>
            <a:r>
              <a:rPr lang="en-US" sz="1150" dirty="0">
                <a:solidFill>
                  <a:srgbClr val="17233A"/>
                </a:solidFill>
                <a:latin typeface="Calibri" pitchFamily="34" charset="0"/>
                <a:ea typeface="Calibri" pitchFamily="34" charset="-122"/>
                <a:cs typeface="Calibri" pitchFamily="34" charset="-120"/>
              </a:rPr>
              <a:t>International Organization for Migration, Displacement Tracking Matrix. (2025). New report explores how digital trace data can strengthen displacement monitoring in crises. https://dtm.iom.int/updates/new-report-explores-how-digital-trace-data-can-strengthen-displacement-monitoring-crises</a:t>
            </a:r>
            <a:endParaRPr lang="en-US" sz="1150" dirty="0"/>
          </a:p>
        </p:txBody>
      </p:sp>
      <p:sp>
        <p:nvSpPr>
          <p:cNvPr id="5" name="Text 3"/>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6" name="Text 4"/>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49 / 57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REFERENCES (2 OF 3)</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References (continued)</a:t>
            </a:r>
            <a:endParaRPr lang="en-US" sz="2900" dirty="0"/>
          </a:p>
        </p:txBody>
      </p:sp>
      <p:sp>
        <p:nvSpPr>
          <p:cNvPr id="4" name="Text 2"/>
          <p:cNvSpPr txBox="1"/>
          <p:nvPr/>
        </p:nvSpPr>
        <p:spPr>
          <a:xfrm>
            <a:off x="548640" y="1554480"/>
            <a:ext cx="11109960" cy="4480560"/>
          </a:xfrm>
          <a:prstGeom prst="rect">
            <a:avLst/>
          </a:prstGeom>
          <a:noFill/>
          <a:ln/>
        </p:spPr>
        <p:txBody>
          <a:bodyPr wrap="square" lIns="0" tIns="0" rIns="0" bIns="0" rtlCol="0" anchor="ctr"/>
          <a:lstStyle/>
          <a:p>
            <a:pPr marL="0" indent="0">
              <a:lnSpc>
                <a:spcPct val="115000"/>
              </a:lnSpc>
              <a:spcAft>
                <a:spcPts val="1000"/>
              </a:spcAft>
              <a:buNone/>
            </a:pPr>
            <a:r>
              <a:rPr lang="en-US" sz="1150" dirty="0">
                <a:solidFill>
                  <a:srgbClr val="17233A"/>
                </a:solidFill>
                <a:latin typeface="Calibri" pitchFamily="34" charset="0"/>
                <a:ea typeface="Calibri" pitchFamily="34" charset="-122"/>
                <a:cs typeface="Calibri" pitchFamily="34" charset="-120"/>
              </a:rPr>
              <a:t>Flowminder Foundation. (n.d.). Population distribution and mobility analysis. Retrieved September 8, 2026, from https://www.flowminder.org/what-we-do/population-distribution-and-mobility-analysis</a:t>
            </a:r>
            <a:endParaRPr lang="en-US" sz="1150" dirty="0"/>
          </a:p>
          <a:p>
            <a:pPr marL="0" indent="0">
              <a:lnSpc>
                <a:spcPct val="115000"/>
              </a:lnSpc>
              <a:spcAft>
                <a:spcPts val="1000"/>
              </a:spcAft>
              <a:buNone/>
            </a:pPr>
            <a:r>
              <a:rPr lang="en-US" sz="1150" dirty="0">
                <a:solidFill>
                  <a:srgbClr val="17233A"/>
                </a:solidFill>
                <a:latin typeface="Calibri" pitchFamily="34" charset="0"/>
                <a:ea typeface="Calibri" pitchFamily="34" charset="-122"/>
                <a:cs typeface="Calibri" pitchFamily="34" charset="-120"/>
              </a:rPr>
              <a:t>Migration Policy Institute. (2024). Mexican immigrants in the United States. https://www.migrationpolicy.org/article/mexican-immigrants-united-states-2024</a:t>
            </a:r>
            <a:endParaRPr lang="en-US" sz="1150" dirty="0"/>
          </a:p>
          <a:p>
            <a:pPr marL="0" indent="0">
              <a:lnSpc>
                <a:spcPct val="115000"/>
              </a:lnSpc>
              <a:spcAft>
                <a:spcPts val="1000"/>
              </a:spcAft>
              <a:buNone/>
            </a:pPr>
            <a:r>
              <a:rPr lang="en-US" sz="1150" dirty="0">
                <a:solidFill>
                  <a:srgbClr val="17233A"/>
                </a:solidFill>
                <a:latin typeface="Calibri" pitchFamily="34" charset="0"/>
                <a:ea typeface="Calibri" pitchFamily="34" charset="-122"/>
                <a:cs typeface="Calibri" pitchFamily="34" charset="-120"/>
              </a:rPr>
              <a:t>Planet &amp; Government of Rwanda. (2024). Embracing digital transformation in Africa: Planet and the Government of Rwanda launch national satellite data program. https://www.planet.com/pulse/embracing-digital-transformation-in-africa-planet-and-the-government-of-rwanda-launch-national/</a:t>
            </a:r>
            <a:endParaRPr lang="en-US" sz="1150" dirty="0"/>
          </a:p>
          <a:p>
            <a:pPr marL="0" indent="0">
              <a:lnSpc>
                <a:spcPct val="115000"/>
              </a:lnSpc>
              <a:spcAft>
                <a:spcPts val="1000"/>
              </a:spcAft>
              <a:buNone/>
            </a:pPr>
            <a:r>
              <a:rPr lang="en-US" sz="1150" dirty="0">
                <a:solidFill>
                  <a:srgbClr val="17233A"/>
                </a:solidFill>
                <a:latin typeface="Calibri" pitchFamily="34" charset="0"/>
                <a:ea typeface="Calibri" pitchFamily="34" charset="-122"/>
                <a:cs typeface="Calibri" pitchFamily="34" charset="-120"/>
              </a:rPr>
              <a:t>UNHCR. (2025). Myanmar UNHCR displacement overview. https://data.unhcr.org/en/situations/myanmar</a:t>
            </a:r>
            <a:endParaRPr lang="en-US" sz="1150" dirty="0"/>
          </a:p>
          <a:p>
            <a:pPr marL="0" indent="0">
              <a:lnSpc>
                <a:spcPct val="115000"/>
              </a:lnSpc>
              <a:spcAft>
                <a:spcPts val="1000"/>
              </a:spcAft>
              <a:buNone/>
            </a:pPr>
            <a:r>
              <a:rPr lang="en-US" sz="1150" dirty="0">
                <a:solidFill>
                  <a:srgbClr val="17233A"/>
                </a:solidFill>
                <a:latin typeface="Calibri" pitchFamily="34" charset="0"/>
                <a:ea typeface="Calibri" pitchFamily="34" charset="-122"/>
                <a:cs typeface="Calibri" pitchFamily="34" charset="-120"/>
              </a:rPr>
              <a:t>United Nations, Department of Economic and Social Affairs, Population Division. (2025). International migrant stock 2024: Key facts and figures. https://www.un.org/development/desa/pd</a:t>
            </a:r>
            <a:endParaRPr lang="en-US" sz="1150" dirty="0"/>
          </a:p>
        </p:txBody>
      </p:sp>
      <p:sp>
        <p:nvSpPr>
          <p:cNvPr id="5" name="Text 3"/>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6" name="Text 4"/>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50 / 57</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REFERENCES (3 OF 3)</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References (continued)</a:t>
            </a:r>
            <a:endParaRPr lang="en-US" sz="2900" dirty="0"/>
          </a:p>
        </p:txBody>
      </p:sp>
      <p:sp>
        <p:nvSpPr>
          <p:cNvPr id="4" name="Text 2"/>
          <p:cNvSpPr txBox="1"/>
          <p:nvPr/>
        </p:nvSpPr>
        <p:spPr>
          <a:xfrm>
            <a:off x="548640" y="1554480"/>
            <a:ext cx="11109960" cy="4480560"/>
          </a:xfrm>
          <a:prstGeom prst="rect">
            <a:avLst/>
          </a:prstGeom>
          <a:noFill/>
          <a:ln/>
        </p:spPr>
        <p:txBody>
          <a:bodyPr wrap="square" lIns="0" tIns="0" rIns="0" bIns="0" rtlCol="0" anchor="ctr"/>
          <a:lstStyle/>
          <a:p>
            <a:pPr marL="0" indent="0">
              <a:lnSpc>
                <a:spcPct val="115000"/>
              </a:lnSpc>
              <a:spcAft>
                <a:spcPts val="1000"/>
              </a:spcAft>
              <a:buNone/>
            </a:pPr>
            <a:r>
              <a:rPr lang="en-US" sz="1150" dirty="0">
                <a:solidFill>
                  <a:srgbClr val="17233A"/>
                </a:solidFill>
                <a:latin typeface="Calibri" pitchFamily="34" charset="0"/>
                <a:ea typeface="Calibri" pitchFamily="34" charset="-122"/>
                <a:cs typeface="Calibri" pitchFamily="34" charset="-120"/>
              </a:rPr>
              <a:t>United Nations, Department of Economic and Social Affairs, Population Division. (2025). World urbanization prospects 2025: Summary of results. https://population.un.org/wup/assets/Publications/undesa_pd_2025_wup2025_summary_of_results_final.pdf</a:t>
            </a:r>
            <a:endParaRPr lang="en-US" sz="1150" dirty="0"/>
          </a:p>
          <a:p>
            <a:pPr marL="0" indent="0">
              <a:lnSpc>
                <a:spcPct val="115000"/>
              </a:lnSpc>
              <a:spcAft>
                <a:spcPts val="1000"/>
              </a:spcAft>
              <a:buNone/>
            </a:pPr>
            <a:r>
              <a:rPr lang="en-US" sz="1150" dirty="0">
                <a:solidFill>
                  <a:srgbClr val="17233A"/>
                </a:solidFill>
                <a:latin typeface="Calibri" pitchFamily="34" charset="0"/>
                <a:ea typeface="Calibri" pitchFamily="34" charset="-122"/>
                <a:cs typeface="Calibri" pitchFamily="34" charset="-120"/>
              </a:rPr>
              <a:t>World Bank. (2024). Migration and development brief 41: Remittances remain resilient but likely to slow. https://www.worldbank.org/en/topic/migrationremittancesdiasporaissues/brief/migration-and-development-brief-41</a:t>
            </a:r>
            <a:endParaRPr lang="en-US" sz="1150" dirty="0"/>
          </a:p>
          <a:p>
            <a:pPr marL="0" indent="0">
              <a:lnSpc>
                <a:spcPct val="115000"/>
              </a:lnSpc>
              <a:spcAft>
                <a:spcPts val="1000"/>
              </a:spcAft>
              <a:buNone/>
            </a:pPr>
            <a:r>
              <a:rPr lang="en-US" sz="1150" dirty="0">
                <a:solidFill>
                  <a:srgbClr val="17233A"/>
                </a:solidFill>
                <a:latin typeface="Calibri" pitchFamily="34" charset="0"/>
                <a:ea typeface="Calibri" pitchFamily="34" charset="-122"/>
                <a:cs typeface="Calibri" pitchFamily="34" charset="-120"/>
              </a:rPr>
              <a:t>World Bank Open Data. (2024). Urban population (% of total population) — Thailand. https://data.worldbank.org/indicator/SP.URB.TOTL.IN.ZS?locations=TH</a:t>
            </a:r>
            <a:endParaRPr lang="en-US" sz="1150" dirty="0"/>
          </a:p>
        </p:txBody>
      </p:sp>
      <p:sp>
        <p:nvSpPr>
          <p:cNvPr id="5" name="Text 3"/>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6" name="Text 4"/>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51 / 57</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2">
    <p:bg>
      <p:bgPr>
        <a:solidFill>
          <a:srgbClr val="111D33"/>
        </a:solidFill>
        <a:effectLst/>
      </p:bgPr>
    </p:bg>
    <p:spTree>
      <p:nvGrpSpPr>
        <p:cNvPr id="1" name=""/>
        <p:cNvGrpSpPr/>
        <p:nvPr/>
      </p:nvGrpSpPr>
      <p:grpSpPr>
        <a:xfrm>
          <a:off x="0" y="0"/>
          <a:ext cx="0" cy="0"/>
          <a:chOff x="0" y="0"/>
          <a:chExt cx="0" cy="0"/>
        </a:xfrm>
      </p:grpSpPr>
      <p:sp>
        <p:nvSpPr>
          <p:cNvPr id="2" name="Shape 0"/>
          <p:cNvSpPr/>
          <p:nvPr/>
        </p:nvSpPr>
        <p:spPr>
          <a:xfrm>
            <a:off x="8046720" y="2011680"/>
            <a:ext cx="6400800" cy="6400800"/>
          </a:xfrm>
          <a:prstGeom prst="ellipse">
            <a:avLst/>
          </a:prstGeom>
          <a:solidFill>
            <a:srgbClr val="1B2A4A">
              <a:alpha val="55000"/>
            </a:srgbClr>
          </a:solidFill>
          <a:ln/>
        </p:spPr>
      </p:sp>
      <p:sp>
        <p:nvSpPr>
          <p:cNvPr id="3" name="Shape 1"/>
          <p:cNvSpPr/>
          <p:nvPr/>
        </p:nvSpPr>
        <p:spPr>
          <a:xfrm>
            <a:off x="685800" y="2331720"/>
            <a:ext cx="1371600" cy="1371600"/>
          </a:xfrm>
          <a:prstGeom prst="ellipse">
            <a:avLst/>
          </a:prstGeom>
          <a:solidFill>
            <a:srgbClr val="0E7C7B"/>
          </a:solidFill>
          <a:ln/>
        </p:spPr>
      </p:sp>
      <p:pic>
        <p:nvPicPr>
          <p:cNvPr id="4" name="Image 0" descr="/sessions/blissful-modest-newton/mnt/outputs/scratch/build/icons/checklist.png"/>
          <p:cNvPicPr>
            <a:picLocks noChangeAspect="1"/>
          </p:cNvPicPr>
          <p:nvPr/>
        </p:nvPicPr>
        <p:blipFill>
          <a:blip r:embed="rId3"/>
          <a:stretch>
            <a:fillRect/>
          </a:stretch>
        </p:blipFill>
        <p:spPr>
          <a:xfrm>
            <a:off x="973836" y="2619756"/>
            <a:ext cx="795528" cy="795528"/>
          </a:xfrm>
          <a:prstGeom prst="rect">
            <a:avLst/>
          </a:prstGeom>
        </p:spPr>
      </p:pic>
      <p:sp>
        <p:nvSpPr>
          <p:cNvPr id="5" name="Text 2"/>
          <p:cNvSpPr txBox="1"/>
          <p:nvPr/>
        </p:nvSpPr>
        <p:spPr>
          <a:xfrm>
            <a:off x="685800" y="3840480"/>
            <a:ext cx="9144000" cy="365760"/>
          </a:xfrm>
          <a:prstGeom prst="rect">
            <a:avLst/>
          </a:prstGeom>
          <a:noFill/>
          <a:ln/>
        </p:spPr>
        <p:txBody>
          <a:bodyPr wrap="square" lIns="0" tIns="0" rIns="0" bIns="0" rtlCol="0" anchor="ctr"/>
          <a:lstStyle/>
          <a:p>
            <a:pPr marL="0" indent="0">
              <a:buNone/>
            </a:pPr>
            <a:r>
              <a:rPr lang="en-US" sz="1500" b="1" kern="0" spc="200" dirty="0">
                <a:solidFill>
                  <a:srgbClr val="E8A33D"/>
                </a:solidFill>
                <a:latin typeface="Calibri" pitchFamily="34" charset="0"/>
                <a:ea typeface="Calibri" pitchFamily="34" charset="-122"/>
                <a:cs typeface="Calibri" pitchFamily="34" charset="-120"/>
              </a:rPr>
              <a:t>PRACTICE EXERCISES</a:t>
            </a:r>
            <a:endParaRPr lang="en-US" sz="1500" dirty="0"/>
          </a:p>
        </p:txBody>
      </p:sp>
      <p:sp>
        <p:nvSpPr>
          <p:cNvPr id="6" name="Text 3"/>
          <p:cNvSpPr txBox="1"/>
          <p:nvPr/>
        </p:nvSpPr>
        <p:spPr>
          <a:xfrm>
            <a:off x="685800" y="4187952"/>
            <a:ext cx="10058400" cy="11887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Practice Exercises</a:t>
            </a:r>
            <a:endParaRPr lang="en-US" sz="3400" dirty="0"/>
          </a:p>
        </p:txBody>
      </p:sp>
      <p:sp>
        <p:nvSpPr>
          <p:cNvPr id="7" name="Text 4"/>
          <p:cNvSpPr txBox="1"/>
          <p:nvPr/>
        </p:nvSpPr>
        <p:spPr>
          <a:xfrm>
            <a:off x="685800" y="5349240"/>
            <a:ext cx="9875520" cy="822960"/>
          </a:xfrm>
          <a:prstGeom prst="rect">
            <a:avLst/>
          </a:prstGeom>
          <a:noFill/>
          <a:ln/>
        </p:spPr>
        <p:txBody>
          <a:bodyPr wrap="square" lIns="0" tIns="0" rIns="0" bIns="0" rtlCol="0" anchor="ctr"/>
          <a:lstStyle/>
          <a:p>
            <a:pPr marL="0" indent="0">
              <a:buNone/>
            </a:pPr>
            <a:r>
              <a:rPr lang="en-US" sz="1500" i="1" dirty="0">
                <a:solidFill>
                  <a:srgbClr val="C9D6E8"/>
                </a:solidFill>
                <a:latin typeface="Calibri" pitchFamily="34" charset="0"/>
                <a:ea typeface="Calibri" pitchFamily="34" charset="-122"/>
                <a:cs typeface="Calibri" pitchFamily="34" charset="-120"/>
              </a:rPr>
              <a:t>18 conceptual and calculation exercises — attempt individually, then review with a classmate.</a:t>
            </a:r>
            <a:endParaRPr lang="en-US" sz="1500" dirty="0"/>
          </a:p>
        </p:txBody>
      </p:sp>
      <p:sp>
        <p:nvSpPr>
          <p:cNvPr id="8" name="Text 5"/>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C9D6E8"/>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9" name="Text 6"/>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C9D6E8"/>
                </a:solidFill>
                <a:latin typeface="Calibri" pitchFamily="34" charset="0"/>
                <a:ea typeface="Calibri" pitchFamily="34" charset="-122"/>
                <a:cs typeface="Calibri" pitchFamily="34" charset="-120"/>
              </a:rPr>
              <a:t>52 / 57</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PRACTICE EXERCISES</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Questions 1–5: Definitions &amp; Formulas</a:t>
            </a:r>
            <a:endParaRPr lang="en-US" sz="2900" dirty="0"/>
          </a:p>
        </p:txBody>
      </p:sp>
      <p:sp>
        <p:nvSpPr>
          <p:cNvPr id="4" name="Text 2"/>
          <p:cNvSpPr txBox="1"/>
          <p:nvPr/>
        </p:nvSpPr>
        <p:spPr>
          <a:xfrm>
            <a:off x="548640" y="1554480"/>
            <a:ext cx="11109960" cy="4663440"/>
          </a:xfrm>
          <a:prstGeom prst="rect">
            <a:avLst/>
          </a:prstGeom>
          <a:noFill/>
          <a:ln/>
        </p:spPr>
        <p:txBody>
          <a:bodyPr wrap="square" lIns="0" tIns="0" rIns="0" bIns="0" rtlCol="0" anchor="ctr"/>
          <a:lstStyle/>
          <a:p>
            <a:pPr marL="0" indent="0">
              <a:lnSpc>
                <a:spcPct val="115000"/>
              </a:lnSpc>
              <a:spcAft>
                <a:spcPts val="1400"/>
              </a:spcAft>
              <a:buNone/>
            </a:pPr>
            <a:r>
              <a:rPr lang="en-US" sz="1400" dirty="0">
                <a:solidFill>
                  <a:srgbClr val="17233A"/>
                </a:solidFill>
                <a:latin typeface="Calibri" pitchFamily="34" charset="0"/>
                <a:ea typeface="Calibri" pitchFamily="34" charset="-122"/>
                <a:cs typeface="Calibri" pitchFamily="34" charset="-120"/>
              </a:rPr>
              <a:t>1. Define migration, emigration, and immigration, and explain why the same event can be described by all three terms depending on perspective.</a:t>
            </a:r>
            <a:endParaRPr lang="en-US" sz="1400" dirty="0"/>
          </a:p>
          <a:p>
            <a:pPr marL="0" indent="0">
              <a:lnSpc>
                <a:spcPct val="115000"/>
              </a:lnSpc>
              <a:spcAft>
                <a:spcPts val="1400"/>
              </a:spcAft>
              <a:buNone/>
            </a:pPr>
            <a:r>
              <a:rPr lang="en-US" sz="1400" dirty="0">
                <a:solidFill>
                  <a:srgbClr val="17233A"/>
                </a:solidFill>
                <a:latin typeface="Calibri" pitchFamily="34" charset="0"/>
                <a:ea typeface="Calibri" pitchFamily="34" charset="-122"/>
                <a:cs typeface="Calibri" pitchFamily="34" charset="-120"/>
              </a:rPr>
              <a:t>2. Distinguish gross migration from net migration. Under what circumstances could net migration equal zero while gross migration is very large?</a:t>
            </a:r>
            <a:endParaRPr lang="en-US" sz="1400" dirty="0"/>
          </a:p>
          <a:p>
            <a:pPr marL="0" indent="0">
              <a:lnSpc>
                <a:spcPct val="115000"/>
              </a:lnSpc>
              <a:spcAft>
                <a:spcPts val="1400"/>
              </a:spcAft>
              <a:buNone/>
            </a:pPr>
            <a:r>
              <a:rPr lang="en-US" sz="1400" dirty="0">
                <a:solidFill>
                  <a:srgbClr val="17233A"/>
                </a:solidFill>
                <a:latin typeface="Calibri" pitchFamily="34" charset="0"/>
                <a:ea typeface="Calibri" pitchFamily="34" charset="-122"/>
                <a:cs typeface="Calibri" pitchFamily="34" charset="-120"/>
              </a:rPr>
              <a:t>3. A researcher observes a migration stream from Province A to Province B, and a smaller counterstream from B to A. Define “gross interchange” and compute it if the stream is 12,000 and the counterstream is 4,500.</a:t>
            </a:r>
            <a:endParaRPr lang="en-US" sz="1400" dirty="0"/>
          </a:p>
          <a:p>
            <a:pPr marL="0" indent="0">
              <a:lnSpc>
                <a:spcPct val="115000"/>
              </a:lnSpc>
              <a:spcAft>
                <a:spcPts val="1400"/>
              </a:spcAft>
              <a:buNone/>
            </a:pPr>
            <a:r>
              <a:rPr lang="en-US" sz="1400" dirty="0">
                <a:solidFill>
                  <a:srgbClr val="17233A"/>
                </a:solidFill>
                <a:latin typeface="Calibri" pitchFamily="34" charset="0"/>
                <a:ea typeface="Calibri" pitchFamily="34" charset="-122"/>
                <a:cs typeface="Calibri" pitchFamily="34" charset="-120"/>
              </a:rPr>
              <a:t>4. Calculation: A country has 45,000 immigrants and 61,000 emigrants in one year, with a mid-year population of 9,200,000. Compute the net migration rate.</a:t>
            </a:r>
            <a:endParaRPr lang="en-US" sz="1400" dirty="0"/>
          </a:p>
          <a:p>
            <a:pPr marL="0" indent="0">
              <a:lnSpc>
                <a:spcPct val="115000"/>
              </a:lnSpc>
              <a:spcAft>
                <a:spcPts val="1400"/>
              </a:spcAft>
              <a:buNone/>
            </a:pPr>
            <a:r>
              <a:rPr lang="en-US" sz="1400" dirty="0">
                <a:solidFill>
                  <a:srgbClr val="17233A"/>
                </a:solidFill>
                <a:latin typeface="Calibri" pitchFamily="34" charset="0"/>
                <a:ea typeface="Calibri" pitchFamily="34" charset="-122"/>
                <a:cs typeface="Calibri" pitchFamily="34" charset="-120"/>
              </a:rPr>
              <a:t>5. Explain, in your own words, why migration rates are harder to compare across countries than birth or death rates.</a:t>
            </a:r>
            <a:endParaRPr lang="en-US" sz="1400" dirty="0"/>
          </a:p>
        </p:txBody>
      </p:sp>
      <p:sp>
        <p:nvSpPr>
          <p:cNvPr id="5" name="Text 3"/>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6" name="Text 4"/>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53 / 57</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PRACTICE EXERCISES</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Questions 6–10: Selectivity &amp; Traditional Data</a:t>
            </a:r>
            <a:endParaRPr lang="en-US" sz="2900" dirty="0"/>
          </a:p>
        </p:txBody>
      </p:sp>
      <p:sp>
        <p:nvSpPr>
          <p:cNvPr id="4" name="Text 2"/>
          <p:cNvSpPr txBox="1"/>
          <p:nvPr/>
        </p:nvSpPr>
        <p:spPr>
          <a:xfrm>
            <a:off x="548640" y="1554480"/>
            <a:ext cx="11109960" cy="4663440"/>
          </a:xfrm>
          <a:prstGeom prst="rect">
            <a:avLst/>
          </a:prstGeom>
          <a:noFill/>
          <a:ln/>
        </p:spPr>
        <p:txBody>
          <a:bodyPr wrap="square" lIns="0" tIns="0" rIns="0" bIns="0" rtlCol="0" anchor="ctr"/>
          <a:lstStyle/>
          <a:p>
            <a:pPr marL="0" indent="0">
              <a:lnSpc>
                <a:spcPct val="115000"/>
              </a:lnSpc>
              <a:spcAft>
                <a:spcPts val="1400"/>
              </a:spcAft>
              <a:buNone/>
            </a:pPr>
            <a:r>
              <a:rPr lang="en-US" sz="1400" dirty="0">
                <a:solidFill>
                  <a:srgbClr val="17233A"/>
                </a:solidFill>
                <a:latin typeface="Calibri" pitchFamily="34" charset="0"/>
                <a:ea typeface="Calibri" pitchFamily="34" charset="-122"/>
                <a:cs typeface="Calibri" pitchFamily="34" charset="-120"/>
              </a:rPr>
              <a:t>6. Define migration selectivity. Give one example of a demographic characteristic on which migrants are commonly selected.</a:t>
            </a:r>
            <a:endParaRPr lang="en-US" sz="1400" dirty="0"/>
          </a:p>
          <a:p>
            <a:pPr marL="0" indent="0">
              <a:lnSpc>
                <a:spcPct val="115000"/>
              </a:lnSpc>
              <a:spcAft>
                <a:spcPts val="1400"/>
              </a:spcAft>
              <a:buNone/>
            </a:pPr>
            <a:r>
              <a:rPr lang="en-US" sz="1400" dirty="0">
                <a:solidFill>
                  <a:srgbClr val="17233A"/>
                </a:solidFill>
                <a:latin typeface="Calibri" pitchFamily="34" charset="0"/>
                <a:ea typeface="Calibri" pitchFamily="34" charset="-122"/>
                <a:cs typeface="Calibri" pitchFamily="34" charset="-120"/>
              </a:rPr>
              <a:t>7. Explain “brain drain” and “brain gain” using the same migration event from two countries' perspectives.</a:t>
            </a:r>
            <a:endParaRPr lang="en-US" sz="1400" dirty="0"/>
          </a:p>
          <a:p>
            <a:pPr marL="0" indent="0">
              <a:lnSpc>
                <a:spcPct val="115000"/>
              </a:lnSpc>
              <a:spcAft>
                <a:spcPts val="1400"/>
              </a:spcAft>
              <a:buNone/>
            </a:pPr>
            <a:r>
              <a:rPr lang="en-US" sz="1400" dirty="0">
                <a:solidFill>
                  <a:srgbClr val="17233A"/>
                </a:solidFill>
                <a:latin typeface="Calibri" pitchFamily="34" charset="0"/>
                <a:ea typeface="Calibri" pitchFamily="34" charset="-122"/>
                <a:cs typeface="Calibri" pitchFamily="34" charset="-120"/>
              </a:rPr>
              <a:t>8. Using the Thailand Migration Report 2024 data from this session, explain why the low share of “skilled” migrant workers matters for both Thailand and the migrants' home countries.</a:t>
            </a:r>
            <a:endParaRPr lang="en-US" sz="1400" dirty="0"/>
          </a:p>
          <a:p>
            <a:pPr marL="0" indent="0">
              <a:lnSpc>
                <a:spcPct val="115000"/>
              </a:lnSpc>
              <a:spcAft>
                <a:spcPts val="1400"/>
              </a:spcAft>
              <a:buNone/>
            </a:pPr>
            <a:r>
              <a:rPr lang="en-US" sz="1400" dirty="0">
                <a:solidFill>
                  <a:srgbClr val="17233A"/>
                </a:solidFill>
                <a:latin typeface="Calibri" pitchFamily="34" charset="0"/>
                <a:ea typeface="Calibri" pitchFamily="34" charset="-122"/>
                <a:cs typeface="Calibri" pitchFamily="34" charset="-120"/>
              </a:rPr>
              <a:t>9. List three traditional data sources for measuring migration and one limitation of each.</a:t>
            </a:r>
            <a:endParaRPr lang="en-US" sz="1400" dirty="0"/>
          </a:p>
          <a:p>
            <a:pPr marL="0" indent="0">
              <a:lnSpc>
                <a:spcPct val="115000"/>
              </a:lnSpc>
              <a:spcAft>
                <a:spcPts val="1400"/>
              </a:spcAft>
              <a:buNone/>
            </a:pPr>
            <a:r>
              <a:rPr lang="en-US" sz="1400" dirty="0">
                <a:solidFill>
                  <a:srgbClr val="17233A"/>
                </a:solidFill>
                <a:latin typeface="Calibri" pitchFamily="34" charset="0"/>
                <a:ea typeface="Calibri" pitchFamily="34" charset="-122"/>
                <a:cs typeface="Calibri" pitchFamily="34" charset="-120"/>
              </a:rPr>
              <a:t>10. Why can census-based residence questions (e.g., “where did you live 5 years ago?”) undercount migration events?</a:t>
            </a:r>
            <a:endParaRPr lang="en-US" sz="1400" dirty="0"/>
          </a:p>
        </p:txBody>
      </p:sp>
      <p:sp>
        <p:nvSpPr>
          <p:cNvPr id="5" name="Text 3"/>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6" name="Text 4"/>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54 / 57</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PRACTICE EXERCISES</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Questions 11–15: Digital Data &amp; Urbanization</a:t>
            </a:r>
            <a:endParaRPr lang="en-US" sz="2900" dirty="0"/>
          </a:p>
        </p:txBody>
      </p:sp>
      <p:sp>
        <p:nvSpPr>
          <p:cNvPr id="4" name="Text 2"/>
          <p:cNvSpPr txBox="1"/>
          <p:nvPr/>
        </p:nvSpPr>
        <p:spPr>
          <a:xfrm>
            <a:off x="548640" y="1554480"/>
            <a:ext cx="11109960" cy="4663440"/>
          </a:xfrm>
          <a:prstGeom prst="rect">
            <a:avLst/>
          </a:prstGeom>
          <a:noFill/>
          <a:ln/>
        </p:spPr>
        <p:txBody>
          <a:bodyPr wrap="square" lIns="0" tIns="0" rIns="0" bIns="0" rtlCol="0" anchor="ctr"/>
          <a:lstStyle/>
          <a:p>
            <a:pPr marL="0" indent="0">
              <a:lnSpc>
                <a:spcPct val="115000"/>
              </a:lnSpc>
              <a:spcAft>
                <a:spcPts val="1400"/>
              </a:spcAft>
              <a:buNone/>
            </a:pPr>
            <a:r>
              <a:rPr lang="en-US" sz="1400" dirty="0">
                <a:solidFill>
                  <a:srgbClr val="17233A"/>
                </a:solidFill>
                <a:latin typeface="Calibri" pitchFamily="34" charset="0"/>
                <a:ea typeface="Calibri" pitchFamily="34" charset="-122"/>
                <a:cs typeface="Calibri" pitchFamily="34" charset="-120"/>
              </a:rPr>
              <a:t>11. Explain how mobile-phone call detail records (CDRs) can be used to estimate a population's “home location.” What happens when that estimate shifts?</a:t>
            </a:r>
            <a:endParaRPr lang="en-US" sz="1400" dirty="0"/>
          </a:p>
          <a:p>
            <a:pPr marL="0" indent="0">
              <a:lnSpc>
                <a:spcPct val="115000"/>
              </a:lnSpc>
              <a:spcAft>
                <a:spcPts val="1400"/>
              </a:spcAft>
              <a:buNone/>
            </a:pPr>
            <a:r>
              <a:rPr lang="en-US" sz="1400" dirty="0">
                <a:solidFill>
                  <a:srgbClr val="17233A"/>
                </a:solidFill>
                <a:latin typeface="Calibri" pitchFamily="34" charset="0"/>
                <a:ea typeface="Calibri" pitchFamily="34" charset="-122"/>
                <a:cs typeface="Calibri" pitchFamily="34" charset="-120"/>
              </a:rPr>
              <a:t>12. Discuss one ethical concern with using mobile-network data for displacement tracking, and one safeguard that could address it.</a:t>
            </a:r>
            <a:endParaRPr lang="en-US" sz="1400" dirty="0"/>
          </a:p>
          <a:p>
            <a:pPr marL="0" indent="0">
              <a:lnSpc>
                <a:spcPct val="115000"/>
              </a:lnSpc>
              <a:spcAft>
                <a:spcPts val="1400"/>
              </a:spcAft>
              <a:buNone/>
            </a:pPr>
            <a:r>
              <a:rPr lang="en-US" sz="1400" dirty="0">
                <a:solidFill>
                  <a:srgbClr val="17233A"/>
                </a:solidFill>
                <a:latin typeface="Calibri" pitchFamily="34" charset="0"/>
                <a:ea typeface="Calibri" pitchFamily="34" charset="-122"/>
                <a:cs typeface="Calibri" pitchFamily="34" charset="-120"/>
              </a:rPr>
              <a:t>13. How can satellite nighttime-lights data complement mobile-phone data for estimating urban population growth? Name one limitation of nighttime-lights data alone.</a:t>
            </a:r>
            <a:endParaRPr lang="en-US" sz="1400" dirty="0"/>
          </a:p>
          <a:p>
            <a:pPr marL="0" indent="0">
              <a:lnSpc>
                <a:spcPct val="115000"/>
              </a:lnSpc>
              <a:spcAft>
                <a:spcPts val="1400"/>
              </a:spcAft>
              <a:buNone/>
            </a:pPr>
            <a:r>
              <a:rPr lang="en-US" sz="1400" dirty="0">
                <a:solidFill>
                  <a:srgbClr val="17233A"/>
                </a:solidFill>
                <a:latin typeface="Calibri" pitchFamily="34" charset="0"/>
                <a:ea typeface="Calibri" pitchFamily="34" charset="-122"/>
                <a:cs typeface="Calibri" pitchFamily="34" charset="-120"/>
              </a:rPr>
              <a:t>14. Define “degree of urbanization” as used in the UN's 2020s methodology, and explain how it differs from counting people inside official city boundaries.</a:t>
            </a:r>
            <a:endParaRPr lang="en-US" sz="1400" dirty="0"/>
          </a:p>
          <a:p>
            <a:pPr marL="0" indent="0">
              <a:lnSpc>
                <a:spcPct val="115000"/>
              </a:lnSpc>
              <a:spcAft>
                <a:spcPts val="1400"/>
              </a:spcAft>
              <a:buNone/>
            </a:pPr>
            <a:r>
              <a:rPr lang="en-US" sz="1400" dirty="0">
                <a:solidFill>
                  <a:srgbClr val="17233A"/>
                </a:solidFill>
                <a:latin typeface="Calibri" pitchFamily="34" charset="0"/>
                <a:ea typeface="Calibri" pitchFamily="34" charset="-122"/>
                <a:cs typeface="Calibri" pitchFamily="34" charset="-120"/>
              </a:rPr>
              <a:t>15. The UN's 2025 urbanization report lowered its city population threshold from 300,000 to 50,000. Explain how this change alone could raise a country's reported urbanization level, even with no real population movement.</a:t>
            </a:r>
            <a:endParaRPr lang="en-US" sz="1400" dirty="0"/>
          </a:p>
        </p:txBody>
      </p:sp>
      <p:sp>
        <p:nvSpPr>
          <p:cNvPr id="5" name="Text 3"/>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6" name="Text 4"/>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55 / 57</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PRACTICE EXERCISES</a:t>
            </a:r>
            <a:endParaRPr lang="en-US" sz="1300" dirty="0"/>
          </a:p>
        </p:txBody>
      </p:sp>
      <p:sp>
        <p:nvSpPr>
          <p:cNvPr id="3" name="Text 1"/>
          <p:cNvSpPr txBox="1"/>
          <p:nvPr/>
        </p:nvSpPr>
        <p:spPr>
          <a:xfrm>
            <a:off x="548640" y="566928"/>
            <a:ext cx="11155680" cy="685800"/>
          </a:xfrm>
          <a:prstGeom prst="rect">
            <a:avLst/>
          </a:prstGeom>
          <a:noFill/>
          <a:ln/>
        </p:spPr>
        <p:txBody>
          <a:bodyPr wrap="square" lIns="0" tIns="0" rIns="0" bIns="0" rtlCol="0" anchor="ctr"/>
          <a:lstStyle/>
          <a:p>
            <a:pPr marL="0" indent="0">
              <a:buNone/>
            </a:pPr>
            <a:r>
              <a:rPr lang="en-US" sz="2900" b="1" dirty="0">
                <a:solidFill>
                  <a:srgbClr val="17233A"/>
                </a:solidFill>
                <a:latin typeface="Cambria" pitchFamily="34" charset="0"/>
                <a:ea typeface="Cambria" pitchFamily="34" charset="-122"/>
                <a:cs typeface="Cambria" pitchFamily="34" charset="-120"/>
              </a:rPr>
              <a:t>Questions 16–18: Synthesis</a:t>
            </a:r>
            <a:endParaRPr lang="en-US" sz="2900" dirty="0"/>
          </a:p>
        </p:txBody>
      </p:sp>
      <p:sp>
        <p:nvSpPr>
          <p:cNvPr id="4" name="Text 2"/>
          <p:cNvSpPr txBox="1"/>
          <p:nvPr/>
        </p:nvSpPr>
        <p:spPr>
          <a:xfrm>
            <a:off x="548640" y="1554480"/>
            <a:ext cx="11109960" cy="4663440"/>
          </a:xfrm>
          <a:prstGeom prst="rect">
            <a:avLst/>
          </a:prstGeom>
          <a:noFill/>
          <a:ln/>
        </p:spPr>
        <p:txBody>
          <a:bodyPr wrap="square" lIns="0" tIns="0" rIns="0" bIns="0" rtlCol="0" anchor="ctr"/>
          <a:lstStyle/>
          <a:p>
            <a:pPr marL="0" indent="0">
              <a:lnSpc>
                <a:spcPct val="115000"/>
              </a:lnSpc>
              <a:spcAft>
                <a:spcPts val="1400"/>
              </a:spcAft>
              <a:buNone/>
            </a:pPr>
            <a:r>
              <a:rPr lang="en-US" sz="1400" dirty="0">
                <a:solidFill>
                  <a:srgbClr val="17233A"/>
                </a:solidFill>
                <a:latin typeface="Calibri" pitchFamily="34" charset="0"/>
                <a:ea typeface="Calibri" pitchFamily="34" charset="-122"/>
                <a:cs typeface="Calibri" pitchFamily="34" charset="-120"/>
              </a:rPr>
              <a:t>16. Name the three drivers of urban population growth and explain which one is most important in a megacity that has stopped receiving large numbers of rural migrants.</a:t>
            </a:r>
            <a:endParaRPr lang="en-US" sz="1400" dirty="0"/>
          </a:p>
          <a:p>
            <a:pPr marL="0" indent="0">
              <a:lnSpc>
                <a:spcPct val="115000"/>
              </a:lnSpc>
              <a:spcAft>
                <a:spcPts val="1400"/>
              </a:spcAft>
              <a:buNone/>
            </a:pPr>
            <a:r>
              <a:rPr lang="en-US" sz="1400" dirty="0">
                <a:solidFill>
                  <a:srgbClr val="17233A"/>
                </a:solidFill>
                <a:latin typeface="Calibri" pitchFamily="34" charset="0"/>
                <a:ea typeface="Calibri" pitchFamily="34" charset="-122"/>
                <a:cs typeface="Calibri" pitchFamily="34" charset="-120"/>
              </a:rPr>
              <a:t>17. Using the Group Work 1 cases (Thailand, Mexico–US, Myanmar), explain why the same “net migration rate” concept applies very differently to a labor corridor versus a forced-displacement crisis.</a:t>
            </a:r>
            <a:endParaRPr lang="en-US" sz="1400" dirty="0"/>
          </a:p>
          <a:p>
            <a:pPr marL="0" indent="0">
              <a:lnSpc>
                <a:spcPct val="115000"/>
              </a:lnSpc>
              <a:spcAft>
                <a:spcPts val="1400"/>
              </a:spcAft>
              <a:buNone/>
            </a:pPr>
            <a:r>
              <a:rPr lang="en-US" sz="1400" dirty="0">
                <a:solidFill>
                  <a:srgbClr val="17233A"/>
                </a:solidFill>
                <a:latin typeface="Calibri" pitchFamily="34" charset="0"/>
                <a:ea typeface="Calibri" pitchFamily="34" charset="-122"/>
                <a:cs typeface="Calibri" pitchFamily="34" charset="-120"/>
              </a:rPr>
              <a:t>18. A city planner has only satellite imagery and no recent census. Propose one way to combine satellite data with another data source from this session to estimate the city's current population more reliably.</a:t>
            </a:r>
            <a:endParaRPr lang="en-US" sz="1400" dirty="0"/>
          </a:p>
        </p:txBody>
      </p:sp>
      <p:sp>
        <p:nvSpPr>
          <p:cNvPr id="5" name="Text 3"/>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6" name="Text 4"/>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56 / 57</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7">
    <p:bg>
      <p:bgPr>
        <a:solidFill>
          <a:srgbClr val="111D33"/>
        </a:solidFill>
        <a:effectLst/>
      </p:bgPr>
    </p:bg>
    <p:spTree>
      <p:nvGrpSpPr>
        <p:cNvPr id="1" name=""/>
        <p:cNvGrpSpPr/>
        <p:nvPr/>
      </p:nvGrpSpPr>
      <p:grpSpPr>
        <a:xfrm>
          <a:off x="0" y="0"/>
          <a:ext cx="0" cy="0"/>
          <a:chOff x="0" y="0"/>
          <a:chExt cx="0" cy="0"/>
        </a:xfrm>
      </p:grpSpPr>
      <p:sp>
        <p:nvSpPr>
          <p:cNvPr id="2" name="Shape 0"/>
          <p:cNvSpPr/>
          <p:nvPr/>
        </p:nvSpPr>
        <p:spPr>
          <a:xfrm>
            <a:off x="-1828800" y="-2011680"/>
            <a:ext cx="5943600" cy="5943600"/>
          </a:xfrm>
          <a:prstGeom prst="ellipse">
            <a:avLst/>
          </a:prstGeom>
          <a:solidFill>
            <a:srgbClr val="1B2A4A">
              <a:alpha val="55000"/>
            </a:srgbClr>
          </a:solidFill>
          <a:ln/>
        </p:spPr>
      </p:sp>
      <p:sp>
        <p:nvSpPr>
          <p:cNvPr id="3" name="Shape 1"/>
          <p:cNvSpPr/>
          <p:nvPr/>
        </p:nvSpPr>
        <p:spPr>
          <a:xfrm>
            <a:off x="8961120" y="3657600"/>
            <a:ext cx="4572000" cy="4572000"/>
          </a:xfrm>
          <a:prstGeom prst="ellipse">
            <a:avLst/>
          </a:prstGeom>
          <a:solidFill>
            <a:srgbClr val="0E7C7B">
              <a:alpha val="45000"/>
            </a:srgbClr>
          </a:solidFill>
          <a:ln/>
        </p:spPr>
      </p:sp>
      <p:sp>
        <p:nvSpPr>
          <p:cNvPr id="4" name="Shape 2"/>
          <p:cNvSpPr/>
          <p:nvPr/>
        </p:nvSpPr>
        <p:spPr>
          <a:xfrm>
            <a:off x="5410048" y="1828800"/>
            <a:ext cx="1371600" cy="1371600"/>
          </a:xfrm>
          <a:prstGeom prst="ellipse">
            <a:avLst/>
          </a:prstGeom>
          <a:solidFill>
            <a:srgbClr val="0E7C7B"/>
          </a:solidFill>
          <a:ln/>
        </p:spPr>
      </p:sp>
      <p:pic>
        <p:nvPicPr>
          <p:cNvPr id="5" name="Image 0" descr="/sessions/blissful-modest-newton/mnt/outputs/scratch/build/icons/globe.png"/>
          <p:cNvPicPr>
            <a:picLocks noChangeAspect="1"/>
          </p:cNvPicPr>
          <p:nvPr/>
        </p:nvPicPr>
        <p:blipFill>
          <a:blip r:embed="rId3"/>
          <a:stretch>
            <a:fillRect/>
          </a:stretch>
        </p:blipFill>
        <p:spPr>
          <a:xfrm>
            <a:off x="5684368" y="2103120"/>
            <a:ext cx="822960" cy="822960"/>
          </a:xfrm>
          <a:prstGeom prst="rect">
            <a:avLst/>
          </a:prstGeom>
        </p:spPr>
      </p:pic>
      <p:sp>
        <p:nvSpPr>
          <p:cNvPr id="6" name="Text 3"/>
          <p:cNvSpPr txBox="1"/>
          <p:nvPr/>
        </p:nvSpPr>
        <p:spPr>
          <a:xfrm>
            <a:off x="0" y="3429000"/>
            <a:ext cx="12191695"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7" name="Text 4"/>
          <p:cNvSpPr txBox="1"/>
          <p:nvPr/>
        </p:nvSpPr>
        <p:spPr>
          <a:xfrm>
            <a:off x="1371600" y="4297680"/>
            <a:ext cx="9448495" cy="731520"/>
          </a:xfrm>
          <a:prstGeom prst="rect">
            <a:avLst/>
          </a:prstGeom>
          <a:noFill/>
          <a:ln/>
        </p:spPr>
        <p:txBody>
          <a:bodyPr wrap="square" lIns="0" tIns="0" rIns="0" bIns="0" rtlCol="0" anchor="ctr"/>
          <a:lstStyle/>
          <a:p>
            <a:pPr marL="0" indent="0" algn="ctr">
              <a:lnSpc>
                <a:spcPct val="120000"/>
              </a:lnSpc>
              <a:buNone/>
            </a:pPr>
            <a:r>
              <a:rPr lang="en-US" sz="1400" i="1" dirty="0">
                <a:solidFill>
                  <a:srgbClr val="C9D6E8"/>
                </a:solidFill>
                <a:latin typeface="Calibri" pitchFamily="34" charset="0"/>
                <a:ea typeface="Calibri" pitchFamily="34" charset="-122"/>
                <a:cs typeface="Calibri" pitchFamily="34" charset="-120"/>
              </a:rPr>
              <a:t>This concludes the core Fundamental Demographic Analysis content sessions — see the syllabus for the Midterm Examination (Session 9) and the final applied research paper.</a:t>
            </a:r>
            <a:endParaRPr lang="en-US" sz="1400" dirty="0"/>
          </a:p>
        </p:txBody>
      </p:sp>
      <p:sp>
        <p:nvSpPr>
          <p:cNvPr id="8" name="Text 5"/>
          <p:cNvSpPr txBox="1"/>
          <p:nvPr/>
        </p:nvSpPr>
        <p:spPr>
          <a:xfrm>
            <a:off x="457200" y="6547104"/>
            <a:ext cx="8961120" cy="274320"/>
          </a:xfrm>
          <a:prstGeom prst="rect">
            <a:avLst/>
          </a:prstGeom>
          <a:noFill/>
          <a:ln/>
        </p:spPr>
        <p:txBody>
          <a:bodyPr wrap="square" lIns="0" tIns="0" rIns="0" bIns="0" rtlCol="0" anchor="ctr"/>
          <a:lstStyle/>
          <a:p>
            <a:pPr marL="0" indent="0" algn="l">
              <a:buNone/>
            </a:pPr>
            <a:r>
              <a:rPr lang="en-US" sz="900" dirty="0">
                <a:solidFill>
                  <a:srgbClr val="C9D6E8"/>
                </a:solidFill>
                <a:latin typeface="Calibri" pitchFamily="34" charset="0"/>
                <a:ea typeface="Calibri" pitchFamily="34" charset="-122"/>
                <a:cs typeface="Calibri" pitchFamily="34" charset="-120"/>
              </a:rPr>
              <a:t>5140602 Fundamental Demographic Analysis  |  Session 8: Migration and Urbanization in a Connected World</a:t>
            </a:r>
            <a:endParaRPr lang="en-US" sz="900" dirty="0"/>
          </a:p>
        </p:txBody>
      </p:sp>
      <p:sp>
        <p:nvSpPr>
          <p:cNvPr id="9" name="Text 6"/>
          <p:cNvSpPr txBox="1"/>
          <p:nvPr/>
        </p:nvSpPr>
        <p:spPr>
          <a:xfrm>
            <a:off x="11064240" y="6547104"/>
            <a:ext cx="914400" cy="274320"/>
          </a:xfrm>
          <a:prstGeom prst="rect">
            <a:avLst/>
          </a:prstGeom>
          <a:noFill/>
          <a:ln/>
        </p:spPr>
        <p:txBody>
          <a:bodyPr wrap="square" lIns="0" tIns="0" rIns="0" bIns="0" rtlCol="0" anchor="ctr"/>
          <a:lstStyle/>
          <a:p>
            <a:pPr marL="0" indent="0" algn="r">
              <a:buNone/>
            </a:pPr>
            <a:r>
              <a:rPr lang="en-US" sz="900" dirty="0">
                <a:solidFill>
                  <a:srgbClr val="C9D6E8"/>
                </a:solidFill>
                <a:latin typeface="Calibri" pitchFamily="34" charset="0"/>
                <a:ea typeface="Calibri" pitchFamily="34" charset="-122"/>
                <a:cs typeface="Calibri" pitchFamily="34" charset="-120"/>
              </a:rPr>
              <a:t>57 / 57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TotalTime>
  <Words>6719</Words>
  <Application>Microsoft Office PowerPoint</Application>
  <PresentationFormat>Widescreen</PresentationFormat>
  <Paragraphs>644</Paragraphs>
  <Slides>56</Slides>
  <Notes>56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RB</cp:lastModifiedBy>
  <cp:revision>9</cp:revision>
  <dcterms:created xsi:type="dcterms:W3CDTF">2026-09-07T20:11:32Z</dcterms:created>
  <dcterms:modified xsi:type="dcterms:W3CDTF">2026-09-18T03:31:49Z</dcterms:modified>
</cp:coreProperties>
</file>