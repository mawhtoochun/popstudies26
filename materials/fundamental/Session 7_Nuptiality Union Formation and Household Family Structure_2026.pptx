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2.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3.xml" ContentType="application/vnd.openxmlformats-officedocument.drawingml.chart+xml"/>
  <Override PartName="/ppt/notesSlides/notesSlide26.xml" ContentType="application/vnd.openxmlformats-officedocument.presentationml.notesSlide+xml"/>
  <Override PartName="/ppt/charts/chart4.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4" r:id="rId28"/>
    <p:sldId id="283" r:id="rId29"/>
    <p:sldId id="285"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9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Registered marriages (thousands)</c:v>
                </c:pt>
              </c:strCache>
            </c:strRef>
          </c:tx>
          <c:spPr>
            <a:solidFill>
              <a:srgbClr val="6D2E46"/>
            </a:solidFill>
            <a:effectLst/>
          </c:spPr>
          <c:invertIfNegative val="0"/>
          <c:dLbls>
            <c:numFmt formatCode="#,##0" sourceLinked="0"/>
            <c:spPr>
              <a:noFill/>
              <a:ln>
                <a:noFill/>
              </a:ln>
              <a:effectLst/>
            </c:spPr>
            <c:txPr>
              <a:bodyPr/>
              <a:lstStyle/>
              <a:p>
                <a:pPr>
                  <a:defRPr sz="12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2022</c:v>
                </c:pt>
                <c:pt idx="1">
                  <c:v>2023</c:v>
                </c:pt>
                <c:pt idx="2">
                  <c:v>2024</c:v>
                </c:pt>
              </c:strCache>
            </c:strRef>
          </c:cat>
          <c:val>
            <c:numRef>
              <c:f>Sheet1!$B$2:$B$4</c:f>
              <c:numCache>
                <c:formatCode>General</c:formatCode>
                <c:ptCount val="3"/>
                <c:pt idx="0">
                  <c:v>305.5</c:v>
                </c:pt>
                <c:pt idx="1">
                  <c:v>279.7</c:v>
                </c:pt>
                <c:pt idx="2">
                  <c:v>263.10000000000002</c:v>
                </c:pt>
              </c:numCache>
            </c:numRef>
          </c:val>
          <c:extLst>
            <c:ext xmlns:c16="http://schemas.microsoft.com/office/drawing/2014/chart" uri="{C3380CC4-5D6E-409C-BE32-E72D297353CC}">
              <c16:uniqueId val="{00000000-78DA-4C04-9A8F-9062F037F530}"/>
            </c:ext>
          </c:extLst>
        </c:ser>
        <c:dLbls>
          <c:dLblPos val="inEnd"/>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A1420"/>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4D9D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A142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 of adults 20+ in non-marital cohabiting unions</c:v>
                </c:pt>
              </c:strCache>
            </c:strRef>
          </c:tx>
          <c:spPr>
            <a:solidFill>
              <a:srgbClr val="A26769"/>
            </a:solidFill>
            <a:effectLst/>
          </c:spPr>
          <c:invertIfNegative val="0"/>
          <c:dLbls>
            <c:numFmt formatCode="#,##0" sourceLinked="0"/>
            <c:spPr>
              <a:noFill/>
              <a:ln>
                <a:noFill/>
              </a:ln>
              <a:effectLst/>
            </c:spPr>
            <c:txPr>
              <a:bodyPr/>
              <a:lstStyle/>
              <a:p>
                <a:pPr>
                  <a:defRPr sz="12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Iceland</c:v>
                </c:pt>
                <c:pt idx="1">
                  <c:v>Sweden</c:v>
                </c:pt>
                <c:pt idx="2">
                  <c:v>France</c:v>
                </c:pt>
                <c:pt idx="3">
                  <c:v>Estonia</c:v>
                </c:pt>
                <c:pt idx="4">
                  <c:v>Norway</c:v>
                </c:pt>
              </c:strCache>
            </c:strRef>
          </c:cat>
          <c:val>
            <c:numRef>
              <c:f>Sheet1!$B$2:$B$6</c:f>
              <c:numCache>
                <c:formatCode>General</c:formatCode>
                <c:ptCount val="5"/>
                <c:pt idx="0">
                  <c:v>22</c:v>
                </c:pt>
                <c:pt idx="1">
                  <c:v>20</c:v>
                </c:pt>
                <c:pt idx="2">
                  <c:v>19</c:v>
                </c:pt>
                <c:pt idx="3">
                  <c:v>18</c:v>
                </c:pt>
                <c:pt idx="4">
                  <c:v>17</c:v>
                </c:pt>
              </c:numCache>
            </c:numRef>
          </c:val>
          <c:extLst>
            <c:ext xmlns:c16="http://schemas.microsoft.com/office/drawing/2014/chart" uri="{C3380CC4-5D6E-409C-BE32-E72D297353CC}">
              <c16:uniqueId val="{00000000-AAAD-44FB-97C0-A8FA8F255BC3}"/>
            </c:ext>
          </c:extLst>
        </c:ser>
        <c:dLbls>
          <c:dLblPos val="inEnd"/>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A1420"/>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4D9D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A142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 never-married, age 35-39</c:v>
                </c:pt>
              </c:strCache>
            </c:strRef>
          </c:tx>
          <c:spPr>
            <a:solidFill>
              <a:srgbClr val="6D2E46"/>
            </a:solidFill>
            <a:effectLst/>
          </c:spPr>
          <c:invertIfNegative val="0"/>
          <c:dLbls>
            <c:numFmt formatCode="#,##0" sourceLinked="0"/>
            <c:spPr>
              <a:noFill/>
              <a:ln>
                <a:noFill/>
              </a:ln>
              <a:effectLst/>
            </c:spPr>
            <c:txPr>
              <a:bodyPr/>
              <a:lstStyle/>
              <a:p>
                <a:pPr>
                  <a:defRPr sz="11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2001</c:v>
                </c:pt>
                <c:pt idx="1">
                  <c:v>Recent survey</c:v>
                </c:pt>
              </c:strCache>
            </c:strRef>
          </c:cat>
          <c:val>
            <c:numRef>
              <c:f>Sheet1!$B$2:$B$3</c:f>
              <c:numCache>
                <c:formatCode>General</c:formatCode>
                <c:ptCount val="2"/>
                <c:pt idx="0">
                  <c:v>7</c:v>
                </c:pt>
                <c:pt idx="1">
                  <c:v>12</c:v>
                </c:pt>
              </c:numCache>
            </c:numRef>
          </c:val>
          <c:extLst>
            <c:ext xmlns:c16="http://schemas.microsoft.com/office/drawing/2014/chart" uri="{C3380CC4-5D6E-409C-BE32-E72D297353CC}">
              <c16:uniqueId val="{00000000-1D4F-4DB9-AACE-798D81C17A04}"/>
            </c:ext>
          </c:extLst>
        </c:ser>
        <c:ser>
          <c:idx val="1"/>
          <c:order val="1"/>
          <c:tx>
            <c:strRef>
              <c:f>Sheet1!$C$1</c:f>
              <c:strCache>
                <c:ptCount val="1"/>
                <c:pt idx="0">
                  <c:v>% never-married, age 45-49</c:v>
                </c:pt>
              </c:strCache>
            </c:strRef>
          </c:tx>
          <c:spPr>
            <a:solidFill>
              <a:srgbClr val="A26769"/>
            </a:solidFill>
            <a:effectLst/>
          </c:spPr>
          <c:invertIfNegative val="0"/>
          <c:dLbls>
            <c:numFmt formatCode="#,##0" sourceLinked="0"/>
            <c:spPr>
              <a:noFill/>
              <a:ln>
                <a:noFill/>
              </a:ln>
              <a:effectLst/>
            </c:spPr>
            <c:txPr>
              <a:bodyPr/>
              <a:lstStyle/>
              <a:p>
                <a:pPr>
                  <a:defRPr sz="11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2001</c:v>
                </c:pt>
                <c:pt idx="1">
                  <c:v>Recent survey</c:v>
                </c:pt>
              </c:strCache>
            </c:strRef>
          </c:cat>
          <c:val>
            <c:numRef>
              <c:f>Sheet1!$C$2:$C$3</c:f>
              <c:numCache>
                <c:formatCode>General</c:formatCode>
                <c:ptCount val="2"/>
                <c:pt idx="0">
                  <c:v>5</c:v>
                </c:pt>
                <c:pt idx="1">
                  <c:v>6.5</c:v>
                </c:pt>
              </c:numCache>
            </c:numRef>
          </c:val>
          <c:extLst>
            <c:ext xmlns:c16="http://schemas.microsoft.com/office/drawing/2014/chart" uri="{C3380CC4-5D6E-409C-BE32-E72D297353CC}">
              <c16:uniqueId val="{00000001-1D4F-4DB9-AACE-798D81C17A04}"/>
            </c:ext>
          </c:extLst>
        </c:ser>
        <c:dLbls>
          <c:dLblPos val="inEnd"/>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A1420"/>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4D9D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A142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A1420"/>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Registered marriages (thousands)</c:v>
                </c:pt>
              </c:strCache>
            </c:strRef>
          </c:tx>
          <c:spPr>
            <a:solidFill>
              <a:srgbClr val="C9962E"/>
            </a:solidFill>
            <a:effectLst/>
          </c:spPr>
          <c:invertIfNegative val="0"/>
          <c:dLbls>
            <c:numFmt formatCode="#,##0" sourceLinked="0"/>
            <c:spPr>
              <a:noFill/>
              <a:ln>
                <a:noFill/>
              </a:ln>
              <a:effectLst/>
            </c:spPr>
            <c:txPr>
              <a:bodyPr/>
              <a:lstStyle/>
              <a:p>
                <a:pPr>
                  <a:defRPr sz="12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2022</c:v>
                </c:pt>
                <c:pt idx="1">
                  <c:v>2023</c:v>
                </c:pt>
                <c:pt idx="2">
                  <c:v>2024</c:v>
                </c:pt>
              </c:strCache>
            </c:strRef>
          </c:cat>
          <c:val>
            <c:numRef>
              <c:f>Sheet1!$B$2:$B$4</c:f>
              <c:numCache>
                <c:formatCode>General</c:formatCode>
                <c:ptCount val="3"/>
                <c:pt idx="0">
                  <c:v>191.7</c:v>
                </c:pt>
                <c:pt idx="1">
                  <c:v>193.7</c:v>
                </c:pt>
                <c:pt idx="2">
                  <c:v>222.4</c:v>
                </c:pt>
              </c:numCache>
            </c:numRef>
          </c:val>
          <c:extLst>
            <c:ext xmlns:c16="http://schemas.microsoft.com/office/drawing/2014/chart" uri="{C3380CC4-5D6E-409C-BE32-E72D297353CC}">
              <c16:uniqueId val="{00000000-5D83-44EA-A72D-DDE68ABFD004}"/>
            </c:ext>
          </c:extLst>
        </c:ser>
        <c:dLbls>
          <c:dLblPos val="inEnd"/>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A1420"/>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4D9D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A142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7379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3.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9.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5.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3.png"/><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1E30"/>
        </a:solidFill>
        <a:effectLst/>
      </p:bgPr>
    </p:bg>
    <p:spTree>
      <p:nvGrpSpPr>
        <p:cNvPr id="1" name=""/>
        <p:cNvGrpSpPr/>
        <p:nvPr/>
      </p:nvGrpSpPr>
      <p:grpSpPr>
        <a:xfrm>
          <a:off x="0" y="0"/>
          <a:ext cx="0" cy="0"/>
          <a:chOff x="0" y="0"/>
          <a:chExt cx="0" cy="0"/>
        </a:xfrm>
      </p:grpSpPr>
      <p:sp>
        <p:nvSpPr>
          <p:cNvPr id="3" name="Shape 1"/>
          <p:cNvSpPr/>
          <p:nvPr/>
        </p:nvSpPr>
        <p:spPr>
          <a:xfrm>
            <a:off x="-1645920" y="4206240"/>
            <a:ext cx="4206240" cy="4206240"/>
          </a:xfrm>
          <a:prstGeom prst="ellipse">
            <a:avLst/>
          </a:prstGeom>
          <a:solidFill>
            <a:srgbClr val="A26769">
              <a:alpha val="45000"/>
            </a:srgbClr>
          </a:solidFill>
          <a:ln/>
        </p:spPr>
      </p:sp>
      <p:sp>
        <p:nvSpPr>
          <p:cNvPr id="4" name="Shape 2"/>
          <p:cNvSpPr/>
          <p:nvPr/>
        </p:nvSpPr>
        <p:spPr>
          <a:xfrm>
            <a:off x="685800" y="640080"/>
            <a:ext cx="914400" cy="914400"/>
          </a:xfrm>
          <a:prstGeom prst="ellipse">
            <a:avLst/>
          </a:prstGeom>
          <a:solidFill>
            <a:srgbClr val="A26769"/>
          </a:solidFill>
          <a:ln/>
        </p:spPr>
      </p:sp>
      <p:pic>
        <p:nvPicPr>
          <p:cNvPr id="5" name="Image 0" descr="/sessions/blissful-modest-newton/work/build/icons/family.png"/>
          <p:cNvPicPr>
            <a:picLocks noChangeAspect="1"/>
          </p:cNvPicPr>
          <p:nvPr/>
        </p:nvPicPr>
        <p:blipFill>
          <a:blip r:embed="rId3"/>
          <a:stretch>
            <a:fillRect/>
          </a:stretch>
        </p:blipFill>
        <p:spPr>
          <a:xfrm>
            <a:off x="859536" y="813816"/>
            <a:ext cx="566928" cy="566928"/>
          </a:xfrm>
          <a:prstGeom prst="rect">
            <a:avLst/>
          </a:prstGeom>
        </p:spPr>
      </p:pic>
      <p:sp>
        <p:nvSpPr>
          <p:cNvPr id="6" name="Text 3"/>
          <p:cNvSpPr txBox="1"/>
          <p:nvPr/>
        </p:nvSpPr>
        <p:spPr>
          <a:xfrm>
            <a:off x="685800" y="1874520"/>
            <a:ext cx="9601200" cy="365760"/>
          </a:xfrm>
          <a:prstGeom prst="rect">
            <a:avLst/>
          </a:prstGeom>
          <a:noFill/>
          <a:ln/>
        </p:spPr>
        <p:txBody>
          <a:bodyPr wrap="square" lIns="0" tIns="0" rIns="0" bIns="0" rtlCol="0" anchor="ctr"/>
          <a:lstStyle/>
          <a:p>
            <a:pPr marL="0" indent="0">
              <a:buNone/>
            </a:pPr>
            <a:r>
              <a:rPr lang="en-US" sz="1500" b="1" kern="0" spc="200" dirty="0">
                <a:solidFill>
                  <a:srgbClr val="ECE2D0"/>
                </a:solidFill>
                <a:latin typeface="Calibri" pitchFamily="34" charset="0"/>
                <a:ea typeface="Calibri" pitchFamily="34" charset="-122"/>
                <a:cs typeface="Calibri" pitchFamily="34" charset="-120"/>
              </a:rPr>
              <a:t>SESSION 7   |   COURSE 5140602</a:t>
            </a:r>
            <a:endParaRPr lang="en-US" sz="1500" dirty="0"/>
          </a:p>
        </p:txBody>
      </p:sp>
      <p:sp>
        <p:nvSpPr>
          <p:cNvPr id="7" name="Text 4"/>
          <p:cNvSpPr txBox="1"/>
          <p:nvPr/>
        </p:nvSpPr>
        <p:spPr>
          <a:xfrm>
            <a:off x="685800" y="2286000"/>
            <a:ext cx="10332720" cy="1737360"/>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Nuptiality, Union Formation, and</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Household &amp; Family Structure</a:t>
            </a:r>
            <a:endParaRPr lang="en-US" sz="4400" dirty="0"/>
          </a:p>
        </p:txBody>
      </p:sp>
      <p:sp>
        <p:nvSpPr>
          <p:cNvPr id="8" name="Text 5"/>
          <p:cNvSpPr txBox="1"/>
          <p:nvPr/>
        </p:nvSpPr>
        <p:spPr>
          <a:xfrm>
            <a:off x="685800" y="4160520"/>
            <a:ext cx="10332720" cy="365760"/>
          </a:xfrm>
          <a:prstGeom prst="rect">
            <a:avLst/>
          </a:prstGeom>
          <a:noFill/>
          <a:ln/>
        </p:spPr>
        <p:txBody>
          <a:bodyPr wrap="square" lIns="0" tIns="0" rIns="0" bIns="0" rtlCol="0" anchor="ctr"/>
          <a:lstStyle/>
          <a:p>
            <a:pPr marL="0" indent="0">
              <a:buNone/>
            </a:pPr>
            <a:r>
              <a:rPr lang="en-US" sz="1600" dirty="0">
                <a:solidFill>
                  <a:srgbClr val="ECE2D0"/>
                </a:solidFill>
                <a:latin typeface="Calibri" pitchFamily="34" charset="0"/>
                <a:ea typeface="Calibri" pitchFamily="34" charset="-122"/>
                <a:cs typeface="Calibri" pitchFamily="34" charset="-120"/>
              </a:rPr>
              <a:t>Fundamental Demographic Analysis  |  College of Population Studies, Chulalongkorn University</a:t>
            </a:r>
            <a:endParaRPr lang="en-US" sz="1600" dirty="0"/>
          </a:p>
        </p:txBody>
      </p:sp>
      <p:sp>
        <p:nvSpPr>
          <p:cNvPr id="9" name="Text 6"/>
          <p:cNvSpPr txBox="1"/>
          <p:nvPr/>
        </p:nvSpPr>
        <p:spPr>
          <a:xfrm>
            <a:off x="685800" y="5806440"/>
            <a:ext cx="7772400" cy="320040"/>
          </a:xfrm>
          <a:prstGeom prst="rect">
            <a:avLst/>
          </a:prstGeom>
          <a:noFill/>
          <a:ln/>
        </p:spPr>
        <p:txBody>
          <a:bodyPr wrap="square" lIns="0" tIns="0" rIns="0" bIns="0" rtlCol="0" anchor="ctr"/>
          <a:lstStyle/>
          <a:p>
            <a:pPr marL="0" indent="0">
              <a:buNone/>
            </a:pPr>
            <a:r>
              <a:rPr lang="en-US" sz="1300" dirty="0">
                <a:solidFill>
                  <a:srgbClr val="D9C9CE"/>
                </a:solidFill>
                <a:latin typeface="Calibri" pitchFamily="34" charset="0"/>
                <a:ea typeface="Calibri" pitchFamily="34" charset="-122"/>
                <a:cs typeface="Calibri" pitchFamily="34" charset="-120"/>
              </a:rPr>
              <a:t>Instructor: Asst. Prof. Dr. Ruttiya Bhula-or   |   2026 Revised Syllabus</a:t>
            </a:r>
            <a:endParaRPr lang="en-US" sz="1300" dirty="0"/>
          </a:p>
        </p:txBody>
      </p:sp>
      <p:sp>
        <p:nvSpPr>
          <p:cNvPr id="11" name="Text 8"/>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D9C9CE"/>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2" name="Text 9"/>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D9C9CE"/>
                </a:solidFill>
                <a:latin typeface="Calibri" pitchFamily="34" charset="0"/>
                <a:ea typeface="Calibri" pitchFamily="34" charset="-122"/>
                <a:cs typeface="Calibri" pitchFamily="34" charset="-120"/>
              </a:rPr>
              <a:t>1 / 56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LEARNING OBJECTIVES</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By the End of This Session, You Will Be Able To…</a:t>
            </a:r>
            <a:endParaRPr lang="en-US" sz="3000" dirty="0"/>
          </a:p>
        </p:txBody>
      </p:sp>
      <p:sp>
        <p:nvSpPr>
          <p:cNvPr id="4" name="Shape 2"/>
          <p:cNvSpPr/>
          <p:nvPr/>
        </p:nvSpPr>
        <p:spPr>
          <a:xfrm>
            <a:off x="502920" y="1508760"/>
            <a:ext cx="5440680" cy="1417320"/>
          </a:xfrm>
          <a:prstGeom prst="roundRect">
            <a:avLst>
              <a:gd name="adj" fmla="val 5806"/>
            </a:avLst>
          </a:prstGeom>
          <a:solidFill>
            <a:srgbClr val="F7F3EF"/>
          </a:solidFill>
          <a:ln/>
        </p:spPr>
      </p:sp>
      <p:sp>
        <p:nvSpPr>
          <p:cNvPr id="5" name="Shape 3"/>
          <p:cNvSpPr/>
          <p:nvPr/>
        </p:nvSpPr>
        <p:spPr>
          <a:xfrm>
            <a:off x="731520" y="1773936"/>
            <a:ext cx="868680" cy="868680"/>
          </a:xfrm>
          <a:prstGeom prst="ellipse">
            <a:avLst/>
          </a:prstGeom>
          <a:solidFill>
            <a:srgbClr val="6D2E46"/>
          </a:solidFill>
          <a:ln/>
        </p:spPr>
      </p:sp>
      <p:pic>
        <p:nvPicPr>
          <p:cNvPr id="6" name="Image 0" descr="/sessions/blissful-modest-newton/work/build/icons/family.png"/>
          <p:cNvPicPr>
            <a:picLocks noChangeAspect="1"/>
          </p:cNvPicPr>
          <p:nvPr/>
        </p:nvPicPr>
        <p:blipFill>
          <a:blip r:embed="rId3"/>
          <a:stretch>
            <a:fillRect/>
          </a:stretch>
        </p:blipFill>
        <p:spPr>
          <a:xfrm>
            <a:off x="922630" y="1965046"/>
            <a:ext cx="486461" cy="486461"/>
          </a:xfrm>
          <a:prstGeom prst="rect">
            <a:avLst/>
          </a:prstGeom>
        </p:spPr>
      </p:pic>
      <p:sp>
        <p:nvSpPr>
          <p:cNvPr id="7" name="Text 4"/>
          <p:cNvSpPr txBox="1"/>
          <p:nvPr/>
        </p:nvSpPr>
        <p:spPr>
          <a:xfrm>
            <a:off x="1783080" y="1636776"/>
            <a:ext cx="3931920" cy="1161288"/>
          </a:xfrm>
          <a:prstGeom prst="rect">
            <a:avLst/>
          </a:prstGeom>
          <a:noFill/>
          <a:ln/>
        </p:spPr>
        <p:txBody>
          <a:bodyPr wrap="square" lIns="0" tIns="0" rIns="0" bIns="0" rtlCol="0" anchor="ctr"/>
          <a:lstStyle/>
          <a:p>
            <a:pPr marL="0" indent="0">
              <a:buNone/>
            </a:pPr>
            <a:r>
              <a:rPr lang="en-US" sz="1400" dirty="0">
                <a:solidFill>
                  <a:srgbClr val="2A1420"/>
                </a:solidFill>
                <a:latin typeface="Calibri" pitchFamily="34" charset="0"/>
                <a:ea typeface="Calibri" pitchFamily="34" charset="-122"/>
                <a:cs typeface="Calibri" pitchFamily="34" charset="-120"/>
              </a:rPr>
              <a:t>Distinguish household from family, and describe how their statistical definitions have evolved.</a:t>
            </a:r>
            <a:endParaRPr lang="en-US" sz="1400" dirty="0"/>
          </a:p>
        </p:txBody>
      </p:sp>
      <p:sp>
        <p:nvSpPr>
          <p:cNvPr id="8" name="Shape 5"/>
          <p:cNvSpPr/>
          <p:nvPr/>
        </p:nvSpPr>
        <p:spPr>
          <a:xfrm>
            <a:off x="6263640" y="1508760"/>
            <a:ext cx="5440680" cy="1417320"/>
          </a:xfrm>
          <a:prstGeom prst="roundRect">
            <a:avLst>
              <a:gd name="adj" fmla="val 5806"/>
            </a:avLst>
          </a:prstGeom>
          <a:solidFill>
            <a:srgbClr val="F7F3EF"/>
          </a:solidFill>
          <a:ln/>
        </p:spPr>
      </p:sp>
      <p:sp>
        <p:nvSpPr>
          <p:cNvPr id="9" name="Shape 6"/>
          <p:cNvSpPr/>
          <p:nvPr/>
        </p:nvSpPr>
        <p:spPr>
          <a:xfrm>
            <a:off x="6492240" y="1773936"/>
            <a:ext cx="868680" cy="868680"/>
          </a:xfrm>
          <a:prstGeom prst="ellipse">
            <a:avLst/>
          </a:prstGeom>
          <a:solidFill>
            <a:srgbClr val="6D2E46"/>
          </a:solidFill>
          <a:ln/>
        </p:spPr>
      </p:sp>
      <p:pic>
        <p:nvPicPr>
          <p:cNvPr id="10" name="Image 1" descr="/sessions/blissful-modest-newton/work/build/icons/users3.png"/>
          <p:cNvPicPr>
            <a:picLocks noChangeAspect="1"/>
          </p:cNvPicPr>
          <p:nvPr/>
        </p:nvPicPr>
        <p:blipFill>
          <a:blip r:embed="rId4"/>
          <a:stretch>
            <a:fillRect/>
          </a:stretch>
        </p:blipFill>
        <p:spPr>
          <a:xfrm>
            <a:off x="6683350" y="1965046"/>
            <a:ext cx="486461" cy="486461"/>
          </a:xfrm>
          <a:prstGeom prst="rect">
            <a:avLst/>
          </a:prstGeom>
        </p:spPr>
      </p:pic>
      <p:sp>
        <p:nvSpPr>
          <p:cNvPr id="11" name="Text 7"/>
          <p:cNvSpPr txBox="1"/>
          <p:nvPr/>
        </p:nvSpPr>
        <p:spPr>
          <a:xfrm>
            <a:off x="7543800" y="1636776"/>
            <a:ext cx="3931920" cy="1161288"/>
          </a:xfrm>
          <a:prstGeom prst="rect">
            <a:avLst/>
          </a:prstGeom>
          <a:noFill/>
          <a:ln/>
        </p:spPr>
        <p:txBody>
          <a:bodyPr wrap="square" lIns="0" tIns="0" rIns="0" bIns="0" rtlCol="0" anchor="ctr"/>
          <a:lstStyle/>
          <a:p>
            <a:pPr marL="0" indent="0">
              <a:buNone/>
            </a:pPr>
            <a:r>
              <a:rPr lang="en-US" sz="1400" dirty="0">
                <a:solidFill>
                  <a:srgbClr val="2A1420"/>
                </a:solidFill>
                <a:latin typeface="Calibri" pitchFamily="34" charset="0"/>
                <a:ea typeface="Calibri" pitchFamily="34" charset="-122"/>
                <a:cs typeface="Calibri" pitchFamily="34" charset="-120"/>
              </a:rPr>
              <a:t>Map living arrangements and marital-status categories across the life course.</a:t>
            </a:r>
            <a:endParaRPr lang="en-US" sz="1400" dirty="0"/>
          </a:p>
        </p:txBody>
      </p:sp>
      <p:sp>
        <p:nvSpPr>
          <p:cNvPr id="12" name="Shape 8"/>
          <p:cNvSpPr/>
          <p:nvPr/>
        </p:nvSpPr>
        <p:spPr>
          <a:xfrm>
            <a:off x="502920" y="3182112"/>
            <a:ext cx="5440680" cy="1417320"/>
          </a:xfrm>
          <a:prstGeom prst="roundRect">
            <a:avLst>
              <a:gd name="adj" fmla="val 5806"/>
            </a:avLst>
          </a:prstGeom>
          <a:solidFill>
            <a:srgbClr val="F7F3EF"/>
          </a:solidFill>
          <a:ln/>
        </p:spPr>
      </p:sp>
      <p:sp>
        <p:nvSpPr>
          <p:cNvPr id="13" name="Shape 9"/>
          <p:cNvSpPr/>
          <p:nvPr/>
        </p:nvSpPr>
        <p:spPr>
          <a:xfrm>
            <a:off x="731520" y="3447288"/>
            <a:ext cx="868680" cy="868680"/>
          </a:xfrm>
          <a:prstGeom prst="ellipse">
            <a:avLst/>
          </a:prstGeom>
          <a:solidFill>
            <a:srgbClr val="6D2E46"/>
          </a:solidFill>
          <a:ln/>
        </p:spPr>
      </p:sp>
      <p:pic>
        <p:nvPicPr>
          <p:cNvPr id="14" name="Image 2" descr="/sessions/blissful-modest-newton/work/build/icons/chart.png"/>
          <p:cNvPicPr>
            <a:picLocks noChangeAspect="1"/>
          </p:cNvPicPr>
          <p:nvPr/>
        </p:nvPicPr>
        <p:blipFill>
          <a:blip r:embed="rId5"/>
          <a:stretch>
            <a:fillRect/>
          </a:stretch>
        </p:blipFill>
        <p:spPr>
          <a:xfrm>
            <a:off x="922630" y="3638398"/>
            <a:ext cx="486461" cy="486461"/>
          </a:xfrm>
          <a:prstGeom prst="rect">
            <a:avLst/>
          </a:prstGeom>
        </p:spPr>
      </p:pic>
      <p:sp>
        <p:nvSpPr>
          <p:cNvPr id="15" name="Text 10"/>
          <p:cNvSpPr txBox="1"/>
          <p:nvPr/>
        </p:nvSpPr>
        <p:spPr>
          <a:xfrm>
            <a:off x="1783080" y="3310128"/>
            <a:ext cx="3931920" cy="1161288"/>
          </a:xfrm>
          <a:prstGeom prst="rect">
            <a:avLst/>
          </a:prstGeom>
          <a:noFill/>
          <a:ln/>
        </p:spPr>
        <p:txBody>
          <a:bodyPr wrap="square" lIns="0" tIns="0" rIns="0" bIns="0" rtlCol="0" anchor="ctr"/>
          <a:lstStyle/>
          <a:p>
            <a:pPr marL="0" indent="0">
              <a:buNone/>
            </a:pPr>
            <a:r>
              <a:rPr lang="en-US" sz="1400" dirty="0">
                <a:solidFill>
                  <a:srgbClr val="2A1420"/>
                </a:solidFill>
                <a:latin typeface="Calibri" pitchFamily="34" charset="0"/>
                <a:ea typeface="Calibri" pitchFamily="34" charset="-122"/>
                <a:cs typeface="Calibri" pitchFamily="34" charset="-120"/>
              </a:rPr>
              <a:t>Compute and interpret the crude marriage rate and related nuptiality measures.</a:t>
            </a:r>
            <a:endParaRPr lang="en-US" sz="1400" dirty="0"/>
          </a:p>
        </p:txBody>
      </p:sp>
      <p:sp>
        <p:nvSpPr>
          <p:cNvPr id="16" name="Shape 11"/>
          <p:cNvSpPr/>
          <p:nvPr/>
        </p:nvSpPr>
        <p:spPr>
          <a:xfrm>
            <a:off x="6263640" y="3182112"/>
            <a:ext cx="5440680" cy="1417320"/>
          </a:xfrm>
          <a:prstGeom prst="roundRect">
            <a:avLst>
              <a:gd name="adj" fmla="val 5806"/>
            </a:avLst>
          </a:prstGeom>
          <a:solidFill>
            <a:srgbClr val="F7F3EF"/>
          </a:solidFill>
          <a:ln/>
        </p:spPr>
      </p:sp>
      <p:sp>
        <p:nvSpPr>
          <p:cNvPr id="17" name="Shape 12"/>
          <p:cNvSpPr/>
          <p:nvPr/>
        </p:nvSpPr>
        <p:spPr>
          <a:xfrm>
            <a:off x="6492240" y="3447288"/>
            <a:ext cx="868680" cy="868680"/>
          </a:xfrm>
          <a:prstGeom prst="ellipse">
            <a:avLst/>
          </a:prstGeom>
          <a:solidFill>
            <a:srgbClr val="6D2E46"/>
          </a:solidFill>
          <a:ln/>
        </p:spPr>
      </p:sp>
      <p:pic>
        <p:nvPicPr>
          <p:cNvPr id="18" name="Image 3" descr="/sessions/blissful-modest-newton/work/build/icons/globe.png"/>
          <p:cNvPicPr>
            <a:picLocks noChangeAspect="1"/>
          </p:cNvPicPr>
          <p:nvPr/>
        </p:nvPicPr>
        <p:blipFill>
          <a:blip r:embed="rId6"/>
          <a:stretch>
            <a:fillRect/>
          </a:stretch>
        </p:blipFill>
        <p:spPr>
          <a:xfrm>
            <a:off x="6683350" y="3638398"/>
            <a:ext cx="486461" cy="486461"/>
          </a:xfrm>
          <a:prstGeom prst="rect">
            <a:avLst/>
          </a:prstGeom>
        </p:spPr>
      </p:pic>
      <p:sp>
        <p:nvSpPr>
          <p:cNvPr id="19" name="Text 13"/>
          <p:cNvSpPr txBox="1"/>
          <p:nvPr/>
        </p:nvSpPr>
        <p:spPr>
          <a:xfrm>
            <a:off x="7543800" y="3310128"/>
            <a:ext cx="3931920" cy="1161288"/>
          </a:xfrm>
          <a:prstGeom prst="rect">
            <a:avLst/>
          </a:prstGeom>
          <a:noFill/>
          <a:ln/>
        </p:spPr>
        <p:txBody>
          <a:bodyPr wrap="square" lIns="0" tIns="0" rIns="0" bIns="0" rtlCol="0" anchor="ctr"/>
          <a:lstStyle/>
          <a:p>
            <a:pPr marL="0" indent="0">
              <a:buNone/>
            </a:pPr>
            <a:r>
              <a:rPr lang="en-US" sz="1400" dirty="0">
                <a:solidFill>
                  <a:srgbClr val="2A1420"/>
                </a:solidFill>
                <a:latin typeface="Calibri" pitchFamily="34" charset="0"/>
                <a:ea typeface="Calibri" pitchFamily="34" charset="-122"/>
                <a:cs typeface="Calibri" pitchFamily="34" charset="-120"/>
              </a:rPr>
              <a:t>Explain the rise of cohabitation, delayed marriage, and one-person households with current evidence.</a:t>
            </a:r>
            <a:endParaRPr lang="en-US" sz="1400" dirty="0"/>
          </a:p>
        </p:txBody>
      </p:sp>
      <p:sp>
        <p:nvSpPr>
          <p:cNvPr id="20" name="Shape 14"/>
          <p:cNvSpPr/>
          <p:nvPr/>
        </p:nvSpPr>
        <p:spPr>
          <a:xfrm>
            <a:off x="502920" y="4855464"/>
            <a:ext cx="5440680" cy="1417320"/>
          </a:xfrm>
          <a:prstGeom prst="roundRect">
            <a:avLst>
              <a:gd name="adj" fmla="val 5806"/>
            </a:avLst>
          </a:prstGeom>
          <a:solidFill>
            <a:srgbClr val="F7F3EF"/>
          </a:solidFill>
          <a:ln/>
        </p:spPr>
      </p:sp>
      <p:sp>
        <p:nvSpPr>
          <p:cNvPr id="21" name="Shape 15"/>
          <p:cNvSpPr/>
          <p:nvPr/>
        </p:nvSpPr>
        <p:spPr>
          <a:xfrm>
            <a:off x="731520" y="5120640"/>
            <a:ext cx="868680" cy="868680"/>
          </a:xfrm>
          <a:prstGeom prst="ellipse">
            <a:avLst/>
          </a:prstGeom>
          <a:solidFill>
            <a:srgbClr val="6D2E46"/>
          </a:solidFill>
          <a:ln/>
        </p:spPr>
      </p:sp>
      <p:pic>
        <p:nvPicPr>
          <p:cNvPr id="22" name="Image 4" descr="/sessions/blissful-modest-newton/work/build/icons/scale.png"/>
          <p:cNvPicPr>
            <a:picLocks noChangeAspect="1"/>
          </p:cNvPicPr>
          <p:nvPr/>
        </p:nvPicPr>
        <p:blipFill>
          <a:blip r:embed="rId7"/>
          <a:stretch>
            <a:fillRect/>
          </a:stretch>
        </p:blipFill>
        <p:spPr>
          <a:xfrm>
            <a:off x="922630" y="5311750"/>
            <a:ext cx="486461" cy="486461"/>
          </a:xfrm>
          <a:prstGeom prst="rect">
            <a:avLst/>
          </a:prstGeom>
        </p:spPr>
      </p:pic>
      <p:sp>
        <p:nvSpPr>
          <p:cNvPr id="23" name="Text 16"/>
          <p:cNvSpPr txBox="1"/>
          <p:nvPr/>
        </p:nvSpPr>
        <p:spPr>
          <a:xfrm>
            <a:off x="1783080" y="4983480"/>
            <a:ext cx="3931920" cy="1161288"/>
          </a:xfrm>
          <a:prstGeom prst="rect">
            <a:avLst/>
          </a:prstGeom>
          <a:noFill/>
          <a:ln/>
        </p:spPr>
        <p:txBody>
          <a:bodyPr wrap="square" lIns="0" tIns="0" rIns="0" bIns="0" rtlCol="0" anchor="ctr"/>
          <a:lstStyle/>
          <a:p>
            <a:pPr marL="0" indent="0">
              <a:buNone/>
            </a:pPr>
            <a:r>
              <a:rPr lang="en-US" sz="1400" dirty="0">
                <a:solidFill>
                  <a:srgbClr val="2A1420"/>
                </a:solidFill>
                <a:latin typeface="Calibri" pitchFamily="34" charset="0"/>
                <a:ea typeface="Calibri" pitchFamily="34" charset="-122"/>
                <a:cs typeface="Calibri" pitchFamily="34" charset="-120"/>
              </a:rPr>
              <a:t>Critically assess how censuses and surveys measure “family” today, including LGBTQ+ unions and blended families.</a:t>
            </a:r>
            <a:endParaRPr lang="en-US" sz="1400" dirty="0"/>
          </a:p>
        </p:txBody>
      </p:sp>
      <p:sp>
        <p:nvSpPr>
          <p:cNvPr id="24" name="Shape 17"/>
          <p:cNvSpPr/>
          <p:nvPr/>
        </p:nvSpPr>
        <p:spPr>
          <a:xfrm>
            <a:off x="6263640" y="4855464"/>
            <a:ext cx="5440680" cy="1417320"/>
          </a:xfrm>
          <a:prstGeom prst="roundRect">
            <a:avLst>
              <a:gd name="adj" fmla="val 5806"/>
            </a:avLst>
          </a:prstGeom>
          <a:solidFill>
            <a:srgbClr val="F7F3EF"/>
          </a:solidFill>
          <a:ln/>
        </p:spPr>
      </p:sp>
      <p:sp>
        <p:nvSpPr>
          <p:cNvPr id="25" name="Shape 18"/>
          <p:cNvSpPr/>
          <p:nvPr/>
        </p:nvSpPr>
        <p:spPr>
          <a:xfrm>
            <a:off x="6492240" y="5120640"/>
            <a:ext cx="868680" cy="868680"/>
          </a:xfrm>
          <a:prstGeom prst="ellipse">
            <a:avLst/>
          </a:prstGeom>
          <a:solidFill>
            <a:srgbClr val="6D2E46"/>
          </a:solidFill>
          <a:ln/>
        </p:spPr>
      </p:sp>
      <p:pic>
        <p:nvPicPr>
          <p:cNvPr id="26" name="Image 5" descr="/sessions/blissful-modest-newton/work/build/icons/pin.png"/>
          <p:cNvPicPr>
            <a:picLocks noChangeAspect="1"/>
          </p:cNvPicPr>
          <p:nvPr/>
        </p:nvPicPr>
        <p:blipFill>
          <a:blip r:embed="rId8"/>
          <a:stretch>
            <a:fillRect/>
          </a:stretch>
        </p:blipFill>
        <p:spPr>
          <a:xfrm>
            <a:off x="6683350" y="5311750"/>
            <a:ext cx="486461" cy="486461"/>
          </a:xfrm>
          <a:prstGeom prst="rect">
            <a:avLst/>
          </a:prstGeom>
        </p:spPr>
      </p:pic>
      <p:sp>
        <p:nvSpPr>
          <p:cNvPr id="27" name="Text 19"/>
          <p:cNvSpPr txBox="1"/>
          <p:nvPr/>
        </p:nvSpPr>
        <p:spPr>
          <a:xfrm>
            <a:off x="7543800" y="4983480"/>
            <a:ext cx="3931920" cy="1161288"/>
          </a:xfrm>
          <a:prstGeom prst="rect">
            <a:avLst/>
          </a:prstGeom>
          <a:noFill/>
          <a:ln/>
        </p:spPr>
        <p:txBody>
          <a:bodyPr wrap="square" lIns="0" tIns="0" rIns="0" bIns="0" rtlCol="0" anchor="ctr"/>
          <a:lstStyle/>
          <a:p>
            <a:pPr marL="0" indent="0">
              <a:buNone/>
            </a:pPr>
            <a:r>
              <a:rPr lang="en-US" sz="1400" dirty="0">
                <a:solidFill>
                  <a:srgbClr val="2A1420"/>
                </a:solidFill>
                <a:latin typeface="Calibri" pitchFamily="34" charset="0"/>
                <a:ea typeface="Calibri" pitchFamily="34" charset="-122"/>
                <a:cs typeface="Calibri" pitchFamily="34" charset="-120"/>
              </a:rPr>
              <a:t>Apply these concepts to real 2024-2026 Thai and global data.</a:t>
            </a:r>
            <a:endParaRPr lang="en-US" sz="1400" dirty="0"/>
          </a:p>
        </p:txBody>
      </p:sp>
      <p:sp>
        <p:nvSpPr>
          <p:cNvPr id="28" name="Text 20"/>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29" name="Text 21"/>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2 / 56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SESSION ROADMAP</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Agenda — 180 Minutes</a:t>
            </a:r>
            <a:endParaRPr lang="en-US" sz="3000" dirty="0"/>
          </a:p>
        </p:txBody>
      </p:sp>
      <p:sp>
        <p:nvSpPr>
          <p:cNvPr id="4" name="Shape 2"/>
          <p:cNvSpPr/>
          <p:nvPr/>
        </p:nvSpPr>
        <p:spPr>
          <a:xfrm>
            <a:off x="502920" y="1508760"/>
            <a:ext cx="11155680" cy="914400"/>
          </a:xfrm>
          <a:prstGeom prst="roundRect">
            <a:avLst>
              <a:gd name="adj" fmla="val 8000"/>
            </a:avLst>
          </a:prstGeom>
          <a:solidFill>
            <a:srgbClr val="F7F3EF"/>
          </a:solidFill>
          <a:ln/>
        </p:spPr>
      </p:sp>
      <p:sp>
        <p:nvSpPr>
          <p:cNvPr id="5" name="Shape 3"/>
          <p:cNvSpPr/>
          <p:nvPr/>
        </p:nvSpPr>
        <p:spPr>
          <a:xfrm>
            <a:off x="2010585" y="1682496"/>
            <a:ext cx="566928" cy="566928"/>
          </a:xfrm>
          <a:prstGeom prst="ellipse">
            <a:avLst/>
          </a:prstGeom>
          <a:solidFill>
            <a:srgbClr val="6D2E46"/>
          </a:solidFill>
          <a:ln/>
        </p:spPr>
      </p:sp>
      <p:pic>
        <p:nvPicPr>
          <p:cNvPr id="6" name="Image 0" descr="/sessions/blissful-modest-newton/work/build/icons/house.png"/>
          <p:cNvPicPr>
            <a:picLocks noChangeAspect="1"/>
          </p:cNvPicPr>
          <p:nvPr/>
        </p:nvPicPr>
        <p:blipFill>
          <a:blip r:embed="rId3"/>
          <a:stretch>
            <a:fillRect/>
          </a:stretch>
        </p:blipFill>
        <p:spPr>
          <a:xfrm>
            <a:off x="2129640" y="1801551"/>
            <a:ext cx="328818" cy="328818"/>
          </a:xfrm>
          <a:prstGeom prst="rect">
            <a:avLst/>
          </a:prstGeom>
        </p:spPr>
      </p:pic>
      <p:sp>
        <p:nvSpPr>
          <p:cNvPr id="8" name="Text 5"/>
          <p:cNvSpPr txBox="1"/>
          <p:nvPr/>
        </p:nvSpPr>
        <p:spPr>
          <a:xfrm>
            <a:off x="3200400" y="1508760"/>
            <a:ext cx="1737360" cy="914400"/>
          </a:xfrm>
          <a:prstGeom prst="rect">
            <a:avLst/>
          </a:prstGeom>
          <a:noFill/>
          <a:ln/>
        </p:spPr>
        <p:txBody>
          <a:bodyPr wrap="square" lIns="0" tIns="0" rIns="0" bIns="0" rtlCol="0" anchor="ctr"/>
          <a:lstStyle/>
          <a:p>
            <a:pPr marL="0" indent="0">
              <a:buNone/>
            </a:pPr>
            <a:r>
              <a:rPr lang="en-US" sz="1300" b="1" kern="0" spc="100" dirty="0">
                <a:solidFill>
                  <a:srgbClr val="C9962E"/>
                </a:solidFill>
                <a:latin typeface="Calibri" pitchFamily="34" charset="0"/>
                <a:ea typeface="Calibri" pitchFamily="34" charset="-122"/>
                <a:cs typeface="Calibri" pitchFamily="34" charset="-120"/>
              </a:rPr>
              <a:t>BLOCK 1</a:t>
            </a:r>
            <a:endParaRPr lang="en-US" sz="1300" dirty="0"/>
          </a:p>
        </p:txBody>
      </p:sp>
      <p:sp>
        <p:nvSpPr>
          <p:cNvPr id="9" name="Text 6"/>
          <p:cNvSpPr txBox="1"/>
          <p:nvPr/>
        </p:nvSpPr>
        <p:spPr>
          <a:xfrm>
            <a:off x="5029200" y="1508760"/>
            <a:ext cx="6400800" cy="914400"/>
          </a:xfrm>
          <a:prstGeom prst="rect">
            <a:avLst/>
          </a:prstGeom>
          <a:noFill/>
          <a:ln/>
        </p:spPr>
        <p:txBody>
          <a:bodyPr wrap="square" lIns="0" tIns="0" rIns="0" bIns="0" rtlCol="0" anchor="ctr"/>
          <a:lstStyle/>
          <a:p>
            <a:pPr marL="0" indent="0">
              <a:buNone/>
            </a:pPr>
            <a:r>
              <a:rPr lang="en-US" sz="1400" dirty="0">
                <a:solidFill>
                  <a:srgbClr val="2A1420"/>
                </a:solidFill>
                <a:latin typeface="Calibri" pitchFamily="34" charset="0"/>
                <a:ea typeface="Calibri" pitchFamily="34" charset="-122"/>
                <a:cs typeface="Calibri" pitchFamily="34" charset="-120"/>
              </a:rPr>
              <a:t>Households, families &amp; the measurement of marital status</a:t>
            </a:r>
            <a:endParaRPr lang="en-US" sz="1400" dirty="0"/>
          </a:p>
        </p:txBody>
      </p:sp>
      <p:sp>
        <p:nvSpPr>
          <p:cNvPr id="10" name="Shape 7"/>
          <p:cNvSpPr/>
          <p:nvPr/>
        </p:nvSpPr>
        <p:spPr>
          <a:xfrm>
            <a:off x="502920" y="2551176"/>
            <a:ext cx="11155680" cy="914400"/>
          </a:xfrm>
          <a:prstGeom prst="roundRect">
            <a:avLst>
              <a:gd name="adj" fmla="val 8000"/>
            </a:avLst>
          </a:prstGeom>
          <a:solidFill>
            <a:srgbClr val="ECE2D0"/>
          </a:solidFill>
          <a:ln/>
        </p:spPr>
      </p:sp>
      <p:sp>
        <p:nvSpPr>
          <p:cNvPr id="11" name="Shape 8"/>
          <p:cNvSpPr/>
          <p:nvPr/>
        </p:nvSpPr>
        <p:spPr>
          <a:xfrm>
            <a:off x="2010585" y="2724912"/>
            <a:ext cx="566928" cy="566928"/>
          </a:xfrm>
          <a:prstGeom prst="ellipse">
            <a:avLst/>
          </a:prstGeom>
          <a:solidFill>
            <a:srgbClr val="A26769"/>
          </a:solidFill>
          <a:ln/>
        </p:spPr>
      </p:sp>
      <p:pic>
        <p:nvPicPr>
          <p:cNvPr id="12" name="Image 1" descr="/sessions/blissful-modest-newton/work/build/icons/clock.png"/>
          <p:cNvPicPr>
            <a:picLocks noChangeAspect="1"/>
          </p:cNvPicPr>
          <p:nvPr/>
        </p:nvPicPr>
        <p:blipFill>
          <a:blip r:embed="rId4"/>
          <a:stretch>
            <a:fillRect/>
          </a:stretch>
        </p:blipFill>
        <p:spPr>
          <a:xfrm>
            <a:off x="2129640" y="2843967"/>
            <a:ext cx="328818" cy="328818"/>
          </a:xfrm>
          <a:prstGeom prst="rect">
            <a:avLst/>
          </a:prstGeom>
        </p:spPr>
      </p:pic>
      <p:sp>
        <p:nvSpPr>
          <p:cNvPr id="14" name="Text 10"/>
          <p:cNvSpPr txBox="1"/>
          <p:nvPr/>
        </p:nvSpPr>
        <p:spPr>
          <a:xfrm>
            <a:off x="3200400" y="2551176"/>
            <a:ext cx="1737360" cy="914400"/>
          </a:xfrm>
          <a:prstGeom prst="rect">
            <a:avLst/>
          </a:prstGeom>
          <a:noFill/>
          <a:ln/>
        </p:spPr>
        <p:txBody>
          <a:bodyPr wrap="square" lIns="0" tIns="0" rIns="0" bIns="0" rtlCol="0" anchor="ctr"/>
          <a:lstStyle/>
          <a:p>
            <a:pPr marL="0" indent="0">
              <a:buNone/>
            </a:pPr>
            <a:r>
              <a:rPr lang="en-US" sz="1300" b="1" kern="0" spc="100" dirty="0">
                <a:solidFill>
                  <a:srgbClr val="A26769"/>
                </a:solidFill>
                <a:latin typeface="Calibri" pitchFamily="34" charset="0"/>
                <a:ea typeface="Calibri" pitchFamily="34" charset="-122"/>
                <a:cs typeface="Calibri" pitchFamily="34" charset="-120"/>
              </a:rPr>
              <a:t>BREAK</a:t>
            </a:r>
            <a:endParaRPr lang="en-US" sz="1300" dirty="0"/>
          </a:p>
        </p:txBody>
      </p:sp>
      <p:sp>
        <p:nvSpPr>
          <p:cNvPr id="15" name="Text 11"/>
          <p:cNvSpPr txBox="1"/>
          <p:nvPr/>
        </p:nvSpPr>
        <p:spPr>
          <a:xfrm>
            <a:off x="5029200" y="2551176"/>
            <a:ext cx="6400800" cy="914400"/>
          </a:xfrm>
          <a:prstGeom prst="rect">
            <a:avLst/>
          </a:prstGeom>
          <a:noFill/>
          <a:ln/>
        </p:spPr>
        <p:txBody>
          <a:bodyPr wrap="square" lIns="0" tIns="0" rIns="0" bIns="0" rtlCol="0" anchor="ctr"/>
          <a:lstStyle/>
          <a:p>
            <a:pPr marL="0" indent="0">
              <a:buNone/>
            </a:pPr>
            <a:r>
              <a:rPr lang="en-US" sz="1400" dirty="0">
                <a:solidFill>
                  <a:srgbClr val="2A1420"/>
                </a:solidFill>
                <a:latin typeface="Calibri" pitchFamily="34" charset="0"/>
                <a:ea typeface="Calibri" pitchFamily="34" charset="-122"/>
                <a:cs typeface="Calibri" pitchFamily="34" charset="-120"/>
              </a:rPr>
              <a:t>15-minute break</a:t>
            </a:r>
            <a:endParaRPr lang="en-US" sz="1400" dirty="0"/>
          </a:p>
        </p:txBody>
      </p:sp>
      <p:sp>
        <p:nvSpPr>
          <p:cNvPr id="16" name="Shape 12"/>
          <p:cNvSpPr/>
          <p:nvPr/>
        </p:nvSpPr>
        <p:spPr>
          <a:xfrm>
            <a:off x="502920" y="3593592"/>
            <a:ext cx="11155680" cy="914400"/>
          </a:xfrm>
          <a:prstGeom prst="roundRect">
            <a:avLst>
              <a:gd name="adj" fmla="val 8000"/>
            </a:avLst>
          </a:prstGeom>
          <a:solidFill>
            <a:srgbClr val="F7F3EF"/>
          </a:solidFill>
          <a:ln/>
        </p:spPr>
      </p:sp>
      <p:sp>
        <p:nvSpPr>
          <p:cNvPr id="17" name="Shape 13"/>
          <p:cNvSpPr/>
          <p:nvPr/>
        </p:nvSpPr>
        <p:spPr>
          <a:xfrm>
            <a:off x="2010585" y="3767328"/>
            <a:ext cx="566928" cy="566928"/>
          </a:xfrm>
          <a:prstGeom prst="ellipse">
            <a:avLst/>
          </a:prstGeom>
          <a:solidFill>
            <a:srgbClr val="6D2E46"/>
          </a:solidFill>
          <a:ln/>
        </p:spPr>
      </p:sp>
      <p:pic>
        <p:nvPicPr>
          <p:cNvPr id="18" name="Image 2" descr="/sessions/blissful-modest-newton/work/build/icons/ring.png"/>
          <p:cNvPicPr>
            <a:picLocks noChangeAspect="1"/>
          </p:cNvPicPr>
          <p:nvPr/>
        </p:nvPicPr>
        <p:blipFill>
          <a:blip r:embed="rId5"/>
          <a:stretch>
            <a:fillRect/>
          </a:stretch>
        </p:blipFill>
        <p:spPr>
          <a:xfrm>
            <a:off x="2129640" y="3886383"/>
            <a:ext cx="328818" cy="328818"/>
          </a:xfrm>
          <a:prstGeom prst="rect">
            <a:avLst/>
          </a:prstGeom>
        </p:spPr>
      </p:pic>
      <p:sp>
        <p:nvSpPr>
          <p:cNvPr id="20" name="Text 15"/>
          <p:cNvSpPr txBox="1"/>
          <p:nvPr/>
        </p:nvSpPr>
        <p:spPr>
          <a:xfrm>
            <a:off x="3200400" y="3593592"/>
            <a:ext cx="1737360" cy="914400"/>
          </a:xfrm>
          <a:prstGeom prst="rect">
            <a:avLst/>
          </a:prstGeom>
          <a:noFill/>
          <a:ln/>
        </p:spPr>
        <p:txBody>
          <a:bodyPr wrap="square" lIns="0" tIns="0" rIns="0" bIns="0" rtlCol="0" anchor="ctr"/>
          <a:lstStyle/>
          <a:p>
            <a:pPr marL="0" indent="0">
              <a:buNone/>
            </a:pPr>
            <a:r>
              <a:rPr lang="en-US" sz="1300" b="1" kern="0" spc="100" dirty="0">
                <a:solidFill>
                  <a:srgbClr val="C9962E"/>
                </a:solidFill>
                <a:latin typeface="Calibri" pitchFamily="34" charset="0"/>
                <a:ea typeface="Calibri" pitchFamily="34" charset="-122"/>
                <a:cs typeface="Calibri" pitchFamily="34" charset="-120"/>
              </a:rPr>
              <a:t>BLOCK 2</a:t>
            </a:r>
            <a:endParaRPr lang="en-US" sz="1300" dirty="0"/>
          </a:p>
        </p:txBody>
      </p:sp>
      <p:sp>
        <p:nvSpPr>
          <p:cNvPr id="21" name="Text 16"/>
          <p:cNvSpPr txBox="1"/>
          <p:nvPr/>
        </p:nvSpPr>
        <p:spPr>
          <a:xfrm>
            <a:off x="5029200" y="3593592"/>
            <a:ext cx="6400800" cy="914400"/>
          </a:xfrm>
          <a:prstGeom prst="rect">
            <a:avLst/>
          </a:prstGeom>
          <a:noFill/>
          <a:ln/>
        </p:spPr>
        <p:txBody>
          <a:bodyPr wrap="square" lIns="0" tIns="0" rIns="0" bIns="0" rtlCol="0" anchor="ctr"/>
          <a:lstStyle/>
          <a:p>
            <a:pPr marL="0" indent="0">
              <a:buNone/>
            </a:pPr>
            <a:r>
              <a:rPr lang="en-US" sz="1400" dirty="0">
                <a:solidFill>
                  <a:srgbClr val="2A1420"/>
                </a:solidFill>
                <a:latin typeface="Calibri" pitchFamily="34" charset="0"/>
                <a:ea typeface="Calibri" pitchFamily="34" charset="-122"/>
                <a:cs typeface="Calibri" pitchFamily="34" charset="-120"/>
              </a:rPr>
              <a:t>Measuring marriage — and the rise of new union forms</a:t>
            </a:r>
            <a:endParaRPr lang="en-US" sz="1400" dirty="0"/>
          </a:p>
        </p:txBody>
      </p:sp>
      <p:sp>
        <p:nvSpPr>
          <p:cNvPr id="28" name="Shape 22"/>
          <p:cNvSpPr/>
          <p:nvPr/>
        </p:nvSpPr>
        <p:spPr>
          <a:xfrm>
            <a:off x="457200" y="4764024"/>
            <a:ext cx="11155680" cy="914400"/>
          </a:xfrm>
          <a:prstGeom prst="roundRect">
            <a:avLst>
              <a:gd name="adj" fmla="val 8000"/>
            </a:avLst>
          </a:prstGeom>
          <a:solidFill>
            <a:srgbClr val="F7F3EF"/>
          </a:solidFill>
          <a:ln/>
        </p:spPr>
      </p:sp>
      <p:sp>
        <p:nvSpPr>
          <p:cNvPr id="29" name="Shape 23"/>
          <p:cNvSpPr/>
          <p:nvPr/>
        </p:nvSpPr>
        <p:spPr>
          <a:xfrm>
            <a:off x="1964865" y="4937760"/>
            <a:ext cx="566928" cy="566928"/>
          </a:xfrm>
          <a:prstGeom prst="ellipse">
            <a:avLst/>
          </a:prstGeom>
          <a:solidFill>
            <a:srgbClr val="6D2E46"/>
          </a:solidFill>
          <a:ln/>
        </p:spPr>
      </p:sp>
      <p:pic>
        <p:nvPicPr>
          <p:cNvPr id="30" name="Image 4" descr="/sessions/blissful-modest-newton/work/build/icons/layers.png"/>
          <p:cNvPicPr>
            <a:picLocks noChangeAspect="1"/>
          </p:cNvPicPr>
          <p:nvPr/>
        </p:nvPicPr>
        <p:blipFill>
          <a:blip r:embed="rId6"/>
          <a:stretch>
            <a:fillRect/>
          </a:stretch>
        </p:blipFill>
        <p:spPr>
          <a:xfrm>
            <a:off x="2083920" y="5056815"/>
            <a:ext cx="328818" cy="328818"/>
          </a:xfrm>
          <a:prstGeom prst="rect">
            <a:avLst/>
          </a:prstGeom>
        </p:spPr>
      </p:pic>
      <p:sp>
        <p:nvSpPr>
          <p:cNvPr id="32" name="Text 25"/>
          <p:cNvSpPr txBox="1"/>
          <p:nvPr/>
        </p:nvSpPr>
        <p:spPr>
          <a:xfrm>
            <a:off x="3154680" y="4764024"/>
            <a:ext cx="1737360" cy="914400"/>
          </a:xfrm>
          <a:prstGeom prst="rect">
            <a:avLst/>
          </a:prstGeom>
          <a:noFill/>
          <a:ln/>
        </p:spPr>
        <p:txBody>
          <a:bodyPr wrap="square" lIns="0" tIns="0" rIns="0" bIns="0" rtlCol="0" anchor="ctr"/>
          <a:lstStyle/>
          <a:p>
            <a:pPr marL="0" indent="0">
              <a:buNone/>
            </a:pPr>
            <a:r>
              <a:rPr lang="en-US" sz="1300" b="1" kern="0" spc="100" dirty="0">
                <a:solidFill>
                  <a:srgbClr val="C9962E"/>
                </a:solidFill>
                <a:latin typeface="Calibri" pitchFamily="34" charset="0"/>
                <a:ea typeface="Calibri" pitchFamily="34" charset="-122"/>
                <a:cs typeface="Calibri" pitchFamily="34" charset="-120"/>
              </a:rPr>
              <a:t>BLOCK 3</a:t>
            </a:r>
            <a:endParaRPr lang="en-US" sz="1300" dirty="0"/>
          </a:p>
        </p:txBody>
      </p:sp>
      <p:sp>
        <p:nvSpPr>
          <p:cNvPr id="33" name="Text 26"/>
          <p:cNvSpPr txBox="1"/>
          <p:nvPr/>
        </p:nvSpPr>
        <p:spPr>
          <a:xfrm>
            <a:off x="4983480" y="4764024"/>
            <a:ext cx="6400800" cy="914400"/>
          </a:xfrm>
          <a:prstGeom prst="rect">
            <a:avLst/>
          </a:prstGeom>
          <a:noFill/>
          <a:ln/>
        </p:spPr>
        <p:txBody>
          <a:bodyPr wrap="square" lIns="0" tIns="0" rIns="0" bIns="0" rtlCol="0" anchor="ctr"/>
          <a:lstStyle/>
          <a:p>
            <a:pPr marL="0" indent="0">
              <a:buNone/>
            </a:pPr>
            <a:r>
              <a:rPr lang="en-US" sz="1400" dirty="0">
                <a:solidFill>
                  <a:srgbClr val="2A1420"/>
                </a:solidFill>
                <a:latin typeface="Calibri" pitchFamily="34" charset="0"/>
                <a:ea typeface="Calibri" pitchFamily="34" charset="-122"/>
                <a:cs typeface="Calibri" pitchFamily="34" charset="-120"/>
              </a:rPr>
              <a:t>Solo living, evolving family definitions, group work &amp; practice</a:t>
            </a:r>
            <a:endParaRPr lang="en-US" sz="1400" dirty="0"/>
          </a:p>
        </p:txBody>
      </p:sp>
      <p:sp>
        <p:nvSpPr>
          <p:cNvPr id="34" name="Text 27"/>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35" name="Text 28"/>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3 / 56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4A1E30"/>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6D2E46">
              <a:alpha val="55000"/>
            </a:srgbClr>
          </a:solidFill>
          <a:ln/>
        </p:spPr>
      </p:sp>
      <p:sp>
        <p:nvSpPr>
          <p:cNvPr id="3" name="Text 1"/>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ECE2D0"/>
                </a:solidFill>
                <a:latin typeface="Calibri" pitchFamily="34" charset="0"/>
                <a:ea typeface="Calibri" pitchFamily="34" charset="-122"/>
                <a:cs typeface="Calibri" pitchFamily="34" charset="-120"/>
              </a:rPr>
              <a:t>WHY THIS MATTERS</a:t>
            </a:r>
            <a:endParaRPr lang="en-US" sz="13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Family Life Is Being Redefined — In Real Time</a:t>
            </a:r>
            <a:endParaRPr lang="en-US" sz="3000" dirty="0"/>
          </a:p>
        </p:txBody>
      </p:sp>
      <p:sp>
        <p:nvSpPr>
          <p:cNvPr id="5" name="Shape 3"/>
          <p:cNvSpPr/>
          <p:nvPr/>
        </p:nvSpPr>
        <p:spPr>
          <a:xfrm>
            <a:off x="548640" y="1600200"/>
            <a:ext cx="5349240" cy="4206240"/>
          </a:xfrm>
          <a:prstGeom prst="roundRect">
            <a:avLst>
              <a:gd name="adj" fmla="val 2174"/>
            </a:avLst>
          </a:prstGeom>
          <a:solidFill>
            <a:srgbClr val="6D2E46">
              <a:alpha val="85000"/>
            </a:srgbClr>
          </a:solidFill>
          <a:ln/>
        </p:spPr>
      </p:sp>
      <p:sp>
        <p:nvSpPr>
          <p:cNvPr id="6" name="Text 4"/>
          <p:cNvSpPr txBox="1"/>
          <p:nvPr/>
        </p:nvSpPr>
        <p:spPr>
          <a:xfrm>
            <a:off x="868680" y="1828800"/>
            <a:ext cx="4754880" cy="457200"/>
          </a:xfrm>
          <a:prstGeom prst="rect">
            <a:avLst/>
          </a:prstGeom>
          <a:noFill/>
          <a:ln/>
        </p:spPr>
        <p:txBody>
          <a:bodyPr wrap="square" lIns="0" tIns="0" rIns="0" bIns="0" rtlCol="0" anchor="ctr"/>
          <a:lstStyle/>
          <a:p>
            <a:pPr marL="0" indent="0">
              <a:buNone/>
            </a:pPr>
            <a:r>
              <a:rPr lang="en-US" sz="1800" b="1" dirty="0">
                <a:solidFill>
                  <a:srgbClr val="C9962E"/>
                </a:solidFill>
                <a:latin typeface="Courier New" pitchFamily="34" charset="0"/>
                <a:ea typeface="Courier New" pitchFamily="34" charset="-122"/>
                <a:cs typeface="Courier New" pitchFamily="34" charset="-120"/>
              </a:rPr>
              <a:t>23 Jan 2025</a:t>
            </a:r>
            <a:endParaRPr lang="en-US" sz="1800" dirty="0"/>
          </a:p>
        </p:txBody>
      </p:sp>
      <p:sp>
        <p:nvSpPr>
          <p:cNvPr id="7" name="Text 5"/>
          <p:cNvSpPr txBox="1"/>
          <p:nvPr/>
        </p:nvSpPr>
        <p:spPr>
          <a:xfrm>
            <a:off x="868680" y="2377440"/>
            <a:ext cx="4754880" cy="320040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Thailand's Marriage Equality Act took effect — the first law of its kind in Southeast Asia, instantly changing who counts as “married” in Thai civil registration.</a:t>
            </a:r>
            <a:endParaRPr lang="en-US" sz="1600" dirty="0"/>
          </a:p>
        </p:txBody>
      </p:sp>
      <p:sp>
        <p:nvSpPr>
          <p:cNvPr id="8" name="Shape 6"/>
          <p:cNvSpPr/>
          <p:nvPr/>
        </p:nvSpPr>
        <p:spPr>
          <a:xfrm>
            <a:off x="6263640" y="1600200"/>
            <a:ext cx="5349240" cy="4206240"/>
          </a:xfrm>
          <a:prstGeom prst="roundRect">
            <a:avLst>
              <a:gd name="adj" fmla="val 2174"/>
            </a:avLst>
          </a:prstGeom>
          <a:solidFill>
            <a:srgbClr val="6D2E46">
              <a:alpha val="85000"/>
            </a:srgbClr>
          </a:solidFill>
          <a:ln/>
        </p:spPr>
      </p:sp>
      <p:sp>
        <p:nvSpPr>
          <p:cNvPr id="9" name="Text 7"/>
          <p:cNvSpPr txBox="1"/>
          <p:nvPr/>
        </p:nvSpPr>
        <p:spPr>
          <a:xfrm>
            <a:off x="6583680" y="1828800"/>
            <a:ext cx="4754880" cy="822960"/>
          </a:xfrm>
          <a:prstGeom prst="rect">
            <a:avLst/>
          </a:prstGeom>
          <a:noFill/>
          <a:ln/>
        </p:spPr>
        <p:txBody>
          <a:bodyPr wrap="square" lIns="0" tIns="0" rIns="0" bIns="0" rtlCol="0" anchor="ctr"/>
          <a:lstStyle/>
          <a:p>
            <a:pPr marL="0" indent="0">
              <a:buNone/>
            </a:pPr>
            <a:r>
              <a:rPr lang="en-US" sz="4600" b="1" dirty="0">
                <a:solidFill>
                  <a:srgbClr val="C9962E"/>
                </a:solidFill>
                <a:latin typeface="Cambria" pitchFamily="34" charset="0"/>
                <a:ea typeface="Cambria" pitchFamily="34" charset="-122"/>
                <a:cs typeface="Cambria" pitchFamily="34" charset="-120"/>
              </a:rPr>
              <a:t>29%</a:t>
            </a:r>
            <a:endParaRPr lang="en-US" sz="4600" dirty="0"/>
          </a:p>
        </p:txBody>
      </p:sp>
      <p:sp>
        <p:nvSpPr>
          <p:cNvPr id="10" name="Text 8"/>
          <p:cNvSpPr txBox="1"/>
          <p:nvPr/>
        </p:nvSpPr>
        <p:spPr>
          <a:xfrm>
            <a:off x="6583680" y="2697480"/>
            <a:ext cx="4754880" cy="292608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of all U.S. households now hold just one person — an all-time high (Dec. 2025) — echoing a global rise in solo living documented across dozens of countries.</a:t>
            </a:r>
            <a:endParaRPr lang="en-US" sz="1600" dirty="0"/>
          </a:p>
        </p:txBody>
      </p:sp>
      <p:sp>
        <p:nvSpPr>
          <p:cNvPr id="11" name="Text 9"/>
          <p:cNvSpPr txBox="1"/>
          <p:nvPr/>
        </p:nvSpPr>
        <p:spPr>
          <a:xfrm>
            <a:off x="548640" y="5989320"/>
            <a:ext cx="11064240" cy="365760"/>
          </a:xfrm>
          <a:prstGeom prst="rect">
            <a:avLst/>
          </a:prstGeom>
          <a:noFill/>
          <a:ln/>
        </p:spPr>
        <p:txBody>
          <a:bodyPr wrap="square" lIns="0" tIns="0" rIns="0" bIns="0" rtlCol="0" anchor="ctr"/>
          <a:lstStyle/>
          <a:p>
            <a:pPr marL="0" indent="0">
              <a:buNone/>
            </a:pPr>
            <a:r>
              <a:rPr lang="en-US" sz="1050" i="1" dirty="0">
                <a:solidFill>
                  <a:srgbClr val="D9C9CE"/>
                </a:solidFill>
                <a:latin typeface="Calibri" pitchFamily="34" charset="0"/>
                <a:ea typeface="Calibri" pitchFamily="34" charset="-122"/>
                <a:cs typeface="Calibri" pitchFamily="34" charset="-120"/>
              </a:rPr>
              <a:t>Sources: UN OHCHR (2025); U.S. Census Bureau (2025), Families and Living Arrangements.</a:t>
            </a:r>
            <a:endParaRPr lang="en-US" sz="1050" dirty="0"/>
          </a:p>
        </p:txBody>
      </p:sp>
      <p:sp>
        <p:nvSpPr>
          <p:cNvPr id="12" name="Text 10"/>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D9C9CE"/>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3" name="Text 11"/>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D9C9CE"/>
                </a:solidFill>
                <a:latin typeface="Calibri" pitchFamily="34" charset="0"/>
                <a:ea typeface="Calibri" pitchFamily="34" charset="-122"/>
                <a:cs typeface="Calibri" pitchFamily="34" charset="-120"/>
              </a:rPr>
              <a:t>4 / 56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4A1E30"/>
        </a:solidFill>
        <a:effectLst/>
      </p:bgPr>
    </p:bg>
    <p:spTree>
      <p:nvGrpSpPr>
        <p:cNvPr id="1" name=""/>
        <p:cNvGrpSpPr/>
        <p:nvPr/>
      </p:nvGrpSpPr>
      <p:grpSpPr>
        <a:xfrm>
          <a:off x="0" y="0"/>
          <a:ext cx="0" cy="0"/>
          <a:chOff x="0" y="0"/>
          <a:chExt cx="0" cy="0"/>
        </a:xfrm>
      </p:grpSpPr>
      <p:sp>
        <p:nvSpPr>
          <p:cNvPr id="2" name="Shape 0"/>
          <p:cNvSpPr/>
          <p:nvPr/>
        </p:nvSpPr>
        <p:spPr>
          <a:xfrm>
            <a:off x="8046720" y="2011680"/>
            <a:ext cx="6400800" cy="6400800"/>
          </a:xfrm>
          <a:prstGeom prst="ellipse">
            <a:avLst/>
          </a:prstGeom>
          <a:solidFill>
            <a:srgbClr val="6D2E46">
              <a:alpha val="55000"/>
            </a:srgbClr>
          </a:solidFill>
          <a:ln/>
        </p:spPr>
      </p:sp>
      <p:sp>
        <p:nvSpPr>
          <p:cNvPr id="3" name="Shape 1"/>
          <p:cNvSpPr/>
          <p:nvPr/>
        </p:nvSpPr>
        <p:spPr>
          <a:xfrm>
            <a:off x="685800" y="2331720"/>
            <a:ext cx="1371600" cy="1371600"/>
          </a:xfrm>
          <a:prstGeom prst="ellipse">
            <a:avLst/>
          </a:prstGeom>
          <a:solidFill>
            <a:srgbClr val="A26769"/>
          </a:solidFill>
          <a:ln/>
        </p:spPr>
      </p:sp>
      <p:pic>
        <p:nvPicPr>
          <p:cNvPr id="4" name="Image 0" descr="/sessions/blissful-modest-newton/work/build/icons/house.png"/>
          <p:cNvPicPr>
            <a:picLocks noChangeAspect="1"/>
          </p:cNvPicPr>
          <p:nvPr/>
        </p:nvPicPr>
        <p:blipFill>
          <a:blip r:embed="rId3"/>
          <a:stretch>
            <a:fillRect/>
          </a:stretch>
        </p:blipFill>
        <p:spPr>
          <a:xfrm>
            <a:off x="973836" y="2619756"/>
            <a:ext cx="795528" cy="795528"/>
          </a:xfrm>
          <a:prstGeom prst="rect">
            <a:avLst/>
          </a:prstGeom>
        </p:spPr>
      </p:pic>
      <p:sp>
        <p:nvSpPr>
          <p:cNvPr id="5" name="Text 2"/>
          <p:cNvSpPr txBox="1"/>
          <p:nvPr/>
        </p:nvSpPr>
        <p:spPr>
          <a:xfrm>
            <a:off x="685800" y="3840480"/>
            <a:ext cx="9144000" cy="365760"/>
          </a:xfrm>
          <a:prstGeom prst="rect">
            <a:avLst/>
          </a:prstGeom>
          <a:noFill/>
          <a:ln/>
        </p:spPr>
        <p:txBody>
          <a:bodyPr wrap="square" lIns="0" tIns="0" rIns="0" bIns="0" rtlCol="0" anchor="ctr"/>
          <a:lstStyle/>
          <a:p>
            <a:pPr marL="0" indent="0">
              <a:buNone/>
            </a:pPr>
            <a:r>
              <a:rPr lang="en-US" sz="1500" b="1" kern="0" spc="200" dirty="0">
                <a:solidFill>
                  <a:srgbClr val="C9962E"/>
                </a:solidFill>
                <a:latin typeface="Calibri" pitchFamily="34" charset="0"/>
                <a:ea typeface="Calibri" pitchFamily="34" charset="-122"/>
                <a:cs typeface="Calibri" pitchFamily="34" charset="-120"/>
              </a:rPr>
              <a:t>Block 1</a:t>
            </a:r>
            <a:endParaRPr lang="en-US" sz="1500" dirty="0"/>
          </a:p>
        </p:txBody>
      </p:sp>
      <p:sp>
        <p:nvSpPr>
          <p:cNvPr id="6" name="Text 3"/>
          <p:cNvSpPr txBox="1"/>
          <p:nvPr/>
        </p:nvSpPr>
        <p:spPr>
          <a:xfrm>
            <a:off x="685800" y="4187952"/>
            <a:ext cx="10058400" cy="11887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Households, Families &amp; Marital Status</a:t>
            </a:r>
            <a:endParaRPr lang="en-US" sz="3400" dirty="0"/>
          </a:p>
        </p:txBody>
      </p:sp>
      <p:sp>
        <p:nvSpPr>
          <p:cNvPr id="7" name="Text 4"/>
          <p:cNvSpPr txBox="1"/>
          <p:nvPr/>
        </p:nvSpPr>
        <p:spPr>
          <a:xfrm>
            <a:off x="685800" y="5257800"/>
            <a:ext cx="9692640" cy="822960"/>
          </a:xfrm>
          <a:prstGeom prst="rect">
            <a:avLst/>
          </a:prstGeom>
          <a:noFill/>
          <a:ln/>
        </p:spPr>
        <p:txBody>
          <a:bodyPr wrap="square" lIns="0" tIns="0" rIns="0" bIns="0" rtlCol="0" anchor="ctr"/>
          <a:lstStyle/>
          <a:p>
            <a:pPr marL="0" indent="0">
              <a:buNone/>
            </a:pPr>
            <a:r>
              <a:rPr lang="en-US" sz="1500" i="1" dirty="0">
                <a:solidFill>
                  <a:srgbClr val="D9C9CE"/>
                </a:solidFill>
                <a:latin typeface="Calibri" pitchFamily="34" charset="0"/>
                <a:ea typeface="Calibri" pitchFamily="34" charset="-122"/>
                <a:cs typeface="Calibri" pitchFamily="34" charset="-120"/>
              </a:rPr>
              <a:t>Why demographers separate the household (a co-residence unit) from the family (a kinship unit) — and how both are measured.</a:t>
            </a:r>
            <a:endParaRPr lang="en-US" sz="1500" dirty="0"/>
          </a:p>
        </p:txBody>
      </p:sp>
      <p:sp>
        <p:nvSpPr>
          <p:cNvPr id="8" name="Text 5"/>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D9C9CE"/>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9" name="Text 6"/>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D9C9CE"/>
                </a:solidFill>
                <a:latin typeface="Calibri" pitchFamily="34" charset="0"/>
                <a:ea typeface="Calibri" pitchFamily="34" charset="-122"/>
                <a:cs typeface="Calibri" pitchFamily="34" charset="-120"/>
              </a:rPr>
              <a:t>5 / 56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CORE DEFINITIONS</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Household ≠ Family</a:t>
            </a:r>
            <a:endParaRPr lang="en-US" sz="3000" dirty="0"/>
          </a:p>
        </p:txBody>
      </p:sp>
      <p:sp>
        <p:nvSpPr>
          <p:cNvPr id="4" name="Shape 2"/>
          <p:cNvSpPr/>
          <p:nvPr/>
        </p:nvSpPr>
        <p:spPr>
          <a:xfrm>
            <a:off x="502920" y="1554480"/>
            <a:ext cx="5349240" cy="4434840"/>
          </a:xfrm>
          <a:prstGeom prst="roundRect">
            <a:avLst>
              <a:gd name="adj" fmla="val 2062"/>
            </a:avLst>
          </a:prstGeom>
          <a:solidFill>
            <a:srgbClr val="F7F3EF"/>
          </a:solidFill>
          <a:ln/>
        </p:spPr>
      </p:sp>
      <p:sp>
        <p:nvSpPr>
          <p:cNvPr id="5" name="Shape 3"/>
          <p:cNvSpPr/>
          <p:nvPr/>
        </p:nvSpPr>
        <p:spPr>
          <a:xfrm>
            <a:off x="822960" y="1783080"/>
            <a:ext cx="822960" cy="822960"/>
          </a:xfrm>
          <a:prstGeom prst="ellipse">
            <a:avLst/>
          </a:prstGeom>
          <a:solidFill>
            <a:srgbClr val="6D2E46"/>
          </a:solidFill>
          <a:ln/>
        </p:spPr>
      </p:sp>
      <p:pic>
        <p:nvPicPr>
          <p:cNvPr id="6" name="Image 0" descr="/sessions/blissful-modest-newton/work/build/icons/house.png"/>
          <p:cNvPicPr>
            <a:picLocks noChangeAspect="1"/>
          </p:cNvPicPr>
          <p:nvPr/>
        </p:nvPicPr>
        <p:blipFill>
          <a:blip r:embed="rId3"/>
          <a:stretch>
            <a:fillRect/>
          </a:stretch>
        </p:blipFill>
        <p:spPr>
          <a:xfrm>
            <a:off x="1004011" y="1964131"/>
            <a:ext cx="460858" cy="460858"/>
          </a:xfrm>
          <a:prstGeom prst="rect">
            <a:avLst/>
          </a:prstGeom>
        </p:spPr>
      </p:pic>
      <p:sp>
        <p:nvSpPr>
          <p:cNvPr id="7" name="Text 4"/>
          <p:cNvSpPr txBox="1"/>
          <p:nvPr/>
        </p:nvSpPr>
        <p:spPr>
          <a:xfrm>
            <a:off x="1828800" y="1783080"/>
            <a:ext cx="3840480" cy="548640"/>
          </a:xfrm>
          <a:prstGeom prst="rect">
            <a:avLst/>
          </a:prstGeom>
          <a:noFill/>
          <a:ln/>
        </p:spPr>
        <p:txBody>
          <a:bodyPr wrap="square" lIns="0" tIns="0" rIns="0" bIns="0" rtlCol="0" anchor="ctr"/>
          <a:lstStyle/>
          <a:p>
            <a:pPr marL="0" indent="0">
              <a:buNone/>
            </a:pPr>
            <a:r>
              <a:rPr lang="en-US" sz="1900" b="1" dirty="0">
                <a:solidFill>
                  <a:srgbClr val="6D2E46"/>
                </a:solidFill>
                <a:latin typeface="Cambria" pitchFamily="34" charset="0"/>
                <a:ea typeface="Cambria" pitchFamily="34" charset="-122"/>
                <a:cs typeface="Cambria" pitchFamily="34" charset="-120"/>
              </a:rPr>
              <a:t>HOUSEHOLD</a:t>
            </a:r>
            <a:endParaRPr lang="en-US" sz="1900" dirty="0"/>
          </a:p>
        </p:txBody>
      </p:sp>
      <p:sp>
        <p:nvSpPr>
          <p:cNvPr id="8" name="Text 5"/>
          <p:cNvSpPr txBox="1"/>
          <p:nvPr/>
        </p:nvSpPr>
        <p:spPr>
          <a:xfrm>
            <a:off x="868680" y="2697480"/>
            <a:ext cx="4617720" cy="3108960"/>
          </a:xfrm>
          <a:prstGeom prst="rect">
            <a:avLst/>
          </a:prstGeom>
          <a:noFill/>
          <a:ln/>
        </p:spPr>
        <p:txBody>
          <a:bodyPr wrap="square" lIns="0" tIns="0" rIns="0" bIns="0" rtlCol="0" anchor="ctr"/>
          <a:lstStyle/>
          <a:p>
            <a:pPr marL="0" indent="0">
              <a:lnSpc>
                <a:spcPct val="115000"/>
              </a:lnSpc>
              <a:buNone/>
            </a:pPr>
            <a:r>
              <a:rPr lang="en-US" sz="1450" dirty="0">
                <a:solidFill>
                  <a:srgbClr val="2A1420"/>
                </a:solidFill>
                <a:latin typeface="Calibri" pitchFamily="34" charset="0"/>
                <a:ea typeface="Calibri" pitchFamily="34" charset="-122"/>
                <a:cs typeface="Calibri" pitchFamily="34" charset="-120"/>
              </a:rPr>
              <a:t>A co-residence and/or housekeeping unit: one person or a group — related or unrelated — who share a dwelling and, typically, provisioning (e.g., a common budget or meals).</a:t>
            </a:r>
            <a:endParaRPr lang="en-US" sz="1450" dirty="0"/>
          </a:p>
          <a:p>
            <a:pPr marL="0" indent="0">
              <a:lnSpc>
                <a:spcPct val="115000"/>
              </a:lnSpc>
              <a:buNone/>
            </a:pPr>
            <a:endParaRPr lang="en-US" sz="1450" dirty="0"/>
          </a:p>
          <a:p>
            <a:pPr marL="0" indent="0">
              <a:lnSpc>
                <a:spcPct val="115000"/>
              </a:lnSpc>
              <a:buNone/>
            </a:pPr>
            <a:r>
              <a:rPr lang="en-US" sz="1450" dirty="0">
                <a:solidFill>
                  <a:srgbClr val="2A1420"/>
                </a:solidFill>
                <a:latin typeface="Calibri" pitchFamily="34" charset="0"/>
                <a:ea typeface="Calibri" pitchFamily="34" charset="-122"/>
                <a:cs typeface="Calibri" pitchFamily="34" charset="-120"/>
              </a:rPr>
              <a:t>Statistical unit — defined operationally for the census or survey. Boundaries can be a dwelling, a budget, or an eating arrangement, and are set by the statistical agency.</a:t>
            </a:r>
            <a:endParaRPr lang="en-US" sz="1450" dirty="0"/>
          </a:p>
        </p:txBody>
      </p:sp>
      <p:sp>
        <p:nvSpPr>
          <p:cNvPr id="9" name="Shape 6"/>
          <p:cNvSpPr/>
          <p:nvPr/>
        </p:nvSpPr>
        <p:spPr>
          <a:xfrm>
            <a:off x="6126480" y="1554480"/>
            <a:ext cx="5349240" cy="4434840"/>
          </a:xfrm>
          <a:prstGeom prst="roundRect">
            <a:avLst>
              <a:gd name="adj" fmla="val 2062"/>
            </a:avLst>
          </a:prstGeom>
          <a:solidFill>
            <a:srgbClr val="ECE2D0"/>
          </a:solidFill>
          <a:ln/>
        </p:spPr>
      </p:sp>
      <p:sp>
        <p:nvSpPr>
          <p:cNvPr id="10" name="Shape 7"/>
          <p:cNvSpPr/>
          <p:nvPr/>
        </p:nvSpPr>
        <p:spPr>
          <a:xfrm>
            <a:off x="6446520" y="1783080"/>
            <a:ext cx="822960" cy="822960"/>
          </a:xfrm>
          <a:prstGeom prst="ellipse">
            <a:avLst/>
          </a:prstGeom>
          <a:solidFill>
            <a:srgbClr val="A26769"/>
          </a:solidFill>
          <a:ln/>
        </p:spPr>
      </p:sp>
      <p:pic>
        <p:nvPicPr>
          <p:cNvPr id="11" name="Image 1" descr="/sessions/blissful-modest-newton/work/build/icons/family.png"/>
          <p:cNvPicPr>
            <a:picLocks noChangeAspect="1"/>
          </p:cNvPicPr>
          <p:nvPr/>
        </p:nvPicPr>
        <p:blipFill>
          <a:blip r:embed="rId4"/>
          <a:stretch>
            <a:fillRect/>
          </a:stretch>
        </p:blipFill>
        <p:spPr>
          <a:xfrm>
            <a:off x="6627571" y="1964131"/>
            <a:ext cx="460858" cy="460858"/>
          </a:xfrm>
          <a:prstGeom prst="rect">
            <a:avLst/>
          </a:prstGeom>
        </p:spPr>
      </p:pic>
      <p:sp>
        <p:nvSpPr>
          <p:cNvPr id="12" name="Text 8"/>
          <p:cNvSpPr txBox="1"/>
          <p:nvPr/>
        </p:nvSpPr>
        <p:spPr>
          <a:xfrm>
            <a:off x="7452360" y="1783080"/>
            <a:ext cx="3840480" cy="548640"/>
          </a:xfrm>
          <a:prstGeom prst="rect">
            <a:avLst/>
          </a:prstGeom>
          <a:noFill/>
          <a:ln/>
        </p:spPr>
        <p:txBody>
          <a:bodyPr wrap="square" lIns="0" tIns="0" rIns="0" bIns="0" rtlCol="0" anchor="ctr"/>
          <a:lstStyle/>
          <a:p>
            <a:pPr marL="0" indent="0">
              <a:buNone/>
            </a:pPr>
            <a:r>
              <a:rPr lang="en-US" sz="1900" b="1" dirty="0">
                <a:solidFill>
                  <a:srgbClr val="A26769"/>
                </a:solidFill>
                <a:latin typeface="Cambria" pitchFamily="34" charset="0"/>
                <a:ea typeface="Cambria" pitchFamily="34" charset="-122"/>
                <a:cs typeface="Cambria" pitchFamily="34" charset="-120"/>
              </a:rPr>
              <a:t>FAMILY</a:t>
            </a:r>
            <a:endParaRPr lang="en-US" sz="1900" dirty="0"/>
          </a:p>
        </p:txBody>
      </p:sp>
      <p:sp>
        <p:nvSpPr>
          <p:cNvPr id="13" name="Text 9"/>
          <p:cNvSpPr txBox="1"/>
          <p:nvPr/>
        </p:nvSpPr>
        <p:spPr>
          <a:xfrm>
            <a:off x="6492240" y="2697480"/>
            <a:ext cx="4617720" cy="3108960"/>
          </a:xfrm>
          <a:prstGeom prst="rect">
            <a:avLst/>
          </a:prstGeom>
          <a:noFill/>
          <a:ln/>
        </p:spPr>
        <p:txBody>
          <a:bodyPr wrap="square" lIns="0" tIns="0" rIns="0" bIns="0" rtlCol="0" anchor="ctr"/>
          <a:lstStyle/>
          <a:p>
            <a:pPr marL="0" indent="0">
              <a:lnSpc>
                <a:spcPct val="115000"/>
              </a:lnSpc>
              <a:buNone/>
            </a:pPr>
            <a:r>
              <a:rPr lang="en-US" sz="1450" dirty="0">
                <a:solidFill>
                  <a:srgbClr val="2A1420"/>
                </a:solidFill>
                <a:latin typeface="Calibri" pitchFamily="34" charset="0"/>
                <a:ea typeface="Calibri" pitchFamily="34" charset="-122"/>
                <a:cs typeface="Calibri" pitchFamily="34" charset="-120"/>
              </a:rPr>
              <a:t>A group of two or more people related by blood, marriage, civil union, adoption, or (increasingly) legally recognized partnership — whether or not they co-reside.</a:t>
            </a:r>
            <a:endParaRPr lang="en-US" sz="1450" dirty="0"/>
          </a:p>
          <a:p>
            <a:pPr marL="0" indent="0">
              <a:lnSpc>
                <a:spcPct val="115000"/>
              </a:lnSpc>
              <a:buNone/>
            </a:pPr>
            <a:endParaRPr lang="en-US" sz="1450" dirty="0"/>
          </a:p>
          <a:p>
            <a:pPr marL="0" indent="0">
              <a:lnSpc>
                <a:spcPct val="115000"/>
              </a:lnSpc>
              <a:buNone/>
            </a:pPr>
            <a:r>
              <a:rPr lang="en-US" sz="1450" dirty="0">
                <a:solidFill>
                  <a:srgbClr val="2A1420"/>
                </a:solidFill>
                <a:latin typeface="Calibri" pitchFamily="34" charset="0"/>
                <a:ea typeface="Calibri" pitchFamily="34" charset="-122"/>
                <a:cs typeface="Calibri" pitchFamily="34" charset="-120"/>
              </a:rPr>
              <a:t>Kinship unit — a family can span several households (e.g., a migrant parent abroad), and a household can contain zero, one, or several families.</a:t>
            </a:r>
            <a:endParaRPr lang="en-US" sz="1450" dirty="0"/>
          </a:p>
        </p:txBody>
      </p:sp>
      <p:sp>
        <p:nvSpPr>
          <p:cNvPr id="14" name="Text 10"/>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5" name="Text 11"/>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6 / 56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MEASUREMENT OVER TIME</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Evolving Definitions of “Household”</a:t>
            </a:r>
            <a:endParaRPr lang="en-US" sz="3000" dirty="0"/>
          </a:p>
        </p:txBody>
      </p:sp>
      <p:sp>
        <p:nvSpPr>
          <p:cNvPr id="4" name="Shape 2"/>
          <p:cNvSpPr/>
          <p:nvPr/>
        </p:nvSpPr>
        <p:spPr>
          <a:xfrm>
            <a:off x="548640" y="1417320"/>
            <a:ext cx="2537460" cy="4754880"/>
          </a:xfrm>
          <a:prstGeom prst="roundRect">
            <a:avLst>
              <a:gd name="adj" fmla="val 2883"/>
            </a:avLst>
          </a:prstGeom>
          <a:solidFill>
            <a:srgbClr val="F7F3EF"/>
          </a:solidFill>
          <a:ln/>
        </p:spPr>
      </p:sp>
      <p:sp>
        <p:nvSpPr>
          <p:cNvPr id="5" name="Shape 3"/>
          <p:cNvSpPr/>
          <p:nvPr/>
        </p:nvSpPr>
        <p:spPr>
          <a:xfrm>
            <a:off x="749808" y="1600200"/>
            <a:ext cx="685800" cy="685800"/>
          </a:xfrm>
          <a:prstGeom prst="ellipse">
            <a:avLst/>
          </a:prstGeom>
          <a:solidFill>
            <a:srgbClr val="6D2E46"/>
          </a:solidFill>
          <a:ln/>
        </p:spPr>
      </p:sp>
      <p:pic>
        <p:nvPicPr>
          <p:cNvPr id="6" name="Image 0" descr="/sessions/blissful-modest-newton/work/build/icons/book.png"/>
          <p:cNvPicPr>
            <a:picLocks noChangeAspect="1"/>
          </p:cNvPicPr>
          <p:nvPr/>
        </p:nvPicPr>
        <p:blipFill>
          <a:blip r:embed="rId3"/>
          <a:stretch>
            <a:fillRect/>
          </a:stretch>
        </p:blipFill>
        <p:spPr>
          <a:xfrm>
            <a:off x="900684" y="1751076"/>
            <a:ext cx="384048" cy="384048"/>
          </a:xfrm>
          <a:prstGeom prst="rect">
            <a:avLst/>
          </a:prstGeom>
        </p:spPr>
      </p:pic>
      <p:sp>
        <p:nvSpPr>
          <p:cNvPr id="7" name="Text 4"/>
          <p:cNvSpPr txBox="1"/>
          <p:nvPr/>
        </p:nvSpPr>
        <p:spPr>
          <a:xfrm>
            <a:off x="749808" y="2340864"/>
            <a:ext cx="21351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1. Housekeeping-unit era</a:t>
            </a:r>
            <a:endParaRPr lang="en-US" sz="1450" dirty="0"/>
          </a:p>
        </p:txBody>
      </p:sp>
      <p:sp>
        <p:nvSpPr>
          <p:cNvPr id="8" name="Text 5"/>
          <p:cNvSpPr txBox="1"/>
          <p:nvPr/>
        </p:nvSpPr>
        <p:spPr>
          <a:xfrm>
            <a:off x="749808" y="2670048"/>
            <a:ext cx="2135124" cy="342900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Early 20th-c. censuses: household = people sharing meals/food budget (“housekeeping” concept).</a:t>
            </a:r>
            <a:endParaRPr lang="en-US" sz="1200" dirty="0"/>
          </a:p>
        </p:txBody>
      </p:sp>
      <p:sp>
        <p:nvSpPr>
          <p:cNvPr id="9" name="Shape 6"/>
          <p:cNvSpPr/>
          <p:nvPr/>
        </p:nvSpPr>
        <p:spPr>
          <a:xfrm>
            <a:off x="3406140" y="1417320"/>
            <a:ext cx="2537460" cy="4754880"/>
          </a:xfrm>
          <a:prstGeom prst="roundRect">
            <a:avLst>
              <a:gd name="adj" fmla="val 2883"/>
            </a:avLst>
          </a:prstGeom>
          <a:solidFill>
            <a:srgbClr val="ECE2D0"/>
          </a:solidFill>
          <a:ln/>
        </p:spPr>
      </p:sp>
      <p:sp>
        <p:nvSpPr>
          <p:cNvPr id="10" name="Shape 7"/>
          <p:cNvSpPr/>
          <p:nvPr/>
        </p:nvSpPr>
        <p:spPr>
          <a:xfrm>
            <a:off x="3607308" y="1600200"/>
            <a:ext cx="685800" cy="685800"/>
          </a:xfrm>
          <a:prstGeom prst="ellipse">
            <a:avLst/>
          </a:prstGeom>
          <a:solidFill>
            <a:srgbClr val="6D2E46"/>
          </a:solidFill>
          <a:ln/>
        </p:spPr>
      </p:sp>
      <p:pic>
        <p:nvPicPr>
          <p:cNvPr id="11" name="Image 1" descr="/sessions/blissful-modest-newton/work/build/icons/house.png"/>
          <p:cNvPicPr>
            <a:picLocks noChangeAspect="1"/>
          </p:cNvPicPr>
          <p:nvPr/>
        </p:nvPicPr>
        <p:blipFill>
          <a:blip r:embed="rId4"/>
          <a:stretch>
            <a:fillRect/>
          </a:stretch>
        </p:blipFill>
        <p:spPr>
          <a:xfrm>
            <a:off x="3758184" y="1751076"/>
            <a:ext cx="384048" cy="384048"/>
          </a:xfrm>
          <a:prstGeom prst="rect">
            <a:avLst/>
          </a:prstGeom>
        </p:spPr>
      </p:pic>
      <p:sp>
        <p:nvSpPr>
          <p:cNvPr id="12" name="Text 8"/>
          <p:cNvSpPr txBox="1"/>
          <p:nvPr/>
        </p:nvSpPr>
        <p:spPr>
          <a:xfrm>
            <a:off x="3607308" y="2340864"/>
            <a:ext cx="21351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2. Dwelling-unit era</a:t>
            </a:r>
            <a:endParaRPr lang="en-US" sz="1450" dirty="0"/>
          </a:p>
        </p:txBody>
      </p:sp>
      <p:sp>
        <p:nvSpPr>
          <p:cNvPr id="13" name="Text 9"/>
          <p:cNvSpPr txBox="1"/>
          <p:nvPr/>
        </p:nvSpPr>
        <p:spPr>
          <a:xfrm>
            <a:off x="3607308" y="2670048"/>
            <a:ext cx="2135124" cy="342900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Mid-20th-c. UN recommendations shift toward co-residence in a shared housing unit, easier to enumerate.</a:t>
            </a:r>
            <a:endParaRPr lang="en-US" sz="1200" dirty="0"/>
          </a:p>
        </p:txBody>
      </p:sp>
      <p:sp>
        <p:nvSpPr>
          <p:cNvPr id="14" name="Shape 10"/>
          <p:cNvSpPr/>
          <p:nvPr/>
        </p:nvSpPr>
        <p:spPr>
          <a:xfrm>
            <a:off x="6263640" y="1417320"/>
            <a:ext cx="2537460" cy="4754880"/>
          </a:xfrm>
          <a:prstGeom prst="roundRect">
            <a:avLst>
              <a:gd name="adj" fmla="val 2883"/>
            </a:avLst>
          </a:prstGeom>
          <a:solidFill>
            <a:srgbClr val="F7F3EF"/>
          </a:solidFill>
          <a:ln/>
        </p:spPr>
      </p:sp>
      <p:sp>
        <p:nvSpPr>
          <p:cNvPr id="15" name="Shape 11"/>
          <p:cNvSpPr/>
          <p:nvPr/>
        </p:nvSpPr>
        <p:spPr>
          <a:xfrm>
            <a:off x="6464808" y="1600200"/>
            <a:ext cx="685800" cy="685800"/>
          </a:xfrm>
          <a:prstGeom prst="ellipse">
            <a:avLst/>
          </a:prstGeom>
          <a:solidFill>
            <a:srgbClr val="6D2E46"/>
          </a:solidFill>
          <a:ln/>
        </p:spPr>
      </p:sp>
      <p:pic>
        <p:nvPicPr>
          <p:cNvPr id="16" name="Image 2" descr="/sessions/blissful-modest-newton/work/build/icons/checklist.png"/>
          <p:cNvPicPr>
            <a:picLocks noChangeAspect="1"/>
          </p:cNvPicPr>
          <p:nvPr/>
        </p:nvPicPr>
        <p:blipFill>
          <a:blip r:embed="rId5"/>
          <a:stretch>
            <a:fillRect/>
          </a:stretch>
        </p:blipFill>
        <p:spPr>
          <a:xfrm>
            <a:off x="6615684" y="1751076"/>
            <a:ext cx="384048" cy="384048"/>
          </a:xfrm>
          <a:prstGeom prst="rect">
            <a:avLst/>
          </a:prstGeom>
        </p:spPr>
      </p:pic>
      <p:sp>
        <p:nvSpPr>
          <p:cNvPr id="17" name="Text 12"/>
          <p:cNvSpPr txBox="1"/>
          <p:nvPr/>
        </p:nvSpPr>
        <p:spPr>
          <a:xfrm>
            <a:off x="6464808" y="2340864"/>
            <a:ext cx="21351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3. De jure vs. de facto</a:t>
            </a:r>
            <a:endParaRPr lang="en-US" sz="1450" dirty="0"/>
          </a:p>
        </p:txBody>
      </p:sp>
      <p:sp>
        <p:nvSpPr>
          <p:cNvPr id="18" name="Text 13"/>
          <p:cNvSpPr txBox="1"/>
          <p:nvPr/>
        </p:nvSpPr>
        <p:spPr>
          <a:xfrm>
            <a:off x="6464808" y="2670048"/>
            <a:ext cx="2135124" cy="342900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Agencies must choose: count usual residents (de jure) or who slept there last night (de facto)?</a:t>
            </a:r>
            <a:endParaRPr lang="en-US" sz="1200" dirty="0"/>
          </a:p>
        </p:txBody>
      </p:sp>
      <p:sp>
        <p:nvSpPr>
          <p:cNvPr id="19" name="Shape 14"/>
          <p:cNvSpPr/>
          <p:nvPr/>
        </p:nvSpPr>
        <p:spPr>
          <a:xfrm>
            <a:off x="9121140" y="1417320"/>
            <a:ext cx="2537460" cy="4754880"/>
          </a:xfrm>
          <a:prstGeom prst="roundRect">
            <a:avLst>
              <a:gd name="adj" fmla="val 2883"/>
            </a:avLst>
          </a:prstGeom>
          <a:solidFill>
            <a:srgbClr val="ECE2D0"/>
          </a:solidFill>
          <a:ln/>
        </p:spPr>
      </p:sp>
      <p:sp>
        <p:nvSpPr>
          <p:cNvPr id="20" name="Shape 15"/>
          <p:cNvSpPr/>
          <p:nvPr/>
        </p:nvSpPr>
        <p:spPr>
          <a:xfrm>
            <a:off x="9322308" y="1600200"/>
            <a:ext cx="685800" cy="685800"/>
          </a:xfrm>
          <a:prstGeom prst="ellipse">
            <a:avLst/>
          </a:prstGeom>
          <a:solidFill>
            <a:srgbClr val="6D2E46"/>
          </a:solidFill>
          <a:ln/>
        </p:spPr>
      </p:sp>
      <p:pic>
        <p:nvPicPr>
          <p:cNvPr id="21" name="Image 3" descr="/sessions/blissful-modest-newton/work/build/icons/globe.png"/>
          <p:cNvPicPr>
            <a:picLocks noChangeAspect="1"/>
          </p:cNvPicPr>
          <p:nvPr/>
        </p:nvPicPr>
        <p:blipFill>
          <a:blip r:embed="rId6"/>
          <a:stretch>
            <a:fillRect/>
          </a:stretch>
        </p:blipFill>
        <p:spPr>
          <a:xfrm>
            <a:off x="9473184" y="1751076"/>
            <a:ext cx="384048" cy="384048"/>
          </a:xfrm>
          <a:prstGeom prst="rect">
            <a:avLst/>
          </a:prstGeom>
        </p:spPr>
      </p:pic>
      <p:sp>
        <p:nvSpPr>
          <p:cNvPr id="22" name="Text 16"/>
          <p:cNvSpPr txBox="1"/>
          <p:nvPr/>
        </p:nvSpPr>
        <p:spPr>
          <a:xfrm>
            <a:off x="9322308" y="2340864"/>
            <a:ext cx="21351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4. 21st-century complexity</a:t>
            </a:r>
            <a:endParaRPr lang="en-US" sz="1450" dirty="0"/>
          </a:p>
        </p:txBody>
      </p:sp>
      <p:sp>
        <p:nvSpPr>
          <p:cNvPr id="23" name="Text 17"/>
          <p:cNvSpPr txBox="1"/>
          <p:nvPr/>
        </p:nvSpPr>
        <p:spPr>
          <a:xfrm>
            <a:off x="9322308" y="2670048"/>
            <a:ext cx="2135124" cy="342900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Multi-locational, digitally connected, and “living apart together” arrangements strain the one-dwelling model.</a:t>
            </a:r>
            <a:endParaRPr lang="en-US" sz="1200" dirty="0"/>
          </a:p>
        </p:txBody>
      </p:sp>
      <p:sp>
        <p:nvSpPr>
          <p:cNvPr id="24" name="Text 18"/>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25" name="Text 19"/>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7 / 56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HOUSEHOLD TYPOLOGIES</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Household Types Used in Demographic Analysis</a:t>
            </a:r>
            <a:endParaRPr lang="en-US" sz="3000" dirty="0"/>
          </a:p>
        </p:txBody>
      </p:sp>
      <p:sp>
        <p:nvSpPr>
          <p:cNvPr id="4" name="Shape 2"/>
          <p:cNvSpPr/>
          <p:nvPr/>
        </p:nvSpPr>
        <p:spPr>
          <a:xfrm>
            <a:off x="548640" y="1417320"/>
            <a:ext cx="3489960" cy="2263140"/>
          </a:xfrm>
          <a:prstGeom prst="roundRect">
            <a:avLst>
              <a:gd name="adj" fmla="val 3232"/>
            </a:avLst>
          </a:prstGeom>
          <a:solidFill>
            <a:srgbClr val="F7F3EF"/>
          </a:solidFill>
          <a:ln/>
        </p:spPr>
      </p:sp>
      <p:sp>
        <p:nvSpPr>
          <p:cNvPr id="5" name="Shape 3"/>
          <p:cNvSpPr/>
          <p:nvPr/>
        </p:nvSpPr>
        <p:spPr>
          <a:xfrm>
            <a:off x="749808" y="1600200"/>
            <a:ext cx="685800" cy="685800"/>
          </a:xfrm>
          <a:prstGeom prst="ellipse">
            <a:avLst/>
          </a:prstGeom>
          <a:solidFill>
            <a:srgbClr val="6D2E46"/>
          </a:solidFill>
          <a:ln/>
        </p:spPr>
      </p:sp>
      <p:pic>
        <p:nvPicPr>
          <p:cNvPr id="6" name="Image 0" descr="/sessions/blissful-modest-newton/work/build/icons/door.png"/>
          <p:cNvPicPr>
            <a:picLocks noChangeAspect="1"/>
          </p:cNvPicPr>
          <p:nvPr/>
        </p:nvPicPr>
        <p:blipFill>
          <a:blip r:embed="rId3"/>
          <a:stretch>
            <a:fillRect/>
          </a:stretch>
        </p:blipFill>
        <p:spPr>
          <a:xfrm>
            <a:off x="900684" y="1751076"/>
            <a:ext cx="384048" cy="384048"/>
          </a:xfrm>
          <a:prstGeom prst="rect">
            <a:avLst/>
          </a:prstGeom>
        </p:spPr>
      </p:pic>
      <p:sp>
        <p:nvSpPr>
          <p:cNvPr id="7" name="Text 4"/>
          <p:cNvSpPr txBox="1"/>
          <p:nvPr/>
        </p:nvSpPr>
        <p:spPr>
          <a:xfrm>
            <a:off x="749808" y="2340864"/>
            <a:ext cx="30876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One-person</a:t>
            </a:r>
            <a:endParaRPr lang="en-US" sz="1450" dirty="0"/>
          </a:p>
        </p:txBody>
      </p:sp>
      <p:sp>
        <p:nvSpPr>
          <p:cNvPr id="8" name="Text 5"/>
          <p:cNvSpPr txBox="1"/>
          <p:nvPr/>
        </p:nvSpPr>
        <p:spPr>
          <a:xfrm>
            <a:off x="749808" y="2670048"/>
            <a:ext cx="3087624" cy="93726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A single individual living alone.</a:t>
            </a:r>
            <a:endParaRPr lang="en-US" sz="1200" dirty="0"/>
          </a:p>
        </p:txBody>
      </p:sp>
      <p:sp>
        <p:nvSpPr>
          <p:cNvPr id="9" name="Shape 6"/>
          <p:cNvSpPr/>
          <p:nvPr/>
        </p:nvSpPr>
        <p:spPr>
          <a:xfrm>
            <a:off x="4358640" y="1417320"/>
            <a:ext cx="3489960" cy="2263140"/>
          </a:xfrm>
          <a:prstGeom prst="roundRect">
            <a:avLst>
              <a:gd name="adj" fmla="val 3232"/>
            </a:avLst>
          </a:prstGeom>
          <a:solidFill>
            <a:srgbClr val="ECE2D0"/>
          </a:solidFill>
          <a:ln/>
        </p:spPr>
      </p:sp>
      <p:sp>
        <p:nvSpPr>
          <p:cNvPr id="10" name="Shape 7"/>
          <p:cNvSpPr/>
          <p:nvPr/>
        </p:nvSpPr>
        <p:spPr>
          <a:xfrm>
            <a:off x="4559808" y="1600200"/>
            <a:ext cx="685800" cy="685800"/>
          </a:xfrm>
          <a:prstGeom prst="ellipse">
            <a:avLst/>
          </a:prstGeom>
          <a:solidFill>
            <a:srgbClr val="6D2E46"/>
          </a:solidFill>
          <a:ln/>
        </p:spPr>
      </p:sp>
      <p:pic>
        <p:nvPicPr>
          <p:cNvPr id="11" name="Image 1" descr="/sessions/blissful-modest-newton/work/build/icons/family.png"/>
          <p:cNvPicPr>
            <a:picLocks noChangeAspect="1"/>
          </p:cNvPicPr>
          <p:nvPr/>
        </p:nvPicPr>
        <p:blipFill>
          <a:blip r:embed="rId4"/>
          <a:stretch>
            <a:fillRect/>
          </a:stretch>
        </p:blipFill>
        <p:spPr>
          <a:xfrm>
            <a:off x="4710684" y="1751076"/>
            <a:ext cx="384048" cy="384048"/>
          </a:xfrm>
          <a:prstGeom prst="rect">
            <a:avLst/>
          </a:prstGeom>
        </p:spPr>
      </p:pic>
      <p:sp>
        <p:nvSpPr>
          <p:cNvPr id="12" name="Text 8"/>
          <p:cNvSpPr txBox="1"/>
          <p:nvPr/>
        </p:nvSpPr>
        <p:spPr>
          <a:xfrm>
            <a:off x="4559808" y="2340864"/>
            <a:ext cx="30876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Nuclear / couple</a:t>
            </a:r>
            <a:endParaRPr lang="en-US" sz="1450" dirty="0"/>
          </a:p>
        </p:txBody>
      </p:sp>
      <p:sp>
        <p:nvSpPr>
          <p:cNvPr id="13" name="Text 9"/>
          <p:cNvSpPr txBox="1"/>
          <p:nvPr/>
        </p:nvSpPr>
        <p:spPr>
          <a:xfrm>
            <a:off x="4559808" y="2670048"/>
            <a:ext cx="3087624" cy="93726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Married or partnered couple, with or without children.</a:t>
            </a:r>
            <a:endParaRPr lang="en-US" sz="1200" dirty="0"/>
          </a:p>
        </p:txBody>
      </p:sp>
      <p:sp>
        <p:nvSpPr>
          <p:cNvPr id="14" name="Shape 10"/>
          <p:cNvSpPr/>
          <p:nvPr/>
        </p:nvSpPr>
        <p:spPr>
          <a:xfrm>
            <a:off x="8168640" y="1417320"/>
            <a:ext cx="3489960" cy="2263140"/>
          </a:xfrm>
          <a:prstGeom prst="roundRect">
            <a:avLst>
              <a:gd name="adj" fmla="val 3232"/>
            </a:avLst>
          </a:prstGeom>
          <a:solidFill>
            <a:srgbClr val="F7F3EF"/>
          </a:solidFill>
          <a:ln/>
        </p:spPr>
      </p:sp>
      <p:sp>
        <p:nvSpPr>
          <p:cNvPr id="15" name="Shape 11"/>
          <p:cNvSpPr/>
          <p:nvPr/>
        </p:nvSpPr>
        <p:spPr>
          <a:xfrm>
            <a:off x="8369808" y="1600200"/>
            <a:ext cx="685800" cy="685800"/>
          </a:xfrm>
          <a:prstGeom prst="ellipse">
            <a:avLst/>
          </a:prstGeom>
          <a:solidFill>
            <a:srgbClr val="6D2E46"/>
          </a:solidFill>
          <a:ln/>
        </p:spPr>
      </p:sp>
      <p:pic>
        <p:nvPicPr>
          <p:cNvPr id="16" name="Image 2" descr="/sessions/blissful-modest-newton/work/build/icons/users3.png"/>
          <p:cNvPicPr>
            <a:picLocks noChangeAspect="1"/>
          </p:cNvPicPr>
          <p:nvPr/>
        </p:nvPicPr>
        <p:blipFill>
          <a:blip r:embed="rId5"/>
          <a:stretch>
            <a:fillRect/>
          </a:stretch>
        </p:blipFill>
        <p:spPr>
          <a:xfrm>
            <a:off x="8520684" y="1751076"/>
            <a:ext cx="384048" cy="384048"/>
          </a:xfrm>
          <a:prstGeom prst="rect">
            <a:avLst/>
          </a:prstGeom>
        </p:spPr>
      </p:pic>
      <p:sp>
        <p:nvSpPr>
          <p:cNvPr id="17" name="Text 12"/>
          <p:cNvSpPr txBox="1"/>
          <p:nvPr/>
        </p:nvSpPr>
        <p:spPr>
          <a:xfrm>
            <a:off x="8369808" y="2340864"/>
            <a:ext cx="30876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Extended</a:t>
            </a:r>
            <a:endParaRPr lang="en-US" sz="1450" dirty="0"/>
          </a:p>
        </p:txBody>
      </p:sp>
      <p:sp>
        <p:nvSpPr>
          <p:cNvPr id="18" name="Text 13"/>
          <p:cNvSpPr txBox="1"/>
          <p:nvPr/>
        </p:nvSpPr>
        <p:spPr>
          <a:xfrm>
            <a:off x="8369808" y="2670048"/>
            <a:ext cx="3087624" cy="93726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Couple/parent-child core plus other relatives (grandparents, siblings).</a:t>
            </a:r>
            <a:endParaRPr lang="en-US" sz="1200" dirty="0"/>
          </a:p>
        </p:txBody>
      </p:sp>
      <p:sp>
        <p:nvSpPr>
          <p:cNvPr id="19" name="Shape 14"/>
          <p:cNvSpPr/>
          <p:nvPr/>
        </p:nvSpPr>
        <p:spPr>
          <a:xfrm>
            <a:off x="548640" y="3909060"/>
            <a:ext cx="3489960" cy="2263140"/>
          </a:xfrm>
          <a:prstGeom prst="roundRect">
            <a:avLst>
              <a:gd name="adj" fmla="val 3232"/>
            </a:avLst>
          </a:prstGeom>
          <a:solidFill>
            <a:srgbClr val="ECE2D0"/>
          </a:solidFill>
          <a:ln/>
        </p:spPr>
      </p:sp>
      <p:sp>
        <p:nvSpPr>
          <p:cNvPr id="20" name="Shape 15"/>
          <p:cNvSpPr/>
          <p:nvPr/>
        </p:nvSpPr>
        <p:spPr>
          <a:xfrm>
            <a:off x="749808" y="4091940"/>
            <a:ext cx="685800" cy="685800"/>
          </a:xfrm>
          <a:prstGeom prst="ellipse">
            <a:avLst/>
          </a:prstGeom>
          <a:solidFill>
            <a:srgbClr val="6D2E46"/>
          </a:solidFill>
          <a:ln/>
        </p:spPr>
      </p:sp>
      <p:pic>
        <p:nvPicPr>
          <p:cNvPr id="21" name="Image 3" descr="/sessions/blissful-modest-newton/work/build/icons/stroller.png"/>
          <p:cNvPicPr>
            <a:picLocks noChangeAspect="1"/>
          </p:cNvPicPr>
          <p:nvPr/>
        </p:nvPicPr>
        <p:blipFill>
          <a:blip r:embed="rId6"/>
          <a:stretch>
            <a:fillRect/>
          </a:stretch>
        </p:blipFill>
        <p:spPr>
          <a:xfrm>
            <a:off x="900684" y="4242816"/>
            <a:ext cx="384048" cy="384048"/>
          </a:xfrm>
          <a:prstGeom prst="rect">
            <a:avLst/>
          </a:prstGeom>
        </p:spPr>
      </p:pic>
      <p:sp>
        <p:nvSpPr>
          <p:cNvPr id="22" name="Text 16"/>
          <p:cNvSpPr txBox="1"/>
          <p:nvPr/>
        </p:nvSpPr>
        <p:spPr>
          <a:xfrm>
            <a:off x="749808" y="4832604"/>
            <a:ext cx="30876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Single-parent</a:t>
            </a:r>
            <a:endParaRPr lang="en-US" sz="1450" dirty="0"/>
          </a:p>
        </p:txBody>
      </p:sp>
      <p:sp>
        <p:nvSpPr>
          <p:cNvPr id="23" name="Text 17"/>
          <p:cNvSpPr txBox="1"/>
          <p:nvPr/>
        </p:nvSpPr>
        <p:spPr>
          <a:xfrm>
            <a:off x="749808" y="5161788"/>
            <a:ext cx="3087624" cy="93726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One parent co-residing with unmarried children.</a:t>
            </a:r>
            <a:endParaRPr lang="en-US" sz="1200" dirty="0"/>
          </a:p>
        </p:txBody>
      </p:sp>
      <p:sp>
        <p:nvSpPr>
          <p:cNvPr id="24" name="Shape 18"/>
          <p:cNvSpPr/>
          <p:nvPr/>
        </p:nvSpPr>
        <p:spPr>
          <a:xfrm>
            <a:off x="4358640" y="3909060"/>
            <a:ext cx="3489960" cy="2263140"/>
          </a:xfrm>
          <a:prstGeom prst="roundRect">
            <a:avLst>
              <a:gd name="adj" fmla="val 3232"/>
            </a:avLst>
          </a:prstGeom>
          <a:solidFill>
            <a:srgbClr val="F7F3EF"/>
          </a:solidFill>
          <a:ln/>
        </p:spPr>
      </p:sp>
      <p:sp>
        <p:nvSpPr>
          <p:cNvPr id="25" name="Shape 19"/>
          <p:cNvSpPr/>
          <p:nvPr/>
        </p:nvSpPr>
        <p:spPr>
          <a:xfrm>
            <a:off x="4559808" y="4091940"/>
            <a:ext cx="685800" cy="685800"/>
          </a:xfrm>
          <a:prstGeom prst="ellipse">
            <a:avLst/>
          </a:prstGeom>
          <a:solidFill>
            <a:srgbClr val="6D2E46"/>
          </a:solidFill>
          <a:ln/>
        </p:spPr>
      </p:sp>
      <p:pic>
        <p:nvPicPr>
          <p:cNvPr id="26" name="Image 4" descr="/sessions/blissful-modest-newton/work/build/icons/layers.png"/>
          <p:cNvPicPr>
            <a:picLocks noChangeAspect="1"/>
          </p:cNvPicPr>
          <p:nvPr/>
        </p:nvPicPr>
        <p:blipFill>
          <a:blip r:embed="rId7"/>
          <a:stretch>
            <a:fillRect/>
          </a:stretch>
        </p:blipFill>
        <p:spPr>
          <a:xfrm>
            <a:off x="4710684" y="4242816"/>
            <a:ext cx="384048" cy="384048"/>
          </a:xfrm>
          <a:prstGeom prst="rect">
            <a:avLst/>
          </a:prstGeom>
        </p:spPr>
      </p:pic>
      <p:sp>
        <p:nvSpPr>
          <p:cNvPr id="27" name="Text 20"/>
          <p:cNvSpPr txBox="1"/>
          <p:nvPr/>
        </p:nvSpPr>
        <p:spPr>
          <a:xfrm>
            <a:off x="4559808" y="4832604"/>
            <a:ext cx="30876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Skip-generation</a:t>
            </a:r>
            <a:endParaRPr lang="en-US" sz="1450" dirty="0"/>
          </a:p>
        </p:txBody>
      </p:sp>
      <p:sp>
        <p:nvSpPr>
          <p:cNvPr id="28" name="Text 21"/>
          <p:cNvSpPr txBox="1"/>
          <p:nvPr/>
        </p:nvSpPr>
        <p:spPr>
          <a:xfrm>
            <a:off x="4559808" y="5161788"/>
            <a:ext cx="3087624" cy="93726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Grandparent(s) and grandchildren, parents absent (common with labor migration).</a:t>
            </a:r>
            <a:endParaRPr lang="en-US" sz="1200" dirty="0"/>
          </a:p>
        </p:txBody>
      </p:sp>
      <p:sp>
        <p:nvSpPr>
          <p:cNvPr id="29" name="Shape 22"/>
          <p:cNvSpPr/>
          <p:nvPr/>
        </p:nvSpPr>
        <p:spPr>
          <a:xfrm>
            <a:off x="8168640" y="3909060"/>
            <a:ext cx="3489960" cy="2263140"/>
          </a:xfrm>
          <a:prstGeom prst="roundRect">
            <a:avLst>
              <a:gd name="adj" fmla="val 3232"/>
            </a:avLst>
          </a:prstGeom>
          <a:solidFill>
            <a:srgbClr val="ECE2D0"/>
          </a:solidFill>
          <a:ln/>
        </p:spPr>
      </p:sp>
      <p:sp>
        <p:nvSpPr>
          <p:cNvPr id="30" name="Shape 23"/>
          <p:cNvSpPr/>
          <p:nvPr/>
        </p:nvSpPr>
        <p:spPr>
          <a:xfrm>
            <a:off x="8369808" y="4091940"/>
            <a:ext cx="685800" cy="685800"/>
          </a:xfrm>
          <a:prstGeom prst="ellipse">
            <a:avLst/>
          </a:prstGeom>
          <a:solidFill>
            <a:srgbClr val="6D2E46"/>
          </a:solidFill>
          <a:ln/>
        </p:spPr>
      </p:sp>
      <p:pic>
        <p:nvPicPr>
          <p:cNvPr id="31" name="Image 5" descr="/sessions/blissful-modest-newton/work/build/icons/building.png"/>
          <p:cNvPicPr>
            <a:picLocks noChangeAspect="1"/>
          </p:cNvPicPr>
          <p:nvPr/>
        </p:nvPicPr>
        <p:blipFill>
          <a:blip r:embed="rId8"/>
          <a:stretch>
            <a:fillRect/>
          </a:stretch>
        </p:blipFill>
        <p:spPr>
          <a:xfrm>
            <a:off x="8520684" y="4242816"/>
            <a:ext cx="384048" cy="384048"/>
          </a:xfrm>
          <a:prstGeom prst="rect">
            <a:avLst/>
          </a:prstGeom>
        </p:spPr>
      </p:pic>
      <p:sp>
        <p:nvSpPr>
          <p:cNvPr id="32" name="Text 24"/>
          <p:cNvSpPr txBox="1"/>
          <p:nvPr/>
        </p:nvSpPr>
        <p:spPr>
          <a:xfrm>
            <a:off x="8369808" y="4832604"/>
            <a:ext cx="30876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Non-family / composite</a:t>
            </a:r>
            <a:endParaRPr lang="en-US" sz="1450" dirty="0"/>
          </a:p>
        </p:txBody>
      </p:sp>
      <p:sp>
        <p:nvSpPr>
          <p:cNvPr id="33" name="Text 25"/>
          <p:cNvSpPr txBox="1"/>
          <p:nvPr/>
        </p:nvSpPr>
        <p:spPr>
          <a:xfrm>
            <a:off x="8369808" y="5161788"/>
            <a:ext cx="3087624" cy="93726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Unrelated individuals sharing a dwelling (roommates, dormitories).</a:t>
            </a:r>
            <a:endParaRPr lang="en-US" sz="1200" dirty="0"/>
          </a:p>
        </p:txBody>
      </p:sp>
      <p:sp>
        <p:nvSpPr>
          <p:cNvPr id="34" name="Text 26"/>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35" name="Text 27"/>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8 / 56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LIFE-COURSE PERSPECTIVE</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Stages of Living Arrangements Across the Life Course</a:t>
            </a:r>
            <a:endParaRPr lang="en-US" sz="3000" dirty="0"/>
          </a:p>
        </p:txBody>
      </p:sp>
      <p:sp>
        <p:nvSpPr>
          <p:cNvPr id="4" name="Shape 2"/>
          <p:cNvSpPr/>
          <p:nvPr/>
        </p:nvSpPr>
        <p:spPr>
          <a:xfrm>
            <a:off x="548640" y="2103120"/>
            <a:ext cx="1714500" cy="1737360"/>
          </a:xfrm>
          <a:prstGeom prst="roundRect">
            <a:avLst>
              <a:gd name="adj" fmla="val 5333"/>
            </a:avLst>
          </a:prstGeom>
          <a:solidFill>
            <a:srgbClr val="6D2E46"/>
          </a:solidFill>
          <a:ln/>
        </p:spPr>
      </p:sp>
      <p:sp>
        <p:nvSpPr>
          <p:cNvPr id="5" name="Text 3"/>
          <p:cNvSpPr txBox="1"/>
          <p:nvPr/>
        </p:nvSpPr>
        <p:spPr>
          <a:xfrm>
            <a:off x="621792" y="2212848"/>
            <a:ext cx="548640" cy="365760"/>
          </a:xfrm>
          <a:prstGeom prst="rect">
            <a:avLst/>
          </a:prstGeom>
          <a:noFill/>
          <a:ln/>
        </p:spPr>
        <p:txBody>
          <a:bodyPr wrap="square" lIns="0" tIns="0" rIns="0" bIns="0" rtlCol="0" anchor="ctr"/>
          <a:lstStyle/>
          <a:p>
            <a:pPr marL="0" indent="0">
              <a:buNone/>
            </a:pPr>
            <a:r>
              <a:rPr lang="en-US" sz="1800" b="1" dirty="0">
                <a:solidFill>
                  <a:srgbClr val="C9962E"/>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640080" y="2606040"/>
            <a:ext cx="1531620" cy="1143000"/>
          </a:xfrm>
          <a:prstGeom prst="rect">
            <a:avLst/>
          </a:prstGeom>
          <a:noFill/>
          <a:ln/>
        </p:spPr>
        <p:txBody>
          <a:bodyPr wrap="square" lIns="0" tIns="0" rIns="0" bIns="0" rtlCol="0" anchor="ctr"/>
          <a:lstStyle/>
          <a:p>
            <a:pPr marL="0" indent="0">
              <a:lnSpc>
                <a:spcPct val="105000"/>
              </a:lnSpc>
              <a:buNone/>
            </a:pPr>
            <a:r>
              <a:rPr lang="en-US" sz="1200" dirty="0">
                <a:solidFill>
                  <a:srgbClr val="FFFFFF"/>
                </a:solidFill>
                <a:latin typeface="Calibri" pitchFamily="34" charset="0"/>
                <a:ea typeface="Calibri" pitchFamily="34" charset="-122"/>
                <a:cs typeface="Calibri" pitchFamily="34" charset="-120"/>
              </a:rPr>
              <a:t>Natal household</a:t>
            </a:r>
            <a:endParaRPr lang="en-US" sz="1200" dirty="0"/>
          </a:p>
          <a:p>
            <a:pPr marL="0" indent="0">
              <a:lnSpc>
                <a:spcPct val="105000"/>
              </a:lnSpc>
              <a:buNone/>
            </a:pPr>
            <a:r>
              <a:rPr lang="en-US" sz="1200" dirty="0">
                <a:solidFill>
                  <a:srgbClr val="FFFFFF"/>
                </a:solidFill>
                <a:latin typeface="Calibri" pitchFamily="34" charset="0"/>
                <a:ea typeface="Calibri" pitchFamily="34" charset="-122"/>
                <a:cs typeface="Calibri" pitchFamily="34" charset="-120"/>
              </a:rPr>
              <a:t>(with parents)</a:t>
            </a:r>
            <a:endParaRPr lang="en-US" sz="1200" dirty="0"/>
          </a:p>
        </p:txBody>
      </p:sp>
      <p:sp>
        <p:nvSpPr>
          <p:cNvPr id="7" name="Text 5"/>
          <p:cNvSpPr txBox="1"/>
          <p:nvPr/>
        </p:nvSpPr>
        <p:spPr>
          <a:xfrm>
            <a:off x="2263140" y="2103120"/>
            <a:ext cx="164592" cy="1737360"/>
          </a:xfrm>
          <a:prstGeom prst="rect">
            <a:avLst/>
          </a:prstGeom>
          <a:noFill/>
          <a:ln/>
        </p:spPr>
        <p:txBody>
          <a:bodyPr wrap="square" lIns="0" tIns="0" rIns="0" bIns="0" rtlCol="0" anchor="ctr"/>
          <a:lstStyle/>
          <a:p>
            <a:pPr marL="0" indent="0" algn="ctr">
              <a:buNone/>
            </a:pPr>
            <a:r>
              <a:rPr lang="en-US" sz="1800" dirty="0">
                <a:solidFill>
                  <a:srgbClr val="6D2E46"/>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2427732" y="2103120"/>
            <a:ext cx="1714500" cy="1737360"/>
          </a:xfrm>
          <a:prstGeom prst="roundRect">
            <a:avLst>
              <a:gd name="adj" fmla="val 5333"/>
            </a:avLst>
          </a:prstGeom>
          <a:solidFill>
            <a:srgbClr val="A26769"/>
          </a:solidFill>
          <a:ln/>
        </p:spPr>
      </p:sp>
      <p:sp>
        <p:nvSpPr>
          <p:cNvPr id="9" name="Text 7"/>
          <p:cNvSpPr txBox="1"/>
          <p:nvPr/>
        </p:nvSpPr>
        <p:spPr>
          <a:xfrm>
            <a:off x="2500884" y="2212848"/>
            <a:ext cx="548640" cy="365760"/>
          </a:xfrm>
          <a:prstGeom prst="rect">
            <a:avLst/>
          </a:prstGeom>
          <a:noFill/>
          <a:ln/>
        </p:spPr>
        <p:txBody>
          <a:bodyPr wrap="square" lIns="0" tIns="0" rIns="0" bIns="0" rtlCol="0" anchor="ctr"/>
          <a:lstStyle/>
          <a:p>
            <a:pPr marL="0" indent="0">
              <a:buNone/>
            </a:pPr>
            <a:r>
              <a:rPr lang="en-US" sz="1800" b="1" dirty="0">
                <a:solidFill>
                  <a:srgbClr val="C9962E"/>
                </a:solidFill>
                <a:latin typeface="Cambria" pitchFamily="34" charset="0"/>
                <a:ea typeface="Cambria" pitchFamily="34" charset="-122"/>
                <a:cs typeface="Cambria" pitchFamily="34" charset="-120"/>
              </a:rPr>
              <a:t>2</a:t>
            </a:r>
            <a:endParaRPr lang="en-US" sz="1800" dirty="0"/>
          </a:p>
        </p:txBody>
      </p:sp>
      <p:sp>
        <p:nvSpPr>
          <p:cNvPr id="10" name="Text 8"/>
          <p:cNvSpPr txBox="1"/>
          <p:nvPr/>
        </p:nvSpPr>
        <p:spPr>
          <a:xfrm>
            <a:off x="2519172" y="2606040"/>
            <a:ext cx="1531620" cy="1143000"/>
          </a:xfrm>
          <a:prstGeom prst="rect">
            <a:avLst/>
          </a:prstGeom>
          <a:noFill/>
          <a:ln/>
        </p:spPr>
        <p:txBody>
          <a:bodyPr wrap="square" lIns="0" tIns="0" rIns="0" bIns="0" rtlCol="0" anchor="ctr"/>
          <a:lstStyle/>
          <a:p>
            <a:pPr marL="0" indent="0">
              <a:lnSpc>
                <a:spcPct val="105000"/>
              </a:lnSpc>
              <a:buNone/>
            </a:pPr>
            <a:r>
              <a:rPr lang="en-US" sz="1200" dirty="0">
                <a:solidFill>
                  <a:srgbClr val="FFFFFF"/>
                </a:solidFill>
                <a:latin typeface="Calibri" pitchFamily="34" charset="0"/>
                <a:ea typeface="Calibri" pitchFamily="34" charset="-122"/>
                <a:cs typeface="Calibri" pitchFamily="34" charset="-120"/>
              </a:rPr>
              <a:t>Independent /</a:t>
            </a:r>
            <a:endParaRPr lang="en-US" sz="1200" dirty="0"/>
          </a:p>
          <a:p>
            <a:pPr marL="0" indent="0">
              <a:lnSpc>
                <a:spcPct val="105000"/>
              </a:lnSpc>
              <a:buNone/>
            </a:pPr>
            <a:r>
              <a:rPr lang="en-US" sz="1200" dirty="0">
                <a:solidFill>
                  <a:srgbClr val="FFFFFF"/>
                </a:solidFill>
                <a:latin typeface="Calibri" pitchFamily="34" charset="0"/>
                <a:ea typeface="Calibri" pitchFamily="34" charset="-122"/>
                <a:cs typeface="Calibri" pitchFamily="34" charset="-120"/>
              </a:rPr>
              <a:t>shared living</a:t>
            </a:r>
            <a:endParaRPr lang="en-US" sz="1200" dirty="0"/>
          </a:p>
        </p:txBody>
      </p:sp>
      <p:sp>
        <p:nvSpPr>
          <p:cNvPr id="11" name="Text 9"/>
          <p:cNvSpPr txBox="1"/>
          <p:nvPr/>
        </p:nvSpPr>
        <p:spPr>
          <a:xfrm>
            <a:off x="4142232" y="2103120"/>
            <a:ext cx="164592" cy="1737360"/>
          </a:xfrm>
          <a:prstGeom prst="rect">
            <a:avLst/>
          </a:prstGeom>
          <a:noFill/>
          <a:ln/>
        </p:spPr>
        <p:txBody>
          <a:bodyPr wrap="square" lIns="0" tIns="0" rIns="0" bIns="0" rtlCol="0" anchor="ctr"/>
          <a:lstStyle/>
          <a:p>
            <a:pPr marL="0" indent="0" algn="ctr">
              <a:buNone/>
            </a:pPr>
            <a:r>
              <a:rPr lang="en-US" sz="1800" dirty="0">
                <a:solidFill>
                  <a:srgbClr val="6D2E46"/>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4306824" y="2103120"/>
            <a:ext cx="1714500" cy="1737360"/>
          </a:xfrm>
          <a:prstGeom prst="roundRect">
            <a:avLst>
              <a:gd name="adj" fmla="val 5333"/>
            </a:avLst>
          </a:prstGeom>
          <a:solidFill>
            <a:srgbClr val="6D2E46"/>
          </a:solidFill>
          <a:ln/>
        </p:spPr>
      </p:sp>
      <p:sp>
        <p:nvSpPr>
          <p:cNvPr id="13" name="Text 11"/>
          <p:cNvSpPr txBox="1"/>
          <p:nvPr/>
        </p:nvSpPr>
        <p:spPr>
          <a:xfrm>
            <a:off x="4379976" y="2212848"/>
            <a:ext cx="548640" cy="365760"/>
          </a:xfrm>
          <a:prstGeom prst="rect">
            <a:avLst/>
          </a:prstGeom>
          <a:noFill/>
          <a:ln/>
        </p:spPr>
        <p:txBody>
          <a:bodyPr wrap="square" lIns="0" tIns="0" rIns="0" bIns="0" rtlCol="0" anchor="ctr"/>
          <a:lstStyle/>
          <a:p>
            <a:pPr marL="0" indent="0">
              <a:buNone/>
            </a:pPr>
            <a:r>
              <a:rPr lang="en-US" sz="1800" b="1" dirty="0">
                <a:solidFill>
                  <a:srgbClr val="C9962E"/>
                </a:solidFill>
                <a:latin typeface="Cambria" pitchFamily="34" charset="0"/>
                <a:ea typeface="Cambria" pitchFamily="34" charset="-122"/>
                <a:cs typeface="Cambria" pitchFamily="34" charset="-120"/>
              </a:rPr>
              <a:t>3</a:t>
            </a:r>
            <a:endParaRPr lang="en-US" sz="1800" dirty="0"/>
          </a:p>
        </p:txBody>
      </p:sp>
      <p:sp>
        <p:nvSpPr>
          <p:cNvPr id="14" name="Text 12"/>
          <p:cNvSpPr txBox="1"/>
          <p:nvPr/>
        </p:nvSpPr>
        <p:spPr>
          <a:xfrm>
            <a:off x="4398264" y="2606040"/>
            <a:ext cx="1531620" cy="1143000"/>
          </a:xfrm>
          <a:prstGeom prst="rect">
            <a:avLst/>
          </a:prstGeom>
          <a:noFill/>
          <a:ln/>
        </p:spPr>
        <p:txBody>
          <a:bodyPr wrap="square" lIns="0" tIns="0" rIns="0" bIns="0" rtlCol="0" anchor="ctr"/>
          <a:lstStyle/>
          <a:p>
            <a:pPr marL="0" indent="0">
              <a:lnSpc>
                <a:spcPct val="105000"/>
              </a:lnSpc>
              <a:buNone/>
            </a:pPr>
            <a:r>
              <a:rPr lang="en-US" sz="1200" dirty="0">
                <a:solidFill>
                  <a:srgbClr val="FFFFFF"/>
                </a:solidFill>
                <a:latin typeface="Calibri" pitchFamily="34" charset="0"/>
                <a:ea typeface="Calibri" pitchFamily="34" charset="-122"/>
                <a:cs typeface="Calibri" pitchFamily="34" charset="-120"/>
              </a:rPr>
              <a:t>Union formation</a:t>
            </a:r>
            <a:endParaRPr lang="en-US" sz="1200" dirty="0"/>
          </a:p>
          <a:p>
            <a:pPr marL="0" indent="0">
              <a:lnSpc>
                <a:spcPct val="105000"/>
              </a:lnSpc>
              <a:buNone/>
            </a:pPr>
            <a:r>
              <a:rPr lang="en-US" sz="1200" dirty="0">
                <a:solidFill>
                  <a:srgbClr val="FFFFFF"/>
                </a:solidFill>
                <a:latin typeface="Calibri" pitchFamily="34" charset="0"/>
                <a:ea typeface="Calibri" pitchFamily="34" charset="-122"/>
                <a:cs typeface="Calibri" pitchFamily="34" charset="-120"/>
              </a:rPr>
              <a:t>(marriage or</a:t>
            </a:r>
            <a:endParaRPr lang="en-US" sz="1200" dirty="0"/>
          </a:p>
          <a:p>
            <a:pPr marL="0" indent="0">
              <a:lnSpc>
                <a:spcPct val="105000"/>
              </a:lnSpc>
              <a:buNone/>
            </a:pPr>
            <a:r>
              <a:rPr lang="en-US" sz="1200" dirty="0">
                <a:solidFill>
                  <a:srgbClr val="FFFFFF"/>
                </a:solidFill>
                <a:latin typeface="Calibri" pitchFamily="34" charset="0"/>
                <a:ea typeface="Calibri" pitchFamily="34" charset="-122"/>
                <a:cs typeface="Calibri" pitchFamily="34" charset="-120"/>
              </a:rPr>
              <a:t>cohabitation)</a:t>
            </a:r>
            <a:endParaRPr lang="en-US" sz="1200" dirty="0"/>
          </a:p>
        </p:txBody>
      </p:sp>
      <p:sp>
        <p:nvSpPr>
          <p:cNvPr id="15" name="Text 13"/>
          <p:cNvSpPr txBox="1"/>
          <p:nvPr/>
        </p:nvSpPr>
        <p:spPr>
          <a:xfrm>
            <a:off x="6021324" y="2103120"/>
            <a:ext cx="164592" cy="1737360"/>
          </a:xfrm>
          <a:prstGeom prst="rect">
            <a:avLst/>
          </a:prstGeom>
          <a:noFill/>
          <a:ln/>
        </p:spPr>
        <p:txBody>
          <a:bodyPr wrap="square" lIns="0" tIns="0" rIns="0" bIns="0" rtlCol="0" anchor="ctr"/>
          <a:lstStyle/>
          <a:p>
            <a:pPr marL="0" indent="0" algn="ctr">
              <a:buNone/>
            </a:pPr>
            <a:r>
              <a:rPr lang="en-US" sz="1800" dirty="0">
                <a:solidFill>
                  <a:srgbClr val="6D2E46"/>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6185916" y="2103120"/>
            <a:ext cx="1714500" cy="1737360"/>
          </a:xfrm>
          <a:prstGeom prst="roundRect">
            <a:avLst>
              <a:gd name="adj" fmla="val 5333"/>
            </a:avLst>
          </a:prstGeom>
          <a:solidFill>
            <a:srgbClr val="A26769"/>
          </a:solidFill>
          <a:ln/>
        </p:spPr>
      </p:sp>
      <p:sp>
        <p:nvSpPr>
          <p:cNvPr id="17" name="Text 15"/>
          <p:cNvSpPr txBox="1"/>
          <p:nvPr/>
        </p:nvSpPr>
        <p:spPr>
          <a:xfrm>
            <a:off x="6259068" y="2212848"/>
            <a:ext cx="548640" cy="365760"/>
          </a:xfrm>
          <a:prstGeom prst="rect">
            <a:avLst/>
          </a:prstGeom>
          <a:noFill/>
          <a:ln/>
        </p:spPr>
        <p:txBody>
          <a:bodyPr wrap="square" lIns="0" tIns="0" rIns="0" bIns="0" rtlCol="0" anchor="ctr"/>
          <a:lstStyle/>
          <a:p>
            <a:pPr marL="0" indent="0">
              <a:buNone/>
            </a:pPr>
            <a:r>
              <a:rPr lang="en-US" sz="1800" b="1" dirty="0">
                <a:solidFill>
                  <a:srgbClr val="C9962E"/>
                </a:solidFill>
                <a:latin typeface="Cambria" pitchFamily="34" charset="0"/>
                <a:ea typeface="Cambria" pitchFamily="34" charset="-122"/>
                <a:cs typeface="Cambria" pitchFamily="34" charset="-120"/>
              </a:rPr>
              <a:t>4</a:t>
            </a:r>
            <a:endParaRPr lang="en-US" sz="1800" dirty="0"/>
          </a:p>
        </p:txBody>
      </p:sp>
      <p:sp>
        <p:nvSpPr>
          <p:cNvPr id="18" name="Text 16"/>
          <p:cNvSpPr txBox="1"/>
          <p:nvPr/>
        </p:nvSpPr>
        <p:spPr>
          <a:xfrm>
            <a:off x="6277356" y="2606040"/>
            <a:ext cx="1531620" cy="1143000"/>
          </a:xfrm>
          <a:prstGeom prst="rect">
            <a:avLst/>
          </a:prstGeom>
          <a:noFill/>
          <a:ln/>
        </p:spPr>
        <p:txBody>
          <a:bodyPr wrap="square" lIns="0" tIns="0" rIns="0" bIns="0" rtlCol="0" anchor="ctr"/>
          <a:lstStyle/>
          <a:p>
            <a:pPr marL="0" indent="0">
              <a:lnSpc>
                <a:spcPct val="105000"/>
              </a:lnSpc>
              <a:buNone/>
            </a:pPr>
            <a:r>
              <a:rPr lang="en-US" sz="1200" dirty="0">
                <a:solidFill>
                  <a:srgbClr val="FFFFFF"/>
                </a:solidFill>
                <a:latin typeface="Calibri" pitchFamily="34" charset="0"/>
                <a:ea typeface="Calibri" pitchFamily="34" charset="-122"/>
                <a:cs typeface="Calibri" pitchFamily="34" charset="-120"/>
              </a:rPr>
              <a:t>Childbearing</a:t>
            </a:r>
            <a:endParaRPr lang="en-US" sz="1200" dirty="0"/>
          </a:p>
          <a:p>
            <a:pPr marL="0" indent="0">
              <a:lnSpc>
                <a:spcPct val="105000"/>
              </a:lnSpc>
              <a:buNone/>
            </a:pPr>
            <a:r>
              <a:rPr lang="en-US" sz="1200" dirty="0">
                <a:solidFill>
                  <a:srgbClr val="FFFFFF"/>
                </a:solidFill>
                <a:latin typeface="Calibri" pitchFamily="34" charset="0"/>
                <a:ea typeface="Calibri" pitchFamily="34" charset="-122"/>
                <a:cs typeface="Calibri" pitchFamily="34" charset="-120"/>
              </a:rPr>
              <a:t>household</a:t>
            </a:r>
            <a:endParaRPr lang="en-US" sz="1200" dirty="0"/>
          </a:p>
        </p:txBody>
      </p:sp>
      <p:sp>
        <p:nvSpPr>
          <p:cNvPr id="19" name="Text 17"/>
          <p:cNvSpPr txBox="1"/>
          <p:nvPr/>
        </p:nvSpPr>
        <p:spPr>
          <a:xfrm>
            <a:off x="7900416" y="2103120"/>
            <a:ext cx="164592" cy="1737360"/>
          </a:xfrm>
          <a:prstGeom prst="rect">
            <a:avLst/>
          </a:prstGeom>
          <a:noFill/>
          <a:ln/>
        </p:spPr>
        <p:txBody>
          <a:bodyPr wrap="square" lIns="0" tIns="0" rIns="0" bIns="0" rtlCol="0" anchor="ctr"/>
          <a:lstStyle/>
          <a:p>
            <a:pPr marL="0" indent="0" algn="ctr">
              <a:buNone/>
            </a:pPr>
            <a:r>
              <a:rPr lang="en-US" sz="1800" dirty="0">
                <a:solidFill>
                  <a:srgbClr val="6D2E46"/>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8065008" y="2103120"/>
            <a:ext cx="1714500" cy="1737360"/>
          </a:xfrm>
          <a:prstGeom prst="roundRect">
            <a:avLst>
              <a:gd name="adj" fmla="val 5333"/>
            </a:avLst>
          </a:prstGeom>
          <a:solidFill>
            <a:srgbClr val="6D2E46"/>
          </a:solidFill>
          <a:ln/>
        </p:spPr>
      </p:sp>
      <p:sp>
        <p:nvSpPr>
          <p:cNvPr id="21" name="Text 19"/>
          <p:cNvSpPr txBox="1"/>
          <p:nvPr/>
        </p:nvSpPr>
        <p:spPr>
          <a:xfrm>
            <a:off x="8138160" y="2212848"/>
            <a:ext cx="548640" cy="365760"/>
          </a:xfrm>
          <a:prstGeom prst="rect">
            <a:avLst/>
          </a:prstGeom>
          <a:noFill/>
          <a:ln/>
        </p:spPr>
        <p:txBody>
          <a:bodyPr wrap="square" lIns="0" tIns="0" rIns="0" bIns="0" rtlCol="0" anchor="ctr"/>
          <a:lstStyle/>
          <a:p>
            <a:pPr marL="0" indent="0">
              <a:buNone/>
            </a:pPr>
            <a:r>
              <a:rPr lang="en-US" sz="1800" b="1" dirty="0">
                <a:solidFill>
                  <a:srgbClr val="C9962E"/>
                </a:solidFill>
                <a:latin typeface="Cambria" pitchFamily="34" charset="0"/>
                <a:ea typeface="Cambria" pitchFamily="34" charset="-122"/>
                <a:cs typeface="Cambria" pitchFamily="34" charset="-120"/>
              </a:rPr>
              <a:t>5</a:t>
            </a:r>
            <a:endParaRPr lang="en-US" sz="1800" dirty="0"/>
          </a:p>
        </p:txBody>
      </p:sp>
      <p:sp>
        <p:nvSpPr>
          <p:cNvPr id="22" name="Text 20"/>
          <p:cNvSpPr txBox="1"/>
          <p:nvPr/>
        </p:nvSpPr>
        <p:spPr>
          <a:xfrm>
            <a:off x="8156448" y="2606040"/>
            <a:ext cx="1531620" cy="1143000"/>
          </a:xfrm>
          <a:prstGeom prst="rect">
            <a:avLst/>
          </a:prstGeom>
          <a:noFill/>
          <a:ln/>
        </p:spPr>
        <p:txBody>
          <a:bodyPr wrap="square" lIns="0" tIns="0" rIns="0" bIns="0" rtlCol="0" anchor="ctr"/>
          <a:lstStyle/>
          <a:p>
            <a:pPr marL="0" indent="0">
              <a:lnSpc>
                <a:spcPct val="105000"/>
              </a:lnSpc>
              <a:buNone/>
            </a:pPr>
            <a:r>
              <a:rPr lang="en-US" sz="1200" dirty="0">
                <a:solidFill>
                  <a:srgbClr val="FFFFFF"/>
                </a:solidFill>
                <a:latin typeface="Calibri" pitchFamily="34" charset="0"/>
                <a:ea typeface="Calibri" pitchFamily="34" charset="-122"/>
                <a:cs typeface="Calibri" pitchFamily="34" charset="-120"/>
              </a:rPr>
              <a:t>Empty-nest</a:t>
            </a:r>
            <a:endParaRPr lang="en-US" sz="1200" dirty="0"/>
          </a:p>
          <a:p>
            <a:pPr marL="0" indent="0">
              <a:lnSpc>
                <a:spcPct val="105000"/>
              </a:lnSpc>
              <a:buNone/>
            </a:pPr>
            <a:r>
              <a:rPr lang="en-US" sz="1200" dirty="0">
                <a:solidFill>
                  <a:srgbClr val="FFFFFF"/>
                </a:solidFill>
                <a:latin typeface="Calibri" pitchFamily="34" charset="0"/>
                <a:ea typeface="Calibri" pitchFamily="34" charset="-122"/>
                <a:cs typeface="Calibri" pitchFamily="34" charset="-120"/>
              </a:rPr>
              <a:t>couple</a:t>
            </a:r>
            <a:endParaRPr lang="en-US" sz="1200" dirty="0"/>
          </a:p>
        </p:txBody>
      </p:sp>
      <p:sp>
        <p:nvSpPr>
          <p:cNvPr id="23" name="Text 21"/>
          <p:cNvSpPr txBox="1"/>
          <p:nvPr/>
        </p:nvSpPr>
        <p:spPr>
          <a:xfrm>
            <a:off x="9779508" y="2103120"/>
            <a:ext cx="164592" cy="1737360"/>
          </a:xfrm>
          <a:prstGeom prst="rect">
            <a:avLst/>
          </a:prstGeom>
          <a:noFill/>
          <a:ln/>
        </p:spPr>
        <p:txBody>
          <a:bodyPr wrap="square" lIns="0" tIns="0" rIns="0" bIns="0" rtlCol="0" anchor="ctr"/>
          <a:lstStyle/>
          <a:p>
            <a:pPr marL="0" indent="0" algn="ctr">
              <a:buNone/>
            </a:pPr>
            <a:r>
              <a:rPr lang="en-US" sz="1800" dirty="0">
                <a:solidFill>
                  <a:srgbClr val="6D2E46"/>
                </a:solidFill>
                <a:latin typeface="Calibri" pitchFamily="34" charset="0"/>
                <a:ea typeface="Calibri" pitchFamily="34" charset="-122"/>
                <a:cs typeface="Calibri" pitchFamily="34" charset="-120"/>
              </a:rPr>
              <a:t>→</a:t>
            </a:r>
            <a:endParaRPr lang="en-US" sz="1800" dirty="0"/>
          </a:p>
        </p:txBody>
      </p:sp>
      <p:sp>
        <p:nvSpPr>
          <p:cNvPr id="24" name="Shape 22"/>
          <p:cNvSpPr/>
          <p:nvPr/>
        </p:nvSpPr>
        <p:spPr>
          <a:xfrm>
            <a:off x="9944100" y="2103120"/>
            <a:ext cx="1714500" cy="1737360"/>
          </a:xfrm>
          <a:prstGeom prst="roundRect">
            <a:avLst>
              <a:gd name="adj" fmla="val 5333"/>
            </a:avLst>
          </a:prstGeom>
          <a:solidFill>
            <a:srgbClr val="A26769"/>
          </a:solidFill>
          <a:ln/>
        </p:spPr>
      </p:sp>
      <p:sp>
        <p:nvSpPr>
          <p:cNvPr id="25" name="Text 23"/>
          <p:cNvSpPr txBox="1"/>
          <p:nvPr/>
        </p:nvSpPr>
        <p:spPr>
          <a:xfrm>
            <a:off x="10017252" y="2212848"/>
            <a:ext cx="548640" cy="365760"/>
          </a:xfrm>
          <a:prstGeom prst="rect">
            <a:avLst/>
          </a:prstGeom>
          <a:noFill/>
          <a:ln/>
        </p:spPr>
        <p:txBody>
          <a:bodyPr wrap="square" lIns="0" tIns="0" rIns="0" bIns="0" rtlCol="0" anchor="ctr"/>
          <a:lstStyle/>
          <a:p>
            <a:pPr marL="0" indent="0">
              <a:buNone/>
            </a:pPr>
            <a:r>
              <a:rPr lang="en-US" sz="1800" b="1" dirty="0">
                <a:solidFill>
                  <a:srgbClr val="C9962E"/>
                </a:solidFill>
                <a:latin typeface="Cambria" pitchFamily="34" charset="0"/>
                <a:ea typeface="Cambria" pitchFamily="34" charset="-122"/>
                <a:cs typeface="Cambria" pitchFamily="34" charset="-120"/>
              </a:rPr>
              <a:t>6</a:t>
            </a:r>
            <a:endParaRPr lang="en-US" sz="1800" dirty="0"/>
          </a:p>
        </p:txBody>
      </p:sp>
      <p:sp>
        <p:nvSpPr>
          <p:cNvPr id="26" name="Text 24"/>
          <p:cNvSpPr txBox="1"/>
          <p:nvPr/>
        </p:nvSpPr>
        <p:spPr>
          <a:xfrm>
            <a:off x="10035540" y="2606040"/>
            <a:ext cx="1531620" cy="1143000"/>
          </a:xfrm>
          <a:prstGeom prst="rect">
            <a:avLst/>
          </a:prstGeom>
          <a:noFill/>
          <a:ln/>
        </p:spPr>
        <p:txBody>
          <a:bodyPr wrap="square" lIns="0" tIns="0" rIns="0" bIns="0" rtlCol="0" anchor="ctr"/>
          <a:lstStyle/>
          <a:p>
            <a:pPr marL="0" indent="0">
              <a:lnSpc>
                <a:spcPct val="105000"/>
              </a:lnSpc>
              <a:buNone/>
            </a:pPr>
            <a:r>
              <a:rPr lang="en-US" sz="1200" dirty="0">
                <a:solidFill>
                  <a:srgbClr val="FFFFFF"/>
                </a:solidFill>
                <a:latin typeface="Calibri" pitchFamily="34" charset="0"/>
                <a:ea typeface="Calibri" pitchFamily="34" charset="-122"/>
                <a:cs typeface="Calibri" pitchFamily="34" charset="-120"/>
              </a:rPr>
              <a:t>Widowhood /</a:t>
            </a:r>
            <a:endParaRPr lang="en-US" sz="1200" dirty="0"/>
          </a:p>
          <a:p>
            <a:pPr marL="0" indent="0">
              <a:lnSpc>
                <a:spcPct val="105000"/>
              </a:lnSpc>
              <a:buNone/>
            </a:pPr>
            <a:r>
              <a:rPr lang="en-US" sz="1200" dirty="0">
                <a:solidFill>
                  <a:srgbClr val="FFFFFF"/>
                </a:solidFill>
                <a:latin typeface="Calibri" pitchFamily="34" charset="0"/>
                <a:ea typeface="Calibri" pitchFamily="34" charset="-122"/>
                <a:cs typeface="Calibri" pitchFamily="34" charset="-120"/>
              </a:rPr>
              <a:t>solo living</a:t>
            </a:r>
            <a:endParaRPr lang="en-US" sz="1200" dirty="0"/>
          </a:p>
        </p:txBody>
      </p:sp>
      <p:sp>
        <p:nvSpPr>
          <p:cNvPr id="27" name="Text 25"/>
          <p:cNvSpPr txBox="1"/>
          <p:nvPr/>
        </p:nvSpPr>
        <p:spPr>
          <a:xfrm>
            <a:off x="548640" y="4206240"/>
            <a:ext cx="11064240" cy="822960"/>
          </a:xfrm>
          <a:prstGeom prst="rect">
            <a:avLst/>
          </a:prstGeom>
          <a:noFill/>
          <a:ln/>
        </p:spPr>
        <p:txBody>
          <a:bodyPr wrap="square" lIns="0" tIns="0" rIns="0" bIns="0" rtlCol="0" anchor="ctr"/>
          <a:lstStyle/>
          <a:p>
            <a:pPr marL="0" indent="0">
              <a:buNone/>
            </a:pPr>
            <a:r>
              <a:rPr lang="en-US" sz="1450" i="1" dirty="0">
                <a:solidFill>
                  <a:srgbClr val="2A1420"/>
                </a:solidFill>
                <a:latin typeface="Calibri" pitchFamily="34" charset="0"/>
                <a:ea typeface="Calibri" pitchFamily="34" charset="-122"/>
                <a:cs typeface="Calibri" pitchFamily="34" charset="-120"/>
              </a:rPr>
              <a:t>Individuals move through — and often back through — these stages non-linearly; solo living and cohabitation increasingly interrupt the “classic” sequence (see Blocks 2–3).</a:t>
            </a:r>
            <a:endParaRPr lang="en-US" sz="1450" dirty="0"/>
          </a:p>
        </p:txBody>
      </p:sp>
      <p:sp>
        <p:nvSpPr>
          <p:cNvPr id="28" name="Text 26"/>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29" name="Text 27"/>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9 / 56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STANDARD CATEGORIES</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Marital-Status Definitions (I): The Basic Split</a:t>
            </a:r>
            <a:endParaRPr lang="en-US" sz="3000" dirty="0"/>
          </a:p>
        </p:txBody>
      </p:sp>
      <p:sp>
        <p:nvSpPr>
          <p:cNvPr id="4" name="Shape 2"/>
          <p:cNvSpPr/>
          <p:nvPr/>
        </p:nvSpPr>
        <p:spPr>
          <a:xfrm>
            <a:off x="502920" y="1554480"/>
            <a:ext cx="5349240" cy="4434840"/>
          </a:xfrm>
          <a:prstGeom prst="roundRect">
            <a:avLst>
              <a:gd name="adj" fmla="val 2062"/>
            </a:avLst>
          </a:prstGeom>
          <a:solidFill>
            <a:srgbClr val="F7F3EF"/>
          </a:solidFill>
          <a:ln/>
        </p:spPr>
      </p:sp>
      <p:sp>
        <p:nvSpPr>
          <p:cNvPr id="5" name="Shape 3"/>
          <p:cNvSpPr/>
          <p:nvPr/>
        </p:nvSpPr>
        <p:spPr>
          <a:xfrm>
            <a:off x="822960" y="1783080"/>
            <a:ext cx="822960" cy="822960"/>
          </a:xfrm>
          <a:prstGeom prst="ellipse">
            <a:avLst/>
          </a:prstGeom>
          <a:solidFill>
            <a:srgbClr val="6D2E46"/>
          </a:solidFill>
          <a:ln/>
        </p:spPr>
      </p:sp>
      <p:pic>
        <p:nvPicPr>
          <p:cNvPr id="6" name="Image 0" descr="/sessions/blissful-modest-newton/work/build/icons/card.png"/>
          <p:cNvPicPr>
            <a:picLocks noChangeAspect="1"/>
          </p:cNvPicPr>
          <p:nvPr/>
        </p:nvPicPr>
        <p:blipFill>
          <a:blip r:embed="rId3"/>
          <a:stretch>
            <a:fillRect/>
          </a:stretch>
        </p:blipFill>
        <p:spPr>
          <a:xfrm>
            <a:off x="1004011" y="1964131"/>
            <a:ext cx="460858" cy="460858"/>
          </a:xfrm>
          <a:prstGeom prst="rect">
            <a:avLst/>
          </a:prstGeom>
        </p:spPr>
      </p:pic>
      <p:sp>
        <p:nvSpPr>
          <p:cNvPr id="7" name="Text 4"/>
          <p:cNvSpPr txBox="1"/>
          <p:nvPr/>
        </p:nvSpPr>
        <p:spPr>
          <a:xfrm>
            <a:off x="1828800" y="1783080"/>
            <a:ext cx="3840480" cy="548640"/>
          </a:xfrm>
          <a:prstGeom prst="rect">
            <a:avLst/>
          </a:prstGeom>
          <a:noFill/>
          <a:ln/>
        </p:spPr>
        <p:txBody>
          <a:bodyPr wrap="square" lIns="0" tIns="0" rIns="0" bIns="0" rtlCol="0" anchor="ctr"/>
          <a:lstStyle/>
          <a:p>
            <a:pPr marL="0" indent="0">
              <a:buNone/>
            </a:pPr>
            <a:r>
              <a:rPr lang="en-US" sz="1900" b="1" dirty="0">
                <a:solidFill>
                  <a:srgbClr val="6D2E46"/>
                </a:solidFill>
                <a:latin typeface="Cambria" pitchFamily="34" charset="0"/>
                <a:ea typeface="Cambria" pitchFamily="34" charset="-122"/>
                <a:cs typeface="Cambria" pitchFamily="34" charset="-120"/>
              </a:rPr>
              <a:t>NEVER-MARRIED / SINGLE</a:t>
            </a:r>
            <a:endParaRPr lang="en-US" sz="1900" dirty="0"/>
          </a:p>
        </p:txBody>
      </p:sp>
      <p:sp>
        <p:nvSpPr>
          <p:cNvPr id="8" name="Text 5"/>
          <p:cNvSpPr txBox="1"/>
          <p:nvPr/>
        </p:nvSpPr>
        <p:spPr>
          <a:xfrm>
            <a:off x="868680" y="2697480"/>
            <a:ext cx="4617720" cy="3108960"/>
          </a:xfrm>
          <a:prstGeom prst="rect">
            <a:avLst/>
          </a:prstGeom>
          <a:noFill/>
          <a:ln/>
        </p:spPr>
        <p:txBody>
          <a:bodyPr wrap="square" lIns="0" tIns="0" rIns="0" bIns="0" rtlCol="0" anchor="ctr"/>
          <a:lstStyle/>
          <a:p>
            <a:pPr marL="0" indent="0">
              <a:lnSpc>
                <a:spcPct val="115000"/>
              </a:lnSpc>
              <a:buNone/>
            </a:pPr>
            <a:r>
              <a:rPr lang="en-US" sz="1450" dirty="0">
                <a:solidFill>
                  <a:srgbClr val="2A1420"/>
                </a:solidFill>
                <a:latin typeface="Calibri" pitchFamily="34" charset="0"/>
                <a:ea typeface="Calibri" pitchFamily="34" charset="-122"/>
                <a:cs typeface="Calibri" pitchFamily="34" charset="-120"/>
              </a:rPr>
              <a:t>Persons who have not, as of the reference date, entered a legally or customarily recognized marriage. In most tabulations this is a de jure legal-status category — it says nothing about whether the person is currently in a cohabiting union.</a:t>
            </a:r>
            <a:endParaRPr lang="en-US" sz="1450" dirty="0"/>
          </a:p>
        </p:txBody>
      </p:sp>
      <p:sp>
        <p:nvSpPr>
          <p:cNvPr id="9" name="Shape 6"/>
          <p:cNvSpPr/>
          <p:nvPr/>
        </p:nvSpPr>
        <p:spPr>
          <a:xfrm>
            <a:off x="6126480" y="1554480"/>
            <a:ext cx="5349240" cy="4434840"/>
          </a:xfrm>
          <a:prstGeom prst="roundRect">
            <a:avLst>
              <a:gd name="adj" fmla="val 2062"/>
            </a:avLst>
          </a:prstGeom>
          <a:solidFill>
            <a:srgbClr val="ECE2D0"/>
          </a:solidFill>
          <a:ln/>
        </p:spPr>
      </p:sp>
      <p:sp>
        <p:nvSpPr>
          <p:cNvPr id="10" name="Shape 7"/>
          <p:cNvSpPr/>
          <p:nvPr/>
        </p:nvSpPr>
        <p:spPr>
          <a:xfrm>
            <a:off x="6446520" y="1783080"/>
            <a:ext cx="822960" cy="822960"/>
          </a:xfrm>
          <a:prstGeom prst="ellipse">
            <a:avLst/>
          </a:prstGeom>
          <a:solidFill>
            <a:srgbClr val="A26769"/>
          </a:solidFill>
          <a:ln/>
        </p:spPr>
      </p:sp>
      <p:pic>
        <p:nvPicPr>
          <p:cNvPr id="11" name="Image 1" descr="/sessions/blissful-modest-newton/work/build/icons/ring.png"/>
          <p:cNvPicPr>
            <a:picLocks noChangeAspect="1"/>
          </p:cNvPicPr>
          <p:nvPr/>
        </p:nvPicPr>
        <p:blipFill>
          <a:blip r:embed="rId4"/>
          <a:stretch>
            <a:fillRect/>
          </a:stretch>
        </p:blipFill>
        <p:spPr>
          <a:xfrm>
            <a:off x="6627571" y="1964131"/>
            <a:ext cx="460858" cy="460858"/>
          </a:xfrm>
          <a:prstGeom prst="rect">
            <a:avLst/>
          </a:prstGeom>
        </p:spPr>
      </p:pic>
      <p:sp>
        <p:nvSpPr>
          <p:cNvPr id="12" name="Text 8"/>
          <p:cNvSpPr txBox="1"/>
          <p:nvPr/>
        </p:nvSpPr>
        <p:spPr>
          <a:xfrm>
            <a:off x="7452360" y="1783080"/>
            <a:ext cx="3840480" cy="548640"/>
          </a:xfrm>
          <a:prstGeom prst="rect">
            <a:avLst/>
          </a:prstGeom>
          <a:noFill/>
          <a:ln/>
        </p:spPr>
        <p:txBody>
          <a:bodyPr wrap="square" lIns="0" tIns="0" rIns="0" bIns="0" rtlCol="0" anchor="ctr"/>
          <a:lstStyle/>
          <a:p>
            <a:pPr marL="0" indent="0">
              <a:buNone/>
            </a:pPr>
            <a:r>
              <a:rPr lang="en-US" sz="1900" b="1" dirty="0">
                <a:solidFill>
                  <a:srgbClr val="A26769"/>
                </a:solidFill>
                <a:latin typeface="Cambria" pitchFamily="34" charset="0"/>
                <a:ea typeface="Cambria" pitchFamily="34" charset="-122"/>
                <a:cs typeface="Cambria" pitchFamily="34" charset="-120"/>
              </a:rPr>
              <a:t>EVER-MARRIED</a:t>
            </a:r>
            <a:endParaRPr lang="en-US" sz="1900" dirty="0"/>
          </a:p>
        </p:txBody>
      </p:sp>
      <p:sp>
        <p:nvSpPr>
          <p:cNvPr id="13" name="Text 9"/>
          <p:cNvSpPr txBox="1"/>
          <p:nvPr/>
        </p:nvSpPr>
        <p:spPr>
          <a:xfrm>
            <a:off x="6492240" y="2697480"/>
            <a:ext cx="4617720" cy="3108960"/>
          </a:xfrm>
          <a:prstGeom prst="rect">
            <a:avLst/>
          </a:prstGeom>
          <a:noFill/>
          <a:ln/>
        </p:spPr>
        <p:txBody>
          <a:bodyPr wrap="square" lIns="0" tIns="0" rIns="0" bIns="0" rtlCol="0" anchor="ctr"/>
          <a:lstStyle/>
          <a:p>
            <a:pPr marL="0" indent="0">
              <a:lnSpc>
                <a:spcPct val="115000"/>
              </a:lnSpc>
              <a:buNone/>
            </a:pPr>
            <a:r>
              <a:rPr lang="en-US" sz="1450" dirty="0">
                <a:solidFill>
                  <a:srgbClr val="2A1420"/>
                </a:solidFill>
                <a:latin typeface="Calibri" pitchFamily="34" charset="0"/>
                <a:ea typeface="Calibri" pitchFamily="34" charset="-122"/>
                <a:cs typeface="Calibri" pitchFamily="34" charset="-120"/>
              </a:rPr>
              <a:t>Anyone who has entered marriage at least once, regardless of current status. It is the union of three subgroups: currently married, divorced, and widowed — the complement of never-married.</a:t>
            </a:r>
            <a:endParaRPr lang="en-US" sz="1450" dirty="0"/>
          </a:p>
        </p:txBody>
      </p:sp>
      <p:sp>
        <p:nvSpPr>
          <p:cNvPr id="14" name="Text 10"/>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5" name="Text 11"/>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10 / 56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STANDARD CATEGORIES</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Marital-Status Definitions (II): “Unmarried / Nonmarried”</a:t>
            </a:r>
            <a:endParaRPr lang="en-US" sz="3000" dirty="0"/>
          </a:p>
        </p:txBody>
      </p:sp>
      <p:sp>
        <p:nvSpPr>
          <p:cNvPr id="4" name="Text 2"/>
          <p:cNvSpPr txBox="1"/>
          <p:nvPr/>
        </p:nvSpPr>
        <p:spPr>
          <a:xfrm>
            <a:off x="548640" y="1417320"/>
            <a:ext cx="11064240" cy="548640"/>
          </a:xfrm>
          <a:prstGeom prst="rect">
            <a:avLst/>
          </a:prstGeom>
          <a:noFill/>
          <a:ln/>
        </p:spPr>
        <p:txBody>
          <a:bodyPr wrap="square" lIns="0" tIns="0" rIns="0" bIns="0" rtlCol="0" anchor="ctr"/>
          <a:lstStyle/>
          <a:p>
            <a:pPr marL="0" indent="0">
              <a:buNone/>
            </a:pPr>
            <a:r>
              <a:rPr lang="en-US" sz="1400" i="1" dirty="0">
                <a:solidFill>
                  <a:srgbClr val="6B5A5F"/>
                </a:solidFill>
                <a:latin typeface="Calibri" pitchFamily="34" charset="0"/>
                <a:ea typeface="Calibri" pitchFamily="34" charset="-122"/>
                <a:cs typeface="Calibri" pitchFamily="34" charset="-120"/>
              </a:rPr>
              <a:t>A composite analytic category used when the research question is exposure to marriage risk or lack of a co-resident spouse — not legal history.</a:t>
            </a:r>
            <a:endParaRPr lang="en-US" sz="1400" dirty="0"/>
          </a:p>
        </p:txBody>
      </p:sp>
      <p:sp>
        <p:nvSpPr>
          <p:cNvPr id="5" name="Shape 3"/>
          <p:cNvSpPr/>
          <p:nvPr/>
        </p:nvSpPr>
        <p:spPr>
          <a:xfrm>
            <a:off x="548640" y="2148840"/>
            <a:ext cx="2468880" cy="1188720"/>
          </a:xfrm>
          <a:prstGeom prst="roundRect">
            <a:avLst>
              <a:gd name="adj" fmla="val 7692"/>
            </a:avLst>
          </a:prstGeom>
          <a:solidFill>
            <a:srgbClr val="F7F3EF"/>
          </a:solidFill>
          <a:ln/>
        </p:spPr>
      </p:sp>
      <p:sp>
        <p:nvSpPr>
          <p:cNvPr id="6" name="Text 4"/>
          <p:cNvSpPr txBox="1"/>
          <p:nvPr/>
        </p:nvSpPr>
        <p:spPr>
          <a:xfrm>
            <a:off x="548640" y="2148840"/>
            <a:ext cx="2468880" cy="1188720"/>
          </a:xfrm>
          <a:prstGeom prst="rect">
            <a:avLst/>
          </a:prstGeom>
          <a:noFill/>
          <a:ln/>
        </p:spPr>
        <p:txBody>
          <a:bodyPr wrap="square" lIns="0" tIns="0" rIns="0" bIns="0" rtlCol="0" anchor="ctr"/>
          <a:lstStyle/>
          <a:p>
            <a:pPr marL="0" indent="0" algn="ctr">
              <a:buNone/>
            </a:pPr>
            <a:r>
              <a:rPr lang="en-US" sz="1500" b="1" dirty="0">
                <a:solidFill>
                  <a:srgbClr val="6D2E46"/>
                </a:solidFill>
                <a:latin typeface="Cambria" pitchFamily="34" charset="0"/>
                <a:ea typeface="Cambria" pitchFamily="34" charset="-122"/>
                <a:cs typeface="Cambria" pitchFamily="34" charset="-120"/>
              </a:rPr>
              <a:t>Never-married</a:t>
            </a:r>
            <a:endParaRPr lang="en-US" sz="1500" dirty="0"/>
          </a:p>
        </p:txBody>
      </p:sp>
      <p:sp>
        <p:nvSpPr>
          <p:cNvPr id="7" name="Text 5"/>
          <p:cNvSpPr txBox="1"/>
          <p:nvPr/>
        </p:nvSpPr>
        <p:spPr>
          <a:xfrm>
            <a:off x="3017520" y="2148840"/>
            <a:ext cx="365760" cy="1188720"/>
          </a:xfrm>
          <a:prstGeom prst="rect">
            <a:avLst/>
          </a:prstGeom>
          <a:noFill/>
          <a:ln/>
        </p:spPr>
        <p:txBody>
          <a:bodyPr wrap="square" lIns="0" tIns="0" rIns="0" bIns="0" rtlCol="0" anchor="ctr"/>
          <a:lstStyle/>
          <a:p>
            <a:pPr marL="0" indent="0" algn="ctr">
              <a:buNone/>
            </a:pPr>
            <a:r>
              <a:rPr lang="en-US" sz="2400" b="1" dirty="0">
                <a:solidFill>
                  <a:srgbClr val="C9962E"/>
                </a:solidFill>
                <a:latin typeface="Cambria" pitchFamily="34" charset="0"/>
                <a:ea typeface="Cambria" pitchFamily="34" charset="-122"/>
                <a:cs typeface="Cambria" pitchFamily="34" charset="-120"/>
              </a:rPr>
              <a:t>+</a:t>
            </a:r>
            <a:endParaRPr lang="en-US" sz="2400" dirty="0"/>
          </a:p>
        </p:txBody>
      </p:sp>
      <p:sp>
        <p:nvSpPr>
          <p:cNvPr id="8" name="Shape 6"/>
          <p:cNvSpPr/>
          <p:nvPr/>
        </p:nvSpPr>
        <p:spPr>
          <a:xfrm>
            <a:off x="3383280" y="2148840"/>
            <a:ext cx="2468880" cy="1188720"/>
          </a:xfrm>
          <a:prstGeom prst="roundRect">
            <a:avLst>
              <a:gd name="adj" fmla="val 7692"/>
            </a:avLst>
          </a:prstGeom>
          <a:solidFill>
            <a:srgbClr val="F7F3EF"/>
          </a:solidFill>
          <a:ln/>
        </p:spPr>
      </p:sp>
      <p:sp>
        <p:nvSpPr>
          <p:cNvPr id="9" name="Text 7"/>
          <p:cNvSpPr txBox="1"/>
          <p:nvPr/>
        </p:nvSpPr>
        <p:spPr>
          <a:xfrm>
            <a:off x="3383280" y="2148840"/>
            <a:ext cx="2468880" cy="1188720"/>
          </a:xfrm>
          <a:prstGeom prst="rect">
            <a:avLst/>
          </a:prstGeom>
          <a:noFill/>
          <a:ln/>
        </p:spPr>
        <p:txBody>
          <a:bodyPr wrap="square" lIns="0" tIns="0" rIns="0" bIns="0" rtlCol="0" anchor="ctr"/>
          <a:lstStyle/>
          <a:p>
            <a:pPr marL="0" indent="0" algn="ctr">
              <a:buNone/>
            </a:pPr>
            <a:r>
              <a:rPr lang="en-US" sz="1500" b="1" dirty="0">
                <a:solidFill>
                  <a:srgbClr val="6D2E46"/>
                </a:solidFill>
                <a:latin typeface="Cambria" pitchFamily="34" charset="0"/>
                <a:ea typeface="Cambria" pitchFamily="34" charset="-122"/>
                <a:cs typeface="Cambria" pitchFamily="34" charset="-120"/>
              </a:rPr>
              <a:t>Divorced</a:t>
            </a:r>
            <a:endParaRPr lang="en-US" sz="1500" dirty="0"/>
          </a:p>
        </p:txBody>
      </p:sp>
      <p:sp>
        <p:nvSpPr>
          <p:cNvPr id="10" name="Text 8"/>
          <p:cNvSpPr txBox="1"/>
          <p:nvPr/>
        </p:nvSpPr>
        <p:spPr>
          <a:xfrm>
            <a:off x="5852160" y="2148840"/>
            <a:ext cx="365760" cy="1188720"/>
          </a:xfrm>
          <a:prstGeom prst="rect">
            <a:avLst/>
          </a:prstGeom>
          <a:noFill/>
          <a:ln/>
        </p:spPr>
        <p:txBody>
          <a:bodyPr wrap="square" lIns="0" tIns="0" rIns="0" bIns="0" rtlCol="0" anchor="ctr"/>
          <a:lstStyle/>
          <a:p>
            <a:pPr marL="0" indent="0" algn="ctr">
              <a:buNone/>
            </a:pPr>
            <a:r>
              <a:rPr lang="en-US" sz="2400" b="1" dirty="0">
                <a:solidFill>
                  <a:srgbClr val="C9962E"/>
                </a:solidFill>
                <a:latin typeface="Cambria" pitchFamily="34" charset="0"/>
                <a:ea typeface="Cambria" pitchFamily="34" charset="-122"/>
                <a:cs typeface="Cambria" pitchFamily="34" charset="-120"/>
              </a:rPr>
              <a:t>+</a:t>
            </a:r>
            <a:endParaRPr lang="en-US" sz="2400" dirty="0"/>
          </a:p>
        </p:txBody>
      </p:sp>
      <p:sp>
        <p:nvSpPr>
          <p:cNvPr id="11" name="Shape 9"/>
          <p:cNvSpPr/>
          <p:nvPr/>
        </p:nvSpPr>
        <p:spPr>
          <a:xfrm>
            <a:off x="6217920" y="2148840"/>
            <a:ext cx="2468880" cy="1188720"/>
          </a:xfrm>
          <a:prstGeom prst="roundRect">
            <a:avLst>
              <a:gd name="adj" fmla="val 7692"/>
            </a:avLst>
          </a:prstGeom>
          <a:solidFill>
            <a:srgbClr val="F7F3EF"/>
          </a:solidFill>
          <a:ln/>
        </p:spPr>
      </p:sp>
      <p:sp>
        <p:nvSpPr>
          <p:cNvPr id="12" name="Text 10"/>
          <p:cNvSpPr txBox="1"/>
          <p:nvPr/>
        </p:nvSpPr>
        <p:spPr>
          <a:xfrm>
            <a:off x="6217920" y="2148840"/>
            <a:ext cx="2468880" cy="1188720"/>
          </a:xfrm>
          <a:prstGeom prst="rect">
            <a:avLst/>
          </a:prstGeom>
          <a:noFill/>
          <a:ln/>
        </p:spPr>
        <p:txBody>
          <a:bodyPr wrap="square" lIns="0" tIns="0" rIns="0" bIns="0" rtlCol="0" anchor="ctr"/>
          <a:lstStyle/>
          <a:p>
            <a:pPr marL="0" indent="0" algn="ctr">
              <a:buNone/>
            </a:pPr>
            <a:r>
              <a:rPr lang="en-US" sz="1500" b="1" dirty="0">
                <a:solidFill>
                  <a:srgbClr val="6D2E46"/>
                </a:solidFill>
                <a:latin typeface="Cambria" pitchFamily="34" charset="0"/>
                <a:ea typeface="Cambria" pitchFamily="34" charset="-122"/>
                <a:cs typeface="Cambria" pitchFamily="34" charset="-120"/>
              </a:rPr>
              <a:t>Widowed</a:t>
            </a:r>
            <a:endParaRPr lang="en-US" sz="1500" dirty="0"/>
          </a:p>
        </p:txBody>
      </p:sp>
      <p:sp>
        <p:nvSpPr>
          <p:cNvPr id="13" name="Text 11"/>
          <p:cNvSpPr txBox="1"/>
          <p:nvPr/>
        </p:nvSpPr>
        <p:spPr>
          <a:xfrm>
            <a:off x="5212080" y="3429000"/>
            <a:ext cx="914400" cy="457200"/>
          </a:xfrm>
          <a:prstGeom prst="rect">
            <a:avLst/>
          </a:prstGeom>
          <a:noFill/>
          <a:ln/>
        </p:spPr>
        <p:txBody>
          <a:bodyPr wrap="square" lIns="0" tIns="0" rIns="0" bIns="0" rtlCol="0" anchor="ctr"/>
          <a:lstStyle/>
          <a:p>
            <a:pPr marL="0" indent="0" algn="ctr">
              <a:buNone/>
            </a:pPr>
            <a:r>
              <a:rPr lang="en-US" sz="2600" dirty="0">
                <a:solidFill>
                  <a:srgbClr val="C9962E"/>
                </a:solidFill>
                <a:latin typeface="Cambria" pitchFamily="34" charset="0"/>
                <a:ea typeface="Cambria" pitchFamily="34" charset="-122"/>
                <a:cs typeface="Cambria" pitchFamily="34" charset="-120"/>
              </a:rPr>
              <a:t>↓</a:t>
            </a:r>
            <a:endParaRPr lang="en-US" sz="2600" dirty="0"/>
          </a:p>
        </p:txBody>
      </p:sp>
      <p:sp>
        <p:nvSpPr>
          <p:cNvPr id="14" name="Shape 12"/>
          <p:cNvSpPr/>
          <p:nvPr/>
        </p:nvSpPr>
        <p:spPr>
          <a:xfrm>
            <a:off x="3291840" y="3931920"/>
            <a:ext cx="5577840" cy="822960"/>
          </a:xfrm>
          <a:prstGeom prst="roundRect">
            <a:avLst>
              <a:gd name="adj" fmla="val 50000"/>
            </a:avLst>
          </a:prstGeom>
          <a:solidFill>
            <a:srgbClr val="6D2E46"/>
          </a:solidFill>
          <a:ln/>
        </p:spPr>
      </p:sp>
      <p:sp>
        <p:nvSpPr>
          <p:cNvPr id="15" name="Text 13"/>
          <p:cNvSpPr txBox="1"/>
          <p:nvPr/>
        </p:nvSpPr>
        <p:spPr>
          <a:xfrm>
            <a:off x="3291840" y="3931920"/>
            <a:ext cx="557784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 UNMARRIED / NONMARRIED</a:t>
            </a:r>
            <a:endParaRPr lang="en-US" sz="1800" dirty="0"/>
          </a:p>
        </p:txBody>
      </p:sp>
      <p:sp>
        <p:nvSpPr>
          <p:cNvPr id="16" name="Text 14"/>
          <p:cNvSpPr txBox="1"/>
          <p:nvPr/>
        </p:nvSpPr>
        <p:spPr>
          <a:xfrm>
            <a:off x="1645920" y="5029200"/>
            <a:ext cx="8869680" cy="731520"/>
          </a:xfrm>
          <a:prstGeom prst="rect">
            <a:avLst/>
          </a:prstGeom>
          <a:noFill/>
          <a:ln/>
        </p:spPr>
        <p:txBody>
          <a:bodyPr wrap="square" lIns="0" tIns="0" rIns="0" bIns="0" rtlCol="0" anchor="ctr"/>
          <a:lstStyle/>
          <a:p>
            <a:pPr marL="0" indent="0" algn="ctr">
              <a:buNone/>
            </a:pPr>
            <a:r>
              <a:rPr lang="en-US" sz="1400" i="1" dirty="0">
                <a:solidFill>
                  <a:srgbClr val="2A1420"/>
                </a:solidFill>
                <a:latin typeface="Calibri" pitchFamily="34" charset="0"/>
                <a:ea typeface="Calibri" pitchFamily="34" charset="-122"/>
                <a:cs typeface="Calibri" pitchFamily="34" charset="-120"/>
              </a:rPr>
              <a:t>Used, e.g., in singulate-mean-age-at-marriage calculations and in studies of solo/non-spousal living arrangements.</a:t>
            </a:r>
            <a:endParaRPr lang="en-US" sz="1400" dirty="0"/>
          </a:p>
        </p:txBody>
      </p:sp>
      <p:sp>
        <p:nvSpPr>
          <p:cNvPr id="17" name="Text 15"/>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8" name="Text 16"/>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11 / 56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COMMON MISCONCEPTIONS</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Three Things Demographers Are Often Asked to Assume — Incorrectly</a:t>
            </a:r>
            <a:endParaRPr lang="en-US" sz="3000" dirty="0"/>
          </a:p>
        </p:txBody>
      </p:sp>
      <p:sp>
        <p:nvSpPr>
          <p:cNvPr id="4" name="Shape 2"/>
          <p:cNvSpPr/>
          <p:nvPr/>
        </p:nvSpPr>
        <p:spPr>
          <a:xfrm>
            <a:off x="548640" y="1417320"/>
            <a:ext cx="3489960" cy="4754880"/>
          </a:xfrm>
          <a:prstGeom prst="roundRect">
            <a:avLst>
              <a:gd name="adj" fmla="val 2096"/>
            </a:avLst>
          </a:prstGeom>
          <a:solidFill>
            <a:srgbClr val="F7F3EF"/>
          </a:solidFill>
          <a:ln/>
        </p:spPr>
      </p:sp>
      <p:sp>
        <p:nvSpPr>
          <p:cNvPr id="5" name="Shape 3"/>
          <p:cNvSpPr/>
          <p:nvPr/>
        </p:nvSpPr>
        <p:spPr>
          <a:xfrm>
            <a:off x="749808" y="1600200"/>
            <a:ext cx="685800" cy="685800"/>
          </a:xfrm>
          <a:prstGeom prst="ellipse">
            <a:avLst/>
          </a:prstGeom>
          <a:solidFill>
            <a:srgbClr val="6D2E46"/>
          </a:solidFill>
          <a:ln/>
        </p:spPr>
      </p:sp>
      <p:pic>
        <p:nvPicPr>
          <p:cNvPr id="6" name="Image 0" descr="/sessions/blissful-modest-newton/work/build/icons/alert.png"/>
          <p:cNvPicPr>
            <a:picLocks noChangeAspect="1"/>
          </p:cNvPicPr>
          <p:nvPr/>
        </p:nvPicPr>
        <p:blipFill>
          <a:blip r:embed="rId3"/>
          <a:stretch>
            <a:fillRect/>
          </a:stretch>
        </p:blipFill>
        <p:spPr>
          <a:xfrm>
            <a:off x="900684" y="1751076"/>
            <a:ext cx="384048" cy="384048"/>
          </a:xfrm>
          <a:prstGeom prst="rect">
            <a:avLst/>
          </a:prstGeom>
        </p:spPr>
      </p:pic>
      <p:sp>
        <p:nvSpPr>
          <p:cNvPr id="7" name="Text 4"/>
          <p:cNvSpPr txBox="1"/>
          <p:nvPr/>
        </p:nvSpPr>
        <p:spPr>
          <a:xfrm>
            <a:off x="749808" y="2340864"/>
            <a:ext cx="30876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“Household and family are the same thing.”</a:t>
            </a:r>
            <a:endParaRPr lang="en-US" sz="1450" dirty="0"/>
          </a:p>
        </p:txBody>
      </p:sp>
      <p:sp>
        <p:nvSpPr>
          <p:cNvPr id="8" name="Text 5"/>
          <p:cNvSpPr txBox="1"/>
          <p:nvPr/>
        </p:nvSpPr>
        <p:spPr>
          <a:xfrm>
            <a:off x="749808" y="2670048"/>
            <a:ext cx="3087624" cy="342900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They are not. A live-in domestic worker, boarder, or unrelated roommate is part of a household's headcount but not the family; a migrant parent abroad remains part of the family but not the household. Conflating the two silently changes what a statistic measures.</a:t>
            </a:r>
            <a:endParaRPr lang="en-US" sz="1200" dirty="0"/>
          </a:p>
        </p:txBody>
      </p:sp>
      <p:sp>
        <p:nvSpPr>
          <p:cNvPr id="9" name="Shape 6"/>
          <p:cNvSpPr/>
          <p:nvPr/>
        </p:nvSpPr>
        <p:spPr>
          <a:xfrm>
            <a:off x="4358640" y="1417320"/>
            <a:ext cx="3489960" cy="4754880"/>
          </a:xfrm>
          <a:prstGeom prst="roundRect">
            <a:avLst>
              <a:gd name="adj" fmla="val 2096"/>
            </a:avLst>
          </a:prstGeom>
          <a:solidFill>
            <a:srgbClr val="ECE2D0"/>
          </a:solidFill>
          <a:ln/>
        </p:spPr>
      </p:sp>
      <p:sp>
        <p:nvSpPr>
          <p:cNvPr id="10" name="Shape 7"/>
          <p:cNvSpPr/>
          <p:nvPr/>
        </p:nvSpPr>
        <p:spPr>
          <a:xfrm>
            <a:off x="4559808" y="1600200"/>
            <a:ext cx="685800" cy="685800"/>
          </a:xfrm>
          <a:prstGeom prst="ellipse">
            <a:avLst/>
          </a:prstGeom>
          <a:solidFill>
            <a:srgbClr val="6D2E46"/>
          </a:solidFill>
          <a:ln/>
        </p:spPr>
      </p:sp>
      <p:pic>
        <p:nvPicPr>
          <p:cNvPr id="11" name="Image 1" descr="/sessions/blissful-modest-newton/work/build/icons/alert.png"/>
          <p:cNvPicPr>
            <a:picLocks noChangeAspect="1"/>
          </p:cNvPicPr>
          <p:nvPr/>
        </p:nvPicPr>
        <p:blipFill>
          <a:blip r:embed="rId3"/>
          <a:stretch>
            <a:fillRect/>
          </a:stretch>
        </p:blipFill>
        <p:spPr>
          <a:xfrm>
            <a:off x="4710684" y="1751076"/>
            <a:ext cx="384048" cy="384048"/>
          </a:xfrm>
          <a:prstGeom prst="rect">
            <a:avLst/>
          </a:prstGeom>
        </p:spPr>
      </p:pic>
      <p:sp>
        <p:nvSpPr>
          <p:cNvPr id="12" name="Text 8"/>
          <p:cNvSpPr txBox="1"/>
          <p:nvPr/>
        </p:nvSpPr>
        <p:spPr>
          <a:xfrm>
            <a:off x="4559808" y="2340864"/>
            <a:ext cx="30876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“Marital-status categories are stable across time and countries.”</a:t>
            </a:r>
            <a:endParaRPr lang="en-US" sz="1450" dirty="0"/>
          </a:p>
        </p:txBody>
      </p:sp>
      <p:sp>
        <p:nvSpPr>
          <p:cNvPr id="13" name="Text 9"/>
          <p:cNvSpPr txBox="1"/>
          <p:nvPr/>
        </p:nvSpPr>
        <p:spPr>
          <a:xfrm>
            <a:off x="4559808" y="2670048"/>
            <a:ext cx="3087624" cy="342900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Legal definitions of “married” change (e.g., Thailand's 2025 Marriage Equality Act), age at which marriage is legally possible varies by country, and some jurisdictions register religious or customary unions civil registries never see. Cross-national or over-time comparisons need explicit definitional footnotes.</a:t>
            </a:r>
            <a:endParaRPr lang="en-US" sz="1200" dirty="0"/>
          </a:p>
        </p:txBody>
      </p:sp>
      <p:sp>
        <p:nvSpPr>
          <p:cNvPr id="14" name="Shape 10"/>
          <p:cNvSpPr/>
          <p:nvPr/>
        </p:nvSpPr>
        <p:spPr>
          <a:xfrm>
            <a:off x="8168640" y="1417320"/>
            <a:ext cx="3489960" cy="4754880"/>
          </a:xfrm>
          <a:prstGeom prst="roundRect">
            <a:avLst>
              <a:gd name="adj" fmla="val 2096"/>
            </a:avLst>
          </a:prstGeom>
          <a:solidFill>
            <a:srgbClr val="F7F3EF"/>
          </a:solidFill>
          <a:ln/>
        </p:spPr>
      </p:sp>
      <p:sp>
        <p:nvSpPr>
          <p:cNvPr id="15" name="Shape 11"/>
          <p:cNvSpPr/>
          <p:nvPr/>
        </p:nvSpPr>
        <p:spPr>
          <a:xfrm>
            <a:off x="8369808" y="1600200"/>
            <a:ext cx="685800" cy="685800"/>
          </a:xfrm>
          <a:prstGeom prst="ellipse">
            <a:avLst/>
          </a:prstGeom>
          <a:solidFill>
            <a:srgbClr val="6D2E46"/>
          </a:solidFill>
          <a:ln/>
        </p:spPr>
      </p:sp>
      <p:pic>
        <p:nvPicPr>
          <p:cNvPr id="16" name="Image 2" descr="/sessions/blissful-modest-newton/work/build/icons/alert.png"/>
          <p:cNvPicPr>
            <a:picLocks noChangeAspect="1"/>
          </p:cNvPicPr>
          <p:nvPr/>
        </p:nvPicPr>
        <p:blipFill>
          <a:blip r:embed="rId3"/>
          <a:stretch>
            <a:fillRect/>
          </a:stretch>
        </p:blipFill>
        <p:spPr>
          <a:xfrm>
            <a:off x="8520684" y="1751076"/>
            <a:ext cx="384048" cy="384048"/>
          </a:xfrm>
          <a:prstGeom prst="rect">
            <a:avLst/>
          </a:prstGeom>
        </p:spPr>
      </p:pic>
      <p:sp>
        <p:nvSpPr>
          <p:cNvPr id="17" name="Text 12"/>
          <p:cNvSpPr txBox="1"/>
          <p:nvPr/>
        </p:nvSpPr>
        <p:spPr>
          <a:xfrm>
            <a:off x="8369808" y="2340864"/>
            <a:ext cx="30876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“Falling marriage rates mean falling partnership.”</a:t>
            </a:r>
            <a:endParaRPr lang="en-US" sz="1450" dirty="0"/>
          </a:p>
        </p:txBody>
      </p:sp>
      <p:sp>
        <p:nvSpPr>
          <p:cNvPr id="18" name="Text 13"/>
          <p:cNvSpPr txBox="1"/>
          <p:nvPr/>
        </p:nvSpPr>
        <p:spPr>
          <a:xfrm>
            <a:off x="8369808" y="2670048"/>
            <a:ext cx="3087624" cy="342900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A declining crude marriage rate can coexist with a stable or rising rate of cohabiting unions. The CMR only counts legal marriages — it says nothing about whether people are pairing up in other, unregistered forms of union (Block 2).</a:t>
            </a:r>
            <a:endParaRPr lang="en-US" sz="1200" dirty="0"/>
          </a:p>
        </p:txBody>
      </p:sp>
      <p:sp>
        <p:nvSpPr>
          <p:cNvPr id="19" name="Text 14"/>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20" name="Text 15"/>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12 / 56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EXAMPLE 1 — THAILAND, 2025</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Marriage Equality and the Redefinition of “Married”</a:t>
            </a:r>
            <a:endParaRPr lang="en-US" sz="3000" dirty="0"/>
          </a:p>
        </p:txBody>
      </p:sp>
      <p:sp>
        <p:nvSpPr>
          <p:cNvPr id="4" name="Text 2"/>
          <p:cNvSpPr txBox="1"/>
          <p:nvPr/>
        </p:nvSpPr>
        <p:spPr>
          <a:xfrm>
            <a:off x="548640" y="1463040"/>
            <a:ext cx="7406640" cy="4206240"/>
          </a:xfrm>
          <a:prstGeom prst="rect">
            <a:avLst/>
          </a:prstGeom>
          <a:noFill/>
          <a:ln/>
        </p:spPr>
        <p:txBody>
          <a:bodyPr wrap="square" lIns="0" tIns="0" rIns="0" bIns="0" rtlCol="0" anchor="ctr"/>
          <a:lstStyle/>
          <a:p>
            <a:pPr marL="228600" indent="-228600">
              <a:lnSpc>
                <a:spcPct val="115000"/>
              </a:lnSpc>
              <a:spcAft>
                <a:spcPts val="1100"/>
              </a:spcAft>
              <a:buSzPct val="100000"/>
              <a:buChar char="●"/>
            </a:pPr>
            <a:r>
              <a:rPr lang="en-US" sz="1500" dirty="0">
                <a:solidFill>
                  <a:srgbClr val="2A1420"/>
                </a:solidFill>
                <a:latin typeface="Calibri" pitchFamily="34" charset="0"/>
                <a:ea typeface="Calibri" pitchFamily="34" charset="-122"/>
                <a:cs typeface="Calibri" pitchFamily="34" charset="-120"/>
              </a:rPr>
              <a:t>On 23 January 2025, Thailand's Marriage Equality Act (amending the Civil and Commercial Code) took effect, granting same-sex couples the same legal marriage rights as different-sex couples.</a:t>
            </a:r>
            <a:endParaRPr lang="en-US" sz="1500" dirty="0"/>
          </a:p>
          <a:p>
            <a:pPr marL="228600" indent="-228600">
              <a:lnSpc>
                <a:spcPct val="115000"/>
              </a:lnSpc>
              <a:spcAft>
                <a:spcPts val="1100"/>
              </a:spcAft>
              <a:buSzPct val="100000"/>
              <a:buChar char="●"/>
            </a:pPr>
            <a:r>
              <a:rPr lang="en-US" sz="1500" dirty="0">
                <a:solidFill>
                  <a:srgbClr val="2A1420"/>
                </a:solidFill>
                <a:latin typeface="Calibri" pitchFamily="34" charset="0"/>
                <a:ea typeface="Calibri" pitchFamily="34" charset="-122"/>
                <a:cs typeface="Calibri" pitchFamily="34" charset="-120"/>
              </a:rPr>
              <a:t>Thailand became the first country in Southeast Asia — and the third in Asia — to legalize same-sex marriage.</a:t>
            </a:r>
            <a:endParaRPr lang="en-US" sz="1500" dirty="0"/>
          </a:p>
          <a:p>
            <a:pPr marL="228600" indent="-228600">
              <a:lnSpc>
                <a:spcPct val="115000"/>
              </a:lnSpc>
              <a:spcAft>
                <a:spcPts val="1100"/>
              </a:spcAft>
              <a:buSzPct val="100000"/>
              <a:buChar char="●"/>
            </a:pPr>
            <a:r>
              <a:rPr lang="en-US" sz="1500" dirty="0">
                <a:solidFill>
                  <a:srgbClr val="2A1420"/>
                </a:solidFill>
                <a:latin typeface="Calibri" pitchFamily="34" charset="0"/>
                <a:ea typeface="Calibri" pitchFamily="34" charset="-122"/>
                <a:cs typeface="Calibri" pitchFamily="34" charset="-120"/>
              </a:rPr>
              <a:t>Couples may now register at any of Thailand's ~928 district offices or 94 embassies — directly changing what civil-registration “marriage” counts capture.</a:t>
            </a:r>
            <a:endParaRPr lang="en-US" sz="1500" dirty="0"/>
          </a:p>
          <a:p>
            <a:pPr marL="228600" indent="-228600">
              <a:lnSpc>
                <a:spcPct val="115000"/>
              </a:lnSpc>
              <a:spcAft>
                <a:spcPts val="1100"/>
              </a:spcAft>
              <a:buSzPct val="100000"/>
              <a:buChar char="●"/>
            </a:pPr>
            <a:r>
              <a:rPr lang="en-US" sz="1500" dirty="0">
                <a:solidFill>
                  <a:srgbClr val="2A1420"/>
                </a:solidFill>
                <a:latin typeface="Calibri" pitchFamily="34" charset="0"/>
                <a:ea typeface="Calibri" pitchFamily="34" charset="-122"/>
                <a:cs typeface="Calibri" pitchFamily="34" charset="-120"/>
              </a:rPr>
              <a:t>Demographic implication: crude marriage rates, spousal-benefit statistics, and household rosters must now be interpreted under a broadened legal definition of a marital union.</a:t>
            </a:r>
            <a:endParaRPr lang="en-US" sz="1500" dirty="0"/>
          </a:p>
        </p:txBody>
      </p:sp>
      <p:sp>
        <p:nvSpPr>
          <p:cNvPr id="5" name="Shape 3"/>
          <p:cNvSpPr/>
          <p:nvPr/>
        </p:nvSpPr>
        <p:spPr>
          <a:xfrm>
            <a:off x="8229600" y="1463040"/>
            <a:ext cx="3383280" cy="2011680"/>
          </a:xfrm>
          <a:prstGeom prst="roundRect">
            <a:avLst>
              <a:gd name="adj" fmla="val 4545"/>
            </a:avLst>
          </a:prstGeom>
          <a:solidFill>
            <a:srgbClr val="ECE2D0"/>
          </a:solidFill>
          <a:ln/>
        </p:spPr>
      </p:sp>
      <p:sp>
        <p:nvSpPr>
          <p:cNvPr id="6" name="Text 4"/>
          <p:cNvSpPr txBox="1"/>
          <p:nvPr/>
        </p:nvSpPr>
        <p:spPr>
          <a:xfrm>
            <a:off x="8229600" y="1600200"/>
            <a:ext cx="3383280" cy="960120"/>
          </a:xfrm>
          <a:prstGeom prst="rect">
            <a:avLst/>
          </a:prstGeom>
          <a:noFill/>
          <a:ln/>
        </p:spPr>
        <p:txBody>
          <a:bodyPr wrap="square" lIns="0" tIns="0" rIns="0" bIns="0" rtlCol="0" anchor="ctr"/>
          <a:lstStyle/>
          <a:p>
            <a:pPr marL="0" indent="0" algn="ctr">
              <a:buNone/>
            </a:pPr>
            <a:r>
              <a:rPr lang="en-US" sz="4400" b="1" dirty="0">
                <a:solidFill>
                  <a:srgbClr val="6D2E46"/>
                </a:solidFill>
                <a:latin typeface="Cambria" pitchFamily="34" charset="0"/>
                <a:ea typeface="Cambria" pitchFamily="34" charset="-122"/>
                <a:cs typeface="Cambria" pitchFamily="34" charset="-120"/>
              </a:rPr>
              <a:t>1st</a:t>
            </a:r>
            <a:endParaRPr lang="en-US" sz="4400" dirty="0"/>
          </a:p>
        </p:txBody>
      </p:sp>
      <p:sp>
        <p:nvSpPr>
          <p:cNvPr id="7" name="Text 5"/>
          <p:cNvSpPr txBox="1"/>
          <p:nvPr/>
        </p:nvSpPr>
        <p:spPr>
          <a:xfrm>
            <a:off x="8412480" y="2514600"/>
            <a:ext cx="3017520" cy="914400"/>
          </a:xfrm>
          <a:prstGeom prst="rect">
            <a:avLst/>
          </a:prstGeom>
          <a:noFill/>
          <a:ln/>
        </p:spPr>
        <p:txBody>
          <a:bodyPr wrap="square" lIns="0" tIns="0" rIns="0" bIns="0" rtlCol="0" anchor="ctr"/>
          <a:lstStyle/>
          <a:p>
            <a:pPr marL="0" indent="0" algn="ctr">
              <a:buNone/>
            </a:pPr>
            <a:r>
              <a:rPr lang="en-US" sz="1250" dirty="0">
                <a:solidFill>
                  <a:srgbClr val="2A1420"/>
                </a:solidFill>
                <a:latin typeface="Calibri" pitchFamily="34" charset="0"/>
                <a:ea typeface="Calibri" pitchFamily="34" charset="-122"/>
                <a:cs typeface="Calibri" pitchFamily="34" charset="-120"/>
              </a:rPr>
              <a:t>country in Southeast Asia to legalize same-sex marriage</a:t>
            </a:r>
            <a:endParaRPr lang="en-US" sz="1250" dirty="0"/>
          </a:p>
        </p:txBody>
      </p:sp>
      <p:sp>
        <p:nvSpPr>
          <p:cNvPr id="8" name="Text 6"/>
          <p:cNvSpPr txBox="1"/>
          <p:nvPr/>
        </p:nvSpPr>
        <p:spPr>
          <a:xfrm>
            <a:off x="548640" y="6126480"/>
            <a:ext cx="11064240" cy="365760"/>
          </a:xfrm>
          <a:prstGeom prst="rect">
            <a:avLst/>
          </a:prstGeom>
          <a:noFill/>
          <a:ln/>
        </p:spPr>
        <p:txBody>
          <a:bodyPr wrap="square" lIns="0" tIns="0" rIns="0" bIns="0" rtlCol="0" anchor="ctr"/>
          <a:lstStyle/>
          <a:p>
            <a:pPr marL="0" indent="0">
              <a:buNone/>
            </a:pPr>
            <a:r>
              <a:rPr lang="en-US" sz="1000" i="1" dirty="0">
                <a:solidFill>
                  <a:srgbClr val="6B5A5F"/>
                </a:solidFill>
                <a:latin typeface="Calibri" pitchFamily="34" charset="0"/>
                <a:ea typeface="Calibri" pitchFamily="34" charset="-122"/>
                <a:cs typeface="Calibri" pitchFamily="34" charset="-120"/>
              </a:rPr>
              <a:t>Source: UN Human Rights Office (OHCHR Bangkok, 2025); Library of Congress Global Legal Monitor (2025).</a:t>
            </a:r>
            <a:endParaRPr lang="en-US" sz="1000" dirty="0"/>
          </a:p>
        </p:txBody>
      </p:sp>
      <p:sp>
        <p:nvSpPr>
          <p:cNvPr id="9" name="Text 7"/>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0" name="Text 8"/>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13 / 56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IN-CLASS DISCUSSION</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Discuss in Pairs (5 minutes)</a:t>
            </a:r>
            <a:endParaRPr lang="en-US" sz="3000" dirty="0"/>
          </a:p>
        </p:txBody>
      </p:sp>
      <p:sp>
        <p:nvSpPr>
          <p:cNvPr id="4" name="Shape 2"/>
          <p:cNvSpPr/>
          <p:nvPr/>
        </p:nvSpPr>
        <p:spPr>
          <a:xfrm>
            <a:off x="9966960" y="502920"/>
            <a:ext cx="1234440" cy="1234440"/>
          </a:xfrm>
          <a:prstGeom prst="ellipse">
            <a:avLst/>
          </a:prstGeom>
          <a:solidFill>
            <a:srgbClr val="ECE2D0"/>
          </a:solidFill>
          <a:ln/>
        </p:spPr>
      </p:sp>
      <p:pic>
        <p:nvPicPr>
          <p:cNvPr id="5" name="Image 0" descr="/sessions/blissful-modest-newton/work/build/icons/chat.png"/>
          <p:cNvPicPr>
            <a:picLocks noChangeAspect="1"/>
          </p:cNvPicPr>
          <p:nvPr/>
        </p:nvPicPr>
        <p:blipFill>
          <a:blip r:embed="rId3"/>
          <a:stretch>
            <a:fillRect/>
          </a:stretch>
        </p:blipFill>
        <p:spPr>
          <a:xfrm>
            <a:off x="10244709" y="780669"/>
            <a:ext cx="678942" cy="678942"/>
          </a:xfrm>
          <a:prstGeom prst="rect">
            <a:avLst/>
          </a:prstGeom>
        </p:spPr>
      </p:pic>
      <p:sp>
        <p:nvSpPr>
          <p:cNvPr id="6" name="Text 3"/>
          <p:cNvSpPr txBox="1"/>
          <p:nvPr/>
        </p:nvSpPr>
        <p:spPr>
          <a:xfrm>
            <a:off x="548640" y="1463040"/>
            <a:ext cx="10881360" cy="4572000"/>
          </a:xfrm>
          <a:prstGeom prst="rect">
            <a:avLst/>
          </a:prstGeom>
          <a:noFill/>
          <a:ln/>
        </p:spPr>
        <p:txBody>
          <a:bodyPr wrap="square" lIns="0" tIns="0" rIns="0" bIns="0" rtlCol="0" anchor="ctr"/>
          <a:lstStyle/>
          <a:p>
            <a:pPr marL="254000" indent="-254000">
              <a:lnSpc>
                <a:spcPct val="115000"/>
              </a:lnSpc>
              <a:spcAft>
                <a:spcPts val="1200"/>
              </a:spcAft>
              <a:buSzPct val="100000"/>
              <a:buChar char="●"/>
            </a:pPr>
            <a:r>
              <a:rPr lang="en-US" sz="1550" dirty="0">
                <a:solidFill>
                  <a:srgbClr val="2A1420"/>
                </a:solidFill>
                <a:latin typeface="Calibri" pitchFamily="34" charset="0"/>
                <a:ea typeface="Calibri" pitchFamily="34" charset="-122"/>
                <a:cs typeface="Calibri" pitchFamily="34" charset="-120"/>
              </a:rPr>
              <a:t>If Thailand's civil registry now records same-sex marriages, what happens to time-series comparability of the crude marriage rate before vs. after Jan 2025?</a:t>
            </a:r>
            <a:endParaRPr lang="en-US" sz="1550" dirty="0"/>
          </a:p>
          <a:p>
            <a:pPr marL="254000" indent="-254000">
              <a:lnSpc>
                <a:spcPct val="115000"/>
              </a:lnSpc>
              <a:spcAft>
                <a:spcPts val="1200"/>
              </a:spcAft>
              <a:buSzPct val="100000"/>
              <a:buChar char="●"/>
            </a:pPr>
            <a:r>
              <a:rPr lang="en-US" sz="1550" dirty="0">
                <a:solidFill>
                  <a:srgbClr val="2A1420"/>
                </a:solidFill>
                <a:latin typeface="Calibri" pitchFamily="34" charset="0"/>
                <a:ea typeface="Calibri" pitchFamily="34" charset="-122"/>
                <a:cs typeface="Calibri" pitchFamily="34" charset="-120"/>
              </a:rPr>
              <a:t>Should a census “marital status” question be about legal status, or about who you currently live with as a partner? What is lost either way?</a:t>
            </a:r>
            <a:endParaRPr lang="en-US" sz="1550" dirty="0"/>
          </a:p>
          <a:p>
            <a:pPr marL="254000" indent="-254000">
              <a:lnSpc>
                <a:spcPct val="115000"/>
              </a:lnSpc>
              <a:spcAft>
                <a:spcPts val="1200"/>
              </a:spcAft>
              <a:buSzPct val="100000"/>
              <a:buChar char="●"/>
            </a:pPr>
            <a:r>
              <a:rPr lang="en-US" sz="1550" dirty="0">
                <a:solidFill>
                  <a:srgbClr val="2A1420"/>
                </a:solidFill>
                <a:latin typeface="Calibri" pitchFamily="34" charset="0"/>
                <a:ea typeface="Calibri" pitchFamily="34" charset="-122"/>
                <a:cs typeface="Calibri" pitchFamily="34" charset="-120"/>
              </a:rPr>
              <a:t>Name one group whose living arrangement doesn't fit neatly into a single household (e.g., a migrant worker's family) — how would you count them?</a:t>
            </a:r>
            <a:endParaRPr lang="en-US" sz="1550" dirty="0"/>
          </a:p>
        </p:txBody>
      </p:sp>
      <p:sp>
        <p:nvSpPr>
          <p:cNvPr id="7" name="Text 4"/>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8" name="Text 5"/>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14 / 56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CE2D0"/>
        </a:solidFill>
        <a:effectLst/>
      </p:bgPr>
    </p:bg>
    <p:spTree>
      <p:nvGrpSpPr>
        <p:cNvPr id="1" name=""/>
        <p:cNvGrpSpPr/>
        <p:nvPr/>
      </p:nvGrpSpPr>
      <p:grpSpPr>
        <a:xfrm>
          <a:off x="0" y="0"/>
          <a:ext cx="0" cy="0"/>
          <a:chOff x="0" y="0"/>
          <a:chExt cx="0" cy="0"/>
        </a:xfrm>
      </p:grpSpPr>
      <p:sp>
        <p:nvSpPr>
          <p:cNvPr id="2" name="Shape 0"/>
          <p:cNvSpPr/>
          <p:nvPr/>
        </p:nvSpPr>
        <p:spPr>
          <a:xfrm>
            <a:off x="5410048" y="1554480"/>
            <a:ext cx="1371600" cy="1371600"/>
          </a:xfrm>
          <a:prstGeom prst="ellipse">
            <a:avLst/>
          </a:prstGeom>
          <a:solidFill>
            <a:srgbClr val="6D2E46"/>
          </a:solidFill>
          <a:ln/>
        </p:spPr>
      </p:sp>
      <p:pic>
        <p:nvPicPr>
          <p:cNvPr id="3" name="Image 0" descr="/sessions/blissful-modest-newton/work/build/icons/clock.png"/>
          <p:cNvPicPr>
            <a:picLocks noChangeAspect="1"/>
          </p:cNvPicPr>
          <p:nvPr/>
        </p:nvPicPr>
        <p:blipFill>
          <a:blip r:embed="rId3"/>
          <a:stretch>
            <a:fillRect/>
          </a:stretch>
        </p:blipFill>
        <p:spPr>
          <a:xfrm>
            <a:off x="5711800" y="1856232"/>
            <a:ext cx="768096" cy="768096"/>
          </a:xfrm>
          <a:prstGeom prst="rect">
            <a:avLst/>
          </a:prstGeom>
        </p:spPr>
      </p:pic>
      <p:sp>
        <p:nvSpPr>
          <p:cNvPr id="4" name="Text 1"/>
          <p:cNvSpPr txBox="1"/>
          <p:nvPr/>
        </p:nvSpPr>
        <p:spPr>
          <a:xfrm>
            <a:off x="0" y="3200400"/>
            <a:ext cx="12191695" cy="640080"/>
          </a:xfrm>
          <a:prstGeom prst="rect">
            <a:avLst/>
          </a:prstGeom>
          <a:noFill/>
          <a:ln/>
        </p:spPr>
        <p:txBody>
          <a:bodyPr wrap="square" lIns="0" tIns="0" rIns="0" bIns="0" rtlCol="0" anchor="ctr"/>
          <a:lstStyle/>
          <a:p>
            <a:pPr marL="0" indent="0" algn="ctr">
              <a:buNone/>
            </a:pPr>
            <a:r>
              <a:rPr lang="en-US" sz="3000" b="1" dirty="0">
                <a:solidFill>
                  <a:srgbClr val="6D2E46"/>
                </a:solidFill>
                <a:latin typeface="Cambria" pitchFamily="34" charset="0"/>
                <a:ea typeface="Cambria" pitchFamily="34" charset="-122"/>
                <a:cs typeface="Cambria" pitchFamily="34" charset="-120"/>
              </a:rPr>
              <a:t>Break</a:t>
            </a:r>
            <a:endParaRPr lang="en-US" sz="3000" dirty="0"/>
          </a:p>
        </p:txBody>
      </p:sp>
      <p:sp>
        <p:nvSpPr>
          <p:cNvPr id="5" name="Text 2"/>
          <p:cNvSpPr txBox="1"/>
          <p:nvPr/>
        </p:nvSpPr>
        <p:spPr>
          <a:xfrm>
            <a:off x="1371600" y="3931920"/>
            <a:ext cx="9448495" cy="548640"/>
          </a:xfrm>
          <a:prstGeom prst="rect">
            <a:avLst/>
          </a:prstGeom>
          <a:noFill/>
          <a:ln/>
        </p:spPr>
        <p:txBody>
          <a:bodyPr wrap="square" lIns="0" tIns="0" rIns="0" bIns="0" rtlCol="0" anchor="ctr"/>
          <a:lstStyle/>
          <a:p>
            <a:pPr marL="0" indent="0" algn="ctr">
              <a:buNone/>
            </a:pPr>
            <a:r>
              <a:rPr lang="en-US" sz="1500" i="1" dirty="0">
                <a:solidFill>
                  <a:srgbClr val="2A1420"/>
                </a:solidFill>
                <a:latin typeface="Calibri" pitchFamily="34" charset="0"/>
                <a:ea typeface="Calibri" pitchFamily="34" charset="-122"/>
                <a:cs typeface="Calibri" pitchFamily="34" charset="-120"/>
              </a:rPr>
              <a:t>Back at the top of the hour — next: measuring marriage, and the rise of cohabitation.</a:t>
            </a:r>
            <a:endParaRPr lang="en-US" sz="1500" dirty="0"/>
          </a:p>
        </p:txBody>
      </p:sp>
      <p:sp>
        <p:nvSpPr>
          <p:cNvPr id="6" name="Text 3"/>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7" name="Text 4"/>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15 / 56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4A1E30"/>
        </a:solidFill>
        <a:effectLst/>
      </p:bgPr>
    </p:bg>
    <p:spTree>
      <p:nvGrpSpPr>
        <p:cNvPr id="1" name=""/>
        <p:cNvGrpSpPr/>
        <p:nvPr/>
      </p:nvGrpSpPr>
      <p:grpSpPr>
        <a:xfrm>
          <a:off x="0" y="0"/>
          <a:ext cx="0" cy="0"/>
          <a:chOff x="0" y="0"/>
          <a:chExt cx="0" cy="0"/>
        </a:xfrm>
      </p:grpSpPr>
      <p:sp>
        <p:nvSpPr>
          <p:cNvPr id="3" name="Shape 1"/>
          <p:cNvSpPr/>
          <p:nvPr/>
        </p:nvSpPr>
        <p:spPr>
          <a:xfrm>
            <a:off x="685800" y="2331720"/>
            <a:ext cx="1371600" cy="1371600"/>
          </a:xfrm>
          <a:prstGeom prst="ellipse">
            <a:avLst/>
          </a:prstGeom>
          <a:solidFill>
            <a:srgbClr val="A26769"/>
          </a:solidFill>
          <a:ln/>
        </p:spPr>
      </p:sp>
      <p:pic>
        <p:nvPicPr>
          <p:cNvPr id="4" name="Image 0" descr="/sessions/blissful-modest-newton/work/build/icons/ring.png"/>
          <p:cNvPicPr>
            <a:picLocks noChangeAspect="1"/>
          </p:cNvPicPr>
          <p:nvPr/>
        </p:nvPicPr>
        <p:blipFill>
          <a:blip r:embed="rId3"/>
          <a:stretch>
            <a:fillRect/>
          </a:stretch>
        </p:blipFill>
        <p:spPr>
          <a:xfrm>
            <a:off x="973836" y="2619756"/>
            <a:ext cx="795528" cy="795528"/>
          </a:xfrm>
          <a:prstGeom prst="rect">
            <a:avLst/>
          </a:prstGeom>
        </p:spPr>
      </p:pic>
      <p:sp>
        <p:nvSpPr>
          <p:cNvPr id="5" name="Text 2"/>
          <p:cNvSpPr txBox="1"/>
          <p:nvPr/>
        </p:nvSpPr>
        <p:spPr>
          <a:xfrm>
            <a:off x="685800" y="3840480"/>
            <a:ext cx="9144000" cy="365760"/>
          </a:xfrm>
          <a:prstGeom prst="rect">
            <a:avLst/>
          </a:prstGeom>
          <a:noFill/>
          <a:ln/>
        </p:spPr>
        <p:txBody>
          <a:bodyPr wrap="square" lIns="0" tIns="0" rIns="0" bIns="0" rtlCol="0" anchor="ctr"/>
          <a:lstStyle/>
          <a:p>
            <a:pPr marL="0" indent="0">
              <a:buNone/>
            </a:pPr>
            <a:r>
              <a:rPr lang="en-US" sz="1500" b="1" kern="0" spc="200" dirty="0">
                <a:solidFill>
                  <a:srgbClr val="C9962E"/>
                </a:solidFill>
                <a:latin typeface="Calibri" pitchFamily="34" charset="0"/>
                <a:ea typeface="Calibri" pitchFamily="34" charset="-122"/>
                <a:cs typeface="Calibri" pitchFamily="34" charset="-120"/>
              </a:rPr>
              <a:t>Block 2</a:t>
            </a:r>
            <a:endParaRPr lang="en-US" sz="1500" dirty="0"/>
          </a:p>
        </p:txBody>
      </p:sp>
      <p:sp>
        <p:nvSpPr>
          <p:cNvPr id="6" name="Text 3"/>
          <p:cNvSpPr txBox="1"/>
          <p:nvPr/>
        </p:nvSpPr>
        <p:spPr>
          <a:xfrm>
            <a:off x="685800" y="4187952"/>
            <a:ext cx="10058400" cy="11887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Measuring Marriage — and the Rise of New Union Forms</a:t>
            </a:r>
            <a:endParaRPr lang="en-US" sz="3400" dirty="0"/>
          </a:p>
        </p:txBody>
      </p:sp>
      <p:sp>
        <p:nvSpPr>
          <p:cNvPr id="7" name="Text 4"/>
          <p:cNvSpPr txBox="1"/>
          <p:nvPr/>
        </p:nvSpPr>
        <p:spPr>
          <a:xfrm>
            <a:off x="685800" y="5257800"/>
            <a:ext cx="9692640" cy="822960"/>
          </a:xfrm>
          <a:prstGeom prst="rect">
            <a:avLst/>
          </a:prstGeom>
          <a:noFill/>
          <a:ln/>
        </p:spPr>
        <p:txBody>
          <a:bodyPr wrap="square" lIns="0" tIns="0" rIns="0" bIns="0" rtlCol="0" anchor="ctr"/>
          <a:lstStyle/>
          <a:p>
            <a:pPr marL="0" indent="0">
              <a:buNone/>
            </a:pPr>
            <a:r>
              <a:rPr lang="en-US" sz="1500" i="1" dirty="0">
                <a:solidFill>
                  <a:srgbClr val="D9C9CE"/>
                </a:solidFill>
                <a:latin typeface="Calibri" pitchFamily="34" charset="0"/>
                <a:ea typeface="Calibri" pitchFamily="34" charset="-122"/>
                <a:cs typeface="Calibri" pitchFamily="34" charset="-120"/>
              </a:rPr>
              <a:t>From the crude marriage rate to cohabitation and delayed marriage: how nuptiality measures keep pace with changing behavior.</a:t>
            </a:r>
            <a:endParaRPr lang="en-US" sz="1500" dirty="0"/>
          </a:p>
        </p:txBody>
      </p:sp>
      <p:sp>
        <p:nvSpPr>
          <p:cNvPr id="8" name="Text 5"/>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D9C9CE"/>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9" name="Text 6"/>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D9C9CE"/>
                </a:solidFill>
                <a:latin typeface="Calibri" pitchFamily="34" charset="0"/>
                <a:ea typeface="Calibri" pitchFamily="34" charset="-122"/>
                <a:cs typeface="Calibri" pitchFamily="34" charset="-120"/>
              </a:rPr>
              <a:t>16 / 56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CORE FORMULA</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The Crude Marriage Rate (CMR)</a:t>
            </a:r>
            <a:endParaRPr lang="en-US" sz="3000" dirty="0"/>
          </a:p>
        </p:txBody>
      </p:sp>
      <p:sp>
        <p:nvSpPr>
          <p:cNvPr id="4" name="Shape 2"/>
          <p:cNvSpPr/>
          <p:nvPr/>
        </p:nvSpPr>
        <p:spPr>
          <a:xfrm>
            <a:off x="548640" y="1417320"/>
            <a:ext cx="11109960" cy="822960"/>
          </a:xfrm>
          <a:prstGeom prst="roundRect">
            <a:avLst>
              <a:gd name="adj" fmla="val 8889"/>
            </a:avLst>
          </a:prstGeom>
          <a:solidFill>
            <a:srgbClr val="4A1E30"/>
          </a:solidFill>
          <a:ln/>
        </p:spPr>
      </p:sp>
      <p:sp>
        <p:nvSpPr>
          <p:cNvPr id="5" name="Text 3"/>
          <p:cNvSpPr txBox="1"/>
          <p:nvPr/>
        </p:nvSpPr>
        <p:spPr>
          <a:xfrm>
            <a:off x="731520" y="1417320"/>
            <a:ext cx="10744200" cy="822960"/>
          </a:xfrm>
          <a:prstGeom prst="rect">
            <a:avLst/>
          </a:prstGeom>
          <a:noFill/>
          <a:ln/>
        </p:spPr>
        <p:txBody>
          <a:bodyPr wrap="square" lIns="0" tIns="0" rIns="0" bIns="0" rtlCol="0" anchor="ctr"/>
          <a:lstStyle/>
          <a:p>
            <a:pPr marL="0" indent="0" algn="ctr">
              <a:buNone/>
            </a:pPr>
            <a:r>
              <a:rPr lang="en-US" sz="2000" b="1" dirty="0">
                <a:solidFill>
                  <a:srgbClr val="C9962E"/>
                </a:solidFill>
                <a:latin typeface="Courier New" pitchFamily="34" charset="0"/>
                <a:ea typeface="Courier New" pitchFamily="34" charset="-122"/>
                <a:cs typeface="Courier New" pitchFamily="34" charset="-120"/>
              </a:rPr>
              <a:t>CMR = (M / P) × 1,000</a:t>
            </a:r>
            <a:endParaRPr lang="en-US" sz="2000" dirty="0"/>
          </a:p>
        </p:txBody>
      </p:sp>
      <p:sp>
        <p:nvSpPr>
          <p:cNvPr id="6" name="Shape 4"/>
          <p:cNvSpPr/>
          <p:nvPr/>
        </p:nvSpPr>
        <p:spPr>
          <a:xfrm>
            <a:off x="548640" y="2468880"/>
            <a:ext cx="11109960" cy="566928"/>
          </a:xfrm>
          <a:prstGeom prst="roundRect">
            <a:avLst>
              <a:gd name="adj" fmla="val 9677"/>
            </a:avLst>
          </a:prstGeom>
          <a:solidFill>
            <a:srgbClr val="F7F3EF"/>
          </a:solidFill>
          <a:ln/>
        </p:spPr>
      </p:sp>
      <p:sp>
        <p:nvSpPr>
          <p:cNvPr id="7" name="Text 5"/>
          <p:cNvSpPr txBox="1"/>
          <p:nvPr/>
        </p:nvSpPr>
        <p:spPr>
          <a:xfrm>
            <a:off x="777240" y="2468880"/>
            <a:ext cx="10652760" cy="566928"/>
          </a:xfrm>
          <a:prstGeom prst="rect">
            <a:avLst/>
          </a:prstGeom>
          <a:noFill/>
          <a:ln/>
        </p:spPr>
        <p:txBody>
          <a:bodyPr wrap="square" lIns="0" tIns="0" rIns="0" bIns="0" rtlCol="0" anchor="ctr"/>
          <a:lstStyle/>
          <a:p>
            <a:pPr marL="0" indent="0">
              <a:buNone/>
            </a:pPr>
            <a:r>
              <a:rPr lang="en-US" sz="1450" dirty="0">
                <a:solidFill>
                  <a:srgbClr val="2A1420"/>
                </a:solidFill>
                <a:latin typeface="Courier New" pitchFamily="34" charset="0"/>
                <a:ea typeface="Courier New" pitchFamily="34" charset="-122"/>
                <a:cs typeface="Courier New" pitchFamily="34" charset="-120"/>
              </a:rPr>
              <a:t>Thailand, 2023: 279,748 registered marriages; mid-year population ≈ 66.05 million.</a:t>
            </a:r>
            <a:endParaRPr lang="en-US" sz="1450" dirty="0"/>
          </a:p>
        </p:txBody>
      </p:sp>
      <p:sp>
        <p:nvSpPr>
          <p:cNvPr id="8" name="Shape 6"/>
          <p:cNvSpPr/>
          <p:nvPr/>
        </p:nvSpPr>
        <p:spPr>
          <a:xfrm>
            <a:off x="548640" y="3127248"/>
            <a:ext cx="11109960" cy="566928"/>
          </a:xfrm>
          <a:prstGeom prst="roundRect">
            <a:avLst>
              <a:gd name="adj" fmla="val 9677"/>
            </a:avLst>
          </a:prstGeom>
          <a:solidFill>
            <a:srgbClr val="F7F3EF"/>
          </a:solidFill>
          <a:ln/>
        </p:spPr>
      </p:sp>
      <p:sp>
        <p:nvSpPr>
          <p:cNvPr id="9" name="Text 7"/>
          <p:cNvSpPr txBox="1"/>
          <p:nvPr/>
        </p:nvSpPr>
        <p:spPr>
          <a:xfrm>
            <a:off x="777240" y="3127248"/>
            <a:ext cx="10652760" cy="566928"/>
          </a:xfrm>
          <a:prstGeom prst="rect">
            <a:avLst/>
          </a:prstGeom>
          <a:noFill/>
          <a:ln/>
        </p:spPr>
        <p:txBody>
          <a:bodyPr wrap="square" lIns="0" tIns="0" rIns="0" bIns="0" rtlCol="0" anchor="ctr"/>
          <a:lstStyle/>
          <a:p>
            <a:pPr marL="0" indent="0">
              <a:buNone/>
            </a:pPr>
            <a:r>
              <a:rPr lang="en-US" sz="1450" dirty="0">
                <a:solidFill>
                  <a:srgbClr val="2A1420"/>
                </a:solidFill>
                <a:latin typeface="Courier New" pitchFamily="34" charset="0"/>
                <a:ea typeface="Courier New" pitchFamily="34" charset="-122"/>
                <a:cs typeface="Courier New" pitchFamily="34" charset="-120"/>
              </a:rPr>
              <a:t>CMR = (279,748 / 66,050,000) × 1,000 ≈ 4.2 per 1,000</a:t>
            </a:r>
            <a:endParaRPr lang="en-US" sz="1450" dirty="0"/>
          </a:p>
        </p:txBody>
      </p:sp>
      <p:sp>
        <p:nvSpPr>
          <p:cNvPr id="10" name="Text 8"/>
          <p:cNvSpPr txBox="1"/>
          <p:nvPr/>
        </p:nvSpPr>
        <p:spPr>
          <a:xfrm>
            <a:off x="548640" y="3877056"/>
            <a:ext cx="11064240" cy="2295144"/>
          </a:xfrm>
          <a:prstGeom prst="rect">
            <a:avLst/>
          </a:prstGeom>
          <a:noFill/>
          <a:ln/>
        </p:spPr>
        <p:txBody>
          <a:bodyPr wrap="square" lIns="0" tIns="0" rIns="0" bIns="0" rtlCol="0" anchor="ctr"/>
          <a:lstStyle/>
          <a:p>
            <a:pPr marL="0" indent="0">
              <a:lnSpc>
                <a:spcPct val="110000"/>
              </a:lnSpc>
              <a:buNone/>
            </a:pPr>
            <a:r>
              <a:rPr lang="en-US" sz="1350" dirty="0">
                <a:solidFill>
                  <a:srgbClr val="2A1420"/>
                </a:solidFill>
                <a:latin typeface="Calibri" pitchFamily="34" charset="0"/>
                <a:ea typeface="Calibri" pitchFamily="34" charset="-122"/>
                <a:cs typeface="Calibri" pitchFamily="34" charset="-120"/>
              </a:rPr>
              <a:t>M = number of marriages registered during the year. P = mid-year total population. Result expressed per 1,000 population.</a:t>
            </a:r>
            <a:endParaRPr lang="en-US" sz="1350" dirty="0"/>
          </a:p>
          <a:p>
            <a:pPr marL="0" indent="0">
              <a:lnSpc>
                <a:spcPct val="110000"/>
              </a:lnSpc>
              <a:buNone/>
            </a:pPr>
            <a:endParaRPr lang="en-US" sz="1350" dirty="0"/>
          </a:p>
          <a:p>
            <a:pPr marL="0" indent="0">
              <a:lnSpc>
                <a:spcPct val="110000"/>
              </a:lnSpc>
              <a:buNone/>
            </a:pPr>
            <a:r>
              <a:rPr lang="en-US" sz="1350" dirty="0">
                <a:solidFill>
                  <a:srgbClr val="2A1420"/>
                </a:solidFill>
                <a:latin typeface="Calibri" pitchFamily="34" charset="0"/>
                <a:ea typeface="Calibri" pitchFamily="34" charset="-122"/>
                <a:cs typeface="Calibri" pitchFamily="34" charset="-120"/>
              </a:rPr>
              <a:t>Strengths &amp; limits: CMR is simple and needs minimal data, but it is “crude” — the denominator includes children, the already-married, and others not at risk of marrying, so it cannot be compared cleanly across populations with different age or marital-status structures. General and age-specific marriage rates (next slide) correct for this.</a:t>
            </a:r>
            <a:endParaRPr lang="en-US" sz="1350" dirty="0"/>
          </a:p>
        </p:txBody>
      </p:sp>
      <p:sp>
        <p:nvSpPr>
          <p:cNvPr id="11" name="Text 9"/>
          <p:cNvSpPr txBox="1"/>
          <p:nvPr/>
        </p:nvSpPr>
        <p:spPr>
          <a:xfrm>
            <a:off x="548640" y="6172200"/>
            <a:ext cx="11064240" cy="365760"/>
          </a:xfrm>
          <a:prstGeom prst="rect">
            <a:avLst/>
          </a:prstGeom>
          <a:noFill/>
          <a:ln/>
        </p:spPr>
        <p:txBody>
          <a:bodyPr wrap="square" lIns="0" tIns="0" rIns="0" bIns="0" rtlCol="0" anchor="ctr"/>
          <a:lstStyle/>
          <a:p>
            <a:pPr marL="0" indent="0">
              <a:buNone/>
            </a:pPr>
            <a:r>
              <a:rPr lang="en-US" sz="1000" i="1" dirty="0">
                <a:solidFill>
                  <a:srgbClr val="6B5A5F"/>
                </a:solidFill>
                <a:latin typeface="Calibri" pitchFamily="34" charset="0"/>
                <a:ea typeface="Calibri" pitchFamily="34" charset="-122"/>
                <a:cs typeface="Calibri" pitchFamily="34" charset="-120"/>
              </a:rPr>
              <a:t>Marriage count: NSO Thailand, Statistical Yearbook Thailand 2025 (Dept. of Provincial Administration data).</a:t>
            </a:r>
            <a:endParaRPr lang="en-US" sz="1000" dirty="0"/>
          </a:p>
        </p:txBody>
      </p:sp>
      <p:sp>
        <p:nvSpPr>
          <p:cNvPr id="12" name="Text 10"/>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3" name="Text 11"/>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17 / 56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REFINING THE NUMERATOR &amp; DENOMINATOR</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Beyond the Crude Rate: Standard Nuptiality Measures</a:t>
            </a:r>
            <a:endParaRPr lang="en-US" sz="3000" dirty="0"/>
          </a:p>
        </p:txBody>
      </p:sp>
      <p:sp>
        <p:nvSpPr>
          <p:cNvPr id="4" name="Shape 2"/>
          <p:cNvSpPr/>
          <p:nvPr/>
        </p:nvSpPr>
        <p:spPr>
          <a:xfrm>
            <a:off x="548640" y="1417320"/>
            <a:ext cx="2537460" cy="4754880"/>
          </a:xfrm>
          <a:prstGeom prst="roundRect">
            <a:avLst>
              <a:gd name="adj" fmla="val 2883"/>
            </a:avLst>
          </a:prstGeom>
          <a:solidFill>
            <a:srgbClr val="F7F3EF"/>
          </a:solidFill>
          <a:ln/>
        </p:spPr>
      </p:sp>
      <p:sp>
        <p:nvSpPr>
          <p:cNvPr id="5" name="Shape 3"/>
          <p:cNvSpPr/>
          <p:nvPr/>
        </p:nvSpPr>
        <p:spPr>
          <a:xfrm>
            <a:off x="749808" y="1600200"/>
            <a:ext cx="685800" cy="685800"/>
          </a:xfrm>
          <a:prstGeom prst="ellipse">
            <a:avLst/>
          </a:prstGeom>
          <a:solidFill>
            <a:srgbClr val="6D2E46"/>
          </a:solidFill>
          <a:ln/>
        </p:spPr>
      </p:sp>
      <p:pic>
        <p:nvPicPr>
          <p:cNvPr id="6" name="Image 0" descr="/sessions/blissful-modest-newton/work/build/icons/chart.png"/>
          <p:cNvPicPr>
            <a:picLocks noChangeAspect="1"/>
          </p:cNvPicPr>
          <p:nvPr/>
        </p:nvPicPr>
        <p:blipFill>
          <a:blip r:embed="rId3"/>
          <a:stretch>
            <a:fillRect/>
          </a:stretch>
        </p:blipFill>
        <p:spPr>
          <a:xfrm>
            <a:off x="900684" y="1751076"/>
            <a:ext cx="384048" cy="384048"/>
          </a:xfrm>
          <a:prstGeom prst="rect">
            <a:avLst/>
          </a:prstGeom>
        </p:spPr>
      </p:pic>
      <p:sp>
        <p:nvSpPr>
          <p:cNvPr id="7" name="Text 4"/>
          <p:cNvSpPr txBox="1"/>
          <p:nvPr/>
        </p:nvSpPr>
        <p:spPr>
          <a:xfrm>
            <a:off x="749808" y="2340864"/>
            <a:ext cx="21351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General Marriage Rate (GMR)</a:t>
            </a:r>
            <a:endParaRPr lang="en-US" sz="1450" dirty="0"/>
          </a:p>
        </p:txBody>
      </p:sp>
      <p:sp>
        <p:nvSpPr>
          <p:cNvPr id="8" name="Text 5"/>
          <p:cNvSpPr txBox="1"/>
          <p:nvPr/>
        </p:nvSpPr>
        <p:spPr>
          <a:xfrm>
            <a:off x="749808" y="2670048"/>
            <a:ext cx="2135124" cy="342900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Marriages ÷ unmarried population aged 15+ (×1,000). Restricts denominator to those legally at risk of marrying.</a:t>
            </a:r>
            <a:endParaRPr lang="en-US" sz="1200" dirty="0"/>
          </a:p>
        </p:txBody>
      </p:sp>
      <p:sp>
        <p:nvSpPr>
          <p:cNvPr id="9" name="Shape 6"/>
          <p:cNvSpPr/>
          <p:nvPr/>
        </p:nvSpPr>
        <p:spPr>
          <a:xfrm>
            <a:off x="3406140" y="1417320"/>
            <a:ext cx="2537460" cy="4754880"/>
          </a:xfrm>
          <a:prstGeom prst="roundRect">
            <a:avLst>
              <a:gd name="adj" fmla="val 2883"/>
            </a:avLst>
          </a:prstGeom>
          <a:solidFill>
            <a:srgbClr val="ECE2D0"/>
          </a:solidFill>
          <a:ln/>
        </p:spPr>
      </p:sp>
      <p:sp>
        <p:nvSpPr>
          <p:cNvPr id="10" name="Shape 7"/>
          <p:cNvSpPr/>
          <p:nvPr/>
        </p:nvSpPr>
        <p:spPr>
          <a:xfrm>
            <a:off x="3607308" y="1600200"/>
            <a:ext cx="685800" cy="685800"/>
          </a:xfrm>
          <a:prstGeom prst="ellipse">
            <a:avLst/>
          </a:prstGeom>
          <a:solidFill>
            <a:srgbClr val="6D2E46"/>
          </a:solidFill>
          <a:ln/>
        </p:spPr>
      </p:sp>
      <p:pic>
        <p:nvPicPr>
          <p:cNvPr id="11" name="Image 1" descr="/sessions/blissful-modest-newton/work/build/icons/users3.png"/>
          <p:cNvPicPr>
            <a:picLocks noChangeAspect="1"/>
          </p:cNvPicPr>
          <p:nvPr/>
        </p:nvPicPr>
        <p:blipFill>
          <a:blip r:embed="rId4"/>
          <a:stretch>
            <a:fillRect/>
          </a:stretch>
        </p:blipFill>
        <p:spPr>
          <a:xfrm>
            <a:off x="3758184" y="1751076"/>
            <a:ext cx="384048" cy="384048"/>
          </a:xfrm>
          <a:prstGeom prst="rect">
            <a:avLst/>
          </a:prstGeom>
        </p:spPr>
      </p:pic>
      <p:sp>
        <p:nvSpPr>
          <p:cNvPr id="12" name="Text 8"/>
          <p:cNvSpPr txBox="1"/>
          <p:nvPr/>
        </p:nvSpPr>
        <p:spPr>
          <a:xfrm>
            <a:off x="3607308" y="2340864"/>
            <a:ext cx="21351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Age-Specific Marriage Rate (ASMR)</a:t>
            </a:r>
            <a:endParaRPr lang="en-US" sz="1450" dirty="0"/>
          </a:p>
        </p:txBody>
      </p:sp>
      <p:sp>
        <p:nvSpPr>
          <p:cNvPr id="13" name="Text 9"/>
          <p:cNvSpPr txBox="1"/>
          <p:nvPr/>
        </p:nvSpPr>
        <p:spPr>
          <a:xfrm>
            <a:off x="3607308" y="2670048"/>
            <a:ext cx="2135124" cy="342900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Marriages to persons age x ÷ unmarried population age x. Reveals the age pattern of first and remarriage.</a:t>
            </a:r>
            <a:endParaRPr lang="en-US" sz="1200" dirty="0"/>
          </a:p>
        </p:txBody>
      </p:sp>
      <p:sp>
        <p:nvSpPr>
          <p:cNvPr id="14" name="Shape 10"/>
          <p:cNvSpPr/>
          <p:nvPr/>
        </p:nvSpPr>
        <p:spPr>
          <a:xfrm>
            <a:off x="6263640" y="1417320"/>
            <a:ext cx="2537460" cy="4754880"/>
          </a:xfrm>
          <a:prstGeom prst="roundRect">
            <a:avLst>
              <a:gd name="adj" fmla="val 2883"/>
            </a:avLst>
          </a:prstGeom>
          <a:solidFill>
            <a:srgbClr val="F7F3EF"/>
          </a:solidFill>
          <a:ln/>
        </p:spPr>
      </p:sp>
      <p:sp>
        <p:nvSpPr>
          <p:cNvPr id="15" name="Shape 11"/>
          <p:cNvSpPr/>
          <p:nvPr/>
        </p:nvSpPr>
        <p:spPr>
          <a:xfrm>
            <a:off x="6464808" y="1600200"/>
            <a:ext cx="685800" cy="685800"/>
          </a:xfrm>
          <a:prstGeom prst="ellipse">
            <a:avLst/>
          </a:prstGeom>
          <a:solidFill>
            <a:srgbClr val="6D2E46"/>
          </a:solidFill>
          <a:ln/>
        </p:spPr>
      </p:sp>
      <p:pic>
        <p:nvPicPr>
          <p:cNvPr id="16" name="Image 2" descr="/sessions/blissful-modest-newton/work/build/icons/calendar.png"/>
          <p:cNvPicPr>
            <a:picLocks noChangeAspect="1"/>
          </p:cNvPicPr>
          <p:nvPr/>
        </p:nvPicPr>
        <p:blipFill>
          <a:blip r:embed="rId5"/>
          <a:stretch>
            <a:fillRect/>
          </a:stretch>
        </p:blipFill>
        <p:spPr>
          <a:xfrm>
            <a:off x="6615684" y="1751076"/>
            <a:ext cx="384048" cy="384048"/>
          </a:xfrm>
          <a:prstGeom prst="rect">
            <a:avLst/>
          </a:prstGeom>
        </p:spPr>
      </p:pic>
      <p:sp>
        <p:nvSpPr>
          <p:cNvPr id="17" name="Text 12"/>
          <p:cNvSpPr txBox="1"/>
          <p:nvPr/>
        </p:nvSpPr>
        <p:spPr>
          <a:xfrm>
            <a:off x="6464808" y="2340864"/>
            <a:ext cx="21351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Singulate Mean Age at Marriage (SMAM)</a:t>
            </a:r>
            <a:endParaRPr lang="en-US" sz="1450" dirty="0"/>
          </a:p>
        </p:txBody>
      </p:sp>
      <p:sp>
        <p:nvSpPr>
          <p:cNvPr id="18" name="Text 13"/>
          <p:cNvSpPr txBox="1"/>
          <p:nvPr/>
        </p:nvSpPr>
        <p:spPr>
          <a:xfrm>
            <a:off x="6464808" y="2670048"/>
            <a:ext cx="2135124" cy="342900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Derived from % single by age (Hajnal method). Summarizes the typical age at first marriage without needing full marital-history data.</a:t>
            </a:r>
            <a:endParaRPr lang="en-US" sz="1200" dirty="0"/>
          </a:p>
        </p:txBody>
      </p:sp>
      <p:sp>
        <p:nvSpPr>
          <p:cNvPr id="19" name="Shape 14"/>
          <p:cNvSpPr/>
          <p:nvPr/>
        </p:nvSpPr>
        <p:spPr>
          <a:xfrm>
            <a:off x="9121140" y="1417320"/>
            <a:ext cx="2537460" cy="4754880"/>
          </a:xfrm>
          <a:prstGeom prst="roundRect">
            <a:avLst>
              <a:gd name="adj" fmla="val 2883"/>
            </a:avLst>
          </a:prstGeom>
          <a:solidFill>
            <a:srgbClr val="ECE2D0"/>
          </a:solidFill>
          <a:ln/>
        </p:spPr>
      </p:sp>
      <p:sp>
        <p:nvSpPr>
          <p:cNvPr id="20" name="Shape 15"/>
          <p:cNvSpPr/>
          <p:nvPr/>
        </p:nvSpPr>
        <p:spPr>
          <a:xfrm>
            <a:off x="9322308" y="1600200"/>
            <a:ext cx="685800" cy="685800"/>
          </a:xfrm>
          <a:prstGeom prst="ellipse">
            <a:avLst/>
          </a:prstGeom>
          <a:solidFill>
            <a:srgbClr val="6D2E46"/>
          </a:solidFill>
          <a:ln/>
        </p:spPr>
      </p:sp>
      <p:pic>
        <p:nvPicPr>
          <p:cNvPr id="21" name="Image 3" descr="/sessions/blissful-modest-newton/work/build/icons/book.png"/>
          <p:cNvPicPr>
            <a:picLocks noChangeAspect="1"/>
          </p:cNvPicPr>
          <p:nvPr/>
        </p:nvPicPr>
        <p:blipFill>
          <a:blip r:embed="rId6"/>
          <a:stretch>
            <a:fillRect/>
          </a:stretch>
        </p:blipFill>
        <p:spPr>
          <a:xfrm>
            <a:off x="9473184" y="1751076"/>
            <a:ext cx="384048" cy="384048"/>
          </a:xfrm>
          <a:prstGeom prst="rect">
            <a:avLst/>
          </a:prstGeom>
        </p:spPr>
      </p:pic>
      <p:sp>
        <p:nvSpPr>
          <p:cNvPr id="22" name="Text 16"/>
          <p:cNvSpPr txBox="1"/>
          <p:nvPr/>
        </p:nvSpPr>
        <p:spPr>
          <a:xfrm>
            <a:off x="9322308" y="2340864"/>
            <a:ext cx="21351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Total First Marriage Rate (TFMR)</a:t>
            </a:r>
            <a:endParaRPr lang="en-US" sz="1450" dirty="0"/>
          </a:p>
        </p:txBody>
      </p:sp>
      <p:sp>
        <p:nvSpPr>
          <p:cNvPr id="23" name="Text 17"/>
          <p:cNvSpPr txBox="1"/>
          <p:nvPr/>
        </p:nvSpPr>
        <p:spPr>
          <a:xfrm>
            <a:off x="9322308" y="2670048"/>
            <a:ext cx="2135124" cy="342900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Sum of age-specific first-marriage rates. The nuptiality analogue of the TFR — a period ‘cohort’ measure of marriage propensity.</a:t>
            </a:r>
            <a:endParaRPr lang="en-US" sz="1200" dirty="0"/>
          </a:p>
        </p:txBody>
      </p:sp>
      <p:sp>
        <p:nvSpPr>
          <p:cNvPr id="24" name="Text 18"/>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25" name="Text 19"/>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18 / 56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DEEP DIVE — READING A REAL SMAM</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How the Singulate Mean Age at Marriage Is Read in Practice</a:t>
            </a:r>
            <a:endParaRPr lang="en-US" sz="3000" dirty="0"/>
          </a:p>
        </p:txBody>
      </p:sp>
      <p:sp>
        <p:nvSpPr>
          <p:cNvPr id="4" name="Text 2"/>
          <p:cNvSpPr txBox="1"/>
          <p:nvPr/>
        </p:nvSpPr>
        <p:spPr>
          <a:xfrm>
            <a:off x="548640" y="1417320"/>
            <a:ext cx="11064240" cy="777240"/>
          </a:xfrm>
          <a:prstGeom prst="rect">
            <a:avLst/>
          </a:prstGeom>
          <a:noFill/>
          <a:ln/>
        </p:spPr>
        <p:txBody>
          <a:bodyPr wrap="square" lIns="0" tIns="0" rIns="0" bIns="0" rtlCol="0" anchor="ctr"/>
          <a:lstStyle/>
          <a:p>
            <a:pPr marL="0" indent="0">
              <a:buNone/>
            </a:pPr>
            <a:r>
              <a:rPr lang="en-US" sz="1400" dirty="0">
                <a:solidFill>
                  <a:srgbClr val="2A1420"/>
                </a:solidFill>
                <a:latin typeface="Calibri" pitchFamily="34" charset="0"/>
                <a:ea typeface="Calibri" pitchFamily="34" charset="-122"/>
                <a:cs typeface="Calibri" pitchFamily="34" charset="-120"/>
              </a:rPr>
              <a:t>The Hajnal method estimates the average number of years lived single (before age 50) directly from the proportions of men and women still “never-married” in each five-year age group of a single census — no full marriage-history data needed.</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6400800" cy="1828800"/>
        </p:xfrm>
        <a:graphic>
          <a:graphicData uri="http://schemas.openxmlformats.org/drawingml/2006/table">
            <a:tbl>
              <a:tblPr/>
              <a:tblGrid>
                <a:gridCol w="45720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457200">
                <a:tc>
                  <a:txBody>
                    <a:bodyPr/>
                    <a:lstStyle/>
                    <a:p>
                      <a:pPr marL="0" indent="0">
                        <a:buNone/>
                      </a:pPr>
                      <a:r>
                        <a:rPr lang="en-US" sz="1300" b="1" dirty="0">
                          <a:solidFill>
                            <a:srgbClr val="FFFFFF"/>
                          </a:solidFill>
                        </a:rPr>
                        <a:t>Real published data point</a:t>
                      </a:r>
                      <a:endParaRPr lang="en-US" sz="1300" dirty="0"/>
                    </a:p>
                  </a:txBody>
                  <a:tcP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6D2E46"/>
                    </a:solidFill>
                  </a:tcPr>
                </a:tc>
                <a:tc>
                  <a:txBody>
                    <a:bodyPr/>
                    <a:lstStyle/>
                    <a:p>
                      <a:pPr marL="0" indent="0" algn="ctr">
                        <a:buNone/>
                      </a:pPr>
                      <a:r>
                        <a:rPr lang="en-US" sz="1300" b="1" dirty="0">
                          <a:solidFill>
                            <a:srgbClr val="FFFFFF"/>
                          </a:solidFill>
                        </a:rPr>
                        <a:t>Value</a:t>
                      </a:r>
                      <a:endParaRPr lang="en-US" sz="1300" dirty="0"/>
                    </a:p>
                  </a:txBody>
                  <a:tcP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6D2E46"/>
                    </a:solidFill>
                  </a:tcPr>
                </a:tc>
                <a:extLst>
                  <a:ext uri="{0D108BD9-81ED-4DB2-BD59-A6C34878D82A}">
                    <a16:rowId xmlns:a16="http://schemas.microsoft.com/office/drawing/2014/main" val="10000"/>
                  </a:ext>
                </a:extLst>
              </a:tr>
              <a:tr h="457200">
                <a:tc>
                  <a:txBody>
                    <a:bodyPr/>
                    <a:lstStyle/>
                    <a:p>
                      <a:pPr marL="0" indent="0">
                        <a:buNone/>
                      </a:pPr>
                      <a:r>
                        <a:rPr lang="en-US" sz="1300" dirty="0">
                          <a:solidFill>
                            <a:srgbClr val="000000"/>
                          </a:solidFill>
                        </a:rPr>
                        <a:t>Age 25-29, % never-married (female)</a:t>
                      </a:r>
                      <a:endParaRPr lang="en-US" sz="1300" dirty="0"/>
                    </a:p>
                  </a:txBody>
                  <a:tcP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F7F3EF"/>
                    </a:solidFill>
                  </a:tcPr>
                </a:tc>
                <a:tc>
                  <a:txBody>
                    <a:bodyPr/>
                    <a:lstStyle/>
                    <a:p>
                      <a:pPr marL="0" indent="0" algn="ctr">
                        <a:buNone/>
                      </a:pPr>
                      <a:r>
                        <a:rPr lang="en-US" sz="1300" dirty="0">
                          <a:solidFill>
                            <a:srgbClr val="000000"/>
                          </a:solidFill>
                          <a:latin typeface="Courier New" pitchFamily="34" charset="0"/>
                          <a:ea typeface="Courier New" pitchFamily="34" charset="-122"/>
                          <a:cs typeface="Courier New" pitchFamily="34" charset="-120"/>
                        </a:rPr>
                        <a:t>69.0%</a:t>
                      </a:r>
                      <a:endParaRPr lang="en-US" sz="1300" dirty="0">
                        <a:latin typeface="Courier New" charset="0"/>
                        <a:ea typeface="Courier New" charset="0"/>
                        <a:cs typeface="Courier New" charset="0"/>
                      </a:endParaRPr>
                    </a:p>
                  </a:txBody>
                  <a:tcP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F7F3EF"/>
                    </a:solidFill>
                  </a:tcPr>
                </a:tc>
                <a:extLst>
                  <a:ext uri="{0D108BD9-81ED-4DB2-BD59-A6C34878D82A}">
                    <a16:rowId xmlns:a16="http://schemas.microsoft.com/office/drawing/2014/main" val="10001"/>
                  </a:ext>
                </a:extLst>
              </a:tr>
              <a:tr h="457200">
                <a:tc>
                  <a:txBody>
                    <a:bodyPr/>
                    <a:lstStyle/>
                    <a:p>
                      <a:pPr marL="0" indent="0">
                        <a:buNone/>
                      </a:pPr>
                      <a:r>
                        <a:rPr lang="en-US" sz="1300" dirty="0">
                          <a:solidFill>
                            <a:srgbClr val="000000"/>
                          </a:solidFill>
                        </a:rPr>
                        <a:t>Age 30-34, % never-married (female)</a:t>
                      </a:r>
                      <a:endParaRPr lang="en-US" sz="1300" dirty="0"/>
                    </a:p>
                  </a:txBody>
                  <a:tcP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ourier New" pitchFamily="34" charset="0"/>
                          <a:ea typeface="Courier New" pitchFamily="34" charset="-122"/>
                          <a:cs typeface="Courier New" pitchFamily="34" charset="-120"/>
                        </a:rPr>
                        <a:t>41.9%</a:t>
                      </a:r>
                      <a:endParaRPr lang="en-US" sz="1300" dirty="0">
                        <a:latin typeface="Courier New" charset="0"/>
                        <a:ea typeface="Courier New" charset="0"/>
                        <a:cs typeface="Courier New" charset="0"/>
                      </a:endParaRPr>
                    </a:p>
                  </a:txBody>
                  <a:tcP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00" dirty="0">
                          <a:solidFill>
                            <a:srgbClr val="000000"/>
                          </a:solidFill>
                        </a:rPr>
                        <a:t>Age 35-39, % never-married (female)</a:t>
                      </a:r>
                      <a:endParaRPr lang="en-US" sz="1300" dirty="0"/>
                    </a:p>
                  </a:txBody>
                  <a:tcP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F7F3EF"/>
                    </a:solidFill>
                  </a:tcPr>
                </a:tc>
                <a:tc>
                  <a:txBody>
                    <a:bodyPr/>
                    <a:lstStyle/>
                    <a:p>
                      <a:pPr marL="0" indent="0" algn="ctr">
                        <a:buNone/>
                      </a:pPr>
                      <a:r>
                        <a:rPr lang="en-US" sz="1300" dirty="0">
                          <a:solidFill>
                            <a:srgbClr val="000000"/>
                          </a:solidFill>
                          <a:latin typeface="Courier New" pitchFamily="34" charset="0"/>
                          <a:ea typeface="Courier New" pitchFamily="34" charset="-122"/>
                          <a:cs typeface="Courier New" pitchFamily="34" charset="-120"/>
                        </a:rPr>
                        <a:t>22.6%</a:t>
                      </a:r>
                      <a:endParaRPr lang="en-US" sz="1300" dirty="0">
                        <a:latin typeface="Courier New" charset="0"/>
                        <a:ea typeface="Courier New" charset="0"/>
                        <a:cs typeface="Courier New" charset="0"/>
                      </a:endParaRPr>
                    </a:p>
                  </a:txBody>
                  <a:tcP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F7F3EF"/>
                    </a:solidFill>
                  </a:tcPr>
                </a:tc>
                <a:extLst>
                  <a:ext uri="{0D108BD9-81ED-4DB2-BD59-A6C34878D82A}">
                    <a16:rowId xmlns:a16="http://schemas.microsoft.com/office/drawing/2014/main" val="10003"/>
                  </a:ext>
                </a:extLst>
              </a:tr>
            </a:tbl>
          </a:graphicData>
        </a:graphic>
      </p:graphicFrame>
      <p:sp>
        <p:nvSpPr>
          <p:cNvPr id="6" name="Shape 3"/>
          <p:cNvSpPr/>
          <p:nvPr/>
        </p:nvSpPr>
        <p:spPr>
          <a:xfrm>
            <a:off x="7315200" y="2331720"/>
            <a:ext cx="4343400" cy="1874520"/>
          </a:xfrm>
          <a:prstGeom prst="roundRect">
            <a:avLst>
              <a:gd name="adj" fmla="val 4878"/>
            </a:avLst>
          </a:prstGeom>
          <a:solidFill>
            <a:srgbClr val="ECE2D0"/>
          </a:solidFill>
          <a:ln/>
        </p:spPr>
      </p:sp>
      <p:sp>
        <p:nvSpPr>
          <p:cNvPr id="7" name="Text 4"/>
          <p:cNvSpPr txBox="1"/>
          <p:nvPr/>
        </p:nvSpPr>
        <p:spPr>
          <a:xfrm>
            <a:off x="7498080" y="2450592"/>
            <a:ext cx="3977640" cy="320040"/>
          </a:xfrm>
          <a:prstGeom prst="rect">
            <a:avLst/>
          </a:prstGeom>
          <a:noFill/>
          <a:ln/>
        </p:spPr>
        <p:txBody>
          <a:bodyPr wrap="square" lIns="0" tIns="0" rIns="0" bIns="0" rtlCol="0" anchor="ctr"/>
          <a:lstStyle/>
          <a:p>
            <a:pPr marL="0" indent="0">
              <a:buNone/>
            </a:pPr>
            <a:r>
              <a:rPr lang="en-US" sz="1350" b="1" dirty="0">
                <a:solidFill>
                  <a:srgbClr val="6D2E46"/>
                </a:solidFill>
                <a:latin typeface="Cambria" pitchFamily="34" charset="0"/>
                <a:ea typeface="Cambria" pitchFamily="34" charset="-122"/>
                <a:cs typeface="Cambria" pitchFamily="34" charset="-120"/>
              </a:rPr>
              <a:t>Reading the pattern:</a:t>
            </a:r>
            <a:endParaRPr lang="en-US" sz="1350" dirty="0"/>
          </a:p>
        </p:txBody>
      </p:sp>
      <p:sp>
        <p:nvSpPr>
          <p:cNvPr id="8" name="Text 5"/>
          <p:cNvSpPr txBox="1"/>
          <p:nvPr/>
        </p:nvSpPr>
        <p:spPr>
          <a:xfrm>
            <a:off x="7498080" y="2788920"/>
            <a:ext cx="3977640" cy="1325880"/>
          </a:xfrm>
          <a:prstGeom prst="rect">
            <a:avLst/>
          </a:prstGeom>
          <a:noFill/>
          <a:ln/>
        </p:spPr>
        <p:txBody>
          <a:bodyPr wrap="square" lIns="0" tIns="0" rIns="0" bIns="0" rtlCol="0" anchor="ctr"/>
          <a:lstStyle/>
          <a:p>
            <a:pPr marL="0" indent="0">
              <a:lnSpc>
                <a:spcPct val="110000"/>
              </a:lnSpc>
              <a:buNone/>
            </a:pPr>
            <a:r>
              <a:rPr lang="en-US" sz="1150" dirty="0">
                <a:solidFill>
                  <a:srgbClr val="2A1420"/>
                </a:solidFill>
                <a:latin typeface="Calibri" pitchFamily="34" charset="0"/>
                <a:ea typeface="Calibri" pitchFamily="34" charset="-122"/>
                <a:cs typeface="Calibri" pitchFamily="34" charset="-120"/>
              </a:rPr>
              <a:t>The steep drop from 69% single at 25-29 to 22.6% at 35-39 shows most first marriages are concentrated in the early-30s window — pushing the computed SMAM well above 27-28 years, consistent with Singapore's reported median age at first marriage of 28.8 (female) / 30.4 (male).</a:t>
            </a:r>
            <a:endParaRPr lang="en-US" sz="1150" dirty="0"/>
          </a:p>
        </p:txBody>
      </p:sp>
      <p:sp>
        <p:nvSpPr>
          <p:cNvPr id="9" name="Text 6"/>
          <p:cNvSpPr txBox="1"/>
          <p:nvPr/>
        </p:nvSpPr>
        <p:spPr>
          <a:xfrm>
            <a:off x="548640" y="4526280"/>
            <a:ext cx="11064240" cy="868680"/>
          </a:xfrm>
          <a:prstGeom prst="rect">
            <a:avLst/>
          </a:prstGeom>
          <a:noFill/>
          <a:ln/>
        </p:spPr>
        <p:txBody>
          <a:bodyPr wrap="square" lIns="0" tIns="0" rIns="0" bIns="0" rtlCol="0" anchor="ctr"/>
          <a:lstStyle/>
          <a:p>
            <a:pPr marL="0" indent="0">
              <a:buNone/>
            </a:pPr>
            <a:r>
              <a:rPr lang="en-US" sz="1350" dirty="0">
                <a:solidFill>
                  <a:srgbClr val="2A1420"/>
                </a:solidFill>
                <a:latin typeface="Calibri" pitchFamily="34" charset="0"/>
                <a:ea typeface="Calibri" pitchFamily="34" charset="-122"/>
                <a:cs typeface="Calibri" pitchFamily="34" charset="-120"/>
              </a:rPr>
              <a:t>Why it matters: SMAM lets demographers compare typical marriage timing across countries and years even when longitudinal marriage-history surveys don't exist — using only a standard census age-by-marital-status table.</a:t>
            </a:r>
            <a:endParaRPr lang="en-US" sz="1350" dirty="0"/>
          </a:p>
        </p:txBody>
      </p:sp>
      <p:sp>
        <p:nvSpPr>
          <p:cNvPr id="10" name="Text 7"/>
          <p:cNvSpPr txBox="1"/>
          <p:nvPr/>
        </p:nvSpPr>
        <p:spPr>
          <a:xfrm>
            <a:off x="548640" y="6172200"/>
            <a:ext cx="11064240" cy="365760"/>
          </a:xfrm>
          <a:prstGeom prst="rect">
            <a:avLst/>
          </a:prstGeom>
          <a:noFill/>
          <a:ln/>
        </p:spPr>
        <p:txBody>
          <a:bodyPr wrap="square" lIns="0" tIns="0" rIns="0" bIns="0" rtlCol="0" anchor="ctr"/>
          <a:lstStyle/>
          <a:p>
            <a:pPr marL="0" indent="0">
              <a:buNone/>
            </a:pPr>
            <a:r>
              <a:rPr lang="en-US" sz="950" i="1" dirty="0">
                <a:solidFill>
                  <a:srgbClr val="6B5A5F"/>
                </a:solidFill>
                <a:latin typeface="Calibri" pitchFamily="34" charset="0"/>
                <a:ea typeface="Calibri" pitchFamily="34" charset="-122"/>
                <a:cs typeface="Calibri" pitchFamily="34" charset="-120"/>
              </a:rPr>
              <a:t>Source: Singapore Department of Statistics, Census of Population 2020, Statistical Release 1 (marital status tables); Department of Statistics Singapore (2021), Population Trends.</a:t>
            </a:r>
            <a:endParaRPr lang="en-US" sz="950" dirty="0"/>
          </a:p>
        </p:txBody>
      </p:sp>
      <p:sp>
        <p:nvSpPr>
          <p:cNvPr id="11" name="Text 8"/>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2" name="Text 9"/>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19 / 56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WORKED EXAMPLE 2 — JAPAN, 2024</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A Second Real CMR Calculation, Outside Thailand</a:t>
            </a:r>
            <a:endParaRPr lang="en-US" sz="3000" dirty="0"/>
          </a:p>
        </p:txBody>
      </p:sp>
      <p:sp>
        <p:nvSpPr>
          <p:cNvPr id="4" name="Shape 2"/>
          <p:cNvSpPr/>
          <p:nvPr/>
        </p:nvSpPr>
        <p:spPr>
          <a:xfrm>
            <a:off x="548640" y="1417320"/>
            <a:ext cx="11109960" cy="822960"/>
          </a:xfrm>
          <a:prstGeom prst="roundRect">
            <a:avLst>
              <a:gd name="adj" fmla="val 8889"/>
            </a:avLst>
          </a:prstGeom>
          <a:solidFill>
            <a:srgbClr val="4A1E30"/>
          </a:solidFill>
          <a:ln/>
        </p:spPr>
      </p:sp>
      <p:sp>
        <p:nvSpPr>
          <p:cNvPr id="5" name="Text 3"/>
          <p:cNvSpPr txBox="1"/>
          <p:nvPr/>
        </p:nvSpPr>
        <p:spPr>
          <a:xfrm>
            <a:off x="731520" y="1417320"/>
            <a:ext cx="10744200" cy="822960"/>
          </a:xfrm>
          <a:prstGeom prst="rect">
            <a:avLst/>
          </a:prstGeom>
          <a:noFill/>
          <a:ln/>
        </p:spPr>
        <p:txBody>
          <a:bodyPr wrap="square" lIns="0" tIns="0" rIns="0" bIns="0" rtlCol="0" anchor="ctr"/>
          <a:lstStyle/>
          <a:p>
            <a:pPr marL="0" indent="0" algn="ctr">
              <a:buNone/>
            </a:pPr>
            <a:r>
              <a:rPr lang="en-US" sz="2000" b="1" dirty="0">
                <a:solidFill>
                  <a:srgbClr val="C9962E"/>
                </a:solidFill>
                <a:latin typeface="Courier New" pitchFamily="34" charset="0"/>
                <a:ea typeface="Courier New" pitchFamily="34" charset="-122"/>
                <a:cs typeface="Courier New" pitchFamily="34" charset="-120"/>
              </a:rPr>
              <a:t>CMR = (M / P) × 1,000</a:t>
            </a:r>
            <a:endParaRPr lang="en-US" sz="2000" dirty="0"/>
          </a:p>
        </p:txBody>
      </p:sp>
      <p:sp>
        <p:nvSpPr>
          <p:cNvPr id="6" name="Shape 4"/>
          <p:cNvSpPr/>
          <p:nvPr/>
        </p:nvSpPr>
        <p:spPr>
          <a:xfrm>
            <a:off x="548640" y="2468880"/>
            <a:ext cx="11109960" cy="566928"/>
          </a:xfrm>
          <a:prstGeom prst="roundRect">
            <a:avLst>
              <a:gd name="adj" fmla="val 9677"/>
            </a:avLst>
          </a:prstGeom>
          <a:solidFill>
            <a:srgbClr val="F7F3EF"/>
          </a:solidFill>
          <a:ln/>
        </p:spPr>
      </p:sp>
      <p:sp>
        <p:nvSpPr>
          <p:cNvPr id="7" name="Text 5"/>
          <p:cNvSpPr txBox="1"/>
          <p:nvPr/>
        </p:nvSpPr>
        <p:spPr>
          <a:xfrm>
            <a:off x="777240" y="2468880"/>
            <a:ext cx="10652760" cy="566928"/>
          </a:xfrm>
          <a:prstGeom prst="rect">
            <a:avLst/>
          </a:prstGeom>
          <a:noFill/>
          <a:ln/>
        </p:spPr>
        <p:txBody>
          <a:bodyPr wrap="square" lIns="0" tIns="0" rIns="0" bIns="0" rtlCol="0" anchor="ctr"/>
          <a:lstStyle/>
          <a:p>
            <a:pPr marL="0" indent="0">
              <a:buNone/>
            </a:pPr>
            <a:r>
              <a:rPr lang="en-US" sz="1450" dirty="0">
                <a:solidFill>
                  <a:srgbClr val="2A1420"/>
                </a:solidFill>
                <a:latin typeface="Courier New" pitchFamily="34" charset="0"/>
                <a:ea typeface="Courier New" pitchFamily="34" charset="-122"/>
                <a:cs typeface="Courier New" pitchFamily="34" charset="-120"/>
              </a:rPr>
              <a:t>Japan, 2024: 499,999 registered marriages; total population ≈ 124.3 million.</a:t>
            </a:r>
            <a:endParaRPr lang="en-US" sz="1450" dirty="0"/>
          </a:p>
        </p:txBody>
      </p:sp>
      <p:sp>
        <p:nvSpPr>
          <p:cNvPr id="8" name="Shape 6"/>
          <p:cNvSpPr/>
          <p:nvPr/>
        </p:nvSpPr>
        <p:spPr>
          <a:xfrm>
            <a:off x="548640" y="3127248"/>
            <a:ext cx="11109960" cy="566928"/>
          </a:xfrm>
          <a:prstGeom prst="roundRect">
            <a:avLst>
              <a:gd name="adj" fmla="val 9677"/>
            </a:avLst>
          </a:prstGeom>
          <a:solidFill>
            <a:srgbClr val="F7F3EF"/>
          </a:solidFill>
          <a:ln/>
        </p:spPr>
      </p:sp>
      <p:sp>
        <p:nvSpPr>
          <p:cNvPr id="9" name="Text 7"/>
          <p:cNvSpPr txBox="1"/>
          <p:nvPr/>
        </p:nvSpPr>
        <p:spPr>
          <a:xfrm>
            <a:off x="777240" y="3127248"/>
            <a:ext cx="10652760" cy="566928"/>
          </a:xfrm>
          <a:prstGeom prst="rect">
            <a:avLst/>
          </a:prstGeom>
          <a:noFill/>
          <a:ln/>
        </p:spPr>
        <p:txBody>
          <a:bodyPr wrap="square" lIns="0" tIns="0" rIns="0" bIns="0" rtlCol="0" anchor="ctr"/>
          <a:lstStyle/>
          <a:p>
            <a:pPr marL="0" indent="0">
              <a:buNone/>
            </a:pPr>
            <a:r>
              <a:rPr lang="en-US" sz="1450" dirty="0">
                <a:solidFill>
                  <a:srgbClr val="2A1420"/>
                </a:solidFill>
                <a:latin typeface="Courier New" pitchFamily="34" charset="0"/>
                <a:ea typeface="Courier New" pitchFamily="34" charset="-122"/>
                <a:cs typeface="Courier New" pitchFamily="34" charset="-120"/>
              </a:rPr>
              <a:t>CMR = (499,999 / 124,300,000) × 1,000 ≈ 4.0 per 1,000</a:t>
            </a:r>
            <a:endParaRPr lang="en-US" sz="1450" dirty="0"/>
          </a:p>
        </p:txBody>
      </p:sp>
      <p:sp>
        <p:nvSpPr>
          <p:cNvPr id="10" name="Text 8"/>
          <p:cNvSpPr txBox="1"/>
          <p:nvPr/>
        </p:nvSpPr>
        <p:spPr>
          <a:xfrm>
            <a:off x="548640" y="3877056"/>
            <a:ext cx="11064240" cy="2295144"/>
          </a:xfrm>
          <a:prstGeom prst="rect">
            <a:avLst/>
          </a:prstGeom>
          <a:noFill/>
          <a:ln/>
        </p:spPr>
        <p:txBody>
          <a:bodyPr wrap="square" lIns="0" tIns="0" rIns="0" bIns="0" rtlCol="0" anchor="ctr"/>
          <a:lstStyle/>
          <a:p>
            <a:pPr marL="0" indent="0">
              <a:lnSpc>
                <a:spcPct val="110000"/>
              </a:lnSpc>
              <a:buNone/>
            </a:pPr>
            <a:r>
              <a:rPr lang="en-US" sz="1350" dirty="0">
                <a:solidFill>
                  <a:srgbClr val="2A1420"/>
                </a:solidFill>
                <a:latin typeface="Calibri" pitchFamily="34" charset="0"/>
                <a:ea typeface="Calibri" pitchFamily="34" charset="-122"/>
                <a:cs typeface="Calibri" pitchFamily="34" charset="-120"/>
              </a:rPr>
              <a:t>Context: 2024's marriages were up 2.2% on 2023 — the second consecutive annual rise — but that 499,999 is still only about 44% of Japan's 1972 peak of 1.099 million marriages. Demographers read the recent uptick mainly as pandemic-postponed weddings finally taking place, not a reversal of the decades-long decline (compare to Thailand's CMR ≈ 4.2, Slide 17 — both countries now sit in a similarly low range, despite very different marriage-registration systems).</a:t>
            </a:r>
            <a:endParaRPr lang="en-US" sz="1350" dirty="0"/>
          </a:p>
        </p:txBody>
      </p:sp>
      <p:sp>
        <p:nvSpPr>
          <p:cNvPr id="11" name="Text 9"/>
          <p:cNvSpPr txBox="1"/>
          <p:nvPr/>
        </p:nvSpPr>
        <p:spPr>
          <a:xfrm>
            <a:off x="548640" y="6172200"/>
            <a:ext cx="11064240" cy="365760"/>
          </a:xfrm>
          <a:prstGeom prst="rect">
            <a:avLst/>
          </a:prstGeom>
          <a:noFill/>
          <a:ln/>
        </p:spPr>
        <p:txBody>
          <a:bodyPr wrap="square" lIns="0" tIns="0" rIns="0" bIns="0" rtlCol="0" anchor="ctr"/>
          <a:lstStyle/>
          <a:p>
            <a:pPr marL="0" indent="0">
              <a:buNone/>
            </a:pPr>
            <a:r>
              <a:rPr lang="en-US" sz="1000" i="1" dirty="0">
                <a:solidFill>
                  <a:srgbClr val="6B5A5F"/>
                </a:solidFill>
                <a:latin typeface="Calibri" pitchFamily="34" charset="0"/>
                <a:ea typeface="Calibri" pitchFamily="34" charset="-122"/>
                <a:cs typeface="Calibri" pitchFamily="34" charset="-120"/>
              </a:rPr>
              <a:t>Sources: ISVD (2025), Japan's 2025 births analysis (marriage series); Statistics Bureau of Japan / Ministry of Health, Labour and Welfare, Vital Statistics (2025).</a:t>
            </a:r>
            <a:endParaRPr lang="en-US" sz="1000" dirty="0"/>
          </a:p>
        </p:txBody>
      </p:sp>
      <p:sp>
        <p:nvSpPr>
          <p:cNvPr id="12" name="Text 10"/>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3" name="Text 11"/>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20 / 56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EXAMPLE 2 — THAILAND, 2022–2024</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Registered Marriages Are Falling Faster Than Population</a:t>
            </a:r>
            <a:endParaRPr lang="en-US" sz="3000" dirty="0"/>
          </a:p>
        </p:txBody>
      </p:sp>
      <p:graphicFrame>
        <p:nvGraphicFramePr>
          <p:cNvPr id="4" name="Chart 0"/>
          <p:cNvGraphicFramePr/>
          <p:nvPr/>
        </p:nvGraphicFramePr>
        <p:xfrm>
          <a:off x="548640" y="1508760"/>
          <a:ext cx="676656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543800" y="1508760"/>
            <a:ext cx="4114800" cy="1920240"/>
          </a:xfrm>
          <a:prstGeom prst="roundRect">
            <a:avLst>
              <a:gd name="adj" fmla="val 4762"/>
            </a:avLst>
          </a:prstGeom>
          <a:solidFill>
            <a:srgbClr val="ECE2D0"/>
          </a:solidFill>
          <a:ln/>
        </p:spPr>
      </p:sp>
      <p:sp>
        <p:nvSpPr>
          <p:cNvPr id="6" name="Text 3"/>
          <p:cNvSpPr txBox="1"/>
          <p:nvPr/>
        </p:nvSpPr>
        <p:spPr>
          <a:xfrm>
            <a:off x="7680960" y="1645920"/>
            <a:ext cx="3840480" cy="960120"/>
          </a:xfrm>
          <a:prstGeom prst="rect">
            <a:avLst/>
          </a:prstGeom>
          <a:noFill/>
          <a:ln/>
        </p:spPr>
        <p:txBody>
          <a:bodyPr wrap="square" lIns="0" tIns="0" rIns="0" bIns="0" rtlCol="0" anchor="ctr"/>
          <a:lstStyle/>
          <a:p>
            <a:pPr marL="0" indent="0" algn="ctr">
              <a:buNone/>
            </a:pPr>
            <a:r>
              <a:rPr lang="en-US" sz="4000" b="1" dirty="0">
                <a:solidFill>
                  <a:srgbClr val="6D2E46"/>
                </a:solidFill>
                <a:latin typeface="Cambria" pitchFamily="34" charset="0"/>
                <a:ea typeface="Cambria" pitchFamily="34" charset="-122"/>
                <a:cs typeface="Cambria" pitchFamily="34" charset="-120"/>
              </a:rPr>
              <a:t>−14%</a:t>
            </a:r>
            <a:endParaRPr lang="en-US" sz="4000" dirty="0"/>
          </a:p>
        </p:txBody>
      </p:sp>
      <p:sp>
        <p:nvSpPr>
          <p:cNvPr id="7" name="Text 4"/>
          <p:cNvSpPr txBox="1"/>
          <p:nvPr/>
        </p:nvSpPr>
        <p:spPr>
          <a:xfrm>
            <a:off x="7680960" y="2514600"/>
            <a:ext cx="3840480" cy="868680"/>
          </a:xfrm>
          <a:prstGeom prst="rect">
            <a:avLst/>
          </a:prstGeom>
          <a:noFill/>
          <a:ln/>
        </p:spPr>
        <p:txBody>
          <a:bodyPr wrap="square" lIns="0" tIns="0" rIns="0" bIns="0" rtlCol="0" anchor="ctr"/>
          <a:lstStyle/>
          <a:p>
            <a:pPr marL="0" indent="0" algn="ctr">
              <a:buNone/>
            </a:pPr>
            <a:r>
              <a:rPr lang="en-US" sz="1250" dirty="0">
                <a:solidFill>
                  <a:srgbClr val="2A1420"/>
                </a:solidFill>
                <a:latin typeface="Calibri" pitchFamily="34" charset="0"/>
                <a:ea typeface="Calibri" pitchFamily="34" charset="-122"/>
                <a:cs typeface="Calibri" pitchFamily="34" charset="-120"/>
              </a:rPr>
              <a:t>decline in registered marriages, 2022→2024</a:t>
            </a:r>
            <a:endParaRPr lang="en-US" sz="1250" dirty="0"/>
          </a:p>
        </p:txBody>
      </p:sp>
      <p:sp>
        <p:nvSpPr>
          <p:cNvPr id="8" name="Text 5"/>
          <p:cNvSpPr txBox="1"/>
          <p:nvPr/>
        </p:nvSpPr>
        <p:spPr>
          <a:xfrm>
            <a:off x="7543800" y="3611880"/>
            <a:ext cx="4114800" cy="1828800"/>
          </a:xfrm>
          <a:prstGeom prst="rect">
            <a:avLst/>
          </a:prstGeom>
          <a:noFill/>
          <a:ln/>
        </p:spPr>
        <p:txBody>
          <a:bodyPr wrap="square" lIns="0" tIns="0" rIns="0" bIns="0" rtlCol="0" anchor="ctr"/>
          <a:lstStyle/>
          <a:p>
            <a:pPr marL="0" indent="0">
              <a:lnSpc>
                <a:spcPct val="110000"/>
              </a:lnSpc>
              <a:buNone/>
            </a:pPr>
            <a:r>
              <a:rPr lang="en-US" sz="1250" dirty="0">
                <a:solidFill>
                  <a:srgbClr val="2A1420"/>
                </a:solidFill>
                <a:latin typeface="Calibri" pitchFamily="34" charset="0"/>
                <a:ea typeface="Calibri" pitchFamily="34" charset="-122"/>
                <a:cs typeface="Calibri" pitchFamily="34" charset="-120"/>
              </a:rPr>
              <a:t>Thailand's crude marriage rate is now among the lowest in Asia, reinforcing concerns about population aging and the size of future birth cohorts.</a:t>
            </a:r>
            <a:endParaRPr lang="en-US" sz="1250" dirty="0"/>
          </a:p>
        </p:txBody>
      </p:sp>
      <p:sp>
        <p:nvSpPr>
          <p:cNvPr id="9" name="Text 6"/>
          <p:cNvSpPr txBox="1"/>
          <p:nvPr/>
        </p:nvSpPr>
        <p:spPr>
          <a:xfrm>
            <a:off x="548640" y="6217920"/>
            <a:ext cx="11064240" cy="365760"/>
          </a:xfrm>
          <a:prstGeom prst="rect">
            <a:avLst/>
          </a:prstGeom>
          <a:noFill/>
          <a:ln/>
        </p:spPr>
        <p:txBody>
          <a:bodyPr wrap="square" lIns="0" tIns="0" rIns="0" bIns="0" rtlCol="0" anchor="ctr"/>
          <a:lstStyle/>
          <a:p>
            <a:pPr marL="0" indent="0">
              <a:buNone/>
            </a:pPr>
            <a:r>
              <a:rPr lang="en-US" sz="950" i="1" dirty="0">
                <a:solidFill>
                  <a:srgbClr val="6B5A5F"/>
                </a:solidFill>
                <a:latin typeface="Calibri" pitchFamily="34" charset="0"/>
                <a:ea typeface="Calibri" pitchFamily="34" charset="-122"/>
                <a:cs typeface="Calibri" pitchFamily="34" charset="-120"/>
              </a:rPr>
              <a:t>Source: National Statistical Office of Thailand, Statistical Yearbook Thailand 2023 &amp; 2025 (Dept. of Provincial Administration registration data). nso.go.th</a:t>
            </a:r>
            <a:endParaRPr lang="en-US" sz="950" dirty="0"/>
          </a:p>
        </p:txBody>
      </p:sp>
      <p:sp>
        <p:nvSpPr>
          <p:cNvPr id="10" name="Text 7"/>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1" name="Text 8"/>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21 / 56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NEW UNION FORMS</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Cohabitation &amp; Non-Marital Unions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ctr"/>
          <a:lstStyle/>
          <a:p>
            <a:pPr marL="0" indent="0">
              <a:buNone/>
            </a:pPr>
            <a:r>
              <a:rPr lang="en-US" sz="1400" i="1" dirty="0">
                <a:solidFill>
                  <a:srgbClr val="6B5A5F"/>
                </a:solidFill>
                <a:latin typeface="Calibri" pitchFamily="34" charset="0"/>
                <a:ea typeface="Calibri" pitchFamily="34" charset="-122"/>
                <a:cs typeface="Calibri" pitchFamily="34" charset="-120"/>
              </a:rPr>
              <a:t>Cohabitation — two partners sharing a household and an intimate relationship without a legal marriage — has moved from marginal to mainstream across much of the OECD since the 1970s.</a:t>
            </a:r>
            <a:endParaRPr lang="en-US" sz="1400" dirty="0"/>
          </a:p>
        </p:txBody>
      </p:sp>
      <p:sp>
        <p:nvSpPr>
          <p:cNvPr id="5" name="Shape 3"/>
          <p:cNvSpPr/>
          <p:nvPr/>
        </p:nvSpPr>
        <p:spPr>
          <a:xfrm>
            <a:off x="548640" y="1984248"/>
            <a:ext cx="3489960" cy="4187952"/>
          </a:xfrm>
          <a:prstGeom prst="roundRect">
            <a:avLst>
              <a:gd name="adj" fmla="val 2096"/>
            </a:avLst>
          </a:prstGeom>
          <a:solidFill>
            <a:srgbClr val="F7F3EF"/>
          </a:solidFill>
          <a:ln/>
        </p:spPr>
      </p:sp>
      <p:sp>
        <p:nvSpPr>
          <p:cNvPr id="6" name="Shape 4"/>
          <p:cNvSpPr/>
          <p:nvPr/>
        </p:nvSpPr>
        <p:spPr>
          <a:xfrm>
            <a:off x="749808" y="2167128"/>
            <a:ext cx="685800" cy="685800"/>
          </a:xfrm>
          <a:prstGeom prst="ellipse">
            <a:avLst/>
          </a:prstGeom>
          <a:solidFill>
            <a:srgbClr val="6D2E46"/>
          </a:solidFill>
          <a:ln/>
        </p:spPr>
      </p:sp>
      <p:pic>
        <p:nvPicPr>
          <p:cNvPr id="7" name="Image 0" descr="/sessions/blissful-modest-newton/work/build/icons/house.png"/>
          <p:cNvPicPr>
            <a:picLocks noChangeAspect="1"/>
          </p:cNvPicPr>
          <p:nvPr/>
        </p:nvPicPr>
        <p:blipFill>
          <a:blip r:embed="rId3"/>
          <a:stretch>
            <a:fillRect/>
          </a:stretch>
        </p:blipFill>
        <p:spPr>
          <a:xfrm>
            <a:off x="900684" y="2318004"/>
            <a:ext cx="384048" cy="384048"/>
          </a:xfrm>
          <a:prstGeom prst="rect">
            <a:avLst/>
          </a:prstGeom>
        </p:spPr>
      </p:pic>
      <p:sp>
        <p:nvSpPr>
          <p:cNvPr id="8" name="Text 5"/>
          <p:cNvSpPr txBox="1"/>
          <p:nvPr/>
        </p:nvSpPr>
        <p:spPr>
          <a:xfrm>
            <a:off x="749808" y="2907792"/>
            <a:ext cx="30876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Pre-marital stage</a:t>
            </a:r>
            <a:endParaRPr lang="en-US" sz="1450" dirty="0"/>
          </a:p>
        </p:txBody>
      </p:sp>
      <p:sp>
        <p:nvSpPr>
          <p:cNvPr id="9" name="Text 6"/>
          <p:cNvSpPr txBox="1"/>
          <p:nvPr/>
        </p:nvSpPr>
        <p:spPr>
          <a:xfrm>
            <a:off x="749808" y="3236976"/>
            <a:ext cx="3087624" cy="2862072"/>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A step before (or instead of) formal marriage, common in North America and much of Europe.</a:t>
            </a:r>
            <a:endParaRPr lang="en-US" sz="1200" dirty="0"/>
          </a:p>
        </p:txBody>
      </p:sp>
      <p:sp>
        <p:nvSpPr>
          <p:cNvPr id="10" name="Shape 7"/>
          <p:cNvSpPr/>
          <p:nvPr/>
        </p:nvSpPr>
        <p:spPr>
          <a:xfrm>
            <a:off x="4358640" y="1984248"/>
            <a:ext cx="3489960" cy="4187952"/>
          </a:xfrm>
          <a:prstGeom prst="roundRect">
            <a:avLst>
              <a:gd name="adj" fmla="val 2096"/>
            </a:avLst>
          </a:prstGeom>
          <a:solidFill>
            <a:srgbClr val="ECE2D0"/>
          </a:solidFill>
          <a:ln/>
        </p:spPr>
      </p:sp>
      <p:sp>
        <p:nvSpPr>
          <p:cNvPr id="11" name="Shape 8"/>
          <p:cNvSpPr/>
          <p:nvPr/>
        </p:nvSpPr>
        <p:spPr>
          <a:xfrm>
            <a:off x="4559808" y="2167128"/>
            <a:ext cx="685800" cy="685800"/>
          </a:xfrm>
          <a:prstGeom prst="ellipse">
            <a:avLst/>
          </a:prstGeom>
          <a:solidFill>
            <a:srgbClr val="6D2E46"/>
          </a:solidFill>
          <a:ln/>
        </p:spPr>
      </p:sp>
      <p:pic>
        <p:nvPicPr>
          <p:cNvPr id="12" name="Image 1" descr="/sessions/blissful-modest-newton/work/build/icons/globe.png"/>
          <p:cNvPicPr>
            <a:picLocks noChangeAspect="1"/>
          </p:cNvPicPr>
          <p:nvPr/>
        </p:nvPicPr>
        <p:blipFill>
          <a:blip r:embed="rId4"/>
          <a:stretch>
            <a:fillRect/>
          </a:stretch>
        </p:blipFill>
        <p:spPr>
          <a:xfrm>
            <a:off x="4710684" y="2318004"/>
            <a:ext cx="384048" cy="384048"/>
          </a:xfrm>
          <a:prstGeom prst="rect">
            <a:avLst/>
          </a:prstGeom>
        </p:spPr>
      </p:pic>
      <p:sp>
        <p:nvSpPr>
          <p:cNvPr id="13" name="Text 9"/>
          <p:cNvSpPr txBox="1"/>
          <p:nvPr/>
        </p:nvSpPr>
        <p:spPr>
          <a:xfrm>
            <a:off x="4559808" y="2907792"/>
            <a:ext cx="30876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Marriage alternative</a:t>
            </a:r>
            <a:endParaRPr lang="en-US" sz="1450" dirty="0"/>
          </a:p>
        </p:txBody>
      </p:sp>
      <p:sp>
        <p:nvSpPr>
          <p:cNvPr id="14" name="Text 10"/>
          <p:cNvSpPr txBox="1"/>
          <p:nvPr/>
        </p:nvSpPr>
        <p:spPr>
          <a:xfrm>
            <a:off x="4559808" y="3236976"/>
            <a:ext cx="3087624" cy="2862072"/>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A long-term substitute for marriage, most advanced in the Nordic countries.</a:t>
            </a:r>
            <a:endParaRPr lang="en-US" sz="1200" dirty="0"/>
          </a:p>
        </p:txBody>
      </p:sp>
      <p:sp>
        <p:nvSpPr>
          <p:cNvPr id="15" name="Shape 11"/>
          <p:cNvSpPr/>
          <p:nvPr/>
        </p:nvSpPr>
        <p:spPr>
          <a:xfrm>
            <a:off x="8168640" y="1984248"/>
            <a:ext cx="3489960" cy="4187952"/>
          </a:xfrm>
          <a:prstGeom prst="roundRect">
            <a:avLst>
              <a:gd name="adj" fmla="val 2096"/>
            </a:avLst>
          </a:prstGeom>
          <a:solidFill>
            <a:srgbClr val="F7F3EF"/>
          </a:solidFill>
          <a:ln/>
        </p:spPr>
      </p:sp>
      <p:sp>
        <p:nvSpPr>
          <p:cNvPr id="16" name="Shape 12"/>
          <p:cNvSpPr/>
          <p:nvPr/>
        </p:nvSpPr>
        <p:spPr>
          <a:xfrm>
            <a:off x="8369808" y="2167128"/>
            <a:ext cx="685800" cy="685800"/>
          </a:xfrm>
          <a:prstGeom prst="ellipse">
            <a:avLst/>
          </a:prstGeom>
          <a:solidFill>
            <a:srgbClr val="6D2E46"/>
          </a:solidFill>
          <a:ln/>
        </p:spPr>
      </p:sp>
      <p:pic>
        <p:nvPicPr>
          <p:cNvPr id="17" name="Image 2" descr="/sessions/blissful-modest-newton/work/build/icons/question.png"/>
          <p:cNvPicPr>
            <a:picLocks noChangeAspect="1"/>
          </p:cNvPicPr>
          <p:nvPr/>
        </p:nvPicPr>
        <p:blipFill>
          <a:blip r:embed="rId5"/>
          <a:stretch>
            <a:fillRect/>
          </a:stretch>
        </p:blipFill>
        <p:spPr>
          <a:xfrm>
            <a:off x="8520684" y="2318004"/>
            <a:ext cx="384048" cy="384048"/>
          </a:xfrm>
          <a:prstGeom prst="rect">
            <a:avLst/>
          </a:prstGeom>
        </p:spPr>
      </p:pic>
      <p:sp>
        <p:nvSpPr>
          <p:cNvPr id="18" name="Text 13"/>
          <p:cNvSpPr txBox="1"/>
          <p:nvPr/>
        </p:nvSpPr>
        <p:spPr>
          <a:xfrm>
            <a:off x="8369808" y="2907792"/>
            <a:ext cx="30876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Measurement challenge</a:t>
            </a:r>
            <a:endParaRPr lang="en-US" sz="1450" dirty="0"/>
          </a:p>
        </p:txBody>
      </p:sp>
      <p:sp>
        <p:nvSpPr>
          <p:cNvPr id="19" name="Text 14"/>
          <p:cNvSpPr txBox="1"/>
          <p:nvPr/>
        </p:nvSpPr>
        <p:spPr>
          <a:xfrm>
            <a:off x="8369808" y="3236976"/>
            <a:ext cx="3087624" cy="2862072"/>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Many surveys only add explicit “living with partner” categories after cohabitation becomes common — lagging the behavioral change.</a:t>
            </a:r>
            <a:endParaRPr lang="en-US" sz="1200" dirty="0"/>
          </a:p>
        </p:txBody>
      </p:sp>
      <p:sp>
        <p:nvSpPr>
          <p:cNvPr id="20" name="Text 15"/>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21" name="Text 16"/>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22 / 56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EXAMPLE 3 — GLOBAL, 2024</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The “Cohabitation Frontier”</a:t>
            </a:r>
            <a:endParaRPr lang="en-US" sz="3000" dirty="0"/>
          </a:p>
        </p:txBody>
      </p:sp>
      <p:graphicFrame>
        <p:nvGraphicFramePr>
          <p:cNvPr id="4" name="Chart 0"/>
          <p:cNvGraphicFramePr/>
          <p:nvPr/>
        </p:nvGraphicFramePr>
        <p:xfrm>
          <a:off x="548640" y="1508760"/>
          <a:ext cx="676656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543800" y="1508760"/>
            <a:ext cx="4114800" cy="1920240"/>
          </a:xfrm>
          <a:prstGeom prst="roundRect">
            <a:avLst>
              <a:gd name="adj" fmla="val 4762"/>
            </a:avLst>
          </a:prstGeom>
          <a:solidFill>
            <a:srgbClr val="ECE2D0"/>
          </a:solidFill>
          <a:ln/>
        </p:spPr>
      </p:sp>
      <p:sp>
        <p:nvSpPr>
          <p:cNvPr id="6" name="Text 3"/>
          <p:cNvSpPr txBox="1"/>
          <p:nvPr/>
        </p:nvSpPr>
        <p:spPr>
          <a:xfrm>
            <a:off x="7680960" y="1645920"/>
            <a:ext cx="3840480" cy="960120"/>
          </a:xfrm>
          <a:prstGeom prst="rect">
            <a:avLst/>
          </a:prstGeom>
          <a:noFill/>
          <a:ln/>
        </p:spPr>
        <p:txBody>
          <a:bodyPr wrap="square" lIns="0" tIns="0" rIns="0" bIns="0" rtlCol="0" anchor="ctr"/>
          <a:lstStyle/>
          <a:p>
            <a:pPr marL="0" indent="0" algn="ctr">
              <a:buNone/>
            </a:pPr>
            <a:r>
              <a:rPr lang="en-US" sz="4000" b="1" dirty="0">
                <a:solidFill>
                  <a:srgbClr val="6D2E46"/>
                </a:solidFill>
                <a:latin typeface="Cambria" pitchFamily="34" charset="0"/>
                <a:ea typeface="Cambria" pitchFamily="34" charset="-122"/>
                <a:cs typeface="Cambria" pitchFamily="34" charset="-120"/>
              </a:rPr>
              <a:t>64%</a:t>
            </a:r>
            <a:endParaRPr lang="en-US" sz="4000" dirty="0"/>
          </a:p>
        </p:txBody>
      </p:sp>
      <p:sp>
        <p:nvSpPr>
          <p:cNvPr id="7" name="Text 4"/>
          <p:cNvSpPr txBox="1"/>
          <p:nvPr/>
        </p:nvSpPr>
        <p:spPr>
          <a:xfrm>
            <a:off x="7680960" y="2514600"/>
            <a:ext cx="3840480" cy="868680"/>
          </a:xfrm>
          <a:prstGeom prst="rect">
            <a:avLst/>
          </a:prstGeom>
          <a:noFill/>
          <a:ln/>
        </p:spPr>
        <p:txBody>
          <a:bodyPr wrap="square" lIns="0" tIns="0" rIns="0" bIns="0" rtlCol="0" anchor="ctr"/>
          <a:lstStyle/>
          <a:p>
            <a:pPr marL="0" indent="0" algn="ctr">
              <a:buNone/>
            </a:pPr>
            <a:r>
              <a:rPr lang="en-US" sz="1200" dirty="0">
                <a:solidFill>
                  <a:srgbClr val="2A1420"/>
                </a:solidFill>
                <a:latin typeface="Calibri" pitchFamily="34" charset="0"/>
                <a:ea typeface="Calibri" pitchFamily="34" charset="-122"/>
                <a:cs typeface="Calibri" pitchFamily="34" charset="-120"/>
              </a:rPr>
              <a:t>of women worldwide were married or in a union in 2024 — down from 69% in 1970</a:t>
            </a:r>
            <a:endParaRPr lang="en-US" sz="1200" dirty="0"/>
          </a:p>
        </p:txBody>
      </p:sp>
      <p:sp>
        <p:nvSpPr>
          <p:cNvPr id="8" name="Text 5"/>
          <p:cNvSpPr txBox="1"/>
          <p:nvPr/>
        </p:nvSpPr>
        <p:spPr>
          <a:xfrm>
            <a:off x="7543800" y="3611880"/>
            <a:ext cx="4114800" cy="1828800"/>
          </a:xfrm>
          <a:prstGeom prst="rect">
            <a:avLst/>
          </a:prstGeom>
          <a:noFill/>
          <a:ln/>
        </p:spPr>
        <p:txBody>
          <a:bodyPr wrap="square" lIns="0" tIns="0" rIns="0" bIns="0" rtlCol="0" anchor="ctr"/>
          <a:lstStyle/>
          <a:p>
            <a:pPr marL="0" indent="0">
              <a:lnSpc>
                <a:spcPct val="110000"/>
              </a:lnSpc>
              <a:buNone/>
            </a:pPr>
            <a:r>
              <a:rPr lang="en-US" sz="1250" dirty="0">
                <a:solidFill>
                  <a:srgbClr val="2A1420"/>
                </a:solidFill>
                <a:latin typeface="Calibri" pitchFamily="34" charset="0"/>
                <a:ea typeface="Calibri" pitchFamily="34" charset="-122"/>
                <a:cs typeface="Calibri" pitchFamily="34" charset="-120"/>
              </a:rPr>
              <a:t>The fall is concentrated in Europe, North America &amp; parts of Africa — not a uniform global trend.</a:t>
            </a:r>
            <a:endParaRPr lang="en-US" sz="1250" dirty="0"/>
          </a:p>
        </p:txBody>
      </p:sp>
      <p:sp>
        <p:nvSpPr>
          <p:cNvPr id="9" name="Text 6"/>
          <p:cNvSpPr txBox="1"/>
          <p:nvPr/>
        </p:nvSpPr>
        <p:spPr>
          <a:xfrm>
            <a:off x="548640" y="6217920"/>
            <a:ext cx="11064240" cy="365760"/>
          </a:xfrm>
          <a:prstGeom prst="rect">
            <a:avLst/>
          </a:prstGeom>
          <a:noFill/>
          <a:ln/>
        </p:spPr>
        <p:txBody>
          <a:bodyPr wrap="square" lIns="0" tIns="0" rIns="0" bIns="0" rtlCol="0" anchor="ctr"/>
          <a:lstStyle/>
          <a:p>
            <a:pPr marL="0" indent="0">
              <a:buNone/>
            </a:pPr>
            <a:r>
              <a:rPr lang="en-US" sz="950" i="1" dirty="0">
                <a:solidFill>
                  <a:srgbClr val="6B5A5F"/>
                </a:solidFill>
                <a:latin typeface="Calibri" pitchFamily="34" charset="0"/>
                <a:ea typeface="Calibri" pitchFamily="34" charset="-122"/>
                <a:cs typeface="Calibri" pitchFamily="34" charset="-120"/>
              </a:rPr>
              <a:t>Sources: OECD (2024), Society at a Glance 2024: Marriage and Divorce; Our World in Data, Marriages and Divorces (2024).</a:t>
            </a:r>
            <a:endParaRPr lang="en-US" sz="950" dirty="0"/>
          </a:p>
        </p:txBody>
      </p:sp>
      <p:sp>
        <p:nvSpPr>
          <p:cNvPr id="10" name="Text 7"/>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1" name="Text 8"/>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23 / 56</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TREND &amp; DRIVERS</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Delayed and Declining Marriage: Why?</a:t>
            </a:r>
            <a:endParaRPr lang="en-US" sz="3000" dirty="0"/>
          </a:p>
        </p:txBody>
      </p:sp>
      <p:sp>
        <p:nvSpPr>
          <p:cNvPr id="4" name="Shape 2"/>
          <p:cNvSpPr/>
          <p:nvPr/>
        </p:nvSpPr>
        <p:spPr>
          <a:xfrm>
            <a:off x="548640" y="1417320"/>
            <a:ext cx="2537460" cy="4754880"/>
          </a:xfrm>
          <a:prstGeom prst="roundRect">
            <a:avLst>
              <a:gd name="adj" fmla="val 2883"/>
            </a:avLst>
          </a:prstGeom>
          <a:solidFill>
            <a:srgbClr val="F7F3EF"/>
          </a:solidFill>
          <a:ln/>
        </p:spPr>
      </p:sp>
      <p:sp>
        <p:nvSpPr>
          <p:cNvPr id="5" name="Shape 3"/>
          <p:cNvSpPr/>
          <p:nvPr/>
        </p:nvSpPr>
        <p:spPr>
          <a:xfrm>
            <a:off x="749808" y="1600200"/>
            <a:ext cx="685800" cy="685800"/>
          </a:xfrm>
          <a:prstGeom prst="ellipse">
            <a:avLst/>
          </a:prstGeom>
          <a:solidFill>
            <a:srgbClr val="6D2E46"/>
          </a:solidFill>
          <a:ln/>
        </p:spPr>
      </p:sp>
      <p:pic>
        <p:nvPicPr>
          <p:cNvPr id="6" name="Image 0" descr="/sessions/blissful-modest-newton/work/build/icons/book.png"/>
          <p:cNvPicPr>
            <a:picLocks noChangeAspect="1"/>
          </p:cNvPicPr>
          <p:nvPr/>
        </p:nvPicPr>
        <p:blipFill>
          <a:blip r:embed="rId3"/>
          <a:stretch>
            <a:fillRect/>
          </a:stretch>
        </p:blipFill>
        <p:spPr>
          <a:xfrm>
            <a:off x="900684" y="1751076"/>
            <a:ext cx="384048" cy="384048"/>
          </a:xfrm>
          <a:prstGeom prst="rect">
            <a:avLst/>
          </a:prstGeom>
        </p:spPr>
      </p:pic>
      <p:sp>
        <p:nvSpPr>
          <p:cNvPr id="7" name="Text 4"/>
          <p:cNvSpPr txBox="1"/>
          <p:nvPr/>
        </p:nvSpPr>
        <p:spPr>
          <a:xfrm>
            <a:off x="749808" y="2340864"/>
            <a:ext cx="21351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Education expansion</a:t>
            </a:r>
            <a:endParaRPr lang="en-US" sz="1450" dirty="0"/>
          </a:p>
        </p:txBody>
      </p:sp>
      <p:sp>
        <p:nvSpPr>
          <p:cNvPr id="8" name="Text 5"/>
          <p:cNvSpPr txBox="1"/>
          <p:nvPr/>
        </p:nvSpPr>
        <p:spPr>
          <a:xfrm>
            <a:off x="749808" y="2670048"/>
            <a:ext cx="2135124" cy="342900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Longer schooling, esp. for women, postpones entry into marriage markets.</a:t>
            </a:r>
            <a:endParaRPr lang="en-US" sz="1200" dirty="0"/>
          </a:p>
        </p:txBody>
      </p:sp>
      <p:sp>
        <p:nvSpPr>
          <p:cNvPr id="9" name="Shape 6"/>
          <p:cNvSpPr/>
          <p:nvPr/>
        </p:nvSpPr>
        <p:spPr>
          <a:xfrm>
            <a:off x="3406140" y="1417320"/>
            <a:ext cx="2537460" cy="4754880"/>
          </a:xfrm>
          <a:prstGeom prst="roundRect">
            <a:avLst>
              <a:gd name="adj" fmla="val 2883"/>
            </a:avLst>
          </a:prstGeom>
          <a:solidFill>
            <a:srgbClr val="ECE2D0"/>
          </a:solidFill>
          <a:ln/>
        </p:spPr>
      </p:sp>
      <p:sp>
        <p:nvSpPr>
          <p:cNvPr id="10" name="Shape 7"/>
          <p:cNvSpPr/>
          <p:nvPr/>
        </p:nvSpPr>
        <p:spPr>
          <a:xfrm>
            <a:off x="3607308" y="1600200"/>
            <a:ext cx="685800" cy="685800"/>
          </a:xfrm>
          <a:prstGeom prst="ellipse">
            <a:avLst/>
          </a:prstGeom>
          <a:solidFill>
            <a:srgbClr val="6D2E46"/>
          </a:solidFill>
          <a:ln/>
        </p:spPr>
      </p:sp>
      <p:pic>
        <p:nvPicPr>
          <p:cNvPr id="11" name="Image 1" descr="/sessions/blissful-modest-newton/work/build/icons/chart.png"/>
          <p:cNvPicPr>
            <a:picLocks noChangeAspect="1"/>
          </p:cNvPicPr>
          <p:nvPr/>
        </p:nvPicPr>
        <p:blipFill>
          <a:blip r:embed="rId4"/>
          <a:stretch>
            <a:fillRect/>
          </a:stretch>
        </p:blipFill>
        <p:spPr>
          <a:xfrm>
            <a:off x="3758184" y="1751076"/>
            <a:ext cx="384048" cy="384048"/>
          </a:xfrm>
          <a:prstGeom prst="rect">
            <a:avLst/>
          </a:prstGeom>
        </p:spPr>
      </p:pic>
      <p:sp>
        <p:nvSpPr>
          <p:cNvPr id="12" name="Text 8"/>
          <p:cNvSpPr txBox="1"/>
          <p:nvPr/>
        </p:nvSpPr>
        <p:spPr>
          <a:xfrm>
            <a:off x="3607308" y="2340864"/>
            <a:ext cx="21351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Female labor-force participation</a:t>
            </a:r>
            <a:endParaRPr lang="en-US" sz="1450" dirty="0"/>
          </a:p>
        </p:txBody>
      </p:sp>
      <p:sp>
        <p:nvSpPr>
          <p:cNvPr id="13" name="Text 9"/>
          <p:cNvSpPr txBox="1"/>
          <p:nvPr/>
        </p:nvSpPr>
        <p:spPr>
          <a:xfrm>
            <a:off x="3607308" y="2670048"/>
            <a:ext cx="2135124" cy="342900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Economic independence reduces the material incentive to marry early.</a:t>
            </a:r>
            <a:endParaRPr lang="en-US" sz="1200" dirty="0"/>
          </a:p>
        </p:txBody>
      </p:sp>
      <p:sp>
        <p:nvSpPr>
          <p:cNvPr id="14" name="Shape 10"/>
          <p:cNvSpPr/>
          <p:nvPr/>
        </p:nvSpPr>
        <p:spPr>
          <a:xfrm>
            <a:off x="6263640" y="1417320"/>
            <a:ext cx="2537460" cy="4754880"/>
          </a:xfrm>
          <a:prstGeom prst="roundRect">
            <a:avLst>
              <a:gd name="adj" fmla="val 2883"/>
            </a:avLst>
          </a:prstGeom>
          <a:solidFill>
            <a:srgbClr val="F7F3EF"/>
          </a:solidFill>
          <a:ln/>
        </p:spPr>
      </p:sp>
      <p:sp>
        <p:nvSpPr>
          <p:cNvPr id="15" name="Shape 11"/>
          <p:cNvSpPr/>
          <p:nvPr/>
        </p:nvSpPr>
        <p:spPr>
          <a:xfrm>
            <a:off x="6464808" y="1600200"/>
            <a:ext cx="685800" cy="685800"/>
          </a:xfrm>
          <a:prstGeom prst="ellipse">
            <a:avLst/>
          </a:prstGeom>
          <a:solidFill>
            <a:srgbClr val="6D2E46"/>
          </a:solidFill>
          <a:ln/>
        </p:spPr>
      </p:sp>
      <p:pic>
        <p:nvPicPr>
          <p:cNvPr id="16" name="Image 2" descr="/sessions/blissful-modest-newton/work/build/icons/building.png"/>
          <p:cNvPicPr>
            <a:picLocks noChangeAspect="1"/>
          </p:cNvPicPr>
          <p:nvPr/>
        </p:nvPicPr>
        <p:blipFill>
          <a:blip r:embed="rId5"/>
          <a:stretch>
            <a:fillRect/>
          </a:stretch>
        </p:blipFill>
        <p:spPr>
          <a:xfrm>
            <a:off x="6615684" y="1751076"/>
            <a:ext cx="384048" cy="384048"/>
          </a:xfrm>
          <a:prstGeom prst="rect">
            <a:avLst/>
          </a:prstGeom>
        </p:spPr>
      </p:pic>
      <p:sp>
        <p:nvSpPr>
          <p:cNvPr id="17" name="Text 12"/>
          <p:cNvSpPr txBox="1"/>
          <p:nvPr/>
        </p:nvSpPr>
        <p:spPr>
          <a:xfrm>
            <a:off x="6464808" y="2340864"/>
            <a:ext cx="21351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Urbanization &amp; housing cost</a:t>
            </a:r>
            <a:endParaRPr lang="en-US" sz="1450" dirty="0"/>
          </a:p>
        </p:txBody>
      </p:sp>
      <p:sp>
        <p:nvSpPr>
          <p:cNvPr id="18" name="Text 13"/>
          <p:cNvSpPr txBox="1"/>
          <p:nvPr/>
        </p:nvSpPr>
        <p:spPr>
          <a:xfrm>
            <a:off x="6464808" y="2670048"/>
            <a:ext cx="2135124" cy="342900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City living raises the cost of establishing an independent marital household.</a:t>
            </a:r>
            <a:endParaRPr lang="en-US" sz="1200" dirty="0"/>
          </a:p>
        </p:txBody>
      </p:sp>
      <p:sp>
        <p:nvSpPr>
          <p:cNvPr id="19" name="Shape 14"/>
          <p:cNvSpPr/>
          <p:nvPr/>
        </p:nvSpPr>
        <p:spPr>
          <a:xfrm>
            <a:off x="9121140" y="1417320"/>
            <a:ext cx="2537460" cy="4754880"/>
          </a:xfrm>
          <a:prstGeom prst="roundRect">
            <a:avLst>
              <a:gd name="adj" fmla="val 2883"/>
            </a:avLst>
          </a:prstGeom>
          <a:solidFill>
            <a:srgbClr val="ECE2D0"/>
          </a:solidFill>
          <a:ln/>
        </p:spPr>
      </p:sp>
      <p:sp>
        <p:nvSpPr>
          <p:cNvPr id="20" name="Shape 15"/>
          <p:cNvSpPr/>
          <p:nvPr/>
        </p:nvSpPr>
        <p:spPr>
          <a:xfrm>
            <a:off x="9322308" y="1600200"/>
            <a:ext cx="685800" cy="685800"/>
          </a:xfrm>
          <a:prstGeom prst="ellipse">
            <a:avLst/>
          </a:prstGeom>
          <a:solidFill>
            <a:srgbClr val="6D2E46"/>
          </a:solidFill>
          <a:ln/>
        </p:spPr>
      </p:sp>
      <p:pic>
        <p:nvPicPr>
          <p:cNvPr id="21" name="Image 3" descr="/sessions/blissful-modest-newton/work/build/icons/users3.png"/>
          <p:cNvPicPr>
            <a:picLocks noChangeAspect="1"/>
          </p:cNvPicPr>
          <p:nvPr/>
        </p:nvPicPr>
        <p:blipFill>
          <a:blip r:embed="rId6"/>
          <a:stretch>
            <a:fillRect/>
          </a:stretch>
        </p:blipFill>
        <p:spPr>
          <a:xfrm>
            <a:off x="9473184" y="1751076"/>
            <a:ext cx="384048" cy="384048"/>
          </a:xfrm>
          <a:prstGeom prst="rect">
            <a:avLst/>
          </a:prstGeom>
        </p:spPr>
      </p:pic>
      <p:sp>
        <p:nvSpPr>
          <p:cNvPr id="22" name="Text 16"/>
          <p:cNvSpPr txBox="1"/>
          <p:nvPr/>
        </p:nvSpPr>
        <p:spPr>
          <a:xfrm>
            <a:off x="9322308" y="2340864"/>
            <a:ext cx="21351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Changing gender norms</a:t>
            </a:r>
            <a:endParaRPr lang="en-US" sz="1450" dirty="0"/>
          </a:p>
        </p:txBody>
      </p:sp>
      <p:sp>
        <p:nvSpPr>
          <p:cNvPr id="23" name="Text 17"/>
          <p:cNvSpPr txBox="1"/>
          <p:nvPr/>
        </p:nvSpPr>
        <p:spPr>
          <a:xfrm>
            <a:off x="9322308" y="2670048"/>
            <a:ext cx="2135124" cy="342900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Rising individualism and shifting norms around partnership and childbearing.</a:t>
            </a:r>
            <a:endParaRPr lang="en-US" sz="1200" dirty="0"/>
          </a:p>
        </p:txBody>
      </p:sp>
      <p:sp>
        <p:nvSpPr>
          <p:cNvPr id="24" name="Text 18"/>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25" name="Text 19"/>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24 / 56</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EXAMPLE 4 — THAILAND</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More Thai Women Are Staying Never-Married</a:t>
            </a:r>
            <a:endParaRPr lang="en-US" sz="3000" dirty="0"/>
          </a:p>
        </p:txBody>
      </p:sp>
      <p:graphicFrame>
        <p:nvGraphicFramePr>
          <p:cNvPr id="4" name="Chart 0"/>
          <p:cNvGraphicFramePr/>
          <p:nvPr/>
        </p:nvGraphicFramePr>
        <p:xfrm>
          <a:off x="548640" y="1508760"/>
          <a:ext cx="676656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543800" y="1508760"/>
            <a:ext cx="4114800" cy="2377440"/>
          </a:xfrm>
          <a:prstGeom prst="roundRect">
            <a:avLst>
              <a:gd name="adj" fmla="val 3846"/>
            </a:avLst>
          </a:prstGeom>
          <a:solidFill>
            <a:srgbClr val="ECE2D0"/>
          </a:solidFill>
          <a:ln/>
        </p:spPr>
      </p:sp>
      <p:sp>
        <p:nvSpPr>
          <p:cNvPr id="6" name="Text 3"/>
          <p:cNvSpPr txBox="1"/>
          <p:nvPr/>
        </p:nvSpPr>
        <p:spPr>
          <a:xfrm>
            <a:off x="7680960" y="1645920"/>
            <a:ext cx="3840480" cy="914400"/>
          </a:xfrm>
          <a:prstGeom prst="rect">
            <a:avLst/>
          </a:prstGeom>
          <a:noFill/>
          <a:ln/>
        </p:spPr>
        <p:txBody>
          <a:bodyPr wrap="square" lIns="0" tIns="0" rIns="0" bIns="0" rtlCol="0" anchor="ctr"/>
          <a:lstStyle/>
          <a:p>
            <a:pPr marL="0" indent="0" algn="ctr">
              <a:buNone/>
            </a:pPr>
            <a:r>
              <a:rPr lang="en-US" sz="4000" b="1" dirty="0">
                <a:solidFill>
                  <a:srgbClr val="6D2E46"/>
                </a:solidFill>
                <a:latin typeface="Cambria" pitchFamily="34" charset="0"/>
                <a:ea typeface="Cambria" pitchFamily="34" charset="-122"/>
                <a:cs typeface="Cambria" pitchFamily="34" charset="-120"/>
              </a:rPr>
              <a:t>9%</a:t>
            </a:r>
            <a:endParaRPr lang="en-US" sz="4000" dirty="0"/>
          </a:p>
        </p:txBody>
      </p:sp>
      <p:sp>
        <p:nvSpPr>
          <p:cNvPr id="7" name="Text 4"/>
          <p:cNvSpPr txBox="1"/>
          <p:nvPr/>
        </p:nvSpPr>
        <p:spPr>
          <a:xfrm>
            <a:off x="7680960" y="2468880"/>
            <a:ext cx="3840480" cy="1280160"/>
          </a:xfrm>
          <a:prstGeom prst="rect">
            <a:avLst/>
          </a:prstGeom>
          <a:noFill/>
          <a:ln/>
        </p:spPr>
        <p:txBody>
          <a:bodyPr wrap="square" lIns="0" tIns="0" rIns="0" bIns="0" rtlCol="0" anchor="ctr"/>
          <a:lstStyle/>
          <a:p>
            <a:pPr marL="0" indent="0" algn="ctr">
              <a:buNone/>
            </a:pPr>
            <a:r>
              <a:rPr lang="en-US" sz="1200" dirty="0">
                <a:solidFill>
                  <a:srgbClr val="2A1420"/>
                </a:solidFill>
                <a:latin typeface="Calibri" pitchFamily="34" charset="0"/>
                <a:ea typeface="Calibri" pitchFamily="34" charset="-122"/>
                <a:cs typeface="Calibri" pitchFamily="34" charset="-120"/>
              </a:rPr>
              <a:t>of women aged 15-49 in Thailand had never married — up 5.5 points since 2001</a:t>
            </a:r>
            <a:endParaRPr lang="en-US" sz="1200" dirty="0"/>
          </a:p>
        </p:txBody>
      </p:sp>
      <p:sp>
        <p:nvSpPr>
          <p:cNvPr id="8" name="Text 5"/>
          <p:cNvSpPr txBox="1"/>
          <p:nvPr/>
        </p:nvSpPr>
        <p:spPr>
          <a:xfrm>
            <a:off x="7543800" y="4023360"/>
            <a:ext cx="4114800" cy="1417320"/>
          </a:xfrm>
          <a:prstGeom prst="rect">
            <a:avLst/>
          </a:prstGeom>
          <a:noFill/>
          <a:ln/>
        </p:spPr>
        <p:txBody>
          <a:bodyPr wrap="square" lIns="0" tIns="0" rIns="0" bIns="0" rtlCol="0" anchor="ctr"/>
          <a:lstStyle/>
          <a:p>
            <a:pPr marL="0" indent="0">
              <a:lnSpc>
                <a:spcPct val="110000"/>
              </a:lnSpc>
              <a:buNone/>
            </a:pPr>
            <a:r>
              <a:rPr lang="en-US" sz="1150" dirty="0">
                <a:solidFill>
                  <a:srgbClr val="2A1420"/>
                </a:solidFill>
                <a:latin typeface="Calibri" pitchFamily="34" charset="0"/>
                <a:ea typeface="Calibri" pitchFamily="34" charset="-122"/>
                <a:cs typeface="Calibri" pitchFamily="34" charset="-120"/>
              </a:rPr>
              <a:t>A related 2024 study finds remarriage after divorce/widowhood is becoming more selective and later-timed, reshaping mid-life household composition.</a:t>
            </a:r>
            <a:endParaRPr lang="en-US" sz="1150" dirty="0"/>
          </a:p>
        </p:txBody>
      </p:sp>
      <p:sp>
        <p:nvSpPr>
          <p:cNvPr id="9" name="Text 6"/>
          <p:cNvSpPr txBox="1"/>
          <p:nvPr/>
        </p:nvSpPr>
        <p:spPr>
          <a:xfrm>
            <a:off x="548640" y="6217920"/>
            <a:ext cx="11064240" cy="365760"/>
          </a:xfrm>
          <a:prstGeom prst="rect">
            <a:avLst/>
          </a:prstGeom>
          <a:noFill/>
          <a:ln/>
        </p:spPr>
        <p:txBody>
          <a:bodyPr wrap="square" lIns="0" tIns="0" rIns="0" bIns="0" rtlCol="0" anchor="ctr"/>
          <a:lstStyle/>
          <a:p>
            <a:pPr marL="0" indent="0">
              <a:buNone/>
            </a:pPr>
            <a:r>
              <a:rPr lang="en-US" sz="900" i="1" dirty="0">
                <a:solidFill>
                  <a:srgbClr val="6B5A5F"/>
                </a:solidFill>
                <a:latin typeface="Calibri" pitchFamily="34" charset="0"/>
                <a:ea typeface="Calibri" pitchFamily="34" charset="-122"/>
                <a:cs typeface="Calibri" pitchFamily="34" charset="-120"/>
              </a:rPr>
              <a:t>Sources: Chulalongkorn Univ. College of Population Studies, in Bangkok Post (2018); Pothisiri, Teerawichitchainan &amp; Kaewbuadee (2024), J. of Family Issues, doi.org/10.1177/0192513X231155659.</a:t>
            </a:r>
            <a:endParaRPr lang="en-US" sz="900" dirty="0"/>
          </a:p>
        </p:txBody>
      </p:sp>
      <p:sp>
        <p:nvSpPr>
          <p:cNvPr id="10" name="Text 7"/>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1" name="Text 8"/>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25 / 56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ADDITIONAL REAL EXAMPLE — SOUTH KOREA, 2022–2024</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A Rare Marriage Rebound — But From a Record Low</a:t>
            </a:r>
            <a:endParaRPr lang="en-US" sz="3000" dirty="0"/>
          </a:p>
        </p:txBody>
      </p:sp>
      <p:graphicFrame>
        <p:nvGraphicFramePr>
          <p:cNvPr id="4" name="Chart 0"/>
          <p:cNvGraphicFramePr/>
          <p:nvPr/>
        </p:nvGraphicFramePr>
        <p:xfrm>
          <a:off x="548640" y="1508760"/>
          <a:ext cx="676656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543800" y="1508760"/>
            <a:ext cx="4114800" cy="1920240"/>
          </a:xfrm>
          <a:prstGeom prst="roundRect">
            <a:avLst>
              <a:gd name="adj" fmla="val 4762"/>
            </a:avLst>
          </a:prstGeom>
          <a:solidFill>
            <a:srgbClr val="ECE2D0"/>
          </a:solidFill>
          <a:ln/>
        </p:spPr>
      </p:sp>
      <p:sp>
        <p:nvSpPr>
          <p:cNvPr id="6" name="Text 3"/>
          <p:cNvSpPr txBox="1"/>
          <p:nvPr/>
        </p:nvSpPr>
        <p:spPr>
          <a:xfrm>
            <a:off x="7680960" y="1645920"/>
            <a:ext cx="3840480" cy="960120"/>
          </a:xfrm>
          <a:prstGeom prst="rect">
            <a:avLst/>
          </a:prstGeom>
          <a:noFill/>
          <a:ln/>
        </p:spPr>
        <p:txBody>
          <a:bodyPr wrap="square" lIns="0" tIns="0" rIns="0" bIns="0" rtlCol="0" anchor="ctr"/>
          <a:lstStyle/>
          <a:p>
            <a:pPr marL="0" indent="0" algn="ctr">
              <a:buNone/>
            </a:pPr>
            <a:r>
              <a:rPr lang="en-US" sz="4000" b="1" dirty="0">
                <a:solidFill>
                  <a:srgbClr val="6D2E46"/>
                </a:solidFill>
                <a:latin typeface="Cambria" pitchFamily="34" charset="0"/>
                <a:ea typeface="Cambria" pitchFamily="34" charset="-122"/>
                <a:cs typeface="Cambria" pitchFamily="34" charset="-120"/>
              </a:rPr>
              <a:t>4.4</a:t>
            </a:r>
            <a:endParaRPr lang="en-US" sz="4000" dirty="0"/>
          </a:p>
        </p:txBody>
      </p:sp>
      <p:sp>
        <p:nvSpPr>
          <p:cNvPr id="7" name="Text 4"/>
          <p:cNvSpPr txBox="1"/>
          <p:nvPr/>
        </p:nvSpPr>
        <p:spPr>
          <a:xfrm>
            <a:off x="7680960" y="2514600"/>
            <a:ext cx="3840480" cy="868680"/>
          </a:xfrm>
          <a:prstGeom prst="rect">
            <a:avLst/>
          </a:prstGeom>
          <a:noFill/>
          <a:ln/>
        </p:spPr>
        <p:txBody>
          <a:bodyPr wrap="square" lIns="0" tIns="0" rIns="0" bIns="0" rtlCol="0" anchor="ctr"/>
          <a:lstStyle/>
          <a:p>
            <a:pPr marL="0" indent="0" algn="ctr">
              <a:buNone/>
            </a:pPr>
            <a:r>
              <a:rPr lang="en-US" sz="1200" dirty="0">
                <a:solidFill>
                  <a:srgbClr val="2A1420"/>
                </a:solidFill>
                <a:latin typeface="Calibri" pitchFamily="34" charset="0"/>
                <a:ea typeface="Calibri" pitchFamily="34" charset="-122"/>
                <a:cs typeface="Calibri" pitchFamily="34" charset="-120"/>
              </a:rPr>
              <a:t>per 1,000 crude marriage rate, 2024 — down from 8.7 in 1995</a:t>
            </a:r>
            <a:endParaRPr lang="en-US" sz="1200" dirty="0"/>
          </a:p>
        </p:txBody>
      </p:sp>
      <p:sp>
        <p:nvSpPr>
          <p:cNvPr id="8" name="Text 5"/>
          <p:cNvSpPr txBox="1"/>
          <p:nvPr/>
        </p:nvSpPr>
        <p:spPr>
          <a:xfrm>
            <a:off x="7543800" y="3611880"/>
            <a:ext cx="4114800" cy="2286000"/>
          </a:xfrm>
          <a:prstGeom prst="rect">
            <a:avLst/>
          </a:prstGeom>
          <a:noFill/>
          <a:ln/>
        </p:spPr>
        <p:txBody>
          <a:bodyPr wrap="square" lIns="0" tIns="0" rIns="0" bIns="0" rtlCol="0" anchor="ctr"/>
          <a:lstStyle/>
          <a:p>
            <a:pPr marL="0" indent="0">
              <a:lnSpc>
                <a:spcPct val="110000"/>
              </a:lnSpc>
              <a:buNone/>
            </a:pPr>
            <a:r>
              <a:rPr lang="en-US" sz="1150" dirty="0">
                <a:solidFill>
                  <a:srgbClr val="2A1420"/>
                </a:solidFill>
                <a:latin typeface="Calibri" pitchFamily="34" charset="0"/>
                <a:ea typeface="Calibri" pitchFamily="34" charset="-122"/>
                <a:cs typeface="Calibri" pitchFamily="34" charset="-120"/>
              </a:rPr>
              <a:t>Marriages rose 14.8% in 2024 to 222,400 — the sharpest increase in five years — but total marriages had already halved from their 1996 peak of 434,900. Analysts attribute the rebound partly to pandemic-delayed weddings and a rising share of international marriages (9.3% of the total).</a:t>
            </a:r>
            <a:endParaRPr lang="en-US" sz="1150" dirty="0"/>
          </a:p>
        </p:txBody>
      </p:sp>
      <p:sp>
        <p:nvSpPr>
          <p:cNvPr id="9" name="Text 6"/>
          <p:cNvSpPr txBox="1"/>
          <p:nvPr/>
        </p:nvSpPr>
        <p:spPr>
          <a:xfrm>
            <a:off x="548640" y="6217920"/>
            <a:ext cx="11064240" cy="365760"/>
          </a:xfrm>
          <a:prstGeom prst="rect">
            <a:avLst/>
          </a:prstGeom>
          <a:noFill/>
          <a:ln/>
        </p:spPr>
        <p:txBody>
          <a:bodyPr wrap="square" lIns="0" tIns="0" rIns="0" bIns="0" rtlCol="0" anchor="ctr"/>
          <a:lstStyle/>
          <a:p>
            <a:pPr marL="0" indent="0">
              <a:buNone/>
            </a:pPr>
            <a:r>
              <a:rPr lang="en-US" sz="950" i="1" dirty="0">
                <a:solidFill>
                  <a:srgbClr val="6B5A5F"/>
                </a:solidFill>
                <a:latin typeface="Calibri" pitchFamily="34" charset="0"/>
                <a:ea typeface="Calibri" pitchFamily="34" charset="-122"/>
                <a:cs typeface="Calibri" pitchFamily="34" charset="-120"/>
              </a:rPr>
              <a:t>Sources: The Korea Herald (2025), 30-year report shows marriages halved; Statistics Korea (KOSTAT), Vital Statistics 2024.</a:t>
            </a:r>
            <a:endParaRPr lang="en-US" sz="950" dirty="0"/>
          </a:p>
        </p:txBody>
      </p:sp>
      <p:sp>
        <p:nvSpPr>
          <p:cNvPr id="10" name="Text 7"/>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1" name="Text 8"/>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26 / 56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IN-CLASS CALCULATION</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Try It: Compute a General Marriage Rate</a:t>
            </a:r>
            <a:endParaRPr lang="en-US" sz="3000" dirty="0"/>
          </a:p>
        </p:txBody>
      </p:sp>
      <p:sp>
        <p:nvSpPr>
          <p:cNvPr id="4" name="Shape 2"/>
          <p:cNvSpPr/>
          <p:nvPr/>
        </p:nvSpPr>
        <p:spPr>
          <a:xfrm>
            <a:off x="548640" y="1417320"/>
            <a:ext cx="11109960" cy="822960"/>
          </a:xfrm>
          <a:prstGeom prst="roundRect">
            <a:avLst>
              <a:gd name="adj" fmla="val 8889"/>
            </a:avLst>
          </a:prstGeom>
          <a:solidFill>
            <a:srgbClr val="4A1E30"/>
          </a:solidFill>
          <a:ln/>
        </p:spPr>
      </p:sp>
      <p:sp>
        <p:nvSpPr>
          <p:cNvPr id="5" name="Text 3"/>
          <p:cNvSpPr txBox="1"/>
          <p:nvPr/>
        </p:nvSpPr>
        <p:spPr>
          <a:xfrm>
            <a:off x="731520" y="1417320"/>
            <a:ext cx="10744200" cy="822960"/>
          </a:xfrm>
          <a:prstGeom prst="rect">
            <a:avLst/>
          </a:prstGeom>
          <a:noFill/>
          <a:ln/>
        </p:spPr>
        <p:txBody>
          <a:bodyPr wrap="square" lIns="0" tIns="0" rIns="0" bIns="0" rtlCol="0" anchor="ctr"/>
          <a:lstStyle/>
          <a:p>
            <a:pPr marL="0" indent="0" algn="ctr">
              <a:buNone/>
            </a:pPr>
            <a:r>
              <a:rPr lang="en-US" sz="2000" b="1" dirty="0">
                <a:solidFill>
                  <a:srgbClr val="C9962E"/>
                </a:solidFill>
                <a:latin typeface="Courier New" pitchFamily="34" charset="0"/>
                <a:ea typeface="Courier New" pitchFamily="34" charset="-122"/>
                <a:cs typeface="Courier New" pitchFamily="34" charset="-120"/>
              </a:rPr>
              <a:t>CMR = (M / P) × 1,000        GMR = (M / U15+) × 1,000</a:t>
            </a:r>
            <a:endParaRPr lang="en-US" sz="2000" dirty="0"/>
          </a:p>
        </p:txBody>
      </p:sp>
      <p:sp>
        <p:nvSpPr>
          <p:cNvPr id="6" name="Shape 4"/>
          <p:cNvSpPr/>
          <p:nvPr/>
        </p:nvSpPr>
        <p:spPr>
          <a:xfrm>
            <a:off x="548640" y="2468880"/>
            <a:ext cx="11109960" cy="566928"/>
          </a:xfrm>
          <a:prstGeom prst="roundRect">
            <a:avLst>
              <a:gd name="adj" fmla="val 9677"/>
            </a:avLst>
          </a:prstGeom>
          <a:solidFill>
            <a:srgbClr val="F7F3EF"/>
          </a:solidFill>
          <a:ln/>
        </p:spPr>
      </p:sp>
      <p:sp>
        <p:nvSpPr>
          <p:cNvPr id="7" name="Text 5"/>
          <p:cNvSpPr txBox="1"/>
          <p:nvPr/>
        </p:nvSpPr>
        <p:spPr>
          <a:xfrm>
            <a:off x="777240" y="2468880"/>
            <a:ext cx="10652760" cy="566928"/>
          </a:xfrm>
          <a:prstGeom prst="rect">
            <a:avLst/>
          </a:prstGeom>
          <a:noFill/>
          <a:ln/>
        </p:spPr>
        <p:txBody>
          <a:bodyPr wrap="square" lIns="0" tIns="0" rIns="0" bIns="0" rtlCol="0" anchor="ctr"/>
          <a:lstStyle/>
          <a:p>
            <a:pPr marL="0" indent="0">
              <a:buNone/>
            </a:pPr>
            <a:r>
              <a:rPr lang="en-US" sz="1450" dirty="0">
                <a:solidFill>
                  <a:srgbClr val="2A1420"/>
                </a:solidFill>
                <a:latin typeface="Courier New" pitchFamily="34" charset="0"/>
                <a:ea typeface="Courier New" pitchFamily="34" charset="-122"/>
                <a:cs typeface="Courier New" pitchFamily="34" charset="-120"/>
              </a:rPr>
              <a:t>A province registers 4,200 marriages in one year. Mid-year population 1,850,000; unmarried population aged 15+ is 620,000.</a:t>
            </a:r>
            <a:endParaRPr lang="en-US" sz="1450" dirty="0"/>
          </a:p>
        </p:txBody>
      </p:sp>
      <p:sp>
        <p:nvSpPr>
          <p:cNvPr id="8" name="Shape 6"/>
          <p:cNvSpPr/>
          <p:nvPr/>
        </p:nvSpPr>
        <p:spPr>
          <a:xfrm>
            <a:off x="548640" y="3127248"/>
            <a:ext cx="11109960" cy="566928"/>
          </a:xfrm>
          <a:prstGeom prst="roundRect">
            <a:avLst>
              <a:gd name="adj" fmla="val 9677"/>
            </a:avLst>
          </a:prstGeom>
          <a:solidFill>
            <a:srgbClr val="F7F3EF"/>
          </a:solidFill>
          <a:ln/>
        </p:spPr>
      </p:sp>
      <p:sp>
        <p:nvSpPr>
          <p:cNvPr id="9" name="Text 7"/>
          <p:cNvSpPr txBox="1"/>
          <p:nvPr/>
        </p:nvSpPr>
        <p:spPr>
          <a:xfrm>
            <a:off x="777240" y="3127248"/>
            <a:ext cx="10652760" cy="566928"/>
          </a:xfrm>
          <a:prstGeom prst="rect">
            <a:avLst/>
          </a:prstGeom>
          <a:noFill/>
          <a:ln/>
        </p:spPr>
        <p:txBody>
          <a:bodyPr wrap="square" lIns="0" tIns="0" rIns="0" bIns="0" rtlCol="0" anchor="ctr"/>
          <a:lstStyle/>
          <a:p>
            <a:pPr marL="0" indent="0">
              <a:buNone/>
            </a:pPr>
            <a:r>
              <a:rPr lang="en-US" sz="1450" dirty="0">
                <a:solidFill>
                  <a:srgbClr val="2A1420"/>
                </a:solidFill>
                <a:latin typeface="Courier New" pitchFamily="34" charset="0"/>
                <a:ea typeface="Courier New" pitchFamily="34" charset="-122"/>
                <a:cs typeface="Courier New" pitchFamily="34" charset="-120"/>
              </a:rPr>
              <a:t>Step 1 — CMR = (4,200 / 1,850,000) × 1,000 ≈ 2.27</a:t>
            </a:r>
            <a:endParaRPr lang="en-US" sz="1450" dirty="0"/>
          </a:p>
        </p:txBody>
      </p:sp>
      <p:sp>
        <p:nvSpPr>
          <p:cNvPr id="10" name="Shape 8"/>
          <p:cNvSpPr/>
          <p:nvPr/>
        </p:nvSpPr>
        <p:spPr>
          <a:xfrm>
            <a:off x="548640" y="3785616"/>
            <a:ext cx="11109960" cy="566928"/>
          </a:xfrm>
          <a:prstGeom prst="roundRect">
            <a:avLst>
              <a:gd name="adj" fmla="val 9677"/>
            </a:avLst>
          </a:prstGeom>
          <a:solidFill>
            <a:srgbClr val="F7F3EF"/>
          </a:solidFill>
          <a:ln/>
        </p:spPr>
      </p:sp>
      <p:sp>
        <p:nvSpPr>
          <p:cNvPr id="11" name="Text 9"/>
          <p:cNvSpPr txBox="1"/>
          <p:nvPr/>
        </p:nvSpPr>
        <p:spPr>
          <a:xfrm>
            <a:off x="777240" y="3785616"/>
            <a:ext cx="10652760" cy="566928"/>
          </a:xfrm>
          <a:prstGeom prst="rect">
            <a:avLst/>
          </a:prstGeom>
          <a:noFill/>
          <a:ln/>
        </p:spPr>
        <p:txBody>
          <a:bodyPr wrap="square" lIns="0" tIns="0" rIns="0" bIns="0" rtlCol="0" anchor="ctr"/>
          <a:lstStyle/>
          <a:p>
            <a:pPr marL="0" indent="0">
              <a:buNone/>
            </a:pPr>
            <a:r>
              <a:rPr lang="en-US" sz="1450" dirty="0">
                <a:solidFill>
                  <a:srgbClr val="2A1420"/>
                </a:solidFill>
                <a:latin typeface="Courier New" pitchFamily="34" charset="0"/>
                <a:ea typeface="Courier New" pitchFamily="34" charset="-122"/>
                <a:cs typeface="Courier New" pitchFamily="34" charset="-120"/>
              </a:rPr>
              <a:t>Step 2 — GMR = (4,200 / 620,000) × 1,000 ≈ 6.77</a:t>
            </a:r>
            <a:endParaRPr lang="en-US" sz="1450" dirty="0"/>
          </a:p>
        </p:txBody>
      </p:sp>
      <p:sp>
        <p:nvSpPr>
          <p:cNvPr id="12" name="Text 10"/>
          <p:cNvSpPr txBox="1"/>
          <p:nvPr/>
        </p:nvSpPr>
        <p:spPr>
          <a:xfrm>
            <a:off x="548640" y="4535424"/>
            <a:ext cx="11064240" cy="1636776"/>
          </a:xfrm>
          <a:prstGeom prst="rect">
            <a:avLst/>
          </a:prstGeom>
          <a:noFill/>
          <a:ln/>
        </p:spPr>
        <p:txBody>
          <a:bodyPr wrap="square" lIns="0" tIns="0" rIns="0" bIns="0" rtlCol="0" anchor="ctr"/>
          <a:lstStyle/>
          <a:p>
            <a:pPr marL="0" indent="0">
              <a:lnSpc>
                <a:spcPct val="110000"/>
              </a:lnSpc>
              <a:buNone/>
            </a:pPr>
            <a:r>
              <a:rPr lang="en-US" sz="1350" dirty="0">
                <a:solidFill>
                  <a:srgbClr val="2A1420"/>
                </a:solidFill>
                <a:latin typeface="Calibri" pitchFamily="34" charset="0"/>
                <a:ea typeface="Calibri" pitchFamily="34" charset="-122"/>
                <a:cs typeface="Calibri" pitchFamily="34" charset="-120"/>
              </a:rPr>
              <a:t>Discuss: why is the GMR roughly 3x the CMR here? What does that gap tell you about this province's age structure?</a:t>
            </a:r>
            <a:endParaRPr lang="en-US" sz="1350" dirty="0"/>
          </a:p>
        </p:txBody>
      </p:sp>
      <p:sp>
        <p:nvSpPr>
          <p:cNvPr id="13" name="Text 11"/>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4" name="Text 12"/>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29 / 56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41" name="Shape 8">
            <a:extLst>
              <a:ext uri="{FF2B5EF4-FFF2-40B4-BE49-F238E27FC236}">
                <a16:creationId xmlns:a16="http://schemas.microsoft.com/office/drawing/2014/main" id="{51D2A483-FCEB-C702-74D4-25B4DF950221}"/>
              </a:ext>
            </a:extLst>
          </p:cNvPr>
          <p:cNvSpPr/>
          <p:nvPr/>
        </p:nvSpPr>
        <p:spPr>
          <a:xfrm>
            <a:off x="628651" y="2210498"/>
            <a:ext cx="11191873" cy="1051560"/>
          </a:xfrm>
          <a:prstGeom prst="roundRect">
            <a:avLst>
              <a:gd name="adj" fmla="val 6957"/>
            </a:avLst>
          </a:prstGeom>
          <a:solidFill>
            <a:schemeClr val="bg1">
              <a:alpha val="85000"/>
            </a:schemeClr>
          </a:solidFill>
          <a:ln/>
        </p:spPr>
      </p:sp>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GROUP WORK 1</a:t>
            </a:r>
            <a:endParaRPr lang="en-US" sz="1300" dirty="0"/>
          </a:p>
        </p:txBody>
      </p:sp>
      <p:sp>
        <p:nvSpPr>
          <p:cNvPr id="3" name="Text 1"/>
          <p:cNvSpPr txBox="1"/>
          <p:nvPr/>
        </p:nvSpPr>
        <p:spPr>
          <a:xfrm>
            <a:off x="2125980" y="92050"/>
            <a:ext cx="11064240" cy="685800"/>
          </a:xfrm>
          <a:prstGeom prst="rect">
            <a:avLst/>
          </a:prstGeom>
          <a:noFill/>
          <a:ln>
            <a:solidFill>
              <a:schemeClr val="accent1"/>
            </a:solid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Assigned Cases</a:t>
            </a:r>
            <a:endParaRPr lang="en-US" sz="3000" dirty="0"/>
          </a:p>
        </p:txBody>
      </p:sp>
      <p:sp>
        <p:nvSpPr>
          <p:cNvPr id="4" name="Shape 2"/>
          <p:cNvSpPr/>
          <p:nvPr/>
        </p:nvSpPr>
        <p:spPr>
          <a:xfrm>
            <a:off x="548640" y="3736068"/>
            <a:ext cx="3520440" cy="2298971"/>
          </a:xfrm>
          <a:prstGeom prst="roundRect">
            <a:avLst>
              <a:gd name="adj" fmla="val 2597"/>
            </a:avLst>
          </a:prstGeom>
          <a:solidFill>
            <a:srgbClr val="F7F3EF"/>
          </a:solidFill>
          <a:ln/>
        </p:spPr>
      </p:sp>
      <p:sp>
        <p:nvSpPr>
          <p:cNvPr id="5" name="Shape 3"/>
          <p:cNvSpPr/>
          <p:nvPr/>
        </p:nvSpPr>
        <p:spPr>
          <a:xfrm>
            <a:off x="777240" y="3347725"/>
            <a:ext cx="3063240" cy="352196"/>
          </a:xfrm>
          <a:prstGeom prst="roundRect">
            <a:avLst>
              <a:gd name="adj" fmla="val 50000"/>
            </a:avLst>
          </a:prstGeom>
          <a:solidFill>
            <a:srgbClr val="6D2E46"/>
          </a:solidFill>
          <a:ln/>
        </p:spPr>
      </p:sp>
      <p:sp>
        <p:nvSpPr>
          <p:cNvPr id="6" name="Text 4"/>
          <p:cNvSpPr txBox="1"/>
          <p:nvPr/>
        </p:nvSpPr>
        <p:spPr>
          <a:xfrm>
            <a:off x="777240" y="3347725"/>
            <a:ext cx="3063240" cy="35219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GROUP 1</a:t>
            </a:r>
            <a:endParaRPr lang="en-US" sz="1250" dirty="0"/>
          </a:p>
        </p:txBody>
      </p:sp>
      <p:sp>
        <p:nvSpPr>
          <p:cNvPr id="7" name="Text 5"/>
          <p:cNvSpPr txBox="1"/>
          <p:nvPr/>
        </p:nvSpPr>
        <p:spPr>
          <a:xfrm>
            <a:off x="777240" y="3883390"/>
            <a:ext cx="3063240" cy="386532"/>
          </a:xfrm>
          <a:prstGeom prst="rect">
            <a:avLst/>
          </a:prstGeom>
          <a:noFill/>
          <a:ln/>
        </p:spPr>
        <p:txBody>
          <a:bodyPr wrap="square" lIns="0" tIns="0" rIns="0" bIns="0" rtlCol="0" anchor="ctr"/>
          <a:lstStyle/>
          <a:p>
            <a:pPr marL="0" indent="0">
              <a:buNone/>
            </a:pPr>
            <a:r>
              <a:rPr lang="en-US" sz="1650" b="1" dirty="0">
                <a:solidFill>
                  <a:srgbClr val="6D2E46"/>
                </a:solidFill>
                <a:latin typeface="Cambria" pitchFamily="34" charset="0"/>
                <a:ea typeface="Cambria" pitchFamily="34" charset="-122"/>
                <a:cs typeface="Cambria" pitchFamily="34" charset="-120"/>
              </a:rPr>
              <a:t>Thailand — Marriage Equality</a:t>
            </a:r>
            <a:endParaRPr lang="en-US" sz="1650" dirty="0"/>
          </a:p>
        </p:txBody>
      </p:sp>
      <p:sp>
        <p:nvSpPr>
          <p:cNvPr id="8" name="Text 6"/>
          <p:cNvSpPr txBox="1"/>
          <p:nvPr/>
        </p:nvSpPr>
        <p:spPr>
          <a:xfrm>
            <a:off x="777240" y="3992300"/>
            <a:ext cx="3063240" cy="1724527"/>
          </a:xfrm>
          <a:prstGeom prst="rect">
            <a:avLst/>
          </a:prstGeom>
          <a:noFill/>
          <a:ln/>
        </p:spPr>
        <p:txBody>
          <a:bodyPr wrap="square" lIns="0" tIns="0" rIns="0" bIns="0" rtlCol="0" anchor="ctr"/>
          <a:lstStyle/>
          <a:p>
            <a:pPr marL="0" indent="0">
              <a:lnSpc>
                <a:spcPct val="112000"/>
              </a:lnSpc>
              <a:buNone/>
            </a:pPr>
            <a:r>
              <a:rPr lang="en-US" sz="1250" dirty="0">
                <a:solidFill>
                  <a:srgbClr val="2A1420"/>
                </a:solidFill>
                <a:latin typeface="Calibri" pitchFamily="34" charset="0"/>
                <a:ea typeface="Calibri" pitchFamily="34" charset="-122"/>
                <a:cs typeface="Calibri" pitchFamily="34" charset="-120"/>
              </a:rPr>
              <a:t>The 2025 Marriage Equality Act legalized same-sex marriage — the first in Southeast Asia — while registered marriages fell 14% (2022→2024: 305.5k → 279.7k → 263.1k).</a:t>
            </a:r>
            <a:endParaRPr lang="en-US" sz="1250" dirty="0"/>
          </a:p>
        </p:txBody>
      </p:sp>
      <p:sp>
        <p:nvSpPr>
          <p:cNvPr id="9" name="Text 7"/>
          <p:cNvSpPr txBox="1"/>
          <p:nvPr/>
        </p:nvSpPr>
        <p:spPr>
          <a:xfrm>
            <a:off x="777240" y="6185764"/>
            <a:ext cx="3063240" cy="297332"/>
          </a:xfrm>
          <a:prstGeom prst="rect">
            <a:avLst/>
          </a:prstGeom>
          <a:noFill/>
          <a:ln/>
        </p:spPr>
        <p:txBody>
          <a:bodyPr wrap="square" lIns="0" tIns="0" rIns="0" bIns="0" rtlCol="0" anchor="ctr"/>
          <a:lstStyle/>
          <a:p>
            <a:pPr marL="0" indent="0">
              <a:buNone/>
            </a:pPr>
            <a:r>
              <a:rPr lang="en-US" sz="950" i="1" dirty="0">
                <a:solidFill>
                  <a:srgbClr val="6B5A5F"/>
                </a:solidFill>
                <a:latin typeface="Calibri" pitchFamily="34" charset="0"/>
                <a:ea typeface="Calibri" pitchFamily="34" charset="-122"/>
                <a:cs typeface="Calibri" pitchFamily="34" charset="-120"/>
              </a:rPr>
              <a:t>UN OHCHR (2025); NSO Thailand, Statistical Yearbook 2025.</a:t>
            </a:r>
            <a:endParaRPr lang="en-US" sz="950" dirty="0"/>
          </a:p>
        </p:txBody>
      </p:sp>
      <p:sp>
        <p:nvSpPr>
          <p:cNvPr id="10" name="Shape 8"/>
          <p:cNvSpPr/>
          <p:nvPr/>
        </p:nvSpPr>
        <p:spPr>
          <a:xfrm>
            <a:off x="4343400" y="3780894"/>
            <a:ext cx="3520440" cy="2254145"/>
          </a:xfrm>
          <a:prstGeom prst="roundRect">
            <a:avLst>
              <a:gd name="adj" fmla="val 2597"/>
            </a:avLst>
          </a:prstGeom>
          <a:solidFill>
            <a:srgbClr val="ECE2D0"/>
          </a:solidFill>
          <a:ln/>
        </p:spPr>
      </p:sp>
      <p:sp>
        <p:nvSpPr>
          <p:cNvPr id="11" name="Shape 9"/>
          <p:cNvSpPr/>
          <p:nvPr/>
        </p:nvSpPr>
        <p:spPr>
          <a:xfrm>
            <a:off x="4556760" y="3337125"/>
            <a:ext cx="3063240" cy="352196"/>
          </a:xfrm>
          <a:prstGeom prst="roundRect">
            <a:avLst>
              <a:gd name="adj" fmla="val 50000"/>
            </a:avLst>
          </a:prstGeom>
          <a:solidFill>
            <a:srgbClr val="6D2E46"/>
          </a:solidFill>
          <a:ln/>
        </p:spPr>
      </p:sp>
      <p:sp>
        <p:nvSpPr>
          <p:cNvPr id="12" name="Text 10"/>
          <p:cNvSpPr txBox="1"/>
          <p:nvPr/>
        </p:nvSpPr>
        <p:spPr>
          <a:xfrm>
            <a:off x="4556760" y="3337125"/>
            <a:ext cx="3063240" cy="35219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GROUP 2</a:t>
            </a:r>
            <a:endParaRPr lang="en-US" sz="1250" dirty="0"/>
          </a:p>
        </p:txBody>
      </p:sp>
      <p:sp>
        <p:nvSpPr>
          <p:cNvPr id="13" name="Text 11"/>
          <p:cNvSpPr txBox="1"/>
          <p:nvPr/>
        </p:nvSpPr>
        <p:spPr>
          <a:xfrm>
            <a:off x="4572000" y="3883390"/>
            <a:ext cx="3063240" cy="386532"/>
          </a:xfrm>
          <a:prstGeom prst="rect">
            <a:avLst/>
          </a:prstGeom>
          <a:noFill/>
          <a:ln/>
        </p:spPr>
        <p:txBody>
          <a:bodyPr wrap="square" lIns="0" tIns="0" rIns="0" bIns="0" rtlCol="0" anchor="ctr"/>
          <a:lstStyle/>
          <a:p>
            <a:pPr marL="0" indent="0">
              <a:buNone/>
            </a:pPr>
            <a:r>
              <a:rPr lang="en-US" sz="1650" b="1" dirty="0">
                <a:solidFill>
                  <a:srgbClr val="6D2E46"/>
                </a:solidFill>
                <a:latin typeface="Cambria" pitchFamily="34" charset="0"/>
                <a:ea typeface="Cambria" pitchFamily="34" charset="-122"/>
                <a:cs typeface="Cambria" pitchFamily="34" charset="-120"/>
              </a:rPr>
              <a:t>Japan &amp; South Korea — Decline, Then a Blip</a:t>
            </a:r>
            <a:endParaRPr lang="en-US" sz="1650" dirty="0"/>
          </a:p>
        </p:txBody>
      </p:sp>
      <p:sp>
        <p:nvSpPr>
          <p:cNvPr id="14" name="Text 12"/>
          <p:cNvSpPr txBox="1"/>
          <p:nvPr/>
        </p:nvSpPr>
        <p:spPr>
          <a:xfrm>
            <a:off x="4572000" y="3992300"/>
            <a:ext cx="3063240" cy="1724527"/>
          </a:xfrm>
          <a:prstGeom prst="rect">
            <a:avLst/>
          </a:prstGeom>
          <a:noFill/>
          <a:ln/>
        </p:spPr>
        <p:txBody>
          <a:bodyPr wrap="square" lIns="0" tIns="0" rIns="0" bIns="0" rtlCol="0" anchor="ctr"/>
          <a:lstStyle/>
          <a:p>
            <a:pPr marL="0" indent="0">
              <a:lnSpc>
                <a:spcPct val="112000"/>
              </a:lnSpc>
              <a:buNone/>
            </a:pPr>
            <a:r>
              <a:rPr lang="en-US" sz="1250" dirty="0">
                <a:solidFill>
                  <a:srgbClr val="2A1420"/>
                </a:solidFill>
                <a:latin typeface="Calibri" pitchFamily="34" charset="0"/>
                <a:ea typeface="Calibri" pitchFamily="34" charset="-122"/>
                <a:cs typeface="Calibri" pitchFamily="34" charset="-120"/>
              </a:rPr>
              <a:t>Japan: 499,999 marriages in 2024 (CMR ≈ 4.0), just 44% of the 1972 peak. South Korea: CMR fell from 8.7 (1995) to 4.4 (2024) despite a 14.8% one-year rebound.</a:t>
            </a:r>
            <a:endParaRPr lang="en-US" sz="1250" dirty="0"/>
          </a:p>
        </p:txBody>
      </p:sp>
      <p:sp>
        <p:nvSpPr>
          <p:cNvPr id="15" name="Text 13"/>
          <p:cNvSpPr txBox="1"/>
          <p:nvPr/>
        </p:nvSpPr>
        <p:spPr>
          <a:xfrm>
            <a:off x="4572000" y="6185764"/>
            <a:ext cx="3063240" cy="297332"/>
          </a:xfrm>
          <a:prstGeom prst="rect">
            <a:avLst/>
          </a:prstGeom>
          <a:noFill/>
          <a:ln/>
        </p:spPr>
        <p:txBody>
          <a:bodyPr wrap="square" lIns="0" tIns="0" rIns="0" bIns="0" rtlCol="0" anchor="ctr"/>
          <a:lstStyle/>
          <a:p>
            <a:pPr marL="0" indent="0">
              <a:buNone/>
            </a:pPr>
            <a:r>
              <a:rPr lang="en-US" sz="950" i="1" dirty="0">
                <a:solidFill>
                  <a:srgbClr val="6B5A5F"/>
                </a:solidFill>
                <a:latin typeface="Calibri" pitchFamily="34" charset="0"/>
                <a:ea typeface="Calibri" pitchFamily="34" charset="-122"/>
                <a:cs typeface="Calibri" pitchFamily="34" charset="-120"/>
              </a:rPr>
              <a:t>ISVD (2025); The Korea Herald (2025); KOSTAT.</a:t>
            </a:r>
            <a:endParaRPr lang="en-US" sz="950" dirty="0"/>
          </a:p>
        </p:txBody>
      </p:sp>
      <p:sp>
        <p:nvSpPr>
          <p:cNvPr id="16" name="Shape 14"/>
          <p:cNvSpPr/>
          <p:nvPr/>
        </p:nvSpPr>
        <p:spPr>
          <a:xfrm>
            <a:off x="8138160" y="3754376"/>
            <a:ext cx="3520440" cy="2280663"/>
          </a:xfrm>
          <a:prstGeom prst="roundRect">
            <a:avLst>
              <a:gd name="adj" fmla="val 2597"/>
            </a:avLst>
          </a:prstGeom>
          <a:solidFill>
            <a:srgbClr val="F7F3EF"/>
          </a:solidFill>
          <a:ln/>
        </p:spPr>
      </p:sp>
      <p:sp>
        <p:nvSpPr>
          <p:cNvPr id="17" name="Shape 15"/>
          <p:cNvSpPr/>
          <p:nvPr/>
        </p:nvSpPr>
        <p:spPr>
          <a:xfrm>
            <a:off x="8351520" y="3337125"/>
            <a:ext cx="3063240" cy="352196"/>
          </a:xfrm>
          <a:prstGeom prst="roundRect">
            <a:avLst>
              <a:gd name="adj" fmla="val 50000"/>
            </a:avLst>
          </a:prstGeom>
          <a:solidFill>
            <a:srgbClr val="6D2E46"/>
          </a:solidFill>
          <a:ln/>
        </p:spPr>
      </p:sp>
      <p:sp>
        <p:nvSpPr>
          <p:cNvPr id="18" name="Text 16"/>
          <p:cNvSpPr txBox="1"/>
          <p:nvPr/>
        </p:nvSpPr>
        <p:spPr>
          <a:xfrm>
            <a:off x="8351520" y="3337125"/>
            <a:ext cx="3063240" cy="35219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GROUP 3</a:t>
            </a:r>
            <a:endParaRPr lang="en-US" sz="1250" dirty="0"/>
          </a:p>
        </p:txBody>
      </p:sp>
      <p:sp>
        <p:nvSpPr>
          <p:cNvPr id="19" name="Text 17"/>
          <p:cNvSpPr txBox="1"/>
          <p:nvPr/>
        </p:nvSpPr>
        <p:spPr>
          <a:xfrm>
            <a:off x="8366760" y="3883390"/>
            <a:ext cx="3063240" cy="386532"/>
          </a:xfrm>
          <a:prstGeom prst="rect">
            <a:avLst/>
          </a:prstGeom>
          <a:noFill/>
          <a:ln/>
        </p:spPr>
        <p:txBody>
          <a:bodyPr wrap="square" lIns="0" tIns="0" rIns="0" bIns="0" rtlCol="0" anchor="ctr"/>
          <a:lstStyle/>
          <a:p>
            <a:pPr marL="0" indent="0">
              <a:buNone/>
            </a:pPr>
            <a:r>
              <a:rPr lang="en-US" sz="1650" b="1" dirty="0">
                <a:solidFill>
                  <a:srgbClr val="6D2E46"/>
                </a:solidFill>
                <a:latin typeface="Cambria" pitchFamily="34" charset="0"/>
                <a:ea typeface="Cambria" pitchFamily="34" charset="-122"/>
                <a:cs typeface="Cambria" pitchFamily="34" charset="-120"/>
              </a:rPr>
              <a:t>Niger — Early &amp; Near-Universal Marriage</a:t>
            </a:r>
            <a:endParaRPr lang="en-US" sz="1650" dirty="0"/>
          </a:p>
        </p:txBody>
      </p:sp>
      <p:sp>
        <p:nvSpPr>
          <p:cNvPr id="20" name="Text 18"/>
          <p:cNvSpPr txBox="1"/>
          <p:nvPr/>
        </p:nvSpPr>
        <p:spPr>
          <a:xfrm>
            <a:off x="8366760" y="3992300"/>
            <a:ext cx="3063240" cy="1724527"/>
          </a:xfrm>
          <a:prstGeom prst="rect">
            <a:avLst/>
          </a:prstGeom>
          <a:noFill/>
          <a:ln/>
        </p:spPr>
        <p:txBody>
          <a:bodyPr wrap="square" lIns="0" tIns="0" rIns="0" bIns="0" rtlCol="0" anchor="ctr"/>
          <a:lstStyle/>
          <a:p>
            <a:pPr marL="0" indent="0">
              <a:lnSpc>
                <a:spcPct val="112000"/>
              </a:lnSpc>
              <a:buNone/>
            </a:pPr>
            <a:r>
              <a:rPr lang="en-US" sz="1250" dirty="0">
                <a:solidFill>
                  <a:srgbClr val="2A1420"/>
                </a:solidFill>
                <a:latin typeface="Calibri" pitchFamily="34" charset="0"/>
                <a:ea typeface="Calibri" pitchFamily="34" charset="-122"/>
                <a:cs typeface="Calibri" pitchFamily="34" charset="-120"/>
              </a:rPr>
              <a:t>76% of girls in Niger are married before age 18 (28% before 15) — the world's highest child-marriage prevalence, reflecting a very different nuptiality regime and data-collection context.</a:t>
            </a:r>
            <a:endParaRPr lang="en-US" sz="1250" dirty="0"/>
          </a:p>
        </p:txBody>
      </p:sp>
      <p:sp>
        <p:nvSpPr>
          <p:cNvPr id="21" name="Text 19"/>
          <p:cNvSpPr txBox="1"/>
          <p:nvPr/>
        </p:nvSpPr>
        <p:spPr>
          <a:xfrm>
            <a:off x="8366760" y="6185764"/>
            <a:ext cx="3063240" cy="297332"/>
          </a:xfrm>
          <a:prstGeom prst="rect">
            <a:avLst/>
          </a:prstGeom>
          <a:noFill/>
          <a:ln/>
        </p:spPr>
        <p:txBody>
          <a:bodyPr wrap="square" lIns="0" tIns="0" rIns="0" bIns="0" rtlCol="0" anchor="ctr"/>
          <a:lstStyle/>
          <a:p>
            <a:pPr marL="0" indent="0">
              <a:buNone/>
            </a:pPr>
            <a:r>
              <a:rPr lang="en-US" sz="950" i="1" dirty="0">
                <a:solidFill>
                  <a:srgbClr val="6B5A5F"/>
                </a:solidFill>
                <a:latin typeface="Calibri" pitchFamily="34" charset="0"/>
                <a:ea typeface="Calibri" pitchFamily="34" charset="-122"/>
                <a:cs typeface="Calibri" pitchFamily="34" charset="-120"/>
              </a:rPr>
              <a:t>UNICEF (2024), Child Marriage Data.</a:t>
            </a:r>
            <a:endParaRPr lang="en-US" sz="950" dirty="0"/>
          </a:p>
        </p:txBody>
      </p:sp>
      <p:sp>
        <p:nvSpPr>
          <p:cNvPr id="22" name="Text 20"/>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23" name="Text 21"/>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28 / 56</a:t>
            </a:r>
            <a:endParaRPr lang="en-US" sz="900" dirty="0"/>
          </a:p>
        </p:txBody>
      </p:sp>
      <p:sp>
        <p:nvSpPr>
          <p:cNvPr id="25" name="Text 6">
            <a:extLst>
              <a:ext uri="{FF2B5EF4-FFF2-40B4-BE49-F238E27FC236}">
                <a16:creationId xmlns:a16="http://schemas.microsoft.com/office/drawing/2014/main" id="{366F3844-E1D6-D7B2-9CE5-0268604C61CB}"/>
              </a:ext>
            </a:extLst>
          </p:cNvPr>
          <p:cNvSpPr txBox="1"/>
          <p:nvPr/>
        </p:nvSpPr>
        <p:spPr>
          <a:xfrm>
            <a:off x="6210300" y="224028"/>
            <a:ext cx="5722620" cy="594360"/>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Group size: </a:t>
            </a:r>
            <a:r>
              <a:rPr lang="en-US" sz="1400" dirty="0">
                <a:latin typeface="Calibri" pitchFamily="34" charset="0"/>
                <a:ea typeface="Calibri" pitchFamily="34" charset="-122"/>
                <a:cs typeface="Calibri" pitchFamily="34" charset="-120"/>
              </a:rPr>
              <a:t>Groups of 2-3     </a:t>
            </a:r>
            <a:r>
              <a:rPr lang="en-US" sz="1400" b="1" dirty="0">
                <a:latin typeface="Calibri" pitchFamily="34" charset="0"/>
                <a:ea typeface="Calibri" pitchFamily="34" charset="-122"/>
                <a:cs typeface="Calibri" pitchFamily="34" charset="-120"/>
              </a:rPr>
              <a:t>Time: </a:t>
            </a:r>
            <a:r>
              <a:rPr lang="en-US" sz="1400" dirty="0">
                <a:latin typeface="Calibri" pitchFamily="34" charset="0"/>
                <a:ea typeface="Calibri" pitchFamily="34" charset="-122"/>
                <a:cs typeface="Calibri" pitchFamily="34" charset="-120"/>
              </a:rPr>
              <a:t>10 min prep + 3 groups × 5 min report-back + 5-10 min synthesis discussion</a:t>
            </a:r>
            <a:endParaRPr lang="en-US" sz="1400" dirty="0"/>
          </a:p>
        </p:txBody>
      </p:sp>
      <p:sp>
        <p:nvSpPr>
          <p:cNvPr id="27" name="Shape 8">
            <a:extLst>
              <a:ext uri="{FF2B5EF4-FFF2-40B4-BE49-F238E27FC236}">
                <a16:creationId xmlns:a16="http://schemas.microsoft.com/office/drawing/2014/main" id="{8D7D6F8A-9D00-086C-1F15-AAE2B09842CE}"/>
              </a:ext>
            </a:extLst>
          </p:cNvPr>
          <p:cNvSpPr/>
          <p:nvPr/>
        </p:nvSpPr>
        <p:spPr>
          <a:xfrm>
            <a:off x="628651" y="1037082"/>
            <a:ext cx="11191874" cy="1051560"/>
          </a:xfrm>
          <a:prstGeom prst="roundRect">
            <a:avLst>
              <a:gd name="adj" fmla="val 6957"/>
            </a:avLst>
          </a:prstGeom>
          <a:solidFill>
            <a:schemeClr val="bg1">
              <a:alpha val="85000"/>
            </a:schemeClr>
          </a:solidFill>
          <a:ln/>
        </p:spPr>
      </p:sp>
      <p:sp>
        <p:nvSpPr>
          <p:cNvPr id="29" name="Shape 9">
            <a:extLst>
              <a:ext uri="{FF2B5EF4-FFF2-40B4-BE49-F238E27FC236}">
                <a16:creationId xmlns:a16="http://schemas.microsoft.com/office/drawing/2014/main" id="{935E44CA-D883-BF53-1030-409D21F99E73}"/>
              </a:ext>
            </a:extLst>
          </p:cNvPr>
          <p:cNvSpPr/>
          <p:nvPr/>
        </p:nvSpPr>
        <p:spPr>
          <a:xfrm>
            <a:off x="1047750" y="1221085"/>
            <a:ext cx="640080" cy="640080"/>
          </a:xfrm>
          <a:prstGeom prst="ellipse">
            <a:avLst/>
          </a:prstGeom>
          <a:solidFill>
            <a:srgbClr val="C9962E"/>
          </a:solidFill>
          <a:ln/>
        </p:spPr>
      </p:sp>
      <p:sp>
        <p:nvSpPr>
          <p:cNvPr id="31" name="Text 10">
            <a:extLst>
              <a:ext uri="{FF2B5EF4-FFF2-40B4-BE49-F238E27FC236}">
                <a16:creationId xmlns:a16="http://schemas.microsoft.com/office/drawing/2014/main" id="{0759E1BA-CE68-A0AD-C40C-7AF675ECA021}"/>
              </a:ext>
            </a:extLst>
          </p:cNvPr>
          <p:cNvSpPr txBox="1"/>
          <p:nvPr/>
        </p:nvSpPr>
        <p:spPr>
          <a:xfrm>
            <a:off x="1047750" y="1221085"/>
            <a:ext cx="640080" cy="640080"/>
          </a:xfrm>
          <a:prstGeom prst="rect">
            <a:avLst/>
          </a:prstGeom>
          <a:noFill/>
          <a:ln/>
        </p:spPr>
        <p:txBody>
          <a:bodyPr wrap="square" lIns="0" tIns="0" rIns="0" bIns="0" rtlCol="0" anchor="ctr"/>
          <a:lstStyle/>
          <a:p>
            <a:pPr marL="0" indent="0" algn="ctr">
              <a:buNone/>
            </a:pPr>
            <a:r>
              <a:rPr lang="en-US" sz="2000" b="1" dirty="0">
                <a:latin typeface="Cambria" pitchFamily="34" charset="0"/>
                <a:ea typeface="Cambria" pitchFamily="34" charset="-122"/>
                <a:cs typeface="Cambria" pitchFamily="34" charset="-120"/>
              </a:rPr>
              <a:t>1</a:t>
            </a:r>
            <a:endParaRPr lang="en-US" sz="2000" dirty="0"/>
          </a:p>
        </p:txBody>
      </p:sp>
      <p:sp>
        <p:nvSpPr>
          <p:cNvPr id="33" name="Text 11">
            <a:extLst>
              <a:ext uri="{FF2B5EF4-FFF2-40B4-BE49-F238E27FC236}">
                <a16:creationId xmlns:a16="http://schemas.microsoft.com/office/drawing/2014/main" id="{51A4F092-6401-4737-7023-1DCB6A658741}"/>
              </a:ext>
            </a:extLst>
          </p:cNvPr>
          <p:cNvSpPr txBox="1"/>
          <p:nvPr/>
        </p:nvSpPr>
        <p:spPr>
          <a:xfrm>
            <a:off x="2192655" y="1104966"/>
            <a:ext cx="8290560" cy="914400"/>
          </a:xfrm>
          <a:prstGeom prst="rect">
            <a:avLst/>
          </a:prstGeom>
          <a:noFill/>
          <a:ln/>
        </p:spPr>
        <p:txBody>
          <a:bodyPr wrap="square" lIns="0" tIns="0" rIns="0" bIns="0" rtlCol="0" anchor="ctr"/>
          <a:lstStyle/>
          <a:p>
            <a:pPr marL="0" indent="0">
              <a:lnSpc>
                <a:spcPct val="105000"/>
              </a:lnSpc>
              <a:buNone/>
            </a:pPr>
            <a:r>
              <a:rPr lang="en-US" sz="1400" dirty="0">
                <a:latin typeface="Calibri" pitchFamily="34" charset="0"/>
                <a:ea typeface="Calibri" pitchFamily="34" charset="-122"/>
                <a:cs typeface="Calibri" pitchFamily="34" charset="-120"/>
              </a:rPr>
              <a:t>What is driving this jurisdiction's marriage/union pattern, and which measurement challenge from today's session (e.g., a legal-definition change, an age-structure distortion, or an administrative-data gap) does it create for demographers?</a:t>
            </a:r>
            <a:endParaRPr lang="en-US" sz="1400" dirty="0"/>
          </a:p>
        </p:txBody>
      </p:sp>
      <p:sp>
        <p:nvSpPr>
          <p:cNvPr id="35" name="Shape 13">
            <a:extLst>
              <a:ext uri="{FF2B5EF4-FFF2-40B4-BE49-F238E27FC236}">
                <a16:creationId xmlns:a16="http://schemas.microsoft.com/office/drawing/2014/main" id="{78A5E5AD-0698-BDA9-F789-5265A88E19FD}"/>
              </a:ext>
            </a:extLst>
          </p:cNvPr>
          <p:cNvSpPr/>
          <p:nvPr/>
        </p:nvSpPr>
        <p:spPr>
          <a:xfrm>
            <a:off x="956310" y="2373231"/>
            <a:ext cx="640080" cy="659996"/>
          </a:xfrm>
          <a:prstGeom prst="ellipse">
            <a:avLst/>
          </a:prstGeom>
          <a:solidFill>
            <a:srgbClr val="C9962E"/>
          </a:solidFill>
          <a:ln/>
        </p:spPr>
      </p:sp>
      <p:sp>
        <p:nvSpPr>
          <p:cNvPr id="37" name="Text 14">
            <a:extLst>
              <a:ext uri="{FF2B5EF4-FFF2-40B4-BE49-F238E27FC236}">
                <a16:creationId xmlns:a16="http://schemas.microsoft.com/office/drawing/2014/main" id="{A5504937-2D3F-594D-5644-E8ACA0F2686B}"/>
              </a:ext>
            </a:extLst>
          </p:cNvPr>
          <p:cNvSpPr txBox="1"/>
          <p:nvPr/>
        </p:nvSpPr>
        <p:spPr>
          <a:xfrm>
            <a:off x="956310" y="2260074"/>
            <a:ext cx="640080" cy="916667"/>
          </a:xfrm>
          <a:prstGeom prst="rect">
            <a:avLst/>
          </a:prstGeom>
          <a:noFill/>
          <a:ln/>
        </p:spPr>
        <p:txBody>
          <a:bodyPr wrap="square" lIns="0" tIns="0" rIns="0" bIns="0" rtlCol="0" anchor="ctr"/>
          <a:lstStyle/>
          <a:p>
            <a:pPr marL="0" indent="0" algn="ctr">
              <a:buNone/>
            </a:pPr>
            <a:r>
              <a:rPr lang="en-US" sz="2000" b="1" dirty="0">
                <a:latin typeface="Cambria" pitchFamily="34" charset="0"/>
                <a:ea typeface="Cambria" pitchFamily="34" charset="-122"/>
                <a:cs typeface="Cambria" pitchFamily="34" charset="-120"/>
              </a:rPr>
              <a:t>2</a:t>
            </a:r>
            <a:endParaRPr lang="en-US" sz="2000" dirty="0"/>
          </a:p>
        </p:txBody>
      </p:sp>
      <p:sp>
        <p:nvSpPr>
          <p:cNvPr id="39" name="Text 15">
            <a:extLst>
              <a:ext uri="{FF2B5EF4-FFF2-40B4-BE49-F238E27FC236}">
                <a16:creationId xmlns:a16="http://schemas.microsoft.com/office/drawing/2014/main" id="{23146124-9284-86B5-B30E-8B770744A602}"/>
              </a:ext>
            </a:extLst>
          </p:cNvPr>
          <p:cNvSpPr txBox="1"/>
          <p:nvPr/>
        </p:nvSpPr>
        <p:spPr>
          <a:xfrm>
            <a:off x="2192655" y="2503692"/>
            <a:ext cx="8871585" cy="594665"/>
          </a:xfrm>
          <a:prstGeom prst="rect">
            <a:avLst/>
          </a:prstGeom>
          <a:solidFill>
            <a:schemeClr val="bg1"/>
          </a:solidFill>
          <a:ln/>
        </p:spPr>
        <p:txBody>
          <a:bodyPr wrap="square" lIns="0" tIns="0" rIns="0" bIns="0" rtlCol="0" anchor="ctr"/>
          <a:lstStyle/>
          <a:p>
            <a:pPr marL="0" indent="0">
              <a:lnSpc>
                <a:spcPct val="105000"/>
              </a:lnSpc>
              <a:buNone/>
            </a:pPr>
            <a:r>
              <a:rPr lang="en-US" sz="1400" dirty="0">
                <a:latin typeface="Calibri" pitchFamily="34" charset="0"/>
                <a:ea typeface="Calibri" pitchFamily="34" charset="-122"/>
                <a:cs typeface="Calibri" pitchFamily="34" charset="-120"/>
              </a:rPr>
              <a:t>What is one policy or statistical-system implication (e.g., civil-registration redesign, minimum-marriage-age enforcement, or flagging a time-series discontinuity)?</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IN-CLASS DISCUSSION</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Discuss: Measuring Union Formation vs. Marriage</a:t>
            </a:r>
            <a:endParaRPr lang="en-US" sz="3000" dirty="0"/>
          </a:p>
        </p:txBody>
      </p:sp>
      <p:sp>
        <p:nvSpPr>
          <p:cNvPr id="4" name="Shape 2"/>
          <p:cNvSpPr/>
          <p:nvPr/>
        </p:nvSpPr>
        <p:spPr>
          <a:xfrm>
            <a:off x="9966960" y="502920"/>
            <a:ext cx="1234440" cy="1234440"/>
          </a:xfrm>
          <a:prstGeom prst="ellipse">
            <a:avLst/>
          </a:prstGeom>
          <a:solidFill>
            <a:srgbClr val="ECE2D0"/>
          </a:solidFill>
          <a:ln/>
        </p:spPr>
      </p:sp>
      <p:pic>
        <p:nvPicPr>
          <p:cNvPr id="5" name="Image 0" descr="/sessions/blissful-modest-newton/work/build/icons/chat.png"/>
          <p:cNvPicPr>
            <a:picLocks noChangeAspect="1"/>
          </p:cNvPicPr>
          <p:nvPr/>
        </p:nvPicPr>
        <p:blipFill>
          <a:blip r:embed="rId3"/>
          <a:stretch>
            <a:fillRect/>
          </a:stretch>
        </p:blipFill>
        <p:spPr>
          <a:xfrm>
            <a:off x="10244709" y="780669"/>
            <a:ext cx="678942" cy="678942"/>
          </a:xfrm>
          <a:prstGeom prst="rect">
            <a:avLst/>
          </a:prstGeom>
        </p:spPr>
      </p:pic>
      <p:sp>
        <p:nvSpPr>
          <p:cNvPr id="6" name="Text 3"/>
          <p:cNvSpPr txBox="1"/>
          <p:nvPr/>
        </p:nvSpPr>
        <p:spPr>
          <a:xfrm>
            <a:off x="548640" y="1463040"/>
            <a:ext cx="10881360" cy="4572000"/>
          </a:xfrm>
          <a:prstGeom prst="rect">
            <a:avLst/>
          </a:prstGeom>
          <a:noFill/>
          <a:ln/>
        </p:spPr>
        <p:txBody>
          <a:bodyPr wrap="square" lIns="0" tIns="0" rIns="0" bIns="0" rtlCol="0" anchor="ctr"/>
          <a:lstStyle/>
          <a:p>
            <a:pPr marL="254000" indent="-254000">
              <a:lnSpc>
                <a:spcPct val="115000"/>
              </a:lnSpc>
              <a:spcAft>
                <a:spcPts val="1200"/>
              </a:spcAft>
              <a:buSzPct val="100000"/>
              <a:buChar char="●"/>
            </a:pPr>
            <a:r>
              <a:rPr lang="en-US" sz="1550" dirty="0">
                <a:solidFill>
                  <a:srgbClr val="2A1420"/>
                </a:solidFill>
                <a:latin typeface="Calibri" pitchFamily="34" charset="0"/>
                <a:ea typeface="Calibri" pitchFamily="34" charset="-122"/>
                <a:cs typeface="Calibri" pitchFamily="34" charset="-120"/>
              </a:rPr>
              <a:t>If a growing share of unions are cohabiting rather than married, what happens to the CMR as a proxy for “family formation”?</a:t>
            </a:r>
            <a:endParaRPr lang="en-US" sz="1550" dirty="0"/>
          </a:p>
          <a:p>
            <a:pPr marL="254000" indent="-254000">
              <a:lnSpc>
                <a:spcPct val="115000"/>
              </a:lnSpc>
              <a:spcAft>
                <a:spcPts val="1200"/>
              </a:spcAft>
              <a:buSzPct val="100000"/>
              <a:buChar char="●"/>
            </a:pPr>
            <a:r>
              <a:rPr lang="en-US" sz="1550" dirty="0">
                <a:solidFill>
                  <a:srgbClr val="2A1420"/>
                </a:solidFill>
                <a:latin typeface="Calibri" pitchFamily="34" charset="0"/>
                <a:ea typeface="Calibri" pitchFamily="34" charset="-122"/>
                <a:cs typeface="Calibri" pitchFamily="34" charset="-120"/>
              </a:rPr>
              <a:t>How might Thailand's Marriage Equality Act interact with cohabitation trends among LGBTQ+ couples who previously had no legal option to marry?</a:t>
            </a:r>
            <a:endParaRPr lang="en-US" sz="1550" dirty="0"/>
          </a:p>
          <a:p>
            <a:pPr marL="254000" indent="-254000">
              <a:lnSpc>
                <a:spcPct val="115000"/>
              </a:lnSpc>
              <a:spcAft>
                <a:spcPts val="1200"/>
              </a:spcAft>
              <a:buSzPct val="100000"/>
              <a:buChar char="●"/>
            </a:pPr>
            <a:r>
              <a:rPr lang="en-US" sz="1550" dirty="0">
                <a:solidFill>
                  <a:srgbClr val="2A1420"/>
                </a:solidFill>
                <a:latin typeface="Calibri" pitchFamily="34" charset="0"/>
                <a:ea typeface="Calibri" pitchFamily="34" charset="-122"/>
                <a:cs typeface="Calibri" pitchFamily="34" charset="-120"/>
              </a:rPr>
              <a:t>What survey question would you add to capture cohabiting unions without asking directly about marital status?</a:t>
            </a:r>
            <a:endParaRPr lang="en-US" sz="1550" dirty="0"/>
          </a:p>
        </p:txBody>
      </p:sp>
      <p:sp>
        <p:nvSpPr>
          <p:cNvPr id="7" name="Text 4"/>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8" name="Text 5"/>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30 / 56</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2">
    <p:bg>
      <p:bgPr>
        <a:solidFill>
          <a:srgbClr val="4A1E30"/>
        </a:solidFill>
        <a:effectLst/>
      </p:bgPr>
    </p:bg>
    <p:spTree>
      <p:nvGrpSpPr>
        <p:cNvPr id="1" name=""/>
        <p:cNvGrpSpPr/>
        <p:nvPr/>
      </p:nvGrpSpPr>
      <p:grpSpPr>
        <a:xfrm>
          <a:off x="0" y="0"/>
          <a:ext cx="0" cy="0"/>
          <a:chOff x="0" y="0"/>
          <a:chExt cx="0" cy="0"/>
        </a:xfrm>
      </p:grpSpPr>
      <p:sp>
        <p:nvSpPr>
          <p:cNvPr id="3" name="Shape 1"/>
          <p:cNvSpPr/>
          <p:nvPr/>
        </p:nvSpPr>
        <p:spPr>
          <a:xfrm>
            <a:off x="685800" y="2331720"/>
            <a:ext cx="1371600" cy="1371600"/>
          </a:xfrm>
          <a:prstGeom prst="ellipse">
            <a:avLst/>
          </a:prstGeom>
          <a:solidFill>
            <a:srgbClr val="A26769"/>
          </a:solidFill>
          <a:ln/>
        </p:spPr>
      </p:sp>
      <p:pic>
        <p:nvPicPr>
          <p:cNvPr id="4" name="Image 0" descr="/sessions/blissful-modest-newton/work/build/icons/door.png"/>
          <p:cNvPicPr>
            <a:picLocks noChangeAspect="1"/>
          </p:cNvPicPr>
          <p:nvPr/>
        </p:nvPicPr>
        <p:blipFill>
          <a:blip r:embed="rId3"/>
          <a:stretch>
            <a:fillRect/>
          </a:stretch>
        </p:blipFill>
        <p:spPr>
          <a:xfrm>
            <a:off x="973836" y="2619756"/>
            <a:ext cx="795528" cy="795528"/>
          </a:xfrm>
          <a:prstGeom prst="rect">
            <a:avLst/>
          </a:prstGeom>
        </p:spPr>
      </p:pic>
      <p:sp>
        <p:nvSpPr>
          <p:cNvPr id="5" name="Text 2"/>
          <p:cNvSpPr txBox="1"/>
          <p:nvPr/>
        </p:nvSpPr>
        <p:spPr>
          <a:xfrm>
            <a:off x="685800" y="3840480"/>
            <a:ext cx="9144000" cy="365760"/>
          </a:xfrm>
          <a:prstGeom prst="rect">
            <a:avLst/>
          </a:prstGeom>
          <a:noFill/>
          <a:ln/>
        </p:spPr>
        <p:txBody>
          <a:bodyPr wrap="square" lIns="0" tIns="0" rIns="0" bIns="0" rtlCol="0" anchor="ctr"/>
          <a:lstStyle/>
          <a:p>
            <a:pPr marL="0" indent="0">
              <a:buNone/>
            </a:pPr>
            <a:r>
              <a:rPr lang="en-US" sz="1500" b="1" kern="0" spc="200" dirty="0">
                <a:solidFill>
                  <a:srgbClr val="C9962E"/>
                </a:solidFill>
                <a:latin typeface="Calibri" pitchFamily="34" charset="0"/>
                <a:ea typeface="Calibri" pitchFamily="34" charset="-122"/>
                <a:cs typeface="Calibri" pitchFamily="34" charset="-120"/>
              </a:rPr>
              <a:t>Block 3</a:t>
            </a:r>
            <a:endParaRPr lang="en-US" sz="1500" dirty="0"/>
          </a:p>
        </p:txBody>
      </p:sp>
      <p:sp>
        <p:nvSpPr>
          <p:cNvPr id="6" name="Text 3"/>
          <p:cNvSpPr txBox="1"/>
          <p:nvPr/>
        </p:nvSpPr>
        <p:spPr>
          <a:xfrm>
            <a:off x="685800" y="4187952"/>
            <a:ext cx="10058400" cy="11887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Solo Living &amp; the Changing Meaning of “Family”</a:t>
            </a:r>
            <a:endParaRPr lang="en-US" sz="3400" dirty="0"/>
          </a:p>
        </p:txBody>
      </p:sp>
      <p:sp>
        <p:nvSpPr>
          <p:cNvPr id="7" name="Text 4"/>
          <p:cNvSpPr txBox="1"/>
          <p:nvPr/>
        </p:nvSpPr>
        <p:spPr>
          <a:xfrm>
            <a:off x="685800" y="5257800"/>
            <a:ext cx="9692640" cy="822960"/>
          </a:xfrm>
          <a:prstGeom prst="rect">
            <a:avLst/>
          </a:prstGeom>
          <a:noFill/>
          <a:ln/>
        </p:spPr>
        <p:txBody>
          <a:bodyPr wrap="square" lIns="0" tIns="0" rIns="0" bIns="0" rtlCol="0" anchor="ctr"/>
          <a:lstStyle/>
          <a:p>
            <a:pPr marL="0" indent="0">
              <a:buNone/>
            </a:pPr>
            <a:r>
              <a:rPr lang="en-US" sz="1500" i="1" dirty="0">
                <a:solidFill>
                  <a:srgbClr val="D9C9CE"/>
                </a:solidFill>
                <a:latin typeface="Calibri" pitchFamily="34" charset="0"/>
                <a:ea typeface="Calibri" pitchFamily="34" charset="-122"/>
                <a:cs typeface="Calibri" pitchFamily="34" charset="-120"/>
              </a:rPr>
              <a:t>One-person households, LGBTQ+ unions, and blended families are testing how censuses and surveys define family in 2026.</a:t>
            </a:r>
            <a:endParaRPr lang="en-US" sz="1500" dirty="0"/>
          </a:p>
        </p:txBody>
      </p:sp>
      <p:sp>
        <p:nvSpPr>
          <p:cNvPr id="8" name="Text 5"/>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D9C9CE"/>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9" name="Text 6"/>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D9C9CE"/>
                </a:solidFill>
                <a:latin typeface="Calibri" pitchFamily="34" charset="0"/>
                <a:ea typeface="Calibri" pitchFamily="34" charset="-122"/>
                <a:cs typeface="Calibri" pitchFamily="34" charset="-120"/>
              </a:rPr>
              <a:t>32 / 56</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NEW LIVING ARRANGEMENTS</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The Rise of the One-Person Household</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ctr"/>
          <a:lstStyle/>
          <a:p>
            <a:pPr marL="0" indent="0">
              <a:buNone/>
            </a:pPr>
            <a:r>
              <a:rPr lang="en-US" sz="1400" i="1" dirty="0">
                <a:solidFill>
                  <a:srgbClr val="6B5A5F"/>
                </a:solidFill>
                <a:latin typeface="Calibri" pitchFamily="34" charset="0"/>
                <a:ea typeface="Calibri" pitchFamily="34" charset="-122"/>
                <a:cs typeface="Calibri" pitchFamily="34" charset="-120"/>
              </a:rPr>
              <a:t>Solo living — once concentrated among older widows/widowers — is now rising fastest among young and middle-aged adults across both high- and middle-income countries.</a:t>
            </a:r>
            <a:endParaRPr lang="en-US" sz="1400" dirty="0"/>
          </a:p>
        </p:txBody>
      </p:sp>
      <p:sp>
        <p:nvSpPr>
          <p:cNvPr id="5" name="Shape 3"/>
          <p:cNvSpPr/>
          <p:nvPr/>
        </p:nvSpPr>
        <p:spPr>
          <a:xfrm>
            <a:off x="548640" y="1984248"/>
            <a:ext cx="3489960" cy="4187952"/>
          </a:xfrm>
          <a:prstGeom prst="roundRect">
            <a:avLst>
              <a:gd name="adj" fmla="val 2096"/>
            </a:avLst>
          </a:prstGeom>
          <a:solidFill>
            <a:srgbClr val="F7F3EF"/>
          </a:solidFill>
          <a:ln/>
        </p:spPr>
      </p:sp>
      <p:sp>
        <p:nvSpPr>
          <p:cNvPr id="6" name="Shape 4"/>
          <p:cNvSpPr/>
          <p:nvPr/>
        </p:nvSpPr>
        <p:spPr>
          <a:xfrm>
            <a:off x="749808" y="2167128"/>
            <a:ext cx="685800" cy="685800"/>
          </a:xfrm>
          <a:prstGeom prst="ellipse">
            <a:avLst/>
          </a:prstGeom>
          <a:solidFill>
            <a:srgbClr val="6D2E46"/>
          </a:solidFill>
          <a:ln/>
        </p:spPr>
      </p:sp>
      <p:pic>
        <p:nvPicPr>
          <p:cNvPr id="7" name="Image 0" descr="/sessions/blissful-modest-newton/work/build/icons/clock.png"/>
          <p:cNvPicPr>
            <a:picLocks noChangeAspect="1"/>
          </p:cNvPicPr>
          <p:nvPr/>
        </p:nvPicPr>
        <p:blipFill>
          <a:blip r:embed="rId3"/>
          <a:stretch>
            <a:fillRect/>
          </a:stretch>
        </p:blipFill>
        <p:spPr>
          <a:xfrm>
            <a:off x="900684" y="2318004"/>
            <a:ext cx="384048" cy="384048"/>
          </a:xfrm>
          <a:prstGeom prst="rect">
            <a:avLst/>
          </a:prstGeom>
        </p:spPr>
      </p:pic>
      <p:sp>
        <p:nvSpPr>
          <p:cNvPr id="8" name="Text 5"/>
          <p:cNvSpPr txBox="1"/>
          <p:nvPr/>
        </p:nvSpPr>
        <p:spPr>
          <a:xfrm>
            <a:off x="749808" y="2907792"/>
            <a:ext cx="30876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Delayed union formation</a:t>
            </a:r>
            <a:endParaRPr lang="en-US" sz="1450" dirty="0"/>
          </a:p>
        </p:txBody>
      </p:sp>
      <p:sp>
        <p:nvSpPr>
          <p:cNvPr id="9" name="Text 6"/>
          <p:cNvSpPr txBox="1"/>
          <p:nvPr/>
        </p:nvSpPr>
        <p:spPr>
          <a:xfrm>
            <a:off x="749808" y="3236976"/>
            <a:ext cx="3087624" cy="2862072"/>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Postponed marriage/cohabitation leaves a longer independent-living stage.</a:t>
            </a:r>
            <a:endParaRPr lang="en-US" sz="1200" dirty="0"/>
          </a:p>
        </p:txBody>
      </p:sp>
      <p:sp>
        <p:nvSpPr>
          <p:cNvPr id="10" name="Shape 7"/>
          <p:cNvSpPr/>
          <p:nvPr/>
        </p:nvSpPr>
        <p:spPr>
          <a:xfrm>
            <a:off x="4358640" y="1984248"/>
            <a:ext cx="3489960" cy="4187952"/>
          </a:xfrm>
          <a:prstGeom prst="roundRect">
            <a:avLst>
              <a:gd name="adj" fmla="val 2096"/>
            </a:avLst>
          </a:prstGeom>
          <a:solidFill>
            <a:srgbClr val="ECE2D0"/>
          </a:solidFill>
          <a:ln/>
        </p:spPr>
      </p:sp>
      <p:sp>
        <p:nvSpPr>
          <p:cNvPr id="11" name="Shape 8"/>
          <p:cNvSpPr/>
          <p:nvPr/>
        </p:nvSpPr>
        <p:spPr>
          <a:xfrm>
            <a:off x="4559808" y="2167128"/>
            <a:ext cx="685800" cy="685800"/>
          </a:xfrm>
          <a:prstGeom prst="ellipse">
            <a:avLst/>
          </a:prstGeom>
          <a:solidFill>
            <a:srgbClr val="6D2E46"/>
          </a:solidFill>
          <a:ln/>
        </p:spPr>
      </p:sp>
      <p:pic>
        <p:nvPicPr>
          <p:cNvPr id="12" name="Image 1" descr="/sessions/blissful-modest-newton/work/build/icons/chart.png"/>
          <p:cNvPicPr>
            <a:picLocks noChangeAspect="1"/>
          </p:cNvPicPr>
          <p:nvPr/>
        </p:nvPicPr>
        <p:blipFill>
          <a:blip r:embed="rId4"/>
          <a:stretch>
            <a:fillRect/>
          </a:stretch>
        </p:blipFill>
        <p:spPr>
          <a:xfrm>
            <a:off x="4710684" y="2318004"/>
            <a:ext cx="384048" cy="384048"/>
          </a:xfrm>
          <a:prstGeom prst="rect">
            <a:avLst/>
          </a:prstGeom>
        </p:spPr>
      </p:pic>
      <p:sp>
        <p:nvSpPr>
          <p:cNvPr id="13" name="Text 9"/>
          <p:cNvSpPr txBox="1"/>
          <p:nvPr/>
        </p:nvSpPr>
        <p:spPr>
          <a:xfrm>
            <a:off x="4559808" y="2907792"/>
            <a:ext cx="30876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Rising incomes &amp; housing supply</a:t>
            </a:r>
            <a:endParaRPr lang="en-US" sz="1450" dirty="0"/>
          </a:p>
        </p:txBody>
      </p:sp>
      <p:sp>
        <p:nvSpPr>
          <p:cNvPr id="14" name="Text 10"/>
          <p:cNvSpPr txBox="1"/>
          <p:nvPr/>
        </p:nvSpPr>
        <p:spPr>
          <a:xfrm>
            <a:off x="4559808" y="3236976"/>
            <a:ext cx="3087624" cy="2862072"/>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Enables affording to live alone rather than with kin or roommates.</a:t>
            </a:r>
            <a:endParaRPr lang="en-US" sz="1200" dirty="0"/>
          </a:p>
        </p:txBody>
      </p:sp>
      <p:sp>
        <p:nvSpPr>
          <p:cNvPr id="15" name="Shape 11"/>
          <p:cNvSpPr/>
          <p:nvPr/>
        </p:nvSpPr>
        <p:spPr>
          <a:xfrm>
            <a:off x="8168640" y="1984248"/>
            <a:ext cx="3489960" cy="4187952"/>
          </a:xfrm>
          <a:prstGeom prst="roundRect">
            <a:avLst>
              <a:gd name="adj" fmla="val 2096"/>
            </a:avLst>
          </a:prstGeom>
          <a:solidFill>
            <a:srgbClr val="F7F3EF"/>
          </a:solidFill>
          <a:ln/>
        </p:spPr>
      </p:sp>
      <p:sp>
        <p:nvSpPr>
          <p:cNvPr id="16" name="Shape 12"/>
          <p:cNvSpPr/>
          <p:nvPr/>
        </p:nvSpPr>
        <p:spPr>
          <a:xfrm>
            <a:off x="8369808" y="2167128"/>
            <a:ext cx="685800" cy="685800"/>
          </a:xfrm>
          <a:prstGeom prst="ellipse">
            <a:avLst/>
          </a:prstGeom>
          <a:solidFill>
            <a:srgbClr val="6D2E46"/>
          </a:solidFill>
          <a:ln/>
        </p:spPr>
      </p:sp>
      <p:pic>
        <p:nvPicPr>
          <p:cNvPr id="17" name="Image 2" descr="/sessions/blissful-modest-newton/work/build/icons/users3.png"/>
          <p:cNvPicPr>
            <a:picLocks noChangeAspect="1"/>
          </p:cNvPicPr>
          <p:nvPr/>
        </p:nvPicPr>
        <p:blipFill>
          <a:blip r:embed="rId5"/>
          <a:stretch>
            <a:fillRect/>
          </a:stretch>
        </p:blipFill>
        <p:spPr>
          <a:xfrm>
            <a:off x="8520684" y="2318004"/>
            <a:ext cx="384048" cy="384048"/>
          </a:xfrm>
          <a:prstGeom prst="rect">
            <a:avLst/>
          </a:prstGeom>
        </p:spPr>
      </p:pic>
      <p:sp>
        <p:nvSpPr>
          <p:cNvPr id="18" name="Text 13"/>
          <p:cNvSpPr txBox="1"/>
          <p:nvPr/>
        </p:nvSpPr>
        <p:spPr>
          <a:xfrm>
            <a:off x="8369808" y="2907792"/>
            <a:ext cx="30876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Population aging</a:t>
            </a:r>
            <a:endParaRPr lang="en-US" sz="1450" dirty="0"/>
          </a:p>
        </p:txBody>
      </p:sp>
      <p:sp>
        <p:nvSpPr>
          <p:cNvPr id="19" name="Text 14"/>
          <p:cNvSpPr txBox="1"/>
          <p:nvPr/>
        </p:nvSpPr>
        <p:spPr>
          <a:xfrm>
            <a:off x="8369808" y="3236976"/>
            <a:ext cx="3087624" cy="2862072"/>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Longer life expectancy plus gender gaps in mortality raises late-life solo living.</a:t>
            </a:r>
            <a:endParaRPr lang="en-US" sz="1200" dirty="0"/>
          </a:p>
        </p:txBody>
      </p:sp>
      <p:sp>
        <p:nvSpPr>
          <p:cNvPr id="20" name="Text 15"/>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21" name="Text 16"/>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33 / 56</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EXAMPLE 5 — GLOBAL &amp; U.S., 2024-2025</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One-Person Households: A Global Turning Point</a:t>
            </a:r>
            <a:endParaRPr lang="en-US" sz="3000" dirty="0"/>
          </a:p>
        </p:txBody>
      </p:sp>
      <p:sp>
        <p:nvSpPr>
          <p:cNvPr id="4" name="Shape 2"/>
          <p:cNvSpPr/>
          <p:nvPr/>
        </p:nvSpPr>
        <p:spPr>
          <a:xfrm>
            <a:off x="548640" y="1600200"/>
            <a:ext cx="3520440" cy="4114800"/>
          </a:xfrm>
          <a:prstGeom prst="roundRect">
            <a:avLst>
              <a:gd name="adj" fmla="val 2597"/>
            </a:avLst>
          </a:prstGeom>
          <a:solidFill>
            <a:srgbClr val="F7F3EF"/>
          </a:solidFill>
          <a:ln/>
        </p:spPr>
      </p:sp>
      <p:sp>
        <p:nvSpPr>
          <p:cNvPr id="5" name="Text 3"/>
          <p:cNvSpPr txBox="1"/>
          <p:nvPr/>
        </p:nvSpPr>
        <p:spPr>
          <a:xfrm>
            <a:off x="685800" y="1828800"/>
            <a:ext cx="3246120" cy="1005840"/>
          </a:xfrm>
          <a:prstGeom prst="rect">
            <a:avLst/>
          </a:prstGeom>
          <a:noFill/>
          <a:ln/>
        </p:spPr>
        <p:txBody>
          <a:bodyPr wrap="square" lIns="0" tIns="0" rIns="0" bIns="0" rtlCol="0" anchor="ctr"/>
          <a:lstStyle/>
          <a:p>
            <a:pPr marL="0" indent="0" algn="ctr">
              <a:buNone/>
            </a:pPr>
            <a:r>
              <a:rPr lang="en-US" sz="4200" b="1" dirty="0">
                <a:solidFill>
                  <a:srgbClr val="6D2E46"/>
                </a:solidFill>
                <a:latin typeface="Cambria" pitchFamily="34" charset="0"/>
                <a:ea typeface="Cambria" pitchFamily="34" charset="-122"/>
                <a:cs typeface="Cambria" pitchFamily="34" charset="-120"/>
              </a:rPr>
              <a:t>29%</a:t>
            </a:r>
            <a:endParaRPr lang="en-US" sz="4200" dirty="0"/>
          </a:p>
        </p:txBody>
      </p:sp>
      <p:sp>
        <p:nvSpPr>
          <p:cNvPr id="6" name="Text 4"/>
          <p:cNvSpPr txBox="1"/>
          <p:nvPr/>
        </p:nvSpPr>
        <p:spPr>
          <a:xfrm>
            <a:off x="822960" y="2880360"/>
            <a:ext cx="2971800" cy="2651760"/>
          </a:xfrm>
          <a:prstGeom prst="rect">
            <a:avLst/>
          </a:prstGeom>
          <a:noFill/>
          <a:ln/>
        </p:spPr>
        <p:txBody>
          <a:bodyPr wrap="square" lIns="0" tIns="0" rIns="0" bIns="0" rtlCol="0" anchor="ctr"/>
          <a:lstStyle/>
          <a:p>
            <a:pPr marL="0" indent="0" algn="ctr">
              <a:buNone/>
            </a:pPr>
            <a:r>
              <a:rPr lang="en-US" sz="1350" dirty="0">
                <a:solidFill>
                  <a:srgbClr val="2A1420"/>
                </a:solidFill>
                <a:latin typeface="Calibri" pitchFamily="34" charset="0"/>
                <a:ea typeface="Calibri" pitchFamily="34" charset="-122"/>
                <a:cs typeface="Calibri" pitchFamily="34" charset="-120"/>
              </a:rPr>
              <a:t>of all U.S. households (39.7 million) held one person in 2025 — up from 20% in 1975, an all-time high.</a:t>
            </a:r>
            <a:endParaRPr lang="en-US" sz="1350" dirty="0"/>
          </a:p>
        </p:txBody>
      </p:sp>
      <p:sp>
        <p:nvSpPr>
          <p:cNvPr id="7" name="Shape 5"/>
          <p:cNvSpPr/>
          <p:nvPr/>
        </p:nvSpPr>
        <p:spPr>
          <a:xfrm>
            <a:off x="4343400" y="1600200"/>
            <a:ext cx="3520440" cy="4114800"/>
          </a:xfrm>
          <a:prstGeom prst="roundRect">
            <a:avLst>
              <a:gd name="adj" fmla="val 2597"/>
            </a:avLst>
          </a:prstGeom>
          <a:solidFill>
            <a:srgbClr val="F7F3EF"/>
          </a:solidFill>
          <a:ln/>
        </p:spPr>
      </p:sp>
      <p:sp>
        <p:nvSpPr>
          <p:cNvPr id="8" name="Text 6"/>
          <p:cNvSpPr txBox="1"/>
          <p:nvPr/>
        </p:nvSpPr>
        <p:spPr>
          <a:xfrm>
            <a:off x="4480560" y="1828800"/>
            <a:ext cx="3246120" cy="1005840"/>
          </a:xfrm>
          <a:prstGeom prst="rect">
            <a:avLst/>
          </a:prstGeom>
          <a:noFill/>
          <a:ln/>
        </p:spPr>
        <p:txBody>
          <a:bodyPr wrap="square" lIns="0" tIns="0" rIns="0" bIns="0" rtlCol="0" anchor="ctr"/>
          <a:lstStyle/>
          <a:p>
            <a:pPr marL="0" indent="0" algn="ctr">
              <a:buNone/>
            </a:pPr>
            <a:r>
              <a:rPr lang="en-US" sz="4200" b="1" dirty="0">
                <a:solidFill>
                  <a:srgbClr val="6D2E46"/>
                </a:solidFill>
                <a:latin typeface="Cambria" pitchFamily="34" charset="0"/>
                <a:ea typeface="Cambria" pitchFamily="34" charset="-122"/>
                <a:cs typeface="Cambria" pitchFamily="34" charset="-120"/>
              </a:rPr>
              <a:t>47%</a:t>
            </a:r>
            <a:endParaRPr lang="en-US" sz="4200" dirty="0"/>
          </a:p>
        </p:txBody>
      </p:sp>
      <p:sp>
        <p:nvSpPr>
          <p:cNvPr id="9" name="Text 7"/>
          <p:cNvSpPr txBox="1"/>
          <p:nvPr/>
        </p:nvSpPr>
        <p:spPr>
          <a:xfrm>
            <a:off x="4617720" y="2880360"/>
            <a:ext cx="2971800" cy="2651760"/>
          </a:xfrm>
          <a:prstGeom prst="rect">
            <a:avLst/>
          </a:prstGeom>
          <a:noFill/>
          <a:ln/>
        </p:spPr>
        <p:txBody>
          <a:bodyPr wrap="square" lIns="0" tIns="0" rIns="0" bIns="0" rtlCol="0" anchor="ctr"/>
          <a:lstStyle/>
          <a:p>
            <a:pPr marL="0" indent="0" algn="ctr">
              <a:buNone/>
            </a:pPr>
            <a:r>
              <a:rPr lang="en-US" sz="1350" dirty="0">
                <a:solidFill>
                  <a:srgbClr val="2A1420"/>
                </a:solidFill>
                <a:latin typeface="Calibri" pitchFamily="34" charset="0"/>
                <a:ea typeface="Calibri" pitchFamily="34" charset="-122"/>
                <a:cs typeface="Calibri" pitchFamily="34" charset="-120"/>
              </a:rPr>
              <a:t>of Danish households are single-person — among the highest shares in the world.</a:t>
            </a:r>
            <a:endParaRPr lang="en-US" sz="1350" dirty="0"/>
          </a:p>
        </p:txBody>
      </p:sp>
      <p:sp>
        <p:nvSpPr>
          <p:cNvPr id="10" name="Shape 8"/>
          <p:cNvSpPr/>
          <p:nvPr/>
        </p:nvSpPr>
        <p:spPr>
          <a:xfrm>
            <a:off x="8138160" y="1600200"/>
            <a:ext cx="3520440" cy="4114800"/>
          </a:xfrm>
          <a:prstGeom prst="roundRect">
            <a:avLst>
              <a:gd name="adj" fmla="val 2597"/>
            </a:avLst>
          </a:prstGeom>
          <a:solidFill>
            <a:srgbClr val="F7F3EF"/>
          </a:solidFill>
          <a:ln/>
        </p:spPr>
      </p:sp>
      <p:sp>
        <p:nvSpPr>
          <p:cNvPr id="11" name="Text 9"/>
          <p:cNvSpPr txBox="1"/>
          <p:nvPr/>
        </p:nvSpPr>
        <p:spPr>
          <a:xfrm>
            <a:off x="8275320" y="1828800"/>
            <a:ext cx="3246120" cy="1005840"/>
          </a:xfrm>
          <a:prstGeom prst="rect">
            <a:avLst/>
          </a:prstGeom>
          <a:noFill/>
          <a:ln/>
        </p:spPr>
        <p:txBody>
          <a:bodyPr wrap="square" lIns="0" tIns="0" rIns="0" bIns="0" rtlCol="0" anchor="ctr"/>
          <a:lstStyle/>
          <a:p>
            <a:pPr marL="0" indent="0" algn="ctr">
              <a:buNone/>
            </a:pPr>
            <a:r>
              <a:rPr lang="en-US" sz="4200" b="1" dirty="0">
                <a:solidFill>
                  <a:srgbClr val="6D2E46"/>
                </a:solidFill>
                <a:latin typeface="Cambria" pitchFamily="34" charset="0"/>
                <a:ea typeface="Cambria" pitchFamily="34" charset="-122"/>
                <a:cs typeface="Cambria" pitchFamily="34" charset="-120"/>
              </a:rPr>
              <a:t>90+</a:t>
            </a:r>
            <a:endParaRPr lang="en-US" sz="4200" dirty="0"/>
          </a:p>
        </p:txBody>
      </p:sp>
      <p:sp>
        <p:nvSpPr>
          <p:cNvPr id="12" name="Text 10"/>
          <p:cNvSpPr txBox="1"/>
          <p:nvPr/>
        </p:nvSpPr>
        <p:spPr>
          <a:xfrm>
            <a:off x="8412480" y="2880360"/>
            <a:ext cx="2971800" cy="2651760"/>
          </a:xfrm>
          <a:prstGeom prst="rect">
            <a:avLst/>
          </a:prstGeom>
          <a:noFill/>
          <a:ln/>
        </p:spPr>
        <p:txBody>
          <a:bodyPr wrap="square" lIns="0" tIns="0" rIns="0" bIns="0" rtlCol="0" anchor="ctr"/>
          <a:lstStyle/>
          <a:p>
            <a:pPr marL="0" indent="0" algn="ctr">
              <a:buNone/>
            </a:pPr>
            <a:r>
              <a:rPr lang="en-US" sz="1350" dirty="0">
                <a:solidFill>
                  <a:srgbClr val="2A1420"/>
                </a:solidFill>
                <a:latin typeface="Calibri" pitchFamily="34" charset="0"/>
                <a:ea typeface="Calibri" pitchFamily="34" charset="-122"/>
                <a:cs typeface="Calibri" pitchFamily="34" charset="-120"/>
              </a:rPr>
              <a:t>countries and territories analyzed in a 2024 global study of lifetime exposure to solo living using census microdata.</a:t>
            </a:r>
            <a:endParaRPr lang="en-US" sz="1350" dirty="0"/>
          </a:p>
        </p:txBody>
      </p:sp>
      <p:sp>
        <p:nvSpPr>
          <p:cNvPr id="13" name="Text 11"/>
          <p:cNvSpPr txBox="1"/>
          <p:nvPr/>
        </p:nvSpPr>
        <p:spPr>
          <a:xfrm>
            <a:off x="548640" y="5989320"/>
            <a:ext cx="11064240" cy="502920"/>
          </a:xfrm>
          <a:prstGeom prst="rect">
            <a:avLst/>
          </a:prstGeom>
          <a:noFill/>
          <a:ln/>
        </p:spPr>
        <p:txBody>
          <a:bodyPr wrap="square" lIns="0" tIns="0" rIns="0" bIns="0" rtlCol="0" anchor="ctr"/>
          <a:lstStyle/>
          <a:p>
            <a:pPr marL="0" indent="0">
              <a:buNone/>
            </a:pPr>
            <a:r>
              <a:rPr lang="en-US" sz="950" i="1" dirty="0">
                <a:solidFill>
                  <a:srgbClr val="6B5A5F"/>
                </a:solidFill>
                <a:latin typeface="Calibri" pitchFamily="34" charset="0"/>
                <a:ea typeface="Calibri" pitchFamily="34" charset="-122"/>
                <a:cs typeface="Calibri" pitchFamily="34" charset="-120"/>
              </a:rPr>
              <a:t>Sources: U.S. Census Bureau (2025), Families and Living Arrangements press release; Esteve, A., &amp; Reher, D. S. (2024), Population and Development Review, 50(1), 211-232, doi.org/10.1111/padr.12603.</a:t>
            </a:r>
            <a:endParaRPr lang="en-US" sz="950" dirty="0"/>
          </a:p>
        </p:txBody>
      </p:sp>
      <p:sp>
        <p:nvSpPr>
          <p:cNvPr id="14" name="Text 12"/>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5" name="Text 13"/>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34 / 56</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MEASUREMENT CHALLENGES (1 OF 4) — COUNTING “FAMILY” IN THE 2026 CENSUS</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6D2E46"/>
                </a:solidFill>
                <a:latin typeface="Cambria" pitchFamily="34" charset="0"/>
                <a:ea typeface="Cambria" pitchFamily="34" charset="-122"/>
                <a:cs typeface="Cambria" pitchFamily="34" charset="-120"/>
              </a:rPr>
              <a:t>LGBTQ+ Unions</a:t>
            </a:r>
            <a:endParaRPr lang="en-US" sz="3000" dirty="0"/>
          </a:p>
        </p:txBody>
      </p:sp>
      <p:sp>
        <p:nvSpPr>
          <p:cNvPr id="4" name="Shape 2"/>
          <p:cNvSpPr/>
          <p:nvPr/>
        </p:nvSpPr>
        <p:spPr>
          <a:xfrm>
            <a:off x="10104120" y="320040"/>
            <a:ext cx="1005840" cy="1005840"/>
          </a:xfrm>
          <a:prstGeom prst="ellipse">
            <a:avLst/>
          </a:prstGeom>
          <a:solidFill>
            <a:srgbClr val="6D2E46"/>
          </a:solidFill>
          <a:ln/>
        </p:spPr>
      </p:sp>
      <p:pic>
        <p:nvPicPr>
          <p:cNvPr id="5" name="Image 0" descr="/sessions/blissful-modest-newton/work/build/icons/family.png"/>
          <p:cNvPicPr>
            <a:picLocks noChangeAspect="1"/>
          </p:cNvPicPr>
          <p:nvPr/>
        </p:nvPicPr>
        <p:blipFill>
          <a:blip r:embed="rId3"/>
          <a:stretch>
            <a:fillRect/>
          </a:stretch>
        </p:blipFill>
        <p:spPr>
          <a:xfrm>
            <a:off x="10330434" y="546354"/>
            <a:ext cx="553212" cy="553212"/>
          </a:xfrm>
          <a:prstGeom prst="rect">
            <a:avLst/>
          </a:prstGeom>
        </p:spPr>
      </p:pic>
      <p:sp>
        <p:nvSpPr>
          <p:cNvPr id="6" name="Text 3"/>
          <p:cNvSpPr txBox="1"/>
          <p:nvPr/>
        </p:nvSpPr>
        <p:spPr>
          <a:xfrm>
            <a:off x="548640" y="1554480"/>
            <a:ext cx="10881360" cy="1371600"/>
          </a:xfrm>
          <a:prstGeom prst="rect">
            <a:avLst/>
          </a:prstGeom>
          <a:noFill/>
          <a:ln/>
        </p:spPr>
        <p:txBody>
          <a:bodyPr wrap="square" lIns="0" tIns="0" rIns="0" bIns="0" rtlCol="0" anchor="ctr"/>
          <a:lstStyle/>
          <a:p>
            <a:pPr marL="0" indent="0">
              <a:lnSpc>
                <a:spcPct val="120000"/>
              </a:lnSpc>
              <a:buNone/>
            </a:pPr>
            <a:r>
              <a:rPr lang="en-US" sz="1600" dirty="0">
                <a:solidFill>
                  <a:srgbClr val="2A1420"/>
                </a:solidFill>
                <a:latin typeface="Calibri" pitchFamily="34" charset="0"/>
                <a:ea typeface="Calibri" pitchFamily="34" charset="-122"/>
                <a:cs typeface="Calibri" pitchFamily="34" charset="-120"/>
              </a:rPr>
              <a:t>Instruments must separate the sex/gender of the respondent and of the partner, and distinguish married from unmarried same-sex partners.</a:t>
            </a:r>
            <a:endParaRPr lang="en-US" sz="1600" dirty="0"/>
          </a:p>
        </p:txBody>
      </p:sp>
      <p:sp>
        <p:nvSpPr>
          <p:cNvPr id="7" name="Shape 4"/>
          <p:cNvSpPr/>
          <p:nvPr/>
        </p:nvSpPr>
        <p:spPr>
          <a:xfrm>
            <a:off x="548640" y="3246120"/>
            <a:ext cx="11109960" cy="777240"/>
          </a:xfrm>
          <a:prstGeom prst="roundRect">
            <a:avLst>
              <a:gd name="adj" fmla="val 8235"/>
            </a:avLst>
          </a:prstGeom>
          <a:solidFill>
            <a:srgbClr val="F7F3EF"/>
          </a:solidFill>
          <a:ln/>
        </p:spPr>
      </p:sp>
      <p:sp>
        <p:nvSpPr>
          <p:cNvPr id="8" name="Text 5"/>
          <p:cNvSpPr txBox="1"/>
          <p:nvPr/>
        </p:nvSpPr>
        <p:spPr>
          <a:xfrm>
            <a:off x="822960" y="3246120"/>
            <a:ext cx="10561320" cy="777240"/>
          </a:xfrm>
          <a:prstGeom prst="rect">
            <a:avLst/>
          </a:prstGeom>
          <a:noFill/>
          <a:ln/>
        </p:spPr>
        <p:txBody>
          <a:bodyPr wrap="square" lIns="0" tIns="0" rIns="0" bIns="0" rtlCol="0" anchor="ctr"/>
          <a:lstStyle/>
          <a:p>
            <a:pPr marL="0" indent="0">
              <a:buNone/>
            </a:pPr>
            <a:r>
              <a:rPr lang="en-US" sz="1350" dirty="0">
                <a:solidFill>
                  <a:srgbClr val="2A1420"/>
                </a:solidFill>
                <a:latin typeface="Calibri" pitchFamily="34" charset="0"/>
                <a:ea typeface="Calibri" pitchFamily="34" charset="-122"/>
                <a:cs typeface="Calibri" pitchFamily="34" charset="-120"/>
              </a:rPr>
              <a:t>The U.S. American Community Survey only added a same-sex-spouse/partner distinction in 2019 — decades after same-sex cohabitation was common.</a:t>
            </a:r>
            <a:endParaRPr lang="en-US" sz="1350" dirty="0"/>
          </a:p>
        </p:txBody>
      </p:sp>
      <p:sp>
        <p:nvSpPr>
          <p:cNvPr id="9" name="Shape 6"/>
          <p:cNvSpPr/>
          <p:nvPr/>
        </p:nvSpPr>
        <p:spPr>
          <a:xfrm>
            <a:off x="548640" y="4142232"/>
            <a:ext cx="11109960" cy="777240"/>
          </a:xfrm>
          <a:prstGeom prst="roundRect">
            <a:avLst>
              <a:gd name="adj" fmla="val 8235"/>
            </a:avLst>
          </a:prstGeom>
          <a:solidFill>
            <a:srgbClr val="F7F3EF"/>
          </a:solidFill>
          <a:ln/>
        </p:spPr>
      </p:sp>
      <p:sp>
        <p:nvSpPr>
          <p:cNvPr id="10" name="Text 7"/>
          <p:cNvSpPr txBox="1"/>
          <p:nvPr/>
        </p:nvSpPr>
        <p:spPr>
          <a:xfrm>
            <a:off x="822960" y="4142232"/>
            <a:ext cx="10561320" cy="777240"/>
          </a:xfrm>
          <a:prstGeom prst="rect">
            <a:avLst/>
          </a:prstGeom>
          <a:noFill/>
          <a:ln/>
        </p:spPr>
        <p:txBody>
          <a:bodyPr wrap="square" lIns="0" tIns="0" rIns="0" bIns="0" rtlCol="0" anchor="ctr"/>
          <a:lstStyle/>
          <a:p>
            <a:pPr marL="0" indent="0">
              <a:buNone/>
            </a:pPr>
            <a:r>
              <a:rPr lang="en-US" sz="1350" dirty="0">
                <a:solidFill>
                  <a:srgbClr val="2A1420"/>
                </a:solidFill>
                <a:latin typeface="Calibri" pitchFamily="34" charset="0"/>
                <a:ea typeface="Calibri" pitchFamily="34" charset="-122"/>
                <a:cs typeface="Calibri" pitchFamily="34" charset="-120"/>
              </a:rPr>
              <a:t>Thailand's 2025 Marriage Equality Act means the next census must decide how to phrase the relationship-to-reference-person question for same-sex spouses.</a:t>
            </a:r>
            <a:endParaRPr lang="en-US" sz="1350" dirty="0"/>
          </a:p>
        </p:txBody>
      </p:sp>
      <p:sp>
        <p:nvSpPr>
          <p:cNvPr id="11" name="Shape 8"/>
          <p:cNvSpPr/>
          <p:nvPr/>
        </p:nvSpPr>
        <p:spPr>
          <a:xfrm>
            <a:off x="548640" y="5038344"/>
            <a:ext cx="11109960" cy="777240"/>
          </a:xfrm>
          <a:prstGeom prst="roundRect">
            <a:avLst>
              <a:gd name="adj" fmla="val 8235"/>
            </a:avLst>
          </a:prstGeom>
          <a:solidFill>
            <a:srgbClr val="F7F3EF"/>
          </a:solidFill>
          <a:ln/>
        </p:spPr>
      </p:sp>
      <p:sp>
        <p:nvSpPr>
          <p:cNvPr id="12" name="Text 9"/>
          <p:cNvSpPr txBox="1"/>
          <p:nvPr/>
        </p:nvSpPr>
        <p:spPr>
          <a:xfrm>
            <a:off x="822960" y="5038344"/>
            <a:ext cx="10561320" cy="777240"/>
          </a:xfrm>
          <a:prstGeom prst="rect">
            <a:avLst/>
          </a:prstGeom>
          <a:noFill/>
          <a:ln/>
        </p:spPr>
        <p:txBody>
          <a:bodyPr wrap="square" lIns="0" tIns="0" rIns="0" bIns="0" rtlCol="0" anchor="ctr"/>
          <a:lstStyle/>
          <a:p>
            <a:pPr marL="0" indent="0">
              <a:buNone/>
            </a:pPr>
            <a:r>
              <a:rPr lang="en-US" sz="1350" dirty="0">
                <a:solidFill>
                  <a:srgbClr val="2A1420"/>
                </a:solidFill>
                <a:latin typeface="Calibri" pitchFamily="34" charset="0"/>
                <a:ea typeface="Calibri" pitchFamily="34" charset="-122"/>
                <a:cs typeface="Calibri" pitchFamily="34" charset="-120"/>
              </a:rPr>
              <a:t>Without this category, same-sex married couples are miscoded as “unrelated individuals” or “roommates,” undercounting real households.</a:t>
            </a:r>
            <a:endParaRPr lang="en-US" sz="1350" dirty="0"/>
          </a:p>
        </p:txBody>
      </p:sp>
      <p:sp>
        <p:nvSpPr>
          <p:cNvPr id="13" name="Text 10"/>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4" name="Text 11"/>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35 / 56</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MEASUREMENT CHALLENGES (2 OF 4) — COUNTING “FAMILY” IN THE 2026 CENSUS</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6D2E46"/>
                </a:solidFill>
                <a:latin typeface="Cambria" pitchFamily="34" charset="0"/>
                <a:ea typeface="Cambria" pitchFamily="34" charset="-122"/>
                <a:cs typeface="Cambria" pitchFamily="34" charset="-120"/>
              </a:rPr>
              <a:t>Blended &amp; Step-Families</a:t>
            </a:r>
            <a:endParaRPr lang="en-US" sz="3000" dirty="0"/>
          </a:p>
        </p:txBody>
      </p:sp>
      <p:sp>
        <p:nvSpPr>
          <p:cNvPr id="4" name="Shape 2"/>
          <p:cNvSpPr/>
          <p:nvPr/>
        </p:nvSpPr>
        <p:spPr>
          <a:xfrm>
            <a:off x="10104120" y="320040"/>
            <a:ext cx="1005840" cy="1005840"/>
          </a:xfrm>
          <a:prstGeom prst="ellipse">
            <a:avLst/>
          </a:prstGeom>
          <a:solidFill>
            <a:srgbClr val="6D2E46"/>
          </a:solidFill>
          <a:ln/>
        </p:spPr>
      </p:sp>
      <p:pic>
        <p:nvPicPr>
          <p:cNvPr id="5" name="Image 0" descr="/sessions/blissful-modest-newton/work/build/icons/family.png"/>
          <p:cNvPicPr>
            <a:picLocks noChangeAspect="1"/>
          </p:cNvPicPr>
          <p:nvPr/>
        </p:nvPicPr>
        <p:blipFill>
          <a:blip r:embed="rId3"/>
          <a:stretch>
            <a:fillRect/>
          </a:stretch>
        </p:blipFill>
        <p:spPr>
          <a:xfrm>
            <a:off x="10330434" y="546354"/>
            <a:ext cx="553212" cy="553212"/>
          </a:xfrm>
          <a:prstGeom prst="rect">
            <a:avLst/>
          </a:prstGeom>
        </p:spPr>
      </p:pic>
      <p:sp>
        <p:nvSpPr>
          <p:cNvPr id="6" name="Text 3"/>
          <p:cNvSpPr txBox="1"/>
          <p:nvPr/>
        </p:nvSpPr>
        <p:spPr>
          <a:xfrm>
            <a:off x="548640" y="1554480"/>
            <a:ext cx="10881360" cy="1371600"/>
          </a:xfrm>
          <a:prstGeom prst="rect">
            <a:avLst/>
          </a:prstGeom>
          <a:noFill/>
          <a:ln/>
        </p:spPr>
        <p:txBody>
          <a:bodyPr wrap="square" lIns="0" tIns="0" rIns="0" bIns="0" rtlCol="0" anchor="ctr"/>
          <a:lstStyle/>
          <a:p>
            <a:pPr marL="0" indent="0">
              <a:lnSpc>
                <a:spcPct val="120000"/>
              </a:lnSpc>
              <a:buNone/>
            </a:pPr>
            <a:r>
              <a:rPr lang="en-US" sz="1600" dirty="0">
                <a:solidFill>
                  <a:srgbClr val="2A1420"/>
                </a:solidFill>
                <a:latin typeface="Calibri" pitchFamily="34" charset="0"/>
                <a:ea typeface="Calibri" pitchFamily="34" charset="-122"/>
                <a:cs typeface="Calibri" pitchFamily="34" charset="-120"/>
              </a:rPr>
              <a:t>A household roster listing only “head, spouse, children” misses step-, half-, and multi-partner-fertility children living together.</a:t>
            </a:r>
            <a:endParaRPr lang="en-US" sz="1600" dirty="0"/>
          </a:p>
        </p:txBody>
      </p:sp>
      <p:sp>
        <p:nvSpPr>
          <p:cNvPr id="7" name="Shape 4"/>
          <p:cNvSpPr/>
          <p:nvPr/>
        </p:nvSpPr>
        <p:spPr>
          <a:xfrm>
            <a:off x="548640" y="3246120"/>
            <a:ext cx="11109960" cy="777240"/>
          </a:xfrm>
          <a:prstGeom prst="roundRect">
            <a:avLst>
              <a:gd name="adj" fmla="val 8235"/>
            </a:avLst>
          </a:prstGeom>
          <a:solidFill>
            <a:srgbClr val="F7F3EF"/>
          </a:solidFill>
          <a:ln/>
        </p:spPr>
      </p:sp>
      <p:sp>
        <p:nvSpPr>
          <p:cNvPr id="8" name="Text 5"/>
          <p:cNvSpPr txBox="1"/>
          <p:nvPr/>
        </p:nvSpPr>
        <p:spPr>
          <a:xfrm>
            <a:off x="822960" y="3246120"/>
            <a:ext cx="10561320" cy="777240"/>
          </a:xfrm>
          <a:prstGeom prst="rect">
            <a:avLst/>
          </a:prstGeom>
          <a:noFill/>
          <a:ln/>
        </p:spPr>
        <p:txBody>
          <a:bodyPr wrap="square" lIns="0" tIns="0" rIns="0" bIns="0" rtlCol="0" anchor="ctr"/>
          <a:lstStyle/>
          <a:p>
            <a:pPr marL="0" indent="0">
              <a:buNone/>
            </a:pPr>
            <a:r>
              <a:rPr lang="en-US" sz="1350" dirty="0">
                <a:solidFill>
                  <a:srgbClr val="2A1420"/>
                </a:solidFill>
                <a:latin typeface="Calibri" pitchFamily="34" charset="0"/>
                <a:ea typeface="Calibri" pitchFamily="34" charset="-122"/>
                <a:cs typeface="Calibri" pitchFamily="34" charset="-120"/>
              </a:rPr>
              <a:t>A child living with a biological parent, a step-parent, and half-siblings from two different unions needs more than one relationship code to be captured accurately.</a:t>
            </a:r>
            <a:endParaRPr lang="en-US" sz="1350" dirty="0"/>
          </a:p>
        </p:txBody>
      </p:sp>
      <p:sp>
        <p:nvSpPr>
          <p:cNvPr id="9" name="Shape 6"/>
          <p:cNvSpPr/>
          <p:nvPr/>
        </p:nvSpPr>
        <p:spPr>
          <a:xfrm>
            <a:off x="548640" y="4142232"/>
            <a:ext cx="11109960" cy="777240"/>
          </a:xfrm>
          <a:prstGeom prst="roundRect">
            <a:avLst>
              <a:gd name="adj" fmla="val 8235"/>
            </a:avLst>
          </a:prstGeom>
          <a:solidFill>
            <a:srgbClr val="F7F3EF"/>
          </a:solidFill>
          <a:ln/>
        </p:spPr>
      </p:sp>
      <p:sp>
        <p:nvSpPr>
          <p:cNvPr id="10" name="Text 7"/>
          <p:cNvSpPr txBox="1"/>
          <p:nvPr/>
        </p:nvSpPr>
        <p:spPr>
          <a:xfrm>
            <a:off x="822960" y="4142232"/>
            <a:ext cx="10561320" cy="777240"/>
          </a:xfrm>
          <a:prstGeom prst="rect">
            <a:avLst/>
          </a:prstGeom>
          <a:noFill/>
          <a:ln/>
        </p:spPr>
        <p:txBody>
          <a:bodyPr wrap="square" lIns="0" tIns="0" rIns="0" bIns="0" rtlCol="0" anchor="ctr"/>
          <a:lstStyle/>
          <a:p>
            <a:pPr marL="0" indent="0">
              <a:buNone/>
            </a:pPr>
            <a:r>
              <a:rPr lang="en-US" sz="1350" dirty="0">
                <a:solidFill>
                  <a:srgbClr val="2A1420"/>
                </a:solidFill>
                <a:latin typeface="Calibri" pitchFamily="34" charset="0"/>
                <a:ea typeface="Calibri" pitchFamily="34" charset="-122"/>
                <a:cs typeface="Calibri" pitchFamily="34" charset="-120"/>
              </a:rPr>
              <a:t>Standard rosters often force enumerators to record only the closest kin tie to the reference person, hiding the full sibling/step-sibling structure.</a:t>
            </a:r>
            <a:endParaRPr lang="en-US" sz="1350" dirty="0"/>
          </a:p>
        </p:txBody>
      </p:sp>
      <p:sp>
        <p:nvSpPr>
          <p:cNvPr id="11" name="Shape 8"/>
          <p:cNvSpPr/>
          <p:nvPr/>
        </p:nvSpPr>
        <p:spPr>
          <a:xfrm>
            <a:off x="548640" y="5038344"/>
            <a:ext cx="11109960" cy="777240"/>
          </a:xfrm>
          <a:prstGeom prst="roundRect">
            <a:avLst>
              <a:gd name="adj" fmla="val 8235"/>
            </a:avLst>
          </a:prstGeom>
          <a:solidFill>
            <a:srgbClr val="F7F3EF"/>
          </a:solidFill>
          <a:ln/>
        </p:spPr>
      </p:sp>
      <p:sp>
        <p:nvSpPr>
          <p:cNvPr id="12" name="Text 9"/>
          <p:cNvSpPr txBox="1"/>
          <p:nvPr/>
        </p:nvSpPr>
        <p:spPr>
          <a:xfrm>
            <a:off x="822960" y="5038344"/>
            <a:ext cx="10561320" cy="777240"/>
          </a:xfrm>
          <a:prstGeom prst="rect">
            <a:avLst/>
          </a:prstGeom>
          <a:noFill/>
          <a:ln/>
        </p:spPr>
        <p:txBody>
          <a:bodyPr wrap="square" lIns="0" tIns="0" rIns="0" bIns="0" rtlCol="0" anchor="ctr"/>
          <a:lstStyle/>
          <a:p>
            <a:pPr marL="0" indent="0">
              <a:buNone/>
            </a:pPr>
            <a:r>
              <a:rPr lang="en-US" sz="1350" dirty="0">
                <a:solidFill>
                  <a:srgbClr val="2A1420"/>
                </a:solidFill>
                <a:latin typeface="Calibri" pitchFamily="34" charset="0"/>
                <a:ea typeface="Calibri" pitchFamily="34" charset="-122"/>
                <a:cs typeface="Calibri" pitchFamily="34" charset="-120"/>
              </a:rPr>
              <a:t>This matters for child-support, custody, and household-size statistics, which can misstate true co-residence patterns.</a:t>
            </a:r>
            <a:endParaRPr lang="en-US" sz="1350" dirty="0"/>
          </a:p>
        </p:txBody>
      </p:sp>
      <p:sp>
        <p:nvSpPr>
          <p:cNvPr id="13" name="Text 10"/>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4" name="Text 11"/>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36 / 56</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MEASUREMENT CHALLENGES (3 OF 4) — COUNTING “FAMILY” IN THE 2026 CENSUS</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6D2E46"/>
                </a:solidFill>
                <a:latin typeface="Cambria" pitchFamily="34" charset="0"/>
                <a:ea typeface="Cambria" pitchFamily="34" charset="-122"/>
                <a:cs typeface="Cambria" pitchFamily="34" charset="-120"/>
              </a:rPr>
              <a:t>Multi-Generational Households</a:t>
            </a:r>
            <a:endParaRPr lang="en-US" sz="3000" dirty="0"/>
          </a:p>
        </p:txBody>
      </p:sp>
      <p:sp>
        <p:nvSpPr>
          <p:cNvPr id="4" name="Shape 2"/>
          <p:cNvSpPr/>
          <p:nvPr/>
        </p:nvSpPr>
        <p:spPr>
          <a:xfrm>
            <a:off x="10104120" y="320040"/>
            <a:ext cx="1005840" cy="1005840"/>
          </a:xfrm>
          <a:prstGeom prst="ellipse">
            <a:avLst/>
          </a:prstGeom>
          <a:solidFill>
            <a:srgbClr val="6D2E46"/>
          </a:solidFill>
          <a:ln/>
        </p:spPr>
      </p:sp>
      <p:pic>
        <p:nvPicPr>
          <p:cNvPr id="5" name="Image 0" descr="/sessions/blissful-modest-newton/work/build/icons/users3.png"/>
          <p:cNvPicPr>
            <a:picLocks noChangeAspect="1"/>
          </p:cNvPicPr>
          <p:nvPr/>
        </p:nvPicPr>
        <p:blipFill>
          <a:blip r:embed="rId3"/>
          <a:stretch>
            <a:fillRect/>
          </a:stretch>
        </p:blipFill>
        <p:spPr>
          <a:xfrm>
            <a:off x="10330434" y="546354"/>
            <a:ext cx="553212" cy="553212"/>
          </a:xfrm>
          <a:prstGeom prst="rect">
            <a:avLst/>
          </a:prstGeom>
        </p:spPr>
      </p:pic>
      <p:sp>
        <p:nvSpPr>
          <p:cNvPr id="6" name="Text 3"/>
          <p:cNvSpPr txBox="1"/>
          <p:nvPr/>
        </p:nvSpPr>
        <p:spPr>
          <a:xfrm>
            <a:off x="548640" y="1554480"/>
            <a:ext cx="10881360" cy="1371600"/>
          </a:xfrm>
          <a:prstGeom prst="rect">
            <a:avLst/>
          </a:prstGeom>
          <a:noFill/>
          <a:ln/>
        </p:spPr>
        <p:txBody>
          <a:bodyPr wrap="square" lIns="0" tIns="0" rIns="0" bIns="0" rtlCol="0" anchor="ctr"/>
          <a:lstStyle/>
          <a:p>
            <a:pPr marL="0" indent="0">
              <a:lnSpc>
                <a:spcPct val="120000"/>
              </a:lnSpc>
              <a:buNone/>
            </a:pPr>
            <a:r>
              <a:rPr lang="en-US" sz="1600" dirty="0">
                <a:solidFill>
                  <a:srgbClr val="2A1420"/>
                </a:solidFill>
                <a:latin typeface="Calibri" pitchFamily="34" charset="0"/>
                <a:ea typeface="Calibri" pitchFamily="34" charset="-122"/>
                <a:cs typeface="Calibri" pitchFamily="34" charset="-120"/>
              </a:rPr>
              <a:t>Three (or more) co-resident generations — common with population aging and labor migration — strain rosters designed around a single nuclear “head.”</a:t>
            </a:r>
            <a:endParaRPr lang="en-US" sz="1600" dirty="0"/>
          </a:p>
        </p:txBody>
      </p:sp>
      <p:sp>
        <p:nvSpPr>
          <p:cNvPr id="7" name="Shape 4"/>
          <p:cNvSpPr/>
          <p:nvPr/>
        </p:nvSpPr>
        <p:spPr>
          <a:xfrm>
            <a:off x="548640" y="3246120"/>
            <a:ext cx="11109960" cy="777240"/>
          </a:xfrm>
          <a:prstGeom prst="roundRect">
            <a:avLst>
              <a:gd name="adj" fmla="val 8235"/>
            </a:avLst>
          </a:prstGeom>
          <a:solidFill>
            <a:srgbClr val="F7F3EF"/>
          </a:solidFill>
          <a:ln/>
        </p:spPr>
      </p:sp>
      <p:sp>
        <p:nvSpPr>
          <p:cNvPr id="8" name="Text 5"/>
          <p:cNvSpPr txBox="1"/>
          <p:nvPr/>
        </p:nvSpPr>
        <p:spPr>
          <a:xfrm>
            <a:off x="822960" y="3246120"/>
            <a:ext cx="10561320" cy="777240"/>
          </a:xfrm>
          <a:prstGeom prst="rect">
            <a:avLst/>
          </a:prstGeom>
          <a:noFill/>
          <a:ln/>
        </p:spPr>
        <p:txBody>
          <a:bodyPr wrap="square" lIns="0" tIns="0" rIns="0" bIns="0" rtlCol="0" anchor="ctr"/>
          <a:lstStyle/>
          <a:p>
            <a:pPr marL="0" indent="0">
              <a:buNone/>
            </a:pPr>
            <a:r>
              <a:rPr lang="en-US" sz="1350" dirty="0">
                <a:solidFill>
                  <a:srgbClr val="2A1420"/>
                </a:solidFill>
                <a:latin typeface="Calibri" pitchFamily="34" charset="0"/>
                <a:ea typeface="Calibri" pitchFamily="34" charset="-122"/>
                <a:cs typeface="Calibri" pitchFamily="34" charset="-120"/>
              </a:rPr>
              <a:t>Skip-generation households (grandparent + grandchildren, parents working abroad) require the roster to record generation and caregiving role, not just kinship label.</a:t>
            </a:r>
            <a:endParaRPr lang="en-US" sz="1350" dirty="0"/>
          </a:p>
        </p:txBody>
      </p:sp>
      <p:sp>
        <p:nvSpPr>
          <p:cNvPr id="9" name="Shape 6"/>
          <p:cNvSpPr/>
          <p:nvPr/>
        </p:nvSpPr>
        <p:spPr>
          <a:xfrm>
            <a:off x="548640" y="4142232"/>
            <a:ext cx="11109960" cy="777240"/>
          </a:xfrm>
          <a:prstGeom prst="roundRect">
            <a:avLst>
              <a:gd name="adj" fmla="val 8235"/>
            </a:avLst>
          </a:prstGeom>
          <a:solidFill>
            <a:srgbClr val="F7F3EF"/>
          </a:solidFill>
          <a:ln/>
        </p:spPr>
      </p:sp>
      <p:sp>
        <p:nvSpPr>
          <p:cNvPr id="10" name="Text 7"/>
          <p:cNvSpPr txBox="1"/>
          <p:nvPr/>
        </p:nvSpPr>
        <p:spPr>
          <a:xfrm>
            <a:off x="822960" y="4142232"/>
            <a:ext cx="10561320" cy="777240"/>
          </a:xfrm>
          <a:prstGeom prst="rect">
            <a:avLst/>
          </a:prstGeom>
          <a:noFill/>
          <a:ln/>
        </p:spPr>
        <p:txBody>
          <a:bodyPr wrap="square" lIns="0" tIns="0" rIns="0" bIns="0" rtlCol="0" anchor="ctr"/>
          <a:lstStyle/>
          <a:p>
            <a:pPr marL="0" indent="0">
              <a:buNone/>
            </a:pPr>
            <a:r>
              <a:rPr lang="en-US" sz="1350" dirty="0">
                <a:solidFill>
                  <a:srgbClr val="2A1420"/>
                </a:solidFill>
                <a:latin typeface="Calibri" pitchFamily="34" charset="0"/>
                <a:ea typeface="Calibri" pitchFamily="34" charset="-122"/>
                <a:cs typeface="Calibri" pitchFamily="34" charset="-120"/>
              </a:rPr>
              <a:t>Multi-generational co-residence is rising in rapidly aging societies (including Thailand) as adult children support elderly parents — a household form the classic nuclear typology undercounts.</a:t>
            </a:r>
            <a:endParaRPr lang="en-US" sz="1350" dirty="0"/>
          </a:p>
        </p:txBody>
      </p:sp>
      <p:sp>
        <p:nvSpPr>
          <p:cNvPr id="11" name="Shape 8"/>
          <p:cNvSpPr/>
          <p:nvPr/>
        </p:nvSpPr>
        <p:spPr>
          <a:xfrm>
            <a:off x="548640" y="5038344"/>
            <a:ext cx="11109960" cy="777240"/>
          </a:xfrm>
          <a:prstGeom prst="roundRect">
            <a:avLst>
              <a:gd name="adj" fmla="val 8235"/>
            </a:avLst>
          </a:prstGeom>
          <a:solidFill>
            <a:srgbClr val="F7F3EF"/>
          </a:solidFill>
          <a:ln/>
        </p:spPr>
      </p:sp>
      <p:sp>
        <p:nvSpPr>
          <p:cNvPr id="12" name="Text 9"/>
          <p:cNvSpPr txBox="1"/>
          <p:nvPr/>
        </p:nvSpPr>
        <p:spPr>
          <a:xfrm>
            <a:off x="822960" y="5038344"/>
            <a:ext cx="10561320" cy="777240"/>
          </a:xfrm>
          <a:prstGeom prst="rect">
            <a:avLst/>
          </a:prstGeom>
          <a:noFill/>
          <a:ln/>
        </p:spPr>
        <p:txBody>
          <a:bodyPr wrap="square" lIns="0" tIns="0" rIns="0" bIns="0" rtlCol="0" anchor="ctr"/>
          <a:lstStyle/>
          <a:p>
            <a:pPr marL="0" indent="0">
              <a:buNone/>
            </a:pPr>
            <a:r>
              <a:rPr lang="en-US" sz="1350" dirty="0">
                <a:solidFill>
                  <a:srgbClr val="2A1420"/>
                </a:solidFill>
                <a:latin typeface="Calibri" pitchFamily="34" charset="0"/>
                <a:ea typeface="Calibri" pitchFamily="34" charset="-122"/>
                <a:cs typeface="Calibri" pitchFamily="34" charset="-120"/>
              </a:rPr>
              <a:t>Pension and health-policy planning needs accurate multi-generational household counts to size intra-family old-age support versus public-transfer need.</a:t>
            </a:r>
            <a:endParaRPr lang="en-US" sz="1350" dirty="0"/>
          </a:p>
        </p:txBody>
      </p:sp>
      <p:sp>
        <p:nvSpPr>
          <p:cNvPr id="13" name="Text 10"/>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4" name="Text 11"/>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37 / 56</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MEASUREMENT CHALLENGES (4 OF 4) — COUNTING “FAMILY” IN THE 2026 CENSUS</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6D2E46"/>
                </a:solidFill>
                <a:latin typeface="Cambria" pitchFamily="34" charset="0"/>
                <a:ea typeface="Cambria" pitchFamily="34" charset="-122"/>
                <a:cs typeface="Cambria" pitchFamily="34" charset="-120"/>
              </a:rPr>
              <a:t>Living Apart Together &amp; Transnational Families</a:t>
            </a:r>
            <a:endParaRPr lang="en-US" sz="3000" dirty="0"/>
          </a:p>
        </p:txBody>
      </p:sp>
      <p:sp>
        <p:nvSpPr>
          <p:cNvPr id="4" name="Shape 2"/>
          <p:cNvSpPr/>
          <p:nvPr/>
        </p:nvSpPr>
        <p:spPr>
          <a:xfrm>
            <a:off x="10104120" y="320040"/>
            <a:ext cx="1005840" cy="1005840"/>
          </a:xfrm>
          <a:prstGeom prst="ellipse">
            <a:avLst/>
          </a:prstGeom>
          <a:solidFill>
            <a:srgbClr val="6D2E46"/>
          </a:solidFill>
          <a:ln/>
        </p:spPr>
      </p:sp>
      <p:pic>
        <p:nvPicPr>
          <p:cNvPr id="5" name="Image 0" descr="/sessions/blissful-modest-newton/work/build/icons/globe.png"/>
          <p:cNvPicPr>
            <a:picLocks noChangeAspect="1"/>
          </p:cNvPicPr>
          <p:nvPr/>
        </p:nvPicPr>
        <p:blipFill>
          <a:blip r:embed="rId3"/>
          <a:stretch>
            <a:fillRect/>
          </a:stretch>
        </p:blipFill>
        <p:spPr>
          <a:xfrm>
            <a:off x="10330434" y="546354"/>
            <a:ext cx="553212" cy="553212"/>
          </a:xfrm>
          <a:prstGeom prst="rect">
            <a:avLst/>
          </a:prstGeom>
        </p:spPr>
      </p:pic>
      <p:sp>
        <p:nvSpPr>
          <p:cNvPr id="6" name="Text 3"/>
          <p:cNvSpPr txBox="1"/>
          <p:nvPr/>
        </p:nvSpPr>
        <p:spPr>
          <a:xfrm>
            <a:off x="548640" y="1554480"/>
            <a:ext cx="10881360" cy="1371600"/>
          </a:xfrm>
          <a:prstGeom prst="rect">
            <a:avLst/>
          </a:prstGeom>
          <a:noFill/>
          <a:ln/>
        </p:spPr>
        <p:txBody>
          <a:bodyPr wrap="square" lIns="0" tIns="0" rIns="0" bIns="0" rtlCol="0" anchor="ctr"/>
          <a:lstStyle/>
          <a:p>
            <a:pPr marL="0" indent="0">
              <a:lnSpc>
                <a:spcPct val="120000"/>
              </a:lnSpc>
              <a:buNone/>
            </a:pPr>
            <a:r>
              <a:rPr lang="en-US" sz="1600" dirty="0">
                <a:solidFill>
                  <a:srgbClr val="2A1420"/>
                </a:solidFill>
                <a:latin typeface="Calibri" pitchFamily="34" charset="0"/>
                <a:ea typeface="Calibri" pitchFamily="34" charset="-122"/>
                <a:cs typeface="Calibri" pitchFamily="34" charset="-120"/>
              </a:rPr>
              <a:t>Committed partners who deliberately maintain separate households, and families split across borders, are invisible to co-residence-based family measures.</a:t>
            </a:r>
            <a:endParaRPr lang="en-US" sz="1600" dirty="0"/>
          </a:p>
        </p:txBody>
      </p:sp>
      <p:sp>
        <p:nvSpPr>
          <p:cNvPr id="7" name="Shape 4"/>
          <p:cNvSpPr/>
          <p:nvPr/>
        </p:nvSpPr>
        <p:spPr>
          <a:xfrm>
            <a:off x="548640" y="3246120"/>
            <a:ext cx="11109960" cy="777240"/>
          </a:xfrm>
          <a:prstGeom prst="roundRect">
            <a:avLst>
              <a:gd name="adj" fmla="val 8235"/>
            </a:avLst>
          </a:prstGeom>
          <a:solidFill>
            <a:srgbClr val="F7F3EF"/>
          </a:solidFill>
          <a:ln/>
        </p:spPr>
      </p:sp>
      <p:sp>
        <p:nvSpPr>
          <p:cNvPr id="8" name="Text 5"/>
          <p:cNvSpPr txBox="1"/>
          <p:nvPr/>
        </p:nvSpPr>
        <p:spPr>
          <a:xfrm>
            <a:off x="822960" y="3246120"/>
            <a:ext cx="10561320" cy="777240"/>
          </a:xfrm>
          <a:prstGeom prst="rect">
            <a:avLst/>
          </a:prstGeom>
          <a:noFill/>
          <a:ln/>
        </p:spPr>
        <p:txBody>
          <a:bodyPr wrap="square" lIns="0" tIns="0" rIns="0" bIns="0" rtlCol="0" anchor="ctr"/>
          <a:lstStyle/>
          <a:p>
            <a:pPr marL="0" indent="0">
              <a:buNone/>
            </a:pPr>
            <a:r>
              <a:rPr lang="en-US" sz="1350" dirty="0">
                <a:solidFill>
                  <a:srgbClr val="2A1420"/>
                </a:solidFill>
                <a:latin typeface="Calibri" pitchFamily="34" charset="0"/>
                <a:ea typeface="Calibri" pitchFamily="34" charset="-122"/>
                <a:cs typeface="Calibri" pitchFamily="34" charset="-120"/>
              </a:rPr>
              <a:t>Living Apart Together (LAT): committed couples who choose not to share a dwelling appear as two separate one-person households in a co-residence-based census.</a:t>
            </a:r>
            <a:endParaRPr lang="en-US" sz="1350" dirty="0"/>
          </a:p>
        </p:txBody>
      </p:sp>
      <p:sp>
        <p:nvSpPr>
          <p:cNvPr id="9" name="Shape 6"/>
          <p:cNvSpPr/>
          <p:nvPr/>
        </p:nvSpPr>
        <p:spPr>
          <a:xfrm>
            <a:off x="548640" y="4142232"/>
            <a:ext cx="11109960" cy="777240"/>
          </a:xfrm>
          <a:prstGeom prst="roundRect">
            <a:avLst>
              <a:gd name="adj" fmla="val 8235"/>
            </a:avLst>
          </a:prstGeom>
          <a:solidFill>
            <a:srgbClr val="F7F3EF"/>
          </a:solidFill>
          <a:ln/>
        </p:spPr>
      </p:sp>
      <p:sp>
        <p:nvSpPr>
          <p:cNvPr id="10" name="Text 7"/>
          <p:cNvSpPr txBox="1"/>
          <p:nvPr/>
        </p:nvSpPr>
        <p:spPr>
          <a:xfrm>
            <a:off x="822960" y="4142232"/>
            <a:ext cx="10561320" cy="777240"/>
          </a:xfrm>
          <a:prstGeom prst="rect">
            <a:avLst/>
          </a:prstGeom>
          <a:noFill/>
          <a:ln/>
        </p:spPr>
        <p:txBody>
          <a:bodyPr wrap="square" lIns="0" tIns="0" rIns="0" bIns="0" rtlCol="0" anchor="ctr"/>
          <a:lstStyle/>
          <a:p>
            <a:pPr marL="0" indent="0">
              <a:buNone/>
            </a:pPr>
            <a:r>
              <a:rPr lang="en-US" sz="1350" dirty="0">
                <a:solidFill>
                  <a:srgbClr val="2A1420"/>
                </a:solidFill>
                <a:latin typeface="Calibri" pitchFamily="34" charset="0"/>
                <a:ea typeface="Calibri" pitchFamily="34" charset="-122"/>
                <a:cs typeface="Calibri" pitchFamily="34" charset="-120"/>
              </a:rPr>
              <a:t>Transnational families: a family split across a migrant parent abroad and children at home spans two households and often two countries — no single national census captures the whole family.</a:t>
            </a:r>
            <a:endParaRPr lang="en-US" sz="1350" dirty="0"/>
          </a:p>
        </p:txBody>
      </p:sp>
      <p:sp>
        <p:nvSpPr>
          <p:cNvPr id="11" name="Shape 8"/>
          <p:cNvSpPr/>
          <p:nvPr/>
        </p:nvSpPr>
        <p:spPr>
          <a:xfrm>
            <a:off x="548640" y="5038344"/>
            <a:ext cx="11109960" cy="777240"/>
          </a:xfrm>
          <a:prstGeom prst="roundRect">
            <a:avLst>
              <a:gd name="adj" fmla="val 8235"/>
            </a:avLst>
          </a:prstGeom>
          <a:solidFill>
            <a:srgbClr val="F7F3EF"/>
          </a:solidFill>
          <a:ln/>
        </p:spPr>
      </p:sp>
      <p:sp>
        <p:nvSpPr>
          <p:cNvPr id="12" name="Text 9"/>
          <p:cNvSpPr txBox="1"/>
          <p:nvPr/>
        </p:nvSpPr>
        <p:spPr>
          <a:xfrm>
            <a:off x="822960" y="5038344"/>
            <a:ext cx="10561320" cy="777240"/>
          </a:xfrm>
          <a:prstGeom prst="rect">
            <a:avLst/>
          </a:prstGeom>
          <a:noFill/>
          <a:ln/>
        </p:spPr>
        <p:txBody>
          <a:bodyPr wrap="square" lIns="0" tIns="0" rIns="0" bIns="0" rtlCol="0" anchor="ctr"/>
          <a:lstStyle/>
          <a:p>
            <a:pPr marL="0" indent="0">
              <a:buNone/>
            </a:pPr>
            <a:r>
              <a:rPr lang="en-US" sz="1350" dirty="0">
                <a:solidFill>
                  <a:srgbClr val="2A1420"/>
                </a:solidFill>
                <a:latin typeface="Calibri" pitchFamily="34" charset="0"/>
                <a:ea typeface="Calibri" pitchFamily="34" charset="-122"/>
                <a:cs typeface="Calibri" pitchFamily="34" charset="-120"/>
              </a:rPr>
              <a:t>Both cases show why demographers increasingly triangulate census, survey, and administrative/digital data rather than relying on the household roster alone.</a:t>
            </a:r>
            <a:endParaRPr lang="en-US" sz="1350" dirty="0"/>
          </a:p>
        </p:txBody>
      </p:sp>
      <p:sp>
        <p:nvSpPr>
          <p:cNvPr id="13" name="Text 10"/>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4" name="Text 11"/>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38 / 56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SUPPORTING EVIDENCE</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How Measurement Choices Move the Numbers</a:t>
            </a:r>
            <a:endParaRPr lang="en-US" sz="3000" dirty="0"/>
          </a:p>
        </p:txBody>
      </p:sp>
      <p:sp>
        <p:nvSpPr>
          <p:cNvPr id="4" name="Shape 2"/>
          <p:cNvSpPr/>
          <p:nvPr/>
        </p:nvSpPr>
        <p:spPr>
          <a:xfrm>
            <a:off x="548640" y="1508760"/>
            <a:ext cx="4023360" cy="4206240"/>
          </a:xfrm>
          <a:prstGeom prst="roundRect">
            <a:avLst>
              <a:gd name="adj" fmla="val 2273"/>
            </a:avLst>
          </a:prstGeom>
          <a:solidFill>
            <a:srgbClr val="ECE2D0"/>
          </a:solidFill>
          <a:ln/>
        </p:spPr>
      </p:sp>
      <p:sp>
        <p:nvSpPr>
          <p:cNvPr id="5" name="Text 3"/>
          <p:cNvSpPr txBox="1"/>
          <p:nvPr/>
        </p:nvSpPr>
        <p:spPr>
          <a:xfrm>
            <a:off x="731520" y="1828800"/>
            <a:ext cx="3657600" cy="914400"/>
          </a:xfrm>
          <a:prstGeom prst="rect">
            <a:avLst/>
          </a:prstGeom>
          <a:noFill/>
          <a:ln/>
        </p:spPr>
        <p:txBody>
          <a:bodyPr wrap="square" lIns="0" tIns="0" rIns="0" bIns="0" rtlCol="0" anchor="ctr"/>
          <a:lstStyle/>
          <a:p>
            <a:pPr marL="0" indent="0" algn="ctr">
              <a:buNone/>
            </a:pPr>
            <a:r>
              <a:rPr lang="en-US" sz="3000" b="1" dirty="0">
                <a:solidFill>
                  <a:srgbClr val="6D2E46"/>
                </a:solidFill>
                <a:latin typeface="Cambria" pitchFamily="34" charset="0"/>
                <a:ea typeface="Cambria" pitchFamily="34" charset="-122"/>
                <a:cs typeface="Cambria" pitchFamily="34" charset="-120"/>
              </a:rPr>
              <a:t>1.4 million</a:t>
            </a:r>
            <a:endParaRPr lang="en-US" sz="3000" dirty="0"/>
          </a:p>
        </p:txBody>
      </p:sp>
      <p:sp>
        <p:nvSpPr>
          <p:cNvPr id="6" name="Text 4"/>
          <p:cNvSpPr txBox="1"/>
          <p:nvPr/>
        </p:nvSpPr>
        <p:spPr>
          <a:xfrm>
            <a:off x="822960" y="2743200"/>
            <a:ext cx="3474720" cy="2743200"/>
          </a:xfrm>
          <a:prstGeom prst="rect">
            <a:avLst/>
          </a:prstGeom>
          <a:noFill/>
          <a:ln/>
        </p:spPr>
        <p:txBody>
          <a:bodyPr wrap="square" lIns="0" tIns="0" rIns="0" bIns="0" rtlCol="0" anchor="ctr"/>
          <a:lstStyle/>
          <a:p>
            <a:pPr marL="0" indent="0" algn="ctr">
              <a:buNone/>
            </a:pPr>
            <a:r>
              <a:rPr lang="en-US" sz="1300" dirty="0">
                <a:solidFill>
                  <a:srgbClr val="2A1420"/>
                </a:solidFill>
                <a:latin typeface="Calibri" pitchFamily="34" charset="0"/>
                <a:ea typeface="Calibri" pitchFamily="34" charset="-122"/>
                <a:cs typeface="Calibri" pitchFamily="34" charset="-120"/>
              </a:rPr>
              <a:t>same-sex couple households counted in the United States in 2024 — nearly double the 2005 count, following clearer survey categories introduced after 2015 and 2019.</a:t>
            </a:r>
            <a:endParaRPr lang="en-US" sz="1300" dirty="0"/>
          </a:p>
        </p:txBody>
      </p:sp>
      <p:sp>
        <p:nvSpPr>
          <p:cNvPr id="7" name="Text 5"/>
          <p:cNvSpPr txBox="1"/>
          <p:nvPr/>
        </p:nvSpPr>
        <p:spPr>
          <a:xfrm>
            <a:off x="4846320" y="1691640"/>
            <a:ext cx="6766560" cy="3474720"/>
          </a:xfrm>
          <a:prstGeom prst="rect">
            <a:avLst/>
          </a:prstGeom>
          <a:noFill/>
          <a:ln/>
        </p:spPr>
        <p:txBody>
          <a:bodyPr wrap="square" lIns="0" tIns="0" rIns="0" bIns="0" rtlCol="0" anchor="ctr"/>
          <a:lstStyle/>
          <a:p>
            <a:pPr marL="0" indent="0">
              <a:lnSpc>
                <a:spcPct val="120000"/>
              </a:lnSpc>
              <a:buNone/>
            </a:pPr>
            <a:r>
              <a:rPr lang="en-US" sz="1550" dirty="0">
                <a:solidFill>
                  <a:srgbClr val="2A1420"/>
                </a:solidFill>
                <a:latin typeface="Calibri" pitchFamily="34" charset="0"/>
                <a:ea typeface="Calibri" pitchFamily="34" charset="-122"/>
                <a:cs typeface="Calibri" pitchFamily="34" charset="-120"/>
              </a:rPr>
              <a:t>Key takeaway: Part of this rise is real behavioral change; part is measurement catching up — more confident reporting after legal recognition, and better-designed survey categories. Demographers must separate the two before reading a time series as a trend.</a:t>
            </a:r>
            <a:endParaRPr lang="en-US" sz="1550" dirty="0"/>
          </a:p>
        </p:txBody>
      </p:sp>
      <p:sp>
        <p:nvSpPr>
          <p:cNvPr id="8" name="Text 6"/>
          <p:cNvSpPr txBox="1"/>
          <p:nvPr/>
        </p:nvSpPr>
        <p:spPr>
          <a:xfrm>
            <a:off x="548640" y="6126480"/>
            <a:ext cx="11064240" cy="365760"/>
          </a:xfrm>
          <a:prstGeom prst="rect">
            <a:avLst/>
          </a:prstGeom>
          <a:noFill/>
          <a:ln/>
        </p:spPr>
        <p:txBody>
          <a:bodyPr wrap="square" lIns="0" tIns="0" rIns="0" bIns="0" rtlCol="0" anchor="ctr"/>
          <a:lstStyle/>
          <a:p>
            <a:pPr marL="0" indent="0">
              <a:buNone/>
            </a:pPr>
            <a:r>
              <a:rPr lang="en-US" sz="950" i="1" dirty="0">
                <a:solidFill>
                  <a:srgbClr val="6B5A5F"/>
                </a:solidFill>
                <a:latin typeface="Calibri" pitchFamily="34" charset="0"/>
                <a:ea typeface="Calibri" pitchFamily="34" charset="-122"/>
                <a:cs typeface="Calibri" pitchFamily="34" charset="-120"/>
              </a:rPr>
              <a:t>Source: U.S. Census Bureau (2026), More Female Than Male Same-Sex Couple Households in the United States in 2024, census.gov/library/stories/2026/04/same-sex-couples.html.</a:t>
            </a:r>
            <a:endParaRPr lang="en-US" sz="950" dirty="0"/>
          </a:p>
        </p:txBody>
      </p:sp>
      <p:sp>
        <p:nvSpPr>
          <p:cNvPr id="9" name="Text 7"/>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0" name="Text 8"/>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39 / 56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ADDITIONAL REAL EXAMPLE — THAILAND</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Thailand's Households Are Shrinking</a:t>
            </a:r>
            <a:endParaRPr lang="en-US" sz="3000" dirty="0"/>
          </a:p>
        </p:txBody>
      </p:sp>
      <p:sp>
        <p:nvSpPr>
          <p:cNvPr id="4" name="Text 2"/>
          <p:cNvSpPr txBox="1"/>
          <p:nvPr/>
        </p:nvSpPr>
        <p:spPr>
          <a:xfrm>
            <a:off x="548640" y="1463040"/>
            <a:ext cx="11064240" cy="640080"/>
          </a:xfrm>
          <a:prstGeom prst="rect">
            <a:avLst/>
          </a:prstGeom>
          <a:noFill/>
          <a:ln/>
        </p:spPr>
        <p:txBody>
          <a:bodyPr wrap="square" lIns="0" tIns="0" rIns="0" bIns="0" rtlCol="0" anchor="ctr"/>
          <a:lstStyle/>
          <a:p>
            <a:pPr marL="0" indent="0">
              <a:buNone/>
            </a:pPr>
            <a:r>
              <a:rPr lang="en-US" sz="1400" dirty="0">
                <a:solidFill>
                  <a:srgbClr val="2A1420"/>
                </a:solidFill>
                <a:latin typeface="Calibri" pitchFamily="34" charset="0"/>
                <a:ea typeface="Calibri" pitchFamily="34" charset="-122"/>
                <a:cs typeface="Calibri" pitchFamily="34" charset="-120"/>
              </a:rPr>
              <a:t>Average household size has fallen for decades as fertility declines, urban youth live independently longer, and the population ages.</a:t>
            </a:r>
            <a:endParaRPr lang="en-US" sz="1400" dirty="0"/>
          </a:p>
        </p:txBody>
      </p:sp>
      <p:sp>
        <p:nvSpPr>
          <p:cNvPr id="5" name="Shape 3"/>
          <p:cNvSpPr/>
          <p:nvPr/>
        </p:nvSpPr>
        <p:spPr>
          <a:xfrm>
            <a:off x="548640" y="2240280"/>
            <a:ext cx="3520440" cy="1965960"/>
          </a:xfrm>
          <a:prstGeom prst="roundRect">
            <a:avLst>
              <a:gd name="adj" fmla="val 4651"/>
            </a:avLst>
          </a:prstGeom>
          <a:solidFill>
            <a:srgbClr val="F7F3EF"/>
          </a:solidFill>
          <a:ln/>
        </p:spPr>
      </p:sp>
      <p:sp>
        <p:nvSpPr>
          <p:cNvPr id="6" name="Text 4"/>
          <p:cNvSpPr txBox="1"/>
          <p:nvPr/>
        </p:nvSpPr>
        <p:spPr>
          <a:xfrm>
            <a:off x="685800" y="2404872"/>
            <a:ext cx="3246120" cy="914400"/>
          </a:xfrm>
          <a:prstGeom prst="rect">
            <a:avLst/>
          </a:prstGeom>
          <a:noFill/>
          <a:ln/>
        </p:spPr>
        <p:txBody>
          <a:bodyPr wrap="square" lIns="0" tIns="0" rIns="0" bIns="0" rtlCol="0" anchor="ctr"/>
          <a:lstStyle/>
          <a:p>
            <a:pPr marL="0" indent="0" algn="ctr">
              <a:buNone/>
            </a:pPr>
            <a:r>
              <a:rPr lang="en-US" sz="3400" b="1" dirty="0">
                <a:solidFill>
                  <a:srgbClr val="C9962E"/>
                </a:solidFill>
                <a:latin typeface="Cambria" pitchFamily="34" charset="0"/>
                <a:ea typeface="Cambria" pitchFamily="34" charset="-122"/>
                <a:cs typeface="Cambria" pitchFamily="34" charset="-120"/>
              </a:rPr>
              <a:t>5.2→3.0</a:t>
            </a:r>
            <a:endParaRPr lang="en-US" sz="3400" dirty="0"/>
          </a:p>
        </p:txBody>
      </p:sp>
      <p:sp>
        <p:nvSpPr>
          <p:cNvPr id="7" name="Text 5"/>
          <p:cNvSpPr txBox="1"/>
          <p:nvPr/>
        </p:nvSpPr>
        <p:spPr>
          <a:xfrm>
            <a:off x="731520" y="3291840"/>
            <a:ext cx="3154680" cy="868680"/>
          </a:xfrm>
          <a:prstGeom prst="rect">
            <a:avLst/>
          </a:prstGeom>
          <a:noFill/>
          <a:ln/>
        </p:spPr>
        <p:txBody>
          <a:bodyPr wrap="square" lIns="0" tIns="0" rIns="0" bIns="0" rtlCol="0" anchor="ctr"/>
          <a:lstStyle/>
          <a:p>
            <a:pPr marL="0" indent="0" algn="ctr">
              <a:buNone/>
            </a:pPr>
            <a:r>
              <a:rPr lang="en-US" sz="1200" dirty="0">
                <a:solidFill>
                  <a:srgbClr val="2A1420"/>
                </a:solidFill>
                <a:latin typeface="Calibri" pitchFamily="34" charset="0"/>
                <a:ea typeface="Calibri" pitchFamily="34" charset="-122"/>
                <a:cs typeface="Calibri" pitchFamily="34" charset="-120"/>
              </a:rPr>
              <a:t>average household size, Thailand, 1980 → 2022 (persons per household).</a:t>
            </a:r>
            <a:endParaRPr lang="en-US" sz="1200" dirty="0"/>
          </a:p>
        </p:txBody>
      </p:sp>
      <p:sp>
        <p:nvSpPr>
          <p:cNvPr id="8" name="Shape 6"/>
          <p:cNvSpPr/>
          <p:nvPr/>
        </p:nvSpPr>
        <p:spPr>
          <a:xfrm>
            <a:off x="4343400" y="2240280"/>
            <a:ext cx="3520440" cy="1965960"/>
          </a:xfrm>
          <a:prstGeom prst="roundRect">
            <a:avLst>
              <a:gd name="adj" fmla="val 4651"/>
            </a:avLst>
          </a:prstGeom>
          <a:solidFill>
            <a:srgbClr val="F7F3EF"/>
          </a:solidFill>
          <a:ln/>
        </p:spPr>
      </p:sp>
      <p:sp>
        <p:nvSpPr>
          <p:cNvPr id="9" name="Text 7"/>
          <p:cNvSpPr txBox="1"/>
          <p:nvPr/>
        </p:nvSpPr>
        <p:spPr>
          <a:xfrm>
            <a:off x="4480560" y="2404872"/>
            <a:ext cx="3246120" cy="914400"/>
          </a:xfrm>
          <a:prstGeom prst="rect">
            <a:avLst/>
          </a:prstGeom>
          <a:noFill/>
          <a:ln/>
        </p:spPr>
        <p:txBody>
          <a:bodyPr wrap="square" lIns="0" tIns="0" rIns="0" bIns="0" rtlCol="0" anchor="ctr"/>
          <a:lstStyle/>
          <a:p>
            <a:pPr marL="0" indent="0" algn="ctr">
              <a:buNone/>
            </a:pPr>
            <a:r>
              <a:rPr lang="en-US" sz="3400" b="1" dirty="0">
                <a:solidFill>
                  <a:srgbClr val="C9962E"/>
                </a:solidFill>
                <a:latin typeface="Cambria" pitchFamily="34" charset="0"/>
                <a:ea typeface="Cambria" pitchFamily="34" charset="-122"/>
                <a:cs typeface="Cambria" pitchFamily="34" charset="-120"/>
              </a:rPr>
              <a:t>28.7%</a:t>
            </a:r>
            <a:endParaRPr lang="en-US" sz="3400" dirty="0"/>
          </a:p>
        </p:txBody>
      </p:sp>
      <p:sp>
        <p:nvSpPr>
          <p:cNvPr id="10" name="Text 8"/>
          <p:cNvSpPr txBox="1"/>
          <p:nvPr/>
        </p:nvSpPr>
        <p:spPr>
          <a:xfrm>
            <a:off x="4526280" y="3291840"/>
            <a:ext cx="3154680" cy="868680"/>
          </a:xfrm>
          <a:prstGeom prst="rect">
            <a:avLst/>
          </a:prstGeom>
          <a:noFill/>
          <a:ln/>
        </p:spPr>
        <p:txBody>
          <a:bodyPr wrap="square" lIns="0" tIns="0" rIns="0" bIns="0" rtlCol="0" anchor="ctr"/>
          <a:lstStyle/>
          <a:p>
            <a:pPr marL="0" indent="0" algn="ctr">
              <a:buNone/>
            </a:pPr>
            <a:r>
              <a:rPr lang="en-US" sz="1200" dirty="0">
                <a:solidFill>
                  <a:srgbClr val="2A1420"/>
                </a:solidFill>
                <a:latin typeface="Calibri" pitchFamily="34" charset="0"/>
                <a:ea typeface="Calibri" pitchFamily="34" charset="-122"/>
                <a:cs typeface="Calibri" pitchFamily="34" charset="-120"/>
              </a:rPr>
              <a:t>of Thai households were single-person in 2024 — the fastest-growing household type through 2029.</a:t>
            </a:r>
            <a:endParaRPr lang="en-US" sz="1200" dirty="0"/>
          </a:p>
        </p:txBody>
      </p:sp>
      <p:sp>
        <p:nvSpPr>
          <p:cNvPr id="11" name="Shape 9"/>
          <p:cNvSpPr/>
          <p:nvPr/>
        </p:nvSpPr>
        <p:spPr>
          <a:xfrm>
            <a:off x="8138160" y="2240280"/>
            <a:ext cx="3520440" cy="1965960"/>
          </a:xfrm>
          <a:prstGeom prst="roundRect">
            <a:avLst>
              <a:gd name="adj" fmla="val 4651"/>
            </a:avLst>
          </a:prstGeom>
          <a:solidFill>
            <a:srgbClr val="F7F3EF"/>
          </a:solidFill>
          <a:ln/>
        </p:spPr>
      </p:sp>
      <p:sp>
        <p:nvSpPr>
          <p:cNvPr id="12" name="Text 10"/>
          <p:cNvSpPr txBox="1"/>
          <p:nvPr/>
        </p:nvSpPr>
        <p:spPr>
          <a:xfrm>
            <a:off x="8275320" y="2404872"/>
            <a:ext cx="3246120" cy="914400"/>
          </a:xfrm>
          <a:prstGeom prst="rect">
            <a:avLst/>
          </a:prstGeom>
          <a:noFill/>
          <a:ln/>
        </p:spPr>
        <p:txBody>
          <a:bodyPr wrap="square" lIns="0" tIns="0" rIns="0" bIns="0" rtlCol="0" anchor="ctr"/>
          <a:lstStyle/>
          <a:p>
            <a:pPr marL="0" indent="0" algn="ctr">
              <a:buNone/>
            </a:pPr>
            <a:r>
              <a:rPr lang="en-US" sz="3400" b="1" dirty="0">
                <a:solidFill>
                  <a:srgbClr val="C9962E"/>
                </a:solidFill>
                <a:latin typeface="Cambria" pitchFamily="34" charset="0"/>
                <a:ea typeface="Cambria" pitchFamily="34" charset="-122"/>
                <a:cs typeface="Cambria" pitchFamily="34" charset="-120"/>
              </a:rPr>
              <a:t>26.30M</a:t>
            </a:r>
            <a:endParaRPr lang="en-US" sz="3400" dirty="0"/>
          </a:p>
        </p:txBody>
      </p:sp>
      <p:sp>
        <p:nvSpPr>
          <p:cNvPr id="13" name="Text 11"/>
          <p:cNvSpPr txBox="1"/>
          <p:nvPr/>
        </p:nvSpPr>
        <p:spPr>
          <a:xfrm>
            <a:off x="8321040" y="3291840"/>
            <a:ext cx="3154680" cy="868680"/>
          </a:xfrm>
          <a:prstGeom prst="rect">
            <a:avLst/>
          </a:prstGeom>
          <a:noFill/>
          <a:ln/>
        </p:spPr>
        <p:txBody>
          <a:bodyPr wrap="square" lIns="0" tIns="0" rIns="0" bIns="0" rtlCol="0" anchor="ctr"/>
          <a:lstStyle/>
          <a:p>
            <a:pPr marL="0" indent="0" algn="ctr">
              <a:buNone/>
            </a:pPr>
            <a:r>
              <a:rPr lang="en-US" sz="1200" dirty="0">
                <a:solidFill>
                  <a:srgbClr val="2A1420"/>
                </a:solidFill>
                <a:latin typeface="Calibri" pitchFamily="34" charset="0"/>
                <a:ea typeface="Calibri" pitchFamily="34" charset="-122"/>
                <a:cs typeface="Calibri" pitchFamily="34" charset="-120"/>
              </a:rPr>
              <a:t>total households counted in the 2025 Population and Housing Census.</a:t>
            </a:r>
            <a:endParaRPr lang="en-US" sz="1200" dirty="0"/>
          </a:p>
        </p:txBody>
      </p:sp>
      <p:sp>
        <p:nvSpPr>
          <p:cNvPr id="14" name="Text 12"/>
          <p:cNvSpPr txBox="1"/>
          <p:nvPr/>
        </p:nvSpPr>
        <p:spPr>
          <a:xfrm>
            <a:off x="548640" y="6126480"/>
            <a:ext cx="11064240" cy="365760"/>
          </a:xfrm>
          <a:prstGeom prst="rect">
            <a:avLst/>
          </a:prstGeom>
          <a:noFill/>
          <a:ln/>
        </p:spPr>
        <p:txBody>
          <a:bodyPr wrap="square" lIns="0" tIns="0" rIns="0" bIns="0" rtlCol="0" anchor="ctr"/>
          <a:lstStyle/>
          <a:p>
            <a:pPr marL="0" indent="0">
              <a:buNone/>
            </a:pPr>
            <a:r>
              <a:rPr lang="en-US" sz="1000" i="1" dirty="0">
                <a:solidFill>
                  <a:srgbClr val="6B5A5F"/>
                </a:solidFill>
                <a:latin typeface="Calibri" pitchFamily="34" charset="0"/>
                <a:ea typeface="Calibri" pitchFamily="34" charset="-122"/>
                <a:cs typeface="Calibri" pitchFamily="34" charset="-120"/>
              </a:rPr>
              <a:t>Sources: Euromonitor International (2024), Households: Thailand; National Statistical Office of Thailand (2025), Preliminary Results of the 2025 Population and Housing Census.</a:t>
            </a:r>
            <a:endParaRPr lang="en-US" sz="1000" dirty="0"/>
          </a:p>
        </p:txBody>
      </p:sp>
      <p:sp>
        <p:nvSpPr>
          <p:cNvPr id="15" name="Text 13"/>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6" name="Text 14"/>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40 / 56</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ADDITIONAL REAL EXAMPLE — THAILAND</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Thailand's Rising Divorce Rate — A Complication for “Marriage” Statistics</a:t>
            </a:r>
            <a:endParaRPr lang="en-US" sz="3000" dirty="0"/>
          </a:p>
        </p:txBody>
      </p:sp>
      <p:sp>
        <p:nvSpPr>
          <p:cNvPr id="4" name="Text 2"/>
          <p:cNvSpPr txBox="1"/>
          <p:nvPr/>
        </p:nvSpPr>
        <p:spPr>
          <a:xfrm>
            <a:off x="548640" y="1463040"/>
            <a:ext cx="11064240" cy="640080"/>
          </a:xfrm>
          <a:prstGeom prst="rect">
            <a:avLst/>
          </a:prstGeom>
          <a:noFill/>
          <a:ln/>
        </p:spPr>
        <p:txBody>
          <a:bodyPr wrap="square" lIns="0" tIns="0" rIns="0" bIns="0" rtlCol="0" anchor="ctr"/>
          <a:lstStyle/>
          <a:p>
            <a:pPr marL="0" indent="0">
              <a:buNone/>
            </a:pPr>
            <a:r>
              <a:rPr lang="en-US" sz="1400" dirty="0">
                <a:solidFill>
                  <a:srgbClr val="2A1420"/>
                </a:solidFill>
                <a:latin typeface="Calibri" pitchFamily="34" charset="0"/>
                <a:ea typeface="Calibri" pitchFamily="34" charset="-122"/>
                <a:cs typeface="Calibri" pitchFamily="34" charset="-120"/>
              </a:rPr>
              <a:t>As registered marriages fall, registered divorces have simultaneously risen — a reminder that CMR trends alone cannot describe the health of “marriage” as an institution.</a:t>
            </a:r>
            <a:endParaRPr lang="en-US" sz="1400" dirty="0"/>
          </a:p>
        </p:txBody>
      </p:sp>
      <p:sp>
        <p:nvSpPr>
          <p:cNvPr id="5" name="Shape 3"/>
          <p:cNvSpPr/>
          <p:nvPr/>
        </p:nvSpPr>
        <p:spPr>
          <a:xfrm>
            <a:off x="548640" y="2240280"/>
            <a:ext cx="3520440" cy="1965960"/>
          </a:xfrm>
          <a:prstGeom prst="roundRect">
            <a:avLst>
              <a:gd name="adj" fmla="val 4651"/>
            </a:avLst>
          </a:prstGeom>
          <a:solidFill>
            <a:srgbClr val="F7F3EF"/>
          </a:solidFill>
          <a:ln/>
        </p:spPr>
      </p:sp>
      <p:sp>
        <p:nvSpPr>
          <p:cNvPr id="6" name="Text 4"/>
          <p:cNvSpPr txBox="1"/>
          <p:nvPr/>
        </p:nvSpPr>
        <p:spPr>
          <a:xfrm>
            <a:off x="685800" y="2404872"/>
            <a:ext cx="3246120" cy="914400"/>
          </a:xfrm>
          <a:prstGeom prst="rect">
            <a:avLst/>
          </a:prstGeom>
          <a:noFill/>
          <a:ln/>
        </p:spPr>
        <p:txBody>
          <a:bodyPr wrap="square" lIns="0" tIns="0" rIns="0" bIns="0" rtlCol="0" anchor="ctr"/>
          <a:lstStyle/>
          <a:p>
            <a:pPr marL="0" indent="0" algn="ctr">
              <a:buNone/>
            </a:pPr>
            <a:r>
              <a:rPr lang="en-US" sz="3400" b="1" dirty="0">
                <a:solidFill>
                  <a:srgbClr val="C9962E"/>
                </a:solidFill>
                <a:latin typeface="Cambria" pitchFamily="34" charset="0"/>
                <a:ea typeface="Cambria" pitchFamily="34" charset="-122"/>
                <a:cs typeface="Cambria" pitchFamily="34" charset="-120"/>
              </a:rPr>
              <a:t>121,011</a:t>
            </a:r>
            <a:endParaRPr lang="en-US" sz="3400" dirty="0"/>
          </a:p>
        </p:txBody>
      </p:sp>
      <p:sp>
        <p:nvSpPr>
          <p:cNvPr id="7" name="Text 5"/>
          <p:cNvSpPr txBox="1"/>
          <p:nvPr/>
        </p:nvSpPr>
        <p:spPr>
          <a:xfrm>
            <a:off x="731520" y="3291840"/>
            <a:ext cx="3154680" cy="868680"/>
          </a:xfrm>
          <a:prstGeom prst="rect">
            <a:avLst/>
          </a:prstGeom>
          <a:noFill/>
          <a:ln/>
        </p:spPr>
        <p:txBody>
          <a:bodyPr wrap="square" lIns="0" tIns="0" rIns="0" bIns="0" rtlCol="0" anchor="ctr"/>
          <a:lstStyle/>
          <a:p>
            <a:pPr marL="0" indent="0" algn="ctr">
              <a:buNone/>
            </a:pPr>
            <a:r>
              <a:rPr lang="en-US" sz="1200" dirty="0">
                <a:solidFill>
                  <a:srgbClr val="2A1420"/>
                </a:solidFill>
                <a:latin typeface="Calibri" pitchFamily="34" charset="0"/>
                <a:ea typeface="Calibri" pitchFamily="34" charset="-122"/>
                <a:cs typeface="Calibri" pitchFamily="34" charset="-120"/>
              </a:rPr>
              <a:t>registered divorces in Thailand in 2020.</a:t>
            </a:r>
            <a:endParaRPr lang="en-US" sz="1200" dirty="0"/>
          </a:p>
        </p:txBody>
      </p:sp>
      <p:sp>
        <p:nvSpPr>
          <p:cNvPr id="8" name="Shape 6"/>
          <p:cNvSpPr/>
          <p:nvPr/>
        </p:nvSpPr>
        <p:spPr>
          <a:xfrm>
            <a:off x="4343400" y="2240280"/>
            <a:ext cx="3520440" cy="1965960"/>
          </a:xfrm>
          <a:prstGeom prst="roundRect">
            <a:avLst>
              <a:gd name="adj" fmla="val 4651"/>
            </a:avLst>
          </a:prstGeom>
          <a:solidFill>
            <a:srgbClr val="F7F3EF"/>
          </a:solidFill>
          <a:ln/>
        </p:spPr>
      </p:sp>
      <p:sp>
        <p:nvSpPr>
          <p:cNvPr id="9" name="Text 7"/>
          <p:cNvSpPr txBox="1"/>
          <p:nvPr/>
        </p:nvSpPr>
        <p:spPr>
          <a:xfrm>
            <a:off x="4480560" y="2404872"/>
            <a:ext cx="3246120" cy="914400"/>
          </a:xfrm>
          <a:prstGeom prst="rect">
            <a:avLst/>
          </a:prstGeom>
          <a:noFill/>
          <a:ln/>
        </p:spPr>
        <p:txBody>
          <a:bodyPr wrap="square" lIns="0" tIns="0" rIns="0" bIns="0" rtlCol="0" anchor="ctr"/>
          <a:lstStyle/>
          <a:p>
            <a:pPr marL="0" indent="0" algn="ctr">
              <a:buNone/>
            </a:pPr>
            <a:r>
              <a:rPr lang="en-US" sz="3400" b="1" dirty="0">
                <a:solidFill>
                  <a:srgbClr val="C9962E"/>
                </a:solidFill>
                <a:latin typeface="Cambria" pitchFamily="34" charset="0"/>
                <a:ea typeface="Cambria" pitchFamily="34" charset="-122"/>
                <a:cs typeface="Cambria" pitchFamily="34" charset="-120"/>
              </a:rPr>
              <a:t>147,340</a:t>
            </a:r>
            <a:endParaRPr lang="en-US" sz="3400" dirty="0"/>
          </a:p>
        </p:txBody>
      </p:sp>
      <p:sp>
        <p:nvSpPr>
          <p:cNvPr id="10" name="Text 8"/>
          <p:cNvSpPr txBox="1"/>
          <p:nvPr/>
        </p:nvSpPr>
        <p:spPr>
          <a:xfrm>
            <a:off x="4526280" y="3291840"/>
            <a:ext cx="3154680" cy="868680"/>
          </a:xfrm>
          <a:prstGeom prst="rect">
            <a:avLst/>
          </a:prstGeom>
          <a:noFill/>
          <a:ln/>
        </p:spPr>
        <p:txBody>
          <a:bodyPr wrap="square" lIns="0" tIns="0" rIns="0" bIns="0" rtlCol="0" anchor="ctr"/>
          <a:lstStyle/>
          <a:p>
            <a:pPr marL="0" indent="0" algn="ctr">
              <a:buNone/>
            </a:pPr>
            <a:r>
              <a:rPr lang="en-US" sz="1200" dirty="0">
                <a:solidFill>
                  <a:srgbClr val="2A1420"/>
                </a:solidFill>
                <a:latin typeface="Calibri" pitchFamily="34" charset="0"/>
                <a:ea typeface="Calibri" pitchFamily="34" charset="-122"/>
                <a:cs typeface="Calibri" pitchFamily="34" charset="-120"/>
              </a:rPr>
              <a:t>registered divorces in 2023 — a continued increase.</a:t>
            </a:r>
            <a:endParaRPr lang="en-US" sz="1200" dirty="0"/>
          </a:p>
        </p:txBody>
      </p:sp>
      <p:sp>
        <p:nvSpPr>
          <p:cNvPr id="11" name="Shape 9"/>
          <p:cNvSpPr/>
          <p:nvPr/>
        </p:nvSpPr>
        <p:spPr>
          <a:xfrm>
            <a:off x="8138160" y="2240280"/>
            <a:ext cx="3520440" cy="1965960"/>
          </a:xfrm>
          <a:prstGeom prst="roundRect">
            <a:avLst>
              <a:gd name="adj" fmla="val 4651"/>
            </a:avLst>
          </a:prstGeom>
          <a:solidFill>
            <a:srgbClr val="F7F3EF"/>
          </a:solidFill>
          <a:ln/>
        </p:spPr>
      </p:sp>
      <p:sp>
        <p:nvSpPr>
          <p:cNvPr id="12" name="Text 10"/>
          <p:cNvSpPr txBox="1"/>
          <p:nvPr/>
        </p:nvSpPr>
        <p:spPr>
          <a:xfrm>
            <a:off x="8275320" y="2404872"/>
            <a:ext cx="3246120" cy="914400"/>
          </a:xfrm>
          <a:prstGeom prst="rect">
            <a:avLst/>
          </a:prstGeom>
          <a:noFill/>
          <a:ln/>
        </p:spPr>
        <p:txBody>
          <a:bodyPr wrap="square" lIns="0" tIns="0" rIns="0" bIns="0" rtlCol="0" anchor="ctr"/>
          <a:lstStyle/>
          <a:p>
            <a:pPr marL="0" indent="0" algn="ctr">
              <a:buNone/>
            </a:pPr>
            <a:r>
              <a:rPr lang="en-US" sz="3400" b="1" dirty="0">
                <a:solidFill>
                  <a:srgbClr val="C9962E"/>
                </a:solidFill>
                <a:latin typeface="Cambria" pitchFamily="34" charset="0"/>
                <a:ea typeface="Cambria" pitchFamily="34" charset="-122"/>
                <a:cs typeface="Cambria" pitchFamily="34" charset="-120"/>
              </a:rPr>
              <a:t>~1 in 3</a:t>
            </a:r>
            <a:endParaRPr lang="en-US" sz="3400" dirty="0"/>
          </a:p>
        </p:txBody>
      </p:sp>
      <p:sp>
        <p:nvSpPr>
          <p:cNvPr id="13" name="Text 11"/>
          <p:cNvSpPr txBox="1"/>
          <p:nvPr/>
        </p:nvSpPr>
        <p:spPr>
          <a:xfrm>
            <a:off x="8321040" y="3291840"/>
            <a:ext cx="3154680" cy="868680"/>
          </a:xfrm>
          <a:prstGeom prst="rect">
            <a:avLst/>
          </a:prstGeom>
          <a:noFill/>
          <a:ln/>
        </p:spPr>
        <p:txBody>
          <a:bodyPr wrap="square" lIns="0" tIns="0" rIns="0" bIns="0" rtlCol="0" anchor="ctr"/>
          <a:lstStyle/>
          <a:p>
            <a:pPr marL="0" indent="0" algn="ctr">
              <a:buNone/>
            </a:pPr>
            <a:r>
              <a:rPr lang="en-US" sz="1200" dirty="0">
                <a:solidFill>
                  <a:srgbClr val="2A1420"/>
                </a:solidFill>
                <a:latin typeface="Calibri" pitchFamily="34" charset="0"/>
                <a:ea typeface="Calibri" pitchFamily="34" charset="-122"/>
                <a:cs typeface="Calibri" pitchFamily="34" charset="-120"/>
              </a:rPr>
              <a:t>marriages in Thailand now ends in divorce, among the highest shares in Southeast Asia.</a:t>
            </a:r>
            <a:endParaRPr lang="en-US" sz="1200" dirty="0"/>
          </a:p>
        </p:txBody>
      </p:sp>
      <p:sp>
        <p:nvSpPr>
          <p:cNvPr id="14" name="Text 12"/>
          <p:cNvSpPr txBox="1"/>
          <p:nvPr/>
        </p:nvSpPr>
        <p:spPr>
          <a:xfrm>
            <a:off x="548640" y="4389120"/>
            <a:ext cx="11064240" cy="1005840"/>
          </a:xfrm>
          <a:prstGeom prst="rect">
            <a:avLst/>
          </a:prstGeom>
          <a:noFill/>
          <a:ln/>
        </p:spPr>
        <p:txBody>
          <a:bodyPr wrap="square" lIns="0" tIns="0" rIns="0" bIns="0" rtlCol="0" anchor="ctr"/>
          <a:lstStyle/>
          <a:p>
            <a:pPr marL="0" indent="0">
              <a:buNone/>
            </a:pPr>
            <a:r>
              <a:rPr lang="en-US" sz="1400" dirty="0">
                <a:solidFill>
                  <a:srgbClr val="2A1420"/>
                </a:solidFill>
                <a:latin typeface="Calibri" pitchFamily="34" charset="0"/>
                <a:ea typeface="Calibri" pitchFamily="34" charset="-122"/>
                <a:cs typeface="Calibri" pitchFamily="34" charset="-120"/>
              </a:rPr>
              <a:t>Implication: a demographer reading only a falling CMR could wrongly conclude marital instability is also falling. Divorce, remarriage, and cohabitation data must be read alongside marriage data to interpret “family change” correctly.</a:t>
            </a:r>
            <a:endParaRPr lang="en-US" sz="1400" dirty="0"/>
          </a:p>
        </p:txBody>
      </p:sp>
      <p:sp>
        <p:nvSpPr>
          <p:cNvPr id="15" name="Text 13"/>
          <p:cNvSpPr txBox="1"/>
          <p:nvPr/>
        </p:nvSpPr>
        <p:spPr>
          <a:xfrm>
            <a:off x="548640" y="6126480"/>
            <a:ext cx="11064240" cy="365760"/>
          </a:xfrm>
          <a:prstGeom prst="rect">
            <a:avLst/>
          </a:prstGeom>
          <a:noFill/>
          <a:ln/>
        </p:spPr>
        <p:txBody>
          <a:bodyPr wrap="square" lIns="0" tIns="0" rIns="0" bIns="0" rtlCol="0" anchor="ctr"/>
          <a:lstStyle/>
          <a:p>
            <a:pPr marL="0" indent="0">
              <a:buNone/>
            </a:pPr>
            <a:r>
              <a:rPr lang="en-US" sz="1000" i="1" dirty="0">
                <a:solidFill>
                  <a:srgbClr val="6B5A5F"/>
                </a:solidFill>
                <a:latin typeface="Calibri" pitchFamily="34" charset="0"/>
                <a:ea typeface="Calibri" pitchFamily="34" charset="-122"/>
                <a:cs typeface="Calibri" pitchFamily="34" charset="-120"/>
              </a:rPr>
              <a:t>Sources: Khaosod English (2023), A Decade of Divorces in Thailand Reaches 1.3 Million Partners; Statista (2024), Thailand: Number of Registered Divorces.</a:t>
            </a:r>
            <a:endParaRPr lang="en-US" sz="1000" dirty="0"/>
          </a:p>
        </p:txBody>
      </p:sp>
      <p:sp>
        <p:nvSpPr>
          <p:cNvPr id="16" name="Text 14"/>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17" name="Text 15"/>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41 / 56</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SYNTHESIS</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Family Measurement: Then vs. Now</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109960" cy="3886200"/>
        </p:xfrm>
        <a:graphic>
          <a:graphicData uri="http://schemas.openxmlformats.org/drawingml/2006/table">
            <a:tbl>
              <a:tblPr/>
              <a:tblGrid>
                <a:gridCol w="237744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777240">
                <a:tc>
                  <a:txBody>
                    <a:bodyPr/>
                    <a:lstStyle/>
                    <a:p>
                      <a:pPr marL="0" indent="0">
                        <a:buNone/>
                      </a:pPr>
                      <a:r>
                        <a:rPr lang="en-US" sz="1350" b="1" dirty="0">
                          <a:solidFill>
                            <a:srgbClr val="FFFFFF"/>
                          </a:solidFill>
                        </a:rPr>
                        <a:t>Dimension</a:t>
                      </a:r>
                      <a:endParaRPr lang="en-US" sz="1350" dirty="0"/>
                    </a:p>
                  </a:txBody>
                  <a:tcPr anchor="ct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6D2E46"/>
                    </a:solidFill>
                  </a:tcPr>
                </a:tc>
                <a:tc>
                  <a:txBody>
                    <a:bodyPr/>
                    <a:lstStyle/>
                    <a:p>
                      <a:pPr marL="0" indent="0">
                        <a:buNone/>
                      </a:pPr>
                      <a:r>
                        <a:rPr lang="en-US" sz="1350" b="1" dirty="0">
                          <a:solidFill>
                            <a:srgbClr val="FFFFFF"/>
                          </a:solidFill>
                        </a:rPr>
                        <a:t>Legacy approach</a:t>
                      </a:r>
                      <a:endParaRPr lang="en-US" sz="1350" dirty="0"/>
                    </a:p>
                  </a:txBody>
                  <a:tcPr anchor="ct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6D2E46"/>
                    </a:solidFill>
                  </a:tcPr>
                </a:tc>
                <a:tc>
                  <a:txBody>
                    <a:bodyPr/>
                    <a:lstStyle/>
                    <a:p>
                      <a:pPr marL="0" indent="0">
                        <a:buNone/>
                      </a:pPr>
                      <a:r>
                        <a:rPr lang="en-US" sz="1350" b="1" dirty="0">
                          <a:solidFill>
                            <a:srgbClr val="FFFFFF"/>
                          </a:solidFill>
                        </a:rPr>
                        <a:t>2026 approach</a:t>
                      </a:r>
                      <a:endParaRPr lang="en-US" sz="1350" dirty="0"/>
                    </a:p>
                  </a:txBody>
                  <a:tcPr anchor="ct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6D2E46"/>
                    </a:solidFill>
                  </a:tcPr>
                </a:tc>
                <a:extLst>
                  <a:ext uri="{0D108BD9-81ED-4DB2-BD59-A6C34878D82A}">
                    <a16:rowId xmlns:a16="http://schemas.microsoft.com/office/drawing/2014/main" val="10000"/>
                  </a:ext>
                </a:extLst>
              </a:tr>
              <a:tr h="777240">
                <a:tc>
                  <a:txBody>
                    <a:bodyPr/>
                    <a:lstStyle/>
                    <a:p>
                      <a:pPr marL="0" indent="0">
                        <a:buNone/>
                      </a:pPr>
                      <a:r>
                        <a:rPr lang="en-US" sz="1300" b="1" dirty="0">
                          <a:solidFill>
                            <a:srgbClr val="2A1420"/>
                          </a:solidFill>
                        </a:rPr>
                        <a:t>Household head</a:t>
                      </a:r>
                      <a:endParaRPr lang="en-US" sz="1300" dirty="0"/>
                    </a:p>
                  </a:txBody>
                  <a:tcPr anchor="ct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F7F3EF"/>
                    </a:solidFill>
                  </a:tcPr>
                </a:tc>
                <a:tc>
                  <a:txBody>
                    <a:bodyPr/>
                    <a:lstStyle/>
                    <a:p>
                      <a:pPr marL="0" indent="0">
                        <a:buNone/>
                      </a:pPr>
                      <a:r>
                        <a:rPr lang="en-US" sz="1300" dirty="0">
                          <a:solidFill>
                            <a:srgbClr val="2A1420"/>
                          </a:solidFill>
                        </a:rPr>
                        <a:t>One designated “head,” usually male</a:t>
                      </a:r>
                      <a:endParaRPr lang="en-US" sz="1300" dirty="0"/>
                    </a:p>
                  </a:txBody>
                  <a:tcPr anchor="ct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F7F3EF"/>
                    </a:solidFill>
                  </a:tcPr>
                </a:tc>
                <a:tc>
                  <a:txBody>
                    <a:bodyPr/>
                    <a:lstStyle/>
                    <a:p>
                      <a:pPr marL="0" indent="0">
                        <a:buNone/>
                      </a:pPr>
                      <a:r>
                        <a:rPr lang="en-US" sz="1300" dirty="0">
                          <a:solidFill>
                            <a:srgbClr val="2A1420"/>
                          </a:solidFill>
                        </a:rPr>
                        <a:t>Reference person, gender-neutral, may rotate</a:t>
                      </a:r>
                      <a:endParaRPr lang="en-US" sz="1300" dirty="0"/>
                    </a:p>
                  </a:txBody>
                  <a:tcPr anchor="ct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F7F3EF"/>
                    </a:solidFill>
                  </a:tcPr>
                </a:tc>
                <a:extLst>
                  <a:ext uri="{0D108BD9-81ED-4DB2-BD59-A6C34878D82A}">
                    <a16:rowId xmlns:a16="http://schemas.microsoft.com/office/drawing/2014/main" val="10001"/>
                  </a:ext>
                </a:extLst>
              </a:tr>
              <a:tr h="777240">
                <a:tc>
                  <a:txBody>
                    <a:bodyPr/>
                    <a:lstStyle/>
                    <a:p>
                      <a:pPr marL="0" indent="0">
                        <a:buNone/>
                      </a:pPr>
                      <a:r>
                        <a:rPr lang="en-US" sz="1300" b="1" dirty="0">
                          <a:solidFill>
                            <a:srgbClr val="2A1420"/>
                          </a:solidFill>
                        </a:rPr>
                        <a:t>Marital status</a:t>
                      </a:r>
                      <a:endParaRPr lang="en-US" sz="1300" dirty="0"/>
                    </a:p>
                  </a:txBody>
                  <a:tcPr anchor="ct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FFFFFF"/>
                    </a:solidFill>
                  </a:tcPr>
                </a:tc>
                <a:tc>
                  <a:txBody>
                    <a:bodyPr/>
                    <a:lstStyle/>
                    <a:p>
                      <a:pPr marL="0" indent="0">
                        <a:buNone/>
                      </a:pPr>
                      <a:r>
                        <a:rPr lang="en-US" sz="1300" dirty="0">
                          <a:solidFill>
                            <a:srgbClr val="2A1420"/>
                          </a:solidFill>
                        </a:rPr>
                        <a:t>Single / married / widowed / divorced only</a:t>
                      </a:r>
                      <a:endParaRPr lang="en-US" sz="1300" dirty="0"/>
                    </a:p>
                  </a:txBody>
                  <a:tcPr anchor="ct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FFFFFF"/>
                    </a:solidFill>
                  </a:tcPr>
                </a:tc>
                <a:tc>
                  <a:txBody>
                    <a:bodyPr/>
                    <a:lstStyle/>
                    <a:p>
                      <a:pPr marL="0" indent="0">
                        <a:buNone/>
                      </a:pPr>
                      <a:r>
                        <a:rPr lang="en-US" sz="1300" dirty="0">
                          <a:solidFill>
                            <a:srgbClr val="2A1420"/>
                          </a:solidFill>
                        </a:rPr>
                        <a:t>Adds cohabiting, civil union, same-sex married</a:t>
                      </a:r>
                      <a:endParaRPr lang="en-US" sz="1300" dirty="0"/>
                    </a:p>
                  </a:txBody>
                  <a:tcPr anchor="ct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buNone/>
                      </a:pPr>
                      <a:r>
                        <a:rPr lang="en-US" sz="1300" b="1" dirty="0">
                          <a:solidFill>
                            <a:srgbClr val="2A1420"/>
                          </a:solidFill>
                        </a:rPr>
                        <a:t>Family boundary</a:t>
                      </a:r>
                      <a:endParaRPr lang="en-US" sz="1300" dirty="0"/>
                    </a:p>
                  </a:txBody>
                  <a:tcPr anchor="ct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F7F3EF"/>
                    </a:solidFill>
                  </a:tcPr>
                </a:tc>
                <a:tc>
                  <a:txBody>
                    <a:bodyPr/>
                    <a:lstStyle/>
                    <a:p>
                      <a:pPr marL="0" indent="0">
                        <a:buNone/>
                      </a:pPr>
                      <a:r>
                        <a:rPr lang="en-US" sz="1300" dirty="0">
                          <a:solidFill>
                            <a:srgbClr val="2A1420"/>
                          </a:solidFill>
                        </a:rPr>
                        <a:t>Co-resident kin only</a:t>
                      </a:r>
                      <a:endParaRPr lang="en-US" sz="1300" dirty="0"/>
                    </a:p>
                  </a:txBody>
                  <a:tcPr anchor="ct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F7F3EF"/>
                    </a:solidFill>
                  </a:tcPr>
                </a:tc>
                <a:tc>
                  <a:txBody>
                    <a:bodyPr/>
                    <a:lstStyle/>
                    <a:p>
                      <a:pPr marL="0" indent="0">
                        <a:buNone/>
                      </a:pPr>
                      <a:r>
                        <a:rPr lang="en-US" sz="1300" dirty="0">
                          <a:solidFill>
                            <a:srgbClr val="2A1420"/>
                          </a:solidFill>
                        </a:rPr>
                        <a:t>Extends to transnational &amp; multi-household families</a:t>
                      </a:r>
                      <a:endParaRPr lang="en-US" sz="1300" dirty="0"/>
                    </a:p>
                  </a:txBody>
                  <a:tcPr anchor="ct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F7F3EF"/>
                    </a:solidFill>
                  </a:tcPr>
                </a:tc>
                <a:extLst>
                  <a:ext uri="{0D108BD9-81ED-4DB2-BD59-A6C34878D82A}">
                    <a16:rowId xmlns:a16="http://schemas.microsoft.com/office/drawing/2014/main" val="10003"/>
                  </a:ext>
                </a:extLst>
              </a:tr>
              <a:tr h="777240">
                <a:tc>
                  <a:txBody>
                    <a:bodyPr/>
                    <a:lstStyle/>
                    <a:p>
                      <a:pPr marL="0" indent="0">
                        <a:buNone/>
                      </a:pPr>
                      <a:r>
                        <a:rPr lang="en-US" sz="1300" b="1" dirty="0">
                          <a:solidFill>
                            <a:srgbClr val="2A1420"/>
                          </a:solidFill>
                        </a:rPr>
                        <a:t>Data source</a:t>
                      </a:r>
                      <a:endParaRPr lang="en-US" sz="1300" dirty="0"/>
                    </a:p>
                  </a:txBody>
                  <a:tcPr anchor="ct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FFFFFF"/>
                    </a:solidFill>
                  </a:tcPr>
                </a:tc>
                <a:tc>
                  <a:txBody>
                    <a:bodyPr/>
                    <a:lstStyle/>
                    <a:p>
                      <a:pPr marL="0" indent="0">
                        <a:buNone/>
                      </a:pPr>
                      <a:r>
                        <a:rPr lang="en-US" sz="1300" dirty="0">
                          <a:solidFill>
                            <a:srgbClr val="2A1420"/>
                          </a:solidFill>
                        </a:rPr>
                        <a:t>Decennial census only</a:t>
                      </a:r>
                      <a:endParaRPr lang="en-US" sz="1300" dirty="0"/>
                    </a:p>
                  </a:txBody>
                  <a:tcPr anchor="ct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FFFFFF"/>
                    </a:solidFill>
                  </a:tcPr>
                </a:tc>
                <a:tc>
                  <a:txBody>
                    <a:bodyPr/>
                    <a:lstStyle/>
                    <a:p>
                      <a:pPr marL="0" indent="0">
                        <a:buNone/>
                      </a:pPr>
                      <a:r>
                        <a:rPr lang="en-US" sz="1300" dirty="0">
                          <a:solidFill>
                            <a:srgbClr val="2A1420"/>
                          </a:solidFill>
                        </a:rPr>
                        <a:t>Census + registers + surveys + digital/administrative linkage</a:t>
                      </a:r>
                      <a:endParaRPr lang="en-US" sz="1300" dirty="0"/>
                    </a:p>
                  </a:txBody>
                  <a:tcPr anchor="ctr">
                    <a:lnL w="9525" cap="flat" cmpd="sng" algn="ctr">
                      <a:solidFill>
                        <a:srgbClr val="E4D9D2"/>
                      </a:solidFill>
                      <a:prstDash val="solid"/>
                      <a:round/>
                      <a:headEnd type="none" w="med" len="med"/>
                      <a:tailEnd type="none" w="med" len="med"/>
                    </a:lnL>
                    <a:lnR w="9525" cap="flat" cmpd="sng" algn="ctr">
                      <a:solidFill>
                        <a:srgbClr val="E4D9D2"/>
                      </a:solidFill>
                      <a:prstDash val="solid"/>
                      <a:round/>
                      <a:headEnd type="none" w="med" len="med"/>
                      <a:tailEnd type="none" w="med" len="med"/>
                    </a:lnR>
                    <a:lnT w="9525" cap="flat" cmpd="sng" algn="ctr">
                      <a:solidFill>
                        <a:srgbClr val="E4D9D2"/>
                      </a:solidFill>
                      <a:prstDash val="solid"/>
                      <a:round/>
                      <a:headEnd type="none" w="med" len="med"/>
                      <a:tailEnd type="none" w="med" len="med"/>
                    </a:lnT>
                    <a:lnB w="9525" cap="flat" cmpd="sng" algn="ctr">
                      <a:solidFill>
                        <a:srgbClr val="E4D9D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6" name="Text 3"/>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42 / 56</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IN-CLASS ACTIVITY</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Design It: A 2026 Household Roster Question</a:t>
            </a:r>
            <a:endParaRPr lang="en-US" sz="3000" dirty="0"/>
          </a:p>
        </p:txBody>
      </p:sp>
      <p:sp>
        <p:nvSpPr>
          <p:cNvPr id="4" name="Text 2"/>
          <p:cNvSpPr txBox="1"/>
          <p:nvPr/>
        </p:nvSpPr>
        <p:spPr>
          <a:xfrm>
            <a:off x="548640" y="1508760"/>
            <a:ext cx="11064240" cy="1463040"/>
          </a:xfrm>
          <a:prstGeom prst="rect">
            <a:avLst/>
          </a:prstGeom>
          <a:noFill/>
          <a:ln/>
        </p:spPr>
        <p:txBody>
          <a:bodyPr wrap="square" lIns="0" tIns="0" rIns="0" bIns="0" rtlCol="0" anchor="ctr"/>
          <a:lstStyle/>
          <a:p>
            <a:pPr marL="0" indent="0">
              <a:lnSpc>
                <a:spcPct val="120000"/>
              </a:lnSpc>
              <a:buNone/>
            </a:pPr>
            <a:r>
              <a:rPr lang="en-US" sz="1600" dirty="0">
                <a:solidFill>
                  <a:srgbClr val="2A1420"/>
                </a:solidFill>
                <a:latin typeface="Calibri" pitchFamily="34" charset="0"/>
                <a:ea typeface="Calibri" pitchFamily="34" charset="-122"/>
                <a:cs typeface="Calibri" pitchFamily="34" charset="-120"/>
              </a:rPr>
              <a:t>In groups of 3, sketch a household-roster question set for Thailand's next census that captures: (a) cohabiting partners, (b) same-sex married and unmarried partners, and (c) step/blended relationships — without lengthening the interview beyond 90 seconds.</a:t>
            </a:r>
            <a:endParaRPr lang="en-US" sz="1600" dirty="0"/>
          </a:p>
        </p:txBody>
      </p:sp>
      <p:sp>
        <p:nvSpPr>
          <p:cNvPr id="5" name="Shape 3"/>
          <p:cNvSpPr/>
          <p:nvPr/>
        </p:nvSpPr>
        <p:spPr>
          <a:xfrm>
            <a:off x="548640" y="3200400"/>
            <a:ext cx="11109960" cy="2286000"/>
          </a:xfrm>
          <a:prstGeom prst="roundRect">
            <a:avLst>
              <a:gd name="adj" fmla="val 4000"/>
            </a:avLst>
          </a:prstGeom>
          <a:solidFill>
            <a:srgbClr val="F7F3EF"/>
          </a:solidFill>
          <a:ln/>
        </p:spPr>
      </p:sp>
      <p:sp>
        <p:nvSpPr>
          <p:cNvPr id="6" name="Text 4"/>
          <p:cNvSpPr txBox="1"/>
          <p:nvPr/>
        </p:nvSpPr>
        <p:spPr>
          <a:xfrm>
            <a:off x="822960" y="3383280"/>
            <a:ext cx="4572000" cy="365760"/>
          </a:xfrm>
          <a:prstGeom prst="rect">
            <a:avLst/>
          </a:prstGeom>
          <a:noFill/>
          <a:ln/>
        </p:spPr>
        <p:txBody>
          <a:bodyPr wrap="square" lIns="0" tIns="0" rIns="0" bIns="0" rtlCol="0" anchor="ctr"/>
          <a:lstStyle/>
          <a:p>
            <a:pPr marL="0" indent="0">
              <a:buNone/>
            </a:pPr>
            <a:r>
              <a:rPr lang="en-US" sz="1500" b="1" dirty="0">
                <a:solidFill>
                  <a:srgbClr val="6D2E46"/>
                </a:solidFill>
                <a:latin typeface="Cambria" pitchFamily="34" charset="0"/>
                <a:ea typeface="Cambria" pitchFamily="34" charset="-122"/>
                <a:cs typeface="Cambria" pitchFamily="34" charset="-120"/>
              </a:rPr>
              <a:t>Report back:</a:t>
            </a:r>
            <a:endParaRPr lang="en-US" sz="1500" dirty="0"/>
          </a:p>
        </p:txBody>
      </p:sp>
      <p:sp>
        <p:nvSpPr>
          <p:cNvPr id="7" name="Text 5"/>
          <p:cNvSpPr txBox="1"/>
          <p:nvPr/>
        </p:nvSpPr>
        <p:spPr>
          <a:xfrm>
            <a:off x="822960" y="3794760"/>
            <a:ext cx="10561320" cy="1554480"/>
          </a:xfrm>
          <a:prstGeom prst="rect">
            <a:avLst/>
          </a:prstGeom>
          <a:noFill/>
          <a:ln/>
        </p:spPr>
        <p:txBody>
          <a:bodyPr wrap="square" lIns="0" tIns="0" rIns="0" bIns="0" rtlCol="0" anchor="ctr"/>
          <a:lstStyle/>
          <a:p>
            <a:pPr marL="228600" indent="-228600">
              <a:spcAft>
                <a:spcPts val="800"/>
              </a:spcAft>
              <a:buSzPct val="100000"/>
              <a:buChar char="●"/>
            </a:pPr>
            <a:r>
              <a:rPr lang="en-US" sz="1450" dirty="0">
                <a:solidFill>
                  <a:srgbClr val="2A1420"/>
                </a:solidFill>
                <a:latin typeface="Calibri" pitchFamily="34" charset="0"/>
                <a:ea typeface="Calibri" pitchFamily="34" charset="-122"/>
                <a:cs typeface="Calibri" pitchFamily="34" charset="-120"/>
              </a:rPr>
              <a:t>your relationship-to-reference-person categories</a:t>
            </a:r>
            <a:endParaRPr lang="en-US" sz="1450" dirty="0"/>
          </a:p>
          <a:p>
            <a:pPr marL="228600" indent="-228600">
              <a:spcAft>
                <a:spcPts val="800"/>
              </a:spcAft>
              <a:buSzPct val="100000"/>
              <a:buChar char="●"/>
            </a:pPr>
            <a:r>
              <a:rPr lang="en-US" sz="1450" dirty="0">
                <a:solidFill>
                  <a:srgbClr val="2A1420"/>
                </a:solidFill>
                <a:latin typeface="Calibri" pitchFamily="34" charset="0"/>
                <a:ea typeface="Calibri" pitchFamily="34" charset="-122"/>
                <a:cs typeface="Calibri" pitchFamily="34" charset="-120"/>
              </a:rPr>
              <a:t>how you'd handle a respondent who lives with a partner in another household part-time</a:t>
            </a:r>
            <a:endParaRPr lang="en-US" sz="1450" dirty="0"/>
          </a:p>
          <a:p>
            <a:pPr marL="228600" indent="-228600">
              <a:spcAft>
                <a:spcPts val="800"/>
              </a:spcAft>
              <a:buSzPct val="100000"/>
              <a:buChar char="●"/>
            </a:pPr>
            <a:r>
              <a:rPr lang="en-US" sz="1450" dirty="0">
                <a:solidFill>
                  <a:srgbClr val="2A1420"/>
                </a:solidFill>
                <a:latin typeface="Calibri" pitchFamily="34" charset="0"/>
                <a:ea typeface="Calibri" pitchFamily="34" charset="-122"/>
                <a:cs typeface="Calibri" pitchFamily="34" charset="-120"/>
              </a:rPr>
              <a:t>one trade-off you accepted</a:t>
            </a:r>
            <a:endParaRPr lang="en-US" sz="1450" dirty="0"/>
          </a:p>
        </p:txBody>
      </p:sp>
      <p:sp>
        <p:nvSpPr>
          <p:cNvPr id="8" name="Text 6"/>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9" name="Text 7"/>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43 / 56</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GROUP WORK 2</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Assigned Cases</a:t>
            </a:r>
            <a:endParaRPr lang="en-US" sz="3000" dirty="0"/>
          </a:p>
        </p:txBody>
      </p:sp>
      <p:sp>
        <p:nvSpPr>
          <p:cNvPr id="4" name="Shape 2"/>
          <p:cNvSpPr/>
          <p:nvPr/>
        </p:nvSpPr>
        <p:spPr>
          <a:xfrm>
            <a:off x="548640" y="3409530"/>
            <a:ext cx="3520440" cy="3120390"/>
          </a:xfrm>
          <a:prstGeom prst="roundRect">
            <a:avLst>
              <a:gd name="adj" fmla="val 2597"/>
            </a:avLst>
          </a:prstGeom>
          <a:solidFill>
            <a:srgbClr val="F7F3EF"/>
          </a:solidFill>
          <a:ln/>
        </p:spPr>
      </p:sp>
      <p:sp>
        <p:nvSpPr>
          <p:cNvPr id="5" name="Shape 3"/>
          <p:cNvSpPr/>
          <p:nvPr/>
        </p:nvSpPr>
        <p:spPr>
          <a:xfrm>
            <a:off x="777240" y="3536212"/>
            <a:ext cx="3063240" cy="312039"/>
          </a:xfrm>
          <a:prstGeom prst="roundRect">
            <a:avLst>
              <a:gd name="adj" fmla="val 50000"/>
            </a:avLst>
          </a:prstGeom>
          <a:solidFill>
            <a:srgbClr val="6D2E46"/>
          </a:solidFill>
          <a:ln/>
        </p:spPr>
      </p:sp>
      <p:sp>
        <p:nvSpPr>
          <p:cNvPr id="6" name="Text 4"/>
          <p:cNvSpPr txBox="1"/>
          <p:nvPr/>
        </p:nvSpPr>
        <p:spPr>
          <a:xfrm>
            <a:off x="777240" y="3536212"/>
            <a:ext cx="3063240" cy="312039"/>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GROUP 1</a:t>
            </a:r>
            <a:endParaRPr lang="en-US" sz="1250" dirty="0"/>
          </a:p>
        </p:txBody>
      </p:sp>
      <p:sp>
        <p:nvSpPr>
          <p:cNvPr id="7" name="Text 5"/>
          <p:cNvSpPr txBox="1"/>
          <p:nvPr/>
        </p:nvSpPr>
        <p:spPr>
          <a:xfrm>
            <a:off x="777240" y="4128400"/>
            <a:ext cx="3063240" cy="405651"/>
          </a:xfrm>
          <a:prstGeom prst="rect">
            <a:avLst/>
          </a:prstGeom>
          <a:noFill/>
          <a:ln/>
        </p:spPr>
        <p:txBody>
          <a:bodyPr wrap="square" lIns="0" tIns="0" rIns="0" bIns="0" rtlCol="0" anchor="ctr"/>
          <a:lstStyle/>
          <a:p>
            <a:pPr marL="0" indent="0">
              <a:buNone/>
            </a:pPr>
            <a:r>
              <a:rPr lang="en-US" sz="1650" b="1" dirty="0">
                <a:solidFill>
                  <a:srgbClr val="6D2E46"/>
                </a:solidFill>
                <a:latin typeface="Cambria" pitchFamily="34" charset="0"/>
                <a:ea typeface="Cambria" pitchFamily="34" charset="-122"/>
                <a:cs typeface="Cambria" pitchFamily="34" charset="-120"/>
              </a:rPr>
              <a:t>United States</a:t>
            </a:r>
            <a:endParaRPr lang="en-US" sz="1650" dirty="0"/>
          </a:p>
        </p:txBody>
      </p:sp>
      <p:sp>
        <p:nvSpPr>
          <p:cNvPr id="8" name="Text 6"/>
          <p:cNvSpPr txBox="1"/>
          <p:nvPr/>
        </p:nvSpPr>
        <p:spPr>
          <a:xfrm>
            <a:off x="777240" y="4171454"/>
            <a:ext cx="3063240" cy="1809826"/>
          </a:xfrm>
          <a:prstGeom prst="rect">
            <a:avLst/>
          </a:prstGeom>
          <a:noFill/>
          <a:ln/>
        </p:spPr>
        <p:txBody>
          <a:bodyPr wrap="square" lIns="0" tIns="0" rIns="0" bIns="0" rtlCol="0" anchor="ctr"/>
          <a:lstStyle/>
          <a:p>
            <a:pPr marL="0" indent="0">
              <a:lnSpc>
                <a:spcPct val="112000"/>
              </a:lnSpc>
              <a:buNone/>
            </a:pPr>
            <a:r>
              <a:rPr lang="en-US" sz="1250" dirty="0">
                <a:solidFill>
                  <a:srgbClr val="2A1420"/>
                </a:solidFill>
                <a:latin typeface="Calibri" pitchFamily="34" charset="0"/>
                <a:ea typeface="Calibri" pitchFamily="34" charset="-122"/>
                <a:cs typeface="Calibri" pitchFamily="34" charset="-120"/>
              </a:rPr>
              <a:t>29% of all U.S. households (39.7 million) held one person in 2025 — an all-time high, up from 20% in 1975. Driven by delayed marriage, aging, and rising incomes enabling solo living.</a:t>
            </a:r>
            <a:endParaRPr lang="en-US" sz="1250" dirty="0"/>
          </a:p>
        </p:txBody>
      </p:sp>
      <p:sp>
        <p:nvSpPr>
          <p:cNvPr id="9" name="Text 7"/>
          <p:cNvSpPr txBox="1"/>
          <p:nvPr/>
        </p:nvSpPr>
        <p:spPr>
          <a:xfrm>
            <a:off x="777240" y="6172160"/>
            <a:ext cx="3063240" cy="312039"/>
          </a:xfrm>
          <a:prstGeom prst="rect">
            <a:avLst/>
          </a:prstGeom>
          <a:noFill/>
          <a:ln/>
        </p:spPr>
        <p:txBody>
          <a:bodyPr wrap="square" lIns="0" tIns="0" rIns="0" bIns="0" rtlCol="0" anchor="ctr"/>
          <a:lstStyle/>
          <a:p>
            <a:pPr marL="0" indent="0">
              <a:buNone/>
            </a:pPr>
            <a:r>
              <a:rPr lang="en-US" sz="950" i="1" dirty="0">
                <a:solidFill>
                  <a:srgbClr val="6B5A5F"/>
                </a:solidFill>
                <a:latin typeface="Calibri" pitchFamily="34" charset="0"/>
                <a:ea typeface="Calibri" pitchFamily="34" charset="-122"/>
                <a:cs typeface="Calibri" pitchFamily="34" charset="-120"/>
              </a:rPr>
              <a:t>U.S. Census Bureau (2025), Families and Living Arrangements.</a:t>
            </a:r>
            <a:endParaRPr lang="en-US" sz="950" dirty="0"/>
          </a:p>
        </p:txBody>
      </p:sp>
      <p:sp>
        <p:nvSpPr>
          <p:cNvPr id="10" name="Shape 8"/>
          <p:cNvSpPr/>
          <p:nvPr/>
        </p:nvSpPr>
        <p:spPr>
          <a:xfrm>
            <a:off x="4343400" y="3409530"/>
            <a:ext cx="3520440" cy="3120390"/>
          </a:xfrm>
          <a:prstGeom prst="roundRect">
            <a:avLst>
              <a:gd name="adj" fmla="val 2597"/>
            </a:avLst>
          </a:prstGeom>
          <a:solidFill>
            <a:srgbClr val="ECE2D0"/>
          </a:solidFill>
          <a:ln/>
        </p:spPr>
      </p:sp>
      <p:sp>
        <p:nvSpPr>
          <p:cNvPr id="11" name="Shape 9"/>
          <p:cNvSpPr/>
          <p:nvPr/>
        </p:nvSpPr>
        <p:spPr>
          <a:xfrm>
            <a:off x="4572000" y="3536212"/>
            <a:ext cx="3063240" cy="312039"/>
          </a:xfrm>
          <a:prstGeom prst="roundRect">
            <a:avLst>
              <a:gd name="adj" fmla="val 50000"/>
            </a:avLst>
          </a:prstGeom>
          <a:solidFill>
            <a:srgbClr val="6D2E46"/>
          </a:solidFill>
          <a:ln/>
        </p:spPr>
      </p:sp>
      <p:sp>
        <p:nvSpPr>
          <p:cNvPr id="12" name="Text 10"/>
          <p:cNvSpPr txBox="1"/>
          <p:nvPr/>
        </p:nvSpPr>
        <p:spPr>
          <a:xfrm>
            <a:off x="4572000" y="3536212"/>
            <a:ext cx="3063240" cy="312039"/>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GROUP 2</a:t>
            </a:r>
            <a:endParaRPr lang="en-US" sz="1250" dirty="0"/>
          </a:p>
        </p:txBody>
      </p:sp>
      <p:sp>
        <p:nvSpPr>
          <p:cNvPr id="13" name="Text 11"/>
          <p:cNvSpPr txBox="1"/>
          <p:nvPr/>
        </p:nvSpPr>
        <p:spPr>
          <a:xfrm>
            <a:off x="4572000" y="4128400"/>
            <a:ext cx="3063240" cy="405651"/>
          </a:xfrm>
          <a:prstGeom prst="rect">
            <a:avLst/>
          </a:prstGeom>
          <a:noFill/>
          <a:ln/>
        </p:spPr>
        <p:txBody>
          <a:bodyPr wrap="square" lIns="0" tIns="0" rIns="0" bIns="0" rtlCol="0" anchor="ctr"/>
          <a:lstStyle/>
          <a:p>
            <a:pPr marL="0" indent="0">
              <a:buNone/>
            </a:pPr>
            <a:r>
              <a:rPr lang="en-US" sz="1650" b="1" dirty="0">
                <a:solidFill>
                  <a:srgbClr val="6D2E46"/>
                </a:solidFill>
                <a:latin typeface="Cambria" pitchFamily="34" charset="0"/>
                <a:ea typeface="Cambria" pitchFamily="34" charset="-122"/>
                <a:cs typeface="Cambria" pitchFamily="34" charset="-120"/>
              </a:rPr>
              <a:t>Denmark</a:t>
            </a:r>
            <a:endParaRPr lang="en-US" sz="1650" dirty="0"/>
          </a:p>
        </p:txBody>
      </p:sp>
      <p:sp>
        <p:nvSpPr>
          <p:cNvPr id="14" name="Text 12"/>
          <p:cNvSpPr txBox="1"/>
          <p:nvPr/>
        </p:nvSpPr>
        <p:spPr>
          <a:xfrm>
            <a:off x="4572000" y="4171454"/>
            <a:ext cx="3063240" cy="1809826"/>
          </a:xfrm>
          <a:prstGeom prst="rect">
            <a:avLst/>
          </a:prstGeom>
          <a:noFill/>
          <a:ln/>
        </p:spPr>
        <p:txBody>
          <a:bodyPr wrap="square" lIns="0" tIns="0" rIns="0" bIns="0" rtlCol="0" anchor="ctr"/>
          <a:lstStyle/>
          <a:p>
            <a:pPr marL="0" indent="0">
              <a:lnSpc>
                <a:spcPct val="112000"/>
              </a:lnSpc>
              <a:buNone/>
            </a:pPr>
            <a:r>
              <a:rPr lang="en-US" sz="1250" dirty="0">
                <a:solidFill>
                  <a:srgbClr val="2A1420"/>
                </a:solidFill>
                <a:latin typeface="Calibri" pitchFamily="34" charset="0"/>
                <a:ea typeface="Calibri" pitchFamily="34" charset="-122"/>
                <a:cs typeface="Calibri" pitchFamily="34" charset="-120"/>
              </a:rPr>
              <a:t>About 47% of Danish households are single-person — among the highest shares in the world, reflecting a Nordic welfare state that makes living alone economically feasible at any age.</a:t>
            </a:r>
            <a:endParaRPr lang="en-US" sz="1250" dirty="0"/>
          </a:p>
        </p:txBody>
      </p:sp>
      <p:sp>
        <p:nvSpPr>
          <p:cNvPr id="15" name="Text 13"/>
          <p:cNvSpPr txBox="1"/>
          <p:nvPr/>
        </p:nvSpPr>
        <p:spPr>
          <a:xfrm>
            <a:off x="4572000" y="6172160"/>
            <a:ext cx="3063240" cy="312039"/>
          </a:xfrm>
          <a:prstGeom prst="rect">
            <a:avLst/>
          </a:prstGeom>
          <a:noFill/>
          <a:ln/>
        </p:spPr>
        <p:txBody>
          <a:bodyPr wrap="square" lIns="0" tIns="0" rIns="0" bIns="0" rtlCol="0" anchor="ctr"/>
          <a:lstStyle/>
          <a:p>
            <a:pPr marL="0" indent="0">
              <a:buNone/>
            </a:pPr>
            <a:r>
              <a:rPr lang="en-US" sz="950" i="1" dirty="0">
                <a:solidFill>
                  <a:srgbClr val="6B5A5F"/>
                </a:solidFill>
                <a:latin typeface="Calibri" pitchFamily="34" charset="0"/>
                <a:ea typeface="Calibri" pitchFamily="34" charset="-122"/>
                <a:cs typeface="Calibri" pitchFamily="34" charset="-120"/>
              </a:rPr>
              <a:t>Esteve, A., &amp; Reher, D. S. (2024), Population and Development Review, 50(1).</a:t>
            </a:r>
            <a:endParaRPr lang="en-US" sz="950" dirty="0"/>
          </a:p>
        </p:txBody>
      </p:sp>
      <p:sp>
        <p:nvSpPr>
          <p:cNvPr id="16" name="Shape 14"/>
          <p:cNvSpPr/>
          <p:nvPr/>
        </p:nvSpPr>
        <p:spPr>
          <a:xfrm>
            <a:off x="8138160" y="3409530"/>
            <a:ext cx="3520440" cy="3120390"/>
          </a:xfrm>
          <a:prstGeom prst="roundRect">
            <a:avLst>
              <a:gd name="adj" fmla="val 2597"/>
            </a:avLst>
          </a:prstGeom>
          <a:solidFill>
            <a:srgbClr val="F7F3EF"/>
          </a:solidFill>
          <a:ln/>
        </p:spPr>
      </p:sp>
      <p:sp>
        <p:nvSpPr>
          <p:cNvPr id="17" name="Shape 15"/>
          <p:cNvSpPr/>
          <p:nvPr/>
        </p:nvSpPr>
        <p:spPr>
          <a:xfrm>
            <a:off x="8366760" y="3536212"/>
            <a:ext cx="3063240" cy="312039"/>
          </a:xfrm>
          <a:prstGeom prst="roundRect">
            <a:avLst>
              <a:gd name="adj" fmla="val 50000"/>
            </a:avLst>
          </a:prstGeom>
          <a:solidFill>
            <a:srgbClr val="6D2E46"/>
          </a:solidFill>
          <a:ln/>
        </p:spPr>
      </p:sp>
      <p:sp>
        <p:nvSpPr>
          <p:cNvPr id="18" name="Text 16"/>
          <p:cNvSpPr txBox="1"/>
          <p:nvPr/>
        </p:nvSpPr>
        <p:spPr>
          <a:xfrm>
            <a:off x="8366760" y="3536212"/>
            <a:ext cx="3063240" cy="312039"/>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GROUP 3</a:t>
            </a:r>
            <a:endParaRPr lang="en-US" sz="1250" dirty="0"/>
          </a:p>
        </p:txBody>
      </p:sp>
      <p:sp>
        <p:nvSpPr>
          <p:cNvPr id="19" name="Text 17"/>
          <p:cNvSpPr txBox="1"/>
          <p:nvPr/>
        </p:nvSpPr>
        <p:spPr>
          <a:xfrm>
            <a:off x="8366760" y="4128400"/>
            <a:ext cx="3063240" cy="405651"/>
          </a:xfrm>
          <a:prstGeom prst="rect">
            <a:avLst/>
          </a:prstGeom>
          <a:noFill/>
          <a:ln/>
        </p:spPr>
        <p:txBody>
          <a:bodyPr wrap="square" lIns="0" tIns="0" rIns="0" bIns="0" rtlCol="0" anchor="ctr"/>
          <a:lstStyle/>
          <a:p>
            <a:pPr marL="0" indent="0">
              <a:buNone/>
            </a:pPr>
            <a:r>
              <a:rPr lang="en-US" sz="1650" b="1" dirty="0">
                <a:solidFill>
                  <a:srgbClr val="6D2E46"/>
                </a:solidFill>
                <a:latin typeface="Cambria" pitchFamily="34" charset="0"/>
                <a:ea typeface="Cambria" pitchFamily="34" charset="-122"/>
                <a:cs typeface="Cambria" pitchFamily="34" charset="-120"/>
              </a:rPr>
              <a:t>Thailand</a:t>
            </a:r>
            <a:endParaRPr lang="en-US" sz="1650" dirty="0"/>
          </a:p>
        </p:txBody>
      </p:sp>
      <p:sp>
        <p:nvSpPr>
          <p:cNvPr id="20" name="Text 18"/>
          <p:cNvSpPr txBox="1"/>
          <p:nvPr/>
        </p:nvSpPr>
        <p:spPr>
          <a:xfrm>
            <a:off x="8366760" y="4171454"/>
            <a:ext cx="3063240" cy="1809826"/>
          </a:xfrm>
          <a:prstGeom prst="rect">
            <a:avLst/>
          </a:prstGeom>
          <a:noFill/>
          <a:ln/>
        </p:spPr>
        <p:txBody>
          <a:bodyPr wrap="square" lIns="0" tIns="0" rIns="0" bIns="0" rtlCol="0" anchor="ctr"/>
          <a:lstStyle/>
          <a:p>
            <a:pPr marL="0" indent="0">
              <a:lnSpc>
                <a:spcPct val="112000"/>
              </a:lnSpc>
              <a:buNone/>
            </a:pPr>
            <a:r>
              <a:rPr lang="en-US" sz="1250" dirty="0">
                <a:solidFill>
                  <a:srgbClr val="2A1420"/>
                </a:solidFill>
                <a:latin typeface="Calibri" pitchFamily="34" charset="0"/>
                <a:ea typeface="Calibri" pitchFamily="34" charset="-122"/>
                <a:cs typeface="Calibri" pitchFamily="34" charset="-120"/>
              </a:rPr>
              <a:t>28.7% of Thai households were single-person in 2024 (up from a much lower historical base), driven by delayed marriage among urban youth and a rapidly aging population living alone after widowhood.</a:t>
            </a:r>
            <a:endParaRPr lang="en-US" sz="1250" dirty="0"/>
          </a:p>
        </p:txBody>
      </p:sp>
      <p:sp>
        <p:nvSpPr>
          <p:cNvPr id="21" name="Text 19"/>
          <p:cNvSpPr txBox="1"/>
          <p:nvPr/>
        </p:nvSpPr>
        <p:spPr>
          <a:xfrm>
            <a:off x="8366760" y="6172160"/>
            <a:ext cx="3063240" cy="312039"/>
          </a:xfrm>
          <a:prstGeom prst="rect">
            <a:avLst/>
          </a:prstGeom>
          <a:noFill/>
          <a:ln/>
        </p:spPr>
        <p:txBody>
          <a:bodyPr wrap="square" lIns="0" tIns="0" rIns="0" bIns="0" rtlCol="0" anchor="ctr"/>
          <a:lstStyle/>
          <a:p>
            <a:pPr marL="0" indent="0">
              <a:buNone/>
            </a:pPr>
            <a:r>
              <a:rPr lang="en-US" sz="950" i="1" dirty="0">
                <a:solidFill>
                  <a:srgbClr val="6B5A5F"/>
                </a:solidFill>
                <a:latin typeface="Calibri" pitchFamily="34" charset="0"/>
                <a:ea typeface="Calibri" pitchFamily="34" charset="-122"/>
                <a:cs typeface="Calibri" pitchFamily="34" charset="-120"/>
              </a:rPr>
              <a:t>Euromonitor International (2024); NSO Thailand (2025), 2025 Census.</a:t>
            </a:r>
            <a:endParaRPr lang="en-US" sz="950" dirty="0"/>
          </a:p>
        </p:txBody>
      </p:sp>
      <p:sp>
        <p:nvSpPr>
          <p:cNvPr id="22" name="Text 20"/>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23" name="Text 21"/>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45 / 56</a:t>
            </a:r>
            <a:endParaRPr lang="en-US" sz="900" dirty="0"/>
          </a:p>
        </p:txBody>
      </p:sp>
      <p:sp>
        <p:nvSpPr>
          <p:cNvPr id="25" name="Shape 8">
            <a:extLst>
              <a:ext uri="{FF2B5EF4-FFF2-40B4-BE49-F238E27FC236}">
                <a16:creationId xmlns:a16="http://schemas.microsoft.com/office/drawing/2014/main" id="{0796ADF4-3938-13E9-EE51-12F321B404D8}"/>
              </a:ext>
            </a:extLst>
          </p:cNvPr>
          <p:cNvSpPr/>
          <p:nvPr/>
        </p:nvSpPr>
        <p:spPr>
          <a:xfrm>
            <a:off x="533400" y="1152067"/>
            <a:ext cx="11064240" cy="1051560"/>
          </a:xfrm>
          <a:prstGeom prst="roundRect">
            <a:avLst>
              <a:gd name="adj" fmla="val 6957"/>
            </a:avLst>
          </a:prstGeom>
          <a:solidFill>
            <a:srgbClr val="6D2E46">
              <a:alpha val="85000"/>
            </a:srgbClr>
          </a:solidFill>
          <a:ln/>
        </p:spPr>
      </p:sp>
      <p:sp>
        <p:nvSpPr>
          <p:cNvPr id="27" name="Shape 9">
            <a:extLst>
              <a:ext uri="{FF2B5EF4-FFF2-40B4-BE49-F238E27FC236}">
                <a16:creationId xmlns:a16="http://schemas.microsoft.com/office/drawing/2014/main" id="{B8978341-5433-D80C-2780-A1956ABE640F}"/>
              </a:ext>
            </a:extLst>
          </p:cNvPr>
          <p:cNvSpPr/>
          <p:nvPr/>
        </p:nvSpPr>
        <p:spPr>
          <a:xfrm>
            <a:off x="762000" y="1353235"/>
            <a:ext cx="640080" cy="640080"/>
          </a:xfrm>
          <a:prstGeom prst="ellipse">
            <a:avLst/>
          </a:prstGeom>
          <a:solidFill>
            <a:srgbClr val="C9962E"/>
          </a:solidFill>
          <a:ln/>
        </p:spPr>
      </p:sp>
      <p:sp>
        <p:nvSpPr>
          <p:cNvPr id="29" name="Text 10">
            <a:extLst>
              <a:ext uri="{FF2B5EF4-FFF2-40B4-BE49-F238E27FC236}">
                <a16:creationId xmlns:a16="http://schemas.microsoft.com/office/drawing/2014/main" id="{DD0FEB9F-EF29-6445-535B-45ED510B02D0}"/>
              </a:ext>
            </a:extLst>
          </p:cNvPr>
          <p:cNvSpPr txBox="1"/>
          <p:nvPr/>
        </p:nvSpPr>
        <p:spPr>
          <a:xfrm>
            <a:off x="762000" y="1353235"/>
            <a:ext cx="640080" cy="640080"/>
          </a:xfrm>
          <a:prstGeom prst="rect">
            <a:avLst/>
          </a:prstGeom>
          <a:noFill/>
          <a:ln/>
        </p:spPr>
        <p:txBody>
          <a:bodyPr wrap="square" lIns="0" tIns="0" rIns="0" bIns="0" rtlCol="0" anchor="ctr"/>
          <a:lstStyle/>
          <a:p>
            <a:pPr marL="0" indent="0" algn="ctr">
              <a:buNone/>
            </a:pPr>
            <a:r>
              <a:rPr lang="en-US" sz="2000" b="1" dirty="0">
                <a:solidFill>
                  <a:srgbClr val="4A1E30"/>
                </a:solidFill>
                <a:latin typeface="Cambria" pitchFamily="34" charset="0"/>
                <a:ea typeface="Cambria" pitchFamily="34" charset="-122"/>
                <a:cs typeface="Cambria" pitchFamily="34" charset="-120"/>
              </a:rPr>
              <a:t>1</a:t>
            </a:r>
            <a:endParaRPr lang="en-US" sz="2000" dirty="0"/>
          </a:p>
        </p:txBody>
      </p:sp>
      <p:sp>
        <p:nvSpPr>
          <p:cNvPr id="31" name="Text 11">
            <a:extLst>
              <a:ext uri="{FF2B5EF4-FFF2-40B4-BE49-F238E27FC236}">
                <a16:creationId xmlns:a16="http://schemas.microsoft.com/office/drawing/2014/main" id="{EE360182-C140-C861-526D-0EC3C6B0D63F}"/>
              </a:ext>
            </a:extLst>
          </p:cNvPr>
          <p:cNvSpPr txBox="1"/>
          <p:nvPr/>
        </p:nvSpPr>
        <p:spPr>
          <a:xfrm>
            <a:off x="1584960" y="1225219"/>
            <a:ext cx="9829800" cy="914400"/>
          </a:xfrm>
          <a:prstGeom prst="rect">
            <a:avLst/>
          </a:prstGeom>
          <a:noFill/>
          <a:ln/>
        </p:spPr>
        <p:txBody>
          <a:bodyPr wrap="square" lIns="0" tIns="0" rIns="0" bIns="0" rtlCol="0" anchor="ctr"/>
          <a:lstStyle/>
          <a:p>
            <a:pPr marL="0" indent="0">
              <a:lnSpc>
                <a:spcPct val="105000"/>
              </a:lnSpc>
              <a:buNone/>
            </a:pPr>
            <a:r>
              <a:rPr lang="en-US" sz="1400" dirty="0">
                <a:solidFill>
                  <a:srgbClr val="FFFFFF"/>
                </a:solidFill>
                <a:latin typeface="Calibri" pitchFamily="34" charset="0"/>
                <a:ea typeface="Calibri" pitchFamily="34" charset="-122"/>
                <a:cs typeface="Calibri" pitchFamily="34" charset="-120"/>
              </a:rPr>
              <a:t>What is the primary driver of this location's living-arrangement pattern — economic, demographic, cultural, or measurement/definitional?</a:t>
            </a:r>
            <a:endParaRPr lang="en-US" sz="1400" dirty="0"/>
          </a:p>
        </p:txBody>
      </p:sp>
      <p:sp>
        <p:nvSpPr>
          <p:cNvPr id="33" name="Shape 12">
            <a:extLst>
              <a:ext uri="{FF2B5EF4-FFF2-40B4-BE49-F238E27FC236}">
                <a16:creationId xmlns:a16="http://schemas.microsoft.com/office/drawing/2014/main" id="{13A05140-EF0F-A8EC-7F00-9A389EEF8E82}"/>
              </a:ext>
            </a:extLst>
          </p:cNvPr>
          <p:cNvSpPr/>
          <p:nvPr/>
        </p:nvSpPr>
        <p:spPr>
          <a:xfrm>
            <a:off x="533400" y="2340787"/>
            <a:ext cx="11064240" cy="1051560"/>
          </a:xfrm>
          <a:prstGeom prst="roundRect">
            <a:avLst>
              <a:gd name="adj" fmla="val 6957"/>
            </a:avLst>
          </a:prstGeom>
          <a:solidFill>
            <a:srgbClr val="6D2E46">
              <a:alpha val="85000"/>
            </a:srgbClr>
          </a:solidFill>
          <a:ln/>
        </p:spPr>
      </p:sp>
      <p:sp>
        <p:nvSpPr>
          <p:cNvPr id="35" name="Shape 13">
            <a:extLst>
              <a:ext uri="{FF2B5EF4-FFF2-40B4-BE49-F238E27FC236}">
                <a16:creationId xmlns:a16="http://schemas.microsoft.com/office/drawing/2014/main" id="{D107644B-F41F-1B73-FEA2-3DA0BDC089C9}"/>
              </a:ext>
            </a:extLst>
          </p:cNvPr>
          <p:cNvSpPr/>
          <p:nvPr/>
        </p:nvSpPr>
        <p:spPr>
          <a:xfrm>
            <a:off x="762000" y="2541955"/>
            <a:ext cx="640080" cy="640080"/>
          </a:xfrm>
          <a:prstGeom prst="ellipse">
            <a:avLst/>
          </a:prstGeom>
          <a:solidFill>
            <a:srgbClr val="C9962E"/>
          </a:solidFill>
          <a:ln/>
        </p:spPr>
      </p:sp>
      <p:sp>
        <p:nvSpPr>
          <p:cNvPr id="37" name="Text 14">
            <a:extLst>
              <a:ext uri="{FF2B5EF4-FFF2-40B4-BE49-F238E27FC236}">
                <a16:creationId xmlns:a16="http://schemas.microsoft.com/office/drawing/2014/main" id="{1CE52340-E6AC-8B9D-C3BE-B3CE5ED2083F}"/>
              </a:ext>
            </a:extLst>
          </p:cNvPr>
          <p:cNvSpPr txBox="1"/>
          <p:nvPr/>
        </p:nvSpPr>
        <p:spPr>
          <a:xfrm>
            <a:off x="762000" y="2541955"/>
            <a:ext cx="640080" cy="640080"/>
          </a:xfrm>
          <a:prstGeom prst="rect">
            <a:avLst/>
          </a:prstGeom>
          <a:noFill/>
          <a:ln/>
        </p:spPr>
        <p:txBody>
          <a:bodyPr wrap="square" lIns="0" tIns="0" rIns="0" bIns="0" rtlCol="0" anchor="ctr"/>
          <a:lstStyle/>
          <a:p>
            <a:pPr marL="0" indent="0" algn="ctr">
              <a:buNone/>
            </a:pPr>
            <a:r>
              <a:rPr lang="en-US" sz="2000" b="1" dirty="0">
                <a:solidFill>
                  <a:srgbClr val="4A1E30"/>
                </a:solidFill>
                <a:latin typeface="Cambria" pitchFamily="34" charset="0"/>
                <a:ea typeface="Cambria" pitchFamily="34" charset="-122"/>
                <a:cs typeface="Cambria" pitchFamily="34" charset="-120"/>
              </a:rPr>
              <a:t>2</a:t>
            </a:r>
            <a:endParaRPr lang="en-US" sz="2000" dirty="0"/>
          </a:p>
        </p:txBody>
      </p:sp>
      <p:sp>
        <p:nvSpPr>
          <p:cNvPr id="39" name="Text 15">
            <a:extLst>
              <a:ext uri="{FF2B5EF4-FFF2-40B4-BE49-F238E27FC236}">
                <a16:creationId xmlns:a16="http://schemas.microsoft.com/office/drawing/2014/main" id="{D74D0D93-2C37-5EEE-EAB3-121923C301B4}"/>
              </a:ext>
            </a:extLst>
          </p:cNvPr>
          <p:cNvSpPr txBox="1"/>
          <p:nvPr/>
        </p:nvSpPr>
        <p:spPr>
          <a:xfrm>
            <a:off x="1584960" y="2413939"/>
            <a:ext cx="9829800" cy="914400"/>
          </a:xfrm>
          <a:prstGeom prst="rect">
            <a:avLst/>
          </a:prstGeom>
          <a:noFill/>
          <a:ln/>
        </p:spPr>
        <p:txBody>
          <a:bodyPr wrap="square" lIns="0" tIns="0" rIns="0" bIns="0" rtlCol="0" anchor="ctr"/>
          <a:lstStyle/>
          <a:p>
            <a:pPr marL="0" indent="0">
              <a:lnSpc>
                <a:spcPct val="105000"/>
              </a:lnSpc>
              <a:buNone/>
            </a:pPr>
            <a:r>
              <a:rPr lang="en-US" sz="1400" dirty="0">
                <a:solidFill>
                  <a:srgbClr val="FFFFFF"/>
                </a:solidFill>
                <a:latin typeface="Calibri" pitchFamily="34" charset="0"/>
                <a:ea typeface="Calibri" pitchFamily="34" charset="-122"/>
                <a:cs typeface="Calibri" pitchFamily="34" charset="-120"/>
              </a:rPr>
              <a:t>What downstream policy area (housing, pensions, social protection) is most affected, and how?</a:t>
            </a:r>
            <a:endParaRPr lang="en-US" sz="1400" dirty="0"/>
          </a:p>
        </p:txBody>
      </p:sp>
      <p:sp>
        <p:nvSpPr>
          <p:cNvPr id="41" name="Text 6">
            <a:extLst>
              <a:ext uri="{FF2B5EF4-FFF2-40B4-BE49-F238E27FC236}">
                <a16:creationId xmlns:a16="http://schemas.microsoft.com/office/drawing/2014/main" id="{C384A553-34FB-8F32-D17F-73A3C98E6AE2}"/>
              </a:ext>
            </a:extLst>
          </p:cNvPr>
          <p:cNvSpPr txBox="1"/>
          <p:nvPr/>
        </p:nvSpPr>
        <p:spPr>
          <a:xfrm>
            <a:off x="3756660" y="388620"/>
            <a:ext cx="10607040" cy="594360"/>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Group size: </a:t>
            </a:r>
            <a:r>
              <a:rPr lang="en-US" sz="1400" dirty="0">
                <a:latin typeface="Calibri" pitchFamily="34" charset="0"/>
                <a:ea typeface="Calibri" pitchFamily="34" charset="-122"/>
                <a:cs typeface="Calibri" pitchFamily="34" charset="-120"/>
              </a:rPr>
              <a:t>Groups of 2-3 </a:t>
            </a:r>
            <a:r>
              <a:rPr lang="en-US" sz="1400" b="1" dirty="0">
                <a:latin typeface="Calibri" pitchFamily="34" charset="0"/>
                <a:ea typeface="Calibri" pitchFamily="34" charset="-122"/>
                <a:cs typeface="Calibri" pitchFamily="34" charset="-120"/>
              </a:rPr>
              <a:t>Time: </a:t>
            </a:r>
            <a:r>
              <a:rPr lang="en-US" sz="1400" dirty="0">
                <a:latin typeface="Calibri" pitchFamily="34" charset="0"/>
                <a:ea typeface="Calibri" pitchFamily="34" charset="-122"/>
                <a:cs typeface="Calibri" pitchFamily="34" charset="-120"/>
              </a:rPr>
              <a:t>15-20 min prep + 3 groups × 5 min report-back + 5-10 min synthesis discussion</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WHY IT MATTERS FOR POLICY</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Downstream Effects on Analysis &amp; Policy</a:t>
            </a:r>
            <a:endParaRPr lang="en-US" sz="3000" dirty="0"/>
          </a:p>
        </p:txBody>
      </p:sp>
      <p:sp>
        <p:nvSpPr>
          <p:cNvPr id="4" name="Shape 2"/>
          <p:cNvSpPr/>
          <p:nvPr/>
        </p:nvSpPr>
        <p:spPr>
          <a:xfrm>
            <a:off x="548640" y="1417320"/>
            <a:ext cx="2537460" cy="4754880"/>
          </a:xfrm>
          <a:prstGeom prst="roundRect">
            <a:avLst>
              <a:gd name="adj" fmla="val 2883"/>
            </a:avLst>
          </a:prstGeom>
          <a:solidFill>
            <a:srgbClr val="F7F3EF"/>
          </a:solidFill>
          <a:ln/>
        </p:spPr>
      </p:sp>
      <p:sp>
        <p:nvSpPr>
          <p:cNvPr id="5" name="Shape 3"/>
          <p:cNvSpPr/>
          <p:nvPr/>
        </p:nvSpPr>
        <p:spPr>
          <a:xfrm>
            <a:off x="749808" y="1600200"/>
            <a:ext cx="685800" cy="685800"/>
          </a:xfrm>
          <a:prstGeom prst="ellipse">
            <a:avLst/>
          </a:prstGeom>
          <a:solidFill>
            <a:srgbClr val="6D2E46"/>
          </a:solidFill>
          <a:ln/>
        </p:spPr>
      </p:sp>
      <p:pic>
        <p:nvPicPr>
          <p:cNvPr id="6" name="Image 0" descr="/sessions/blissful-modest-newton/work/build/icons/building.png"/>
          <p:cNvPicPr>
            <a:picLocks noChangeAspect="1"/>
          </p:cNvPicPr>
          <p:nvPr/>
        </p:nvPicPr>
        <p:blipFill>
          <a:blip r:embed="rId3"/>
          <a:stretch>
            <a:fillRect/>
          </a:stretch>
        </p:blipFill>
        <p:spPr>
          <a:xfrm>
            <a:off x="900684" y="1751076"/>
            <a:ext cx="384048" cy="384048"/>
          </a:xfrm>
          <a:prstGeom prst="rect">
            <a:avLst/>
          </a:prstGeom>
        </p:spPr>
      </p:pic>
      <p:sp>
        <p:nvSpPr>
          <p:cNvPr id="7" name="Text 4"/>
          <p:cNvSpPr txBox="1"/>
          <p:nvPr/>
        </p:nvSpPr>
        <p:spPr>
          <a:xfrm>
            <a:off x="749808" y="2340864"/>
            <a:ext cx="21351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Housing policy</a:t>
            </a:r>
            <a:endParaRPr lang="en-US" sz="1450" dirty="0"/>
          </a:p>
        </p:txBody>
      </p:sp>
      <p:sp>
        <p:nvSpPr>
          <p:cNvPr id="8" name="Text 5"/>
          <p:cNvSpPr txBox="1"/>
          <p:nvPr/>
        </p:nvSpPr>
        <p:spPr>
          <a:xfrm>
            <a:off x="749808" y="2670048"/>
            <a:ext cx="2135124" cy="342900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Demand shifts toward smaller units as solo and childless households grow.</a:t>
            </a:r>
            <a:endParaRPr lang="en-US" sz="1200" dirty="0"/>
          </a:p>
        </p:txBody>
      </p:sp>
      <p:sp>
        <p:nvSpPr>
          <p:cNvPr id="9" name="Shape 6"/>
          <p:cNvSpPr/>
          <p:nvPr/>
        </p:nvSpPr>
        <p:spPr>
          <a:xfrm>
            <a:off x="3406140" y="1417320"/>
            <a:ext cx="2537460" cy="4754880"/>
          </a:xfrm>
          <a:prstGeom prst="roundRect">
            <a:avLst>
              <a:gd name="adj" fmla="val 2883"/>
            </a:avLst>
          </a:prstGeom>
          <a:solidFill>
            <a:srgbClr val="ECE2D0"/>
          </a:solidFill>
          <a:ln/>
        </p:spPr>
      </p:sp>
      <p:sp>
        <p:nvSpPr>
          <p:cNvPr id="10" name="Shape 7"/>
          <p:cNvSpPr/>
          <p:nvPr/>
        </p:nvSpPr>
        <p:spPr>
          <a:xfrm>
            <a:off x="3607308" y="1600200"/>
            <a:ext cx="685800" cy="685800"/>
          </a:xfrm>
          <a:prstGeom prst="ellipse">
            <a:avLst/>
          </a:prstGeom>
          <a:solidFill>
            <a:srgbClr val="6D2E46"/>
          </a:solidFill>
          <a:ln/>
        </p:spPr>
      </p:sp>
      <p:pic>
        <p:nvPicPr>
          <p:cNvPr id="11" name="Image 1" descr="/sessions/blissful-modest-newton/work/build/icons/scale.png"/>
          <p:cNvPicPr>
            <a:picLocks noChangeAspect="1"/>
          </p:cNvPicPr>
          <p:nvPr/>
        </p:nvPicPr>
        <p:blipFill>
          <a:blip r:embed="rId4"/>
          <a:stretch>
            <a:fillRect/>
          </a:stretch>
        </p:blipFill>
        <p:spPr>
          <a:xfrm>
            <a:off x="3758184" y="1751076"/>
            <a:ext cx="384048" cy="384048"/>
          </a:xfrm>
          <a:prstGeom prst="rect">
            <a:avLst/>
          </a:prstGeom>
        </p:spPr>
      </p:pic>
      <p:sp>
        <p:nvSpPr>
          <p:cNvPr id="12" name="Text 8"/>
          <p:cNvSpPr txBox="1"/>
          <p:nvPr/>
        </p:nvSpPr>
        <p:spPr>
          <a:xfrm>
            <a:off x="3607308" y="2340864"/>
            <a:ext cx="21351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Social protection</a:t>
            </a:r>
            <a:endParaRPr lang="en-US" sz="1450" dirty="0"/>
          </a:p>
        </p:txBody>
      </p:sp>
      <p:sp>
        <p:nvSpPr>
          <p:cNvPr id="13" name="Text 9"/>
          <p:cNvSpPr txBox="1"/>
          <p:nvPr/>
        </p:nvSpPr>
        <p:spPr>
          <a:xfrm>
            <a:off x="3607308" y="2670048"/>
            <a:ext cx="2135124" cy="342900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Pension &amp; health systems built around spousal benefits must adapt to non-marital and solo households.</a:t>
            </a:r>
            <a:endParaRPr lang="en-US" sz="1200" dirty="0"/>
          </a:p>
        </p:txBody>
      </p:sp>
      <p:sp>
        <p:nvSpPr>
          <p:cNvPr id="14" name="Shape 10"/>
          <p:cNvSpPr/>
          <p:nvPr/>
        </p:nvSpPr>
        <p:spPr>
          <a:xfrm>
            <a:off x="6263640" y="1417320"/>
            <a:ext cx="2537460" cy="4754880"/>
          </a:xfrm>
          <a:prstGeom prst="roundRect">
            <a:avLst>
              <a:gd name="adj" fmla="val 2883"/>
            </a:avLst>
          </a:prstGeom>
          <a:solidFill>
            <a:srgbClr val="F7F3EF"/>
          </a:solidFill>
          <a:ln/>
        </p:spPr>
      </p:sp>
      <p:sp>
        <p:nvSpPr>
          <p:cNvPr id="15" name="Shape 11"/>
          <p:cNvSpPr/>
          <p:nvPr/>
        </p:nvSpPr>
        <p:spPr>
          <a:xfrm>
            <a:off x="6464808" y="1600200"/>
            <a:ext cx="685800" cy="685800"/>
          </a:xfrm>
          <a:prstGeom prst="ellipse">
            <a:avLst/>
          </a:prstGeom>
          <a:solidFill>
            <a:srgbClr val="6D2E46"/>
          </a:solidFill>
          <a:ln/>
        </p:spPr>
      </p:sp>
      <p:pic>
        <p:nvPicPr>
          <p:cNvPr id="16" name="Image 2" descr="/sessions/blissful-modest-newton/work/build/icons/chart.png"/>
          <p:cNvPicPr>
            <a:picLocks noChangeAspect="1"/>
          </p:cNvPicPr>
          <p:nvPr/>
        </p:nvPicPr>
        <p:blipFill>
          <a:blip r:embed="rId5"/>
          <a:stretch>
            <a:fillRect/>
          </a:stretch>
        </p:blipFill>
        <p:spPr>
          <a:xfrm>
            <a:off x="6615684" y="1751076"/>
            <a:ext cx="384048" cy="384048"/>
          </a:xfrm>
          <a:prstGeom prst="rect">
            <a:avLst/>
          </a:prstGeom>
        </p:spPr>
      </p:pic>
      <p:sp>
        <p:nvSpPr>
          <p:cNvPr id="17" name="Text 12"/>
          <p:cNvSpPr txBox="1"/>
          <p:nvPr/>
        </p:nvSpPr>
        <p:spPr>
          <a:xfrm>
            <a:off x="6464808" y="2340864"/>
            <a:ext cx="21351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Population projections</a:t>
            </a:r>
            <a:endParaRPr lang="en-US" sz="1450" dirty="0"/>
          </a:p>
        </p:txBody>
      </p:sp>
      <p:sp>
        <p:nvSpPr>
          <p:cNvPr id="18" name="Text 13"/>
          <p:cNvSpPr txBox="1"/>
          <p:nvPr/>
        </p:nvSpPr>
        <p:spPr>
          <a:xfrm>
            <a:off x="6464808" y="2670048"/>
            <a:ext cx="2135124" cy="342900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Household (not just population) projections need updated headship-rate assumptions.</a:t>
            </a:r>
            <a:endParaRPr lang="en-US" sz="1200" dirty="0"/>
          </a:p>
        </p:txBody>
      </p:sp>
      <p:sp>
        <p:nvSpPr>
          <p:cNvPr id="19" name="Shape 14"/>
          <p:cNvSpPr/>
          <p:nvPr/>
        </p:nvSpPr>
        <p:spPr>
          <a:xfrm>
            <a:off x="9121140" y="1417320"/>
            <a:ext cx="2537460" cy="4754880"/>
          </a:xfrm>
          <a:prstGeom prst="roundRect">
            <a:avLst>
              <a:gd name="adj" fmla="val 2883"/>
            </a:avLst>
          </a:prstGeom>
          <a:solidFill>
            <a:srgbClr val="ECE2D0"/>
          </a:solidFill>
          <a:ln/>
        </p:spPr>
      </p:sp>
      <p:sp>
        <p:nvSpPr>
          <p:cNvPr id="20" name="Shape 15"/>
          <p:cNvSpPr/>
          <p:nvPr/>
        </p:nvSpPr>
        <p:spPr>
          <a:xfrm>
            <a:off x="9322308" y="1600200"/>
            <a:ext cx="685800" cy="685800"/>
          </a:xfrm>
          <a:prstGeom prst="ellipse">
            <a:avLst/>
          </a:prstGeom>
          <a:solidFill>
            <a:srgbClr val="6D2E46"/>
          </a:solidFill>
          <a:ln/>
        </p:spPr>
      </p:sp>
      <p:pic>
        <p:nvPicPr>
          <p:cNvPr id="21" name="Image 3" descr="/sessions/blissful-modest-newton/work/build/icons/gavel.png"/>
          <p:cNvPicPr>
            <a:picLocks noChangeAspect="1"/>
          </p:cNvPicPr>
          <p:nvPr/>
        </p:nvPicPr>
        <p:blipFill>
          <a:blip r:embed="rId6"/>
          <a:stretch>
            <a:fillRect/>
          </a:stretch>
        </p:blipFill>
        <p:spPr>
          <a:xfrm>
            <a:off x="9473184" y="1751076"/>
            <a:ext cx="384048" cy="384048"/>
          </a:xfrm>
          <a:prstGeom prst="rect">
            <a:avLst/>
          </a:prstGeom>
        </p:spPr>
      </p:pic>
      <p:sp>
        <p:nvSpPr>
          <p:cNvPr id="22" name="Text 16"/>
          <p:cNvSpPr txBox="1"/>
          <p:nvPr/>
        </p:nvSpPr>
        <p:spPr>
          <a:xfrm>
            <a:off x="9322308" y="2340864"/>
            <a:ext cx="2135124" cy="320040"/>
          </a:xfrm>
          <a:prstGeom prst="rect">
            <a:avLst/>
          </a:prstGeom>
          <a:noFill/>
          <a:ln/>
        </p:spPr>
        <p:txBody>
          <a:bodyPr wrap="square" lIns="0" tIns="0" rIns="0" bIns="0" rtlCol="0" anchor="ctr"/>
          <a:lstStyle/>
          <a:p>
            <a:pPr marL="0" indent="0">
              <a:buNone/>
            </a:pPr>
            <a:r>
              <a:rPr lang="en-US" sz="1450" b="1" dirty="0">
                <a:solidFill>
                  <a:srgbClr val="6D2E46"/>
                </a:solidFill>
                <a:latin typeface="Cambria" pitchFamily="34" charset="0"/>
                <a:ea typeface="Cambria" pitchFamily="34" charset="-122"/>
                <a:cs typeface="Cambria" pitchFamily="34" charset="-120"/>
              </a:rPr>
              <a:t>Legal recognition</a:t>
            </a:r>
            <a:endParaRPr lang="en-US" sz="1450" dirty="0"/>
          </a:p>
        </p:txBody>
      </p:sp>
      <p:sp>
        <p:nvSpPr>
          <p:cNvPr id="23" name="Text 17"/>
          <p:cNvSpPr txBox="1"/>
          <p:nvPr/>
        </p:nvSpPr>
        <p:spPr>
          <a:xfrm>
            <a:off x="9322308" y="2670048"/>
            <a:ext cx="2135124" cy="3429000"/>
          </a:xfrm>
          <a:prstGeom prst="rect">
            <a:avLst/>
          </a:prstGeom>
          <a:noFill/>
          <a:ln/>
        </p:spPr>
        <p:txBody>
          <a:bodyPr wrap="square" lIns="0" tIns="0" rIns="0" bIns="0" rtlCol="0" anchor="ctr"/>
          <a:lstStyle/>
          <a:p>
            <a:pPr marL="0" indent="0">
              <a:lnSpc>
                <a:spcPct val="105000"/>
              </a:lnSpc>
              <a:buNone/>
            </a:pPr>
            <a:r>
              <a:rPr lang="en-US" sz="1200" dirty="0">
                <a:solidFill>
                  <a:srgbClr val="2A1420"/>
                </a:solidFill>
                <a:latin typeface="Calibri" pitchFamily="34" charset="0"/>
                <a:ea typeface="Calibri" pitchFamily="34" charset="-122"/>
                <a:cs typeface="Calibri" pitchFamily="34" charset="-120"/>
              </a:rPr>
              <a:t>Inheritance, custody, and tax law increasingly must define “family” consistently with statistical practice.</a:t>
            </a:r>
            <a:endParaRPr lang="en-US" sz="1200" dirty="0"/>
          </a:p>
        </p:txBody>
      </p:sp>
      <p:sp>
        <p:nvSpPr>
          <p:cNvPr id="24" name="Text 18"/>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25" name="Text 19"/>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46 / 56</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WRAP-UP</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Key Takeaways</a:t>
            </a:r>
            <a:endParaRPr lang="en-US" sz="3000" dirty="0"/>
          </a:p>
        </p:txBody>
      </p:sp>
      <p:sp>
        <p:nvSpPr>
          <p:cNvPr id="4" name="Shape 2"/>
          <p:cNvSpPr/>
          <p:nvPr/>
        </p:nvSpPr>
        <p:spPr>
          <a:xfrm>
            <a:off x="548640" y="1600200"/>
            <a:ext cx="11109960" cy="841248"/>
          </a:xfrm>
          <a:prstGeom prst="roundRect">
            <a:avLst>
              <a:gd name="adj" fmla="val 8696"/>
            </a:avLst>
          </a:prstGeom>
          <a:solidFill>
            <a:srgbClr val="F7F3EF"/>
          </a:solidFill>
          <a:ln/>
        </p:spPr>
      </p:sp>
      <p:sp>
        <p:nvSpPr>
          <p:cNvPr id="5" name="Shape 3"/>
          <p:cNvSpPr/>
          <p:nvPr/>
        </p:nvSpPr>
        <p:spPr>
          <a:xfrm>
            <a:off x="777240" y="1746504"/>
            <a:ext cx="548640" cy="548640"/>
          </a:xfrm>
          <a:prstGeom prst="ellipse">
            <a:avLst/>
          </a:prstGeom>
          <a:solidFill>
            <a:srgbClr val="6D2E46"/>
          </a:solidFill>
          <a:ln/>
        </p:spPr>
      </p:sp>
      <p:sp>
        <p:nvSpPr>
          <p:cNvPr id="6" name="Text 4"/>
          <p:cNvSpPr txBox="1"/>
          <p:nvPr/>
        </p:nvSpPr>
        <p:spPr>
          <a:xfrm>
            <a:off x="777240" y="1746504"/>
            <a:ext cx="548640" cy="548640"/>
          </a:xfrm>
          <a:prstGeom prst="rect">
            <a:avLst/>
          </a:prstGeom>
          <a:noFill/>
          <a:ln/>
        </p:spPr>
        <p:txBody>
          <a:bodyPr wrap="square" lIns="0" tIns="0" rIns="0" bIns="0" rtlCol="0" anchor="ctr"/>
          <a:lstStyle/>
          <a:p>
            <a:pPr marL="0" indent="0" algn="ctr">
              <a:buNone/>
            </a:pPr>
            <a:r>
              <a:rPr lang="en-US" sz="1700" b="1" dirty="0">
                <a:solidFill>
                  <a:srgbClr val="C9962E"/>
                </a:solidFill>
                <a:latin typeface="Cambria" pitchFamily="34" charset="0"/>
                <a:ea typeface="Cambria" pitchFamily="34" charset="-122"/>
                <a:cs typeface="Cambria" pitchFamily="34" charset="-120"/>
              </a:rPr>
              <a:t>1</a:t>
            </a:r>
            <a:endParaRPr lang="en-US" sz="1700" dirty="0"/>
          </a:p>
        </p:txBody>
      </p:sp>
      <p:sp>
        <p:nvSpPr>
          <p:cNvPr id="7" name="Text 5"/>
          <p:cNvSpPr txBox="1"/>
          <p:nvPr/>
        </p:nvSpPr>
        <p:spPr>
          <a:xfrm>
            <a:off x="1508760" y="1600200"/>
            <a:ext cx="9966960" cy="841248"/>
          </a:xfrm>
          <a:prstGeom prst="rect">
            <a:avLst/>
          </a:prstGeom>
          <a:noFill/>
          <a:ln/>
        </p:spPr>
        <p:txBody>
          <a:bodyPr wrap="square" lIns="0" tIns="0" rIns="0" bIns="0" rtlCol="0" anchor="ctr"/>
          <a:lstStyle/>
          <a:p>
            <a:pPr marL="0" indent="0">
              <a:buNone/>
            </a:pPr>
            <a:r>
              <a:rPr lang="en-US" sz="1300" dirty="0">
                <a:solidFill>
                  <a:srgbClr val="2A1420"/>
                </a:solidFill>
                <a:latin typeface="Calibri" pitchFamily="34" charset="0"/>
                <a:ea typeface="Calibri" pitchFamily="34" charset="-122"/>
                <a:cs typeface="Calibri" pitchFamily="34" charset="-120"/>
              </a:rPr>
              <a:t>Household (co-residence) and family (kinship) are distinct statistical concepts — don't conflate them.</a:t>
            </a:r>
            <a:endParaRPr lang="en-US" sz="1300" dirty="0"/>
          </a:p>
        </p:txBody>
      </p:sp>
      <p:sp>
        <p:nvSpPr>
          <p:cNvPr id="8" name="Shape 6"/>
          <p:cNvSpPr/>
          <p:nvPr/>
        </p:nvSpPr>
        <p:spPr>
          <a:xfrm>
            <a:off x="548640" y="2514600"/>
            <a:ext cx="11109960" cy="841248"/>
          </a:xfrm>
          <a:prstGeom prst="roundRect">
            <a:avLst>
              <a:gd name="adj" fmla="val 8696"/>
            </a:avLst>
          </a:prstGeom>
          <a:solidFill>
            <a:srgbClr val="ECE2D0"/>
          </a:solidFill>
          <a:ln/>
        </p:spPr>
      </p:sp>
      <p:sp>
        <p:nvSpPr>
          <p:cNvPr id="9" name="Shape 7"/>
          <p:cNvSpPr/>
          <p:nvPr/>
        </p:nvSpPr>
        <p:spPr>
          <a:xfrm>
            <a:off x="777240" y="2660904"/>
            <a:ext cx="548640" cy="548640"/>
          </a:xfrm>
          <a:prstGeom prst="ellipse">
            <a:avLst/>
          </a:prstGeom>
          <a:solidFill>
            <a:srgbClr val="6D2E46"/>
          </a:solidFill>
          <a:ln/>
        </p:spPr>
      </p:sp>
      <p:sp>
        <p:nvSpPr>
          <p:cNvPr id="10" name="Text 8"/>
          <p:cNvSpPr txBox="1"/>
          <p:nvPr/>
        </p:nvSpPr>
        <p:spPr>
          <a:xfrm>
            <a:off x="777240" y="2660904"/>
            <a:ext cx="548640" cy="548640"/>
          </a:xfrm>
          <a:prstGeom prst="rect">
            <a:avLst/>
          </a:prstGeom>
          <a:noFill/>
          <a:ln/>
        </p:spPr>
        <p:txBody>
          <a:bodyPr wrap="square" lIns="0" tIns="0" rIns="0" bIns="0" rtlCol="0" anchor="ctr"/>
          <a:lstStyle/>
          <a:p>
            <a:pPr marL="0" indent="0" algn="ctr">
              <a:buNone/>
            </a:pPr>
            <a:r>
              <a:rPr lang="en-US" sz="1700" b="1" dirty="0">
                <a:solidFill>
                  <a:srgbClr val="C9962E"/>
                </a:solidFill>
                <a:latin typeface="Cambria" pitchFamily="34" charset="0"/>
                <a:ea typeface="Cambria" pitchFamily="34" charset="-122"/>
                <a:cs typeface="Cambria" pitchFamily="34" charset="-120"/>
              </a:rPr>
              <a:t>2</a:t>
            </a:r>
            <a:endParaRPr lang="en-US" sz="1700" dirty="0"/>
          </a:p>
        </p:txBody>
      </p:sp>
      <p:sp>
        <p:nvSpPr>
          <p:cNvPr id="11" name="Text 9"/>
          <p:cNvSpPr txBox="1"/>
          <p:nvPr/>
        </p:nvSpPr>
        <p:spPr>
          <a:xfrm>
            <a:off x="1508760" y="2514600"/>
            <a:ext cx="9966960" cy="841248"/>
          </a:xfrm>
          <a:prstGeom prst="rect">
            <a:avLst/>
          </a:prstGeom>
          <a:noFill/>
          <a:ln/>
        </p:spPr>
        <p:txBody>
          <a:bodyPr wrap="square" lIns="0" tIns="0" rIns="0" bIns="0" rtlCol="0" anchor="ctr"/>
          <a:lstStyle/>
          <a:p>
            <a:pPr marL="0" indent="0">
              <a:buNone/>
            </a:pPr>
            <a:r>
              <a:rPr lang="en-US" sz="1300" dirty="0">
                <a:solidFill>
                  <a:srgbClr val="2A1420"/>
                </a:solidFill>
                <a:latin typeface="Calibri" pitchFamily="34" charset="0"/>
                <a:ea typeface="Calibri" pitchFamily="34" charset="-122"/>
                <a:cs typeface="Calibri" pitchFamily="34" charset="-120"/>
              </a:rPr>
              <a:t>Marital status is standardly split into never-married and ever-married (married, divorced, widowed); “unmarried” combines the latter three with never-married for exposure analysis.</a:t>
            </a:r>
            <a:endParaRPr lang="en-US" sz="1300" dirty="0"/>
          </a:p>
        </p:txBody>
      </p:sp>
      <p:sp>
        <p:nvSpPr>
          <p:cNvPr id="12" name="Shape 10"/>
          <p:cNvSpPr/>
          <p:nvPr/>
        </p:nvSpPr>
        <p:spPr>
          <a:xfrm>
            <a:off x="548640" y="3429000"/>
            <a:ext cx="11109960" cy="841248"/>
          </a:xfrm>
          <a:prstGeom prst="roundRect">
            <a:avLst>
              <a:gd name="adj" fmla="val 8696"/>
            </a:avLst>
          </a:prstGeom>
          <a:solidFill>
            <a:srgbClr val="F7F3EF"/>
          </a:solidFill>
          <a:ln/>
        </p:spPr>
      </p:sp>
      <p:sp>
        <p:nvSpPr>
          <p:cNvPr id="13" name="Shape 11"/>
          <p:cNvSpPr/>
          <p:nvPr/>
        </p:nvSpPr>
        <p:spPr>
          <a:xfrm>
            <a:off x="777240" y="3575304"/>
            <a:ext cx="548640" cy="548640"/>
          </a:xfrm>
          <a:prstGeom prst="ellipse">
            <a:avLst/>
          </a:prstGeom>
          <a:solidFill>
            <a:srgbClr val="6D2E46"/>
          </a:solidFill>
          <a:ln/>
        </p:spPr>
      </p:sp>
      <p:sp>
        <p:nvSpPr>
          <p:cNvPr id="14" name="Text 12"/>
          <p:cNvSpPr txBox="1"/>
          <p:nvPr/>
        </p:nvSpPr>
        <p:spPr>
          <a:xfrm>
            <a:off x="777240" y="3575304"/>
            <a:ext cx="548640" cy="548640"/>
          </a:xfrm>
          <a:prstGeom prst="rect">
            <a:avLst/>
          </a:prstGeom>
          <a:noFill/>
          <a:ln/>
        </p:spPr>
        <p:txBody>
          <a:bodyPr wrap="square" lIns="0" tIns="0" rIns="0" bIns="0" rtlCol="0" anchor="ctr"/>
          <a:lstStyle/>
          <a:p>
            <a:pPr marL="0" indent="0" algn="ctr">
              <a:buNone/>
            </a:pPr>
            <a:r>
              <a:rPr lang="en-US" sz="1700" b="1" dirty="0">
                <a:solidFill>
                  <a:srgbClr val="C9962E"/>
                </a:solidFill>
                <a:latin typeface="Cambria" pitchFamily="34" charset="0"/>
                <a:ea typeface="Cambria" pitchFamily="34" charset="-122"/>
                <a:cs typeface="Cambria" pitchFamily="34" charset="-120"/>
              </a:rPr>
              <a:t>3</a:t>
            </a:r>
            <a:endParaRPr lang="en-US" sz="1700" dirty="0"/>
          </a:p>
        </p:txBody>
      </p:sp>
      <p:sp>
        <p:nvSpPr>
          <p:cNvPr id="15" name="Text 13"/>
          <p:cNvSpPr txBox="1"/>
          <p:nvPr/>
        </p:nvSpPr>
        <p:spPr>
          <a:xfrm>
            <a:off x="1508760" y="3429000"/>
            <a:ext cx="9966960" cy="841248"/>
          </a:xfrm>
          <a:prstGeom prst="rect">
            <a:avLst/>
          </a:prstGeom>
          <a:noFill/>
          <a:ln/>
        </p:spPr>
        <p:txBody>
          <a:bodyPr wrap="square" lIns="0" tIns="0" rIns="0" bIns="0" rtlCol="0" anchor="ctr"/>
          <a:lstStyle/>
          <a:p>
            <a:pPr marL="0" indent="0">
              <a:buNone/>
            </a:pPr>
            <a:r>
              <a:rPr lang="en-US" sz="1300" dirty="0">
                <a:solidFill>
                  <a:srgbClr val="2A1420"/>
                </a:solidFill>
                <a:latin typeface="Calibri" pitchFamily="34" charset="0"/>
                <a:ea typeface="Calibri" pitchFamily="34" charset="-122"/>
                <a:cs typeface="Calibri" pitchFamily="34" charset="-120"/>
              </a:rPr>
              <a:t>The crude marriage rate is simple but crude; general, age-specific, and SMAM measures correct for population-at-risk problems.</a:t>
            </a:r>
            <a:endParaRPr lang="en-US" sz="1300" dirty="0"/>
          </a:p>
        </p:txBody>
      </p:sp>
      <p:sp>
        <p:nvSpPr>
          <p:cNvPr id="16" name="Shape 14"/>
          <p:cNvSpPr/>
          <p:nvPr/>
        </p:nvSpPr>
        <p:spPr>
          <a:xfrm>
            <a:off x="548640" y="4343400"/>
            <a:ext cx="11109960" cy="841248"/>
          </a:xfrm>
          <a:prstGeom prst="roundRect">
            <a:avLst>
              <a:gd name="adj" fmla="val 8696"/>
            </a:avLst>
          </a:prstGeom>
          <a:solidFill>
            <a:srgbClr val="ECE2D0"/>
          </a:solidFill>
          <a:ln/>
        </p:spPr>
      </p:sp>
      <p:sp>
        <p:nvSpPr>
          <p:cNvPr id="17" name="Shape 15"/>
          <p:cNvSpPr/>
          <p:nvPr/>
        </p:nvSpPr>
        <p:spPr>
          <a:xfrm>
            <a:off x="777240" y="4489704"/>
            <a:ext cx="548640" cy="548640"/>
          </a:xfrm>
          <a:prstGeom prst="ellipse">
            <a:avLst/>
          </a:prstGeom>
          <a:solidFill>
            <a:srgbClr val="6D2E46"/>
          </a:solidFill>
          <a:ln/>
        </p:spPr>
      </p:sp>
      <p:sp>
        <p:nvSpPr>
          <p:cNvPr id="18" name="Text 16"/>
          <p:cNvSpPr txBox="1"/>
          <p:nvPr/>
        </p:nvSpPr>
        <p:spPr>
          <a:xfrm>
            <a:off x="777240" y="4489704"/>
            <a:ext cx="548640" cy="548640"/>
          </a:xfrm>
          <a:prstGeom prst="rect">
            <a:avLst/>
          </a:prstGeom>
          <a:noFill/>
          <a:ln/>
        </p:spPr>
        <p:txBody>
          <a:bodyPr wrap="square" lIns="0" tIns="0" rIns="0" bIns="0" rtlCol="0" anchor="ctr"/>
          <a:lstStyle/>
          <a:p>
            <a:pPr marL="0" indent="0" algn="ctr">
              <a:buNone/>
            </a:pPr>
            <a:r>
              <a:rPr lang="en-US" sz="1700" b="1" dirty="0">
                <a:solidFill>
                  <a:srgbClr val="C9962E"/>
                </a:solidFill>
                <a:latin typeface="Cambria" pitchFamily="34" charset="0"/>
                <a:ea typeface="Cambria" pitchFamily="34" charset="-122"/>
                <a:cs typeface="Cambria" pitchFamily="34" charset="-120"/>
              </a:rPr>
              <a:t>4</a:t>
            </a:r>
            <a:endParaRPr lang="en-US" sz="1700" dirty="0"/>
          </a:p>
        </p:txBody>
      </p:sp>
      <p:sp>
        <p:nvSpPr>
          <p:cNvPr id="19" name="Text 17"/>
          <p:cNvSpPr txBox="1"/>
          <p:nvPr/>
        </p:nvSpPr>
        <p:spPr>
          <a:xfrm>
            <a:off x="1508760" y="4343400"/>
            <a:ext cx="9966960" cy="841248"/>
          </a:xfrm>
          <a:prstGeom prst="rect">
            <a:avLst/>
          </a:prstGeom>
          <a:noFill/>
          <a:ln/>
        </p:spPr>
        <p:txBody>
          <a:bodyPr wrap="square" lIns="0" tIns="0" rIns="0" bIns="0" rtlCol="0" anchor="ctr"/>
          <a:lstStyle/>
          <a:p>
            <a:pPr marL="0" indent="0">
              <a:buNone/>
            </a:pPr>
            <a:r>
              <a:rPr lang="en-US" sz="1300" dirty="0">
                <a:solidFill>
                  <a:srgbClr val="2A1420"/>
                </a:solidFill>
                <a:latin typeface="Calibri" pitchFamily="34" charset="0"/>
                <a:ea typeface="Calibri" pitchFamily="34" charset="-122"/>
                <a:cs typeface="Calibri" pitchFamily="34" charset="-120"/>
              </a:rPr>
              <a:t>Cohabitation, delayed marriage, and one-person households are accelerating, real, and measurable global trends — not fringe cases, and they do not move in lockstep across countries (Group Work 1 &amp; 2).</a:t>
            </a:r>
            <a:endParaRPr lang="en-US" sz="1300" dirty="0"/>
          </a:p>
        </p:txBody>
      </p:sp>
      <p:sp>
        <p:nvSpPr>
          <p:cNvPr id="20" name="Shape 18"/>
          <p:cNvSpPr/>
          <p:nvPr/>
        </p:nvSpPr>
        <p:spPr>
          <a:xfrm>
            <a:off x="548640" y="5257800"/>
            <a:ext cx="11109960" cy="841248"/>
          </a:xfrm>
          <a:prstGeom prst="roundRect">
            <a:avLst>
              <a:gd name="adj" fmla="val 8696"/>
            </a:avLst>
          </a:prstGeom>
          <a:solidFill>
            <a:srgbClr val="F7F3EF"/>
          </a:solidFill>
          <a:ln/>
        </p:spPr>
      </p:sp>
      <p:sp>
        <p:nvSpPr>
          <p:cNvPr id="21" name="Shape 19"/>
          <p:cNvSpPr/>
          <p:nvPr/>
        </p:nvSpPr>
        <p:spPr>
          <a:xfrm>
            <a:off x="777240" y="5404104"/>
            <a:ext cx="548640" cy="548640"/>
          </a:xfrm>
          <a:prstGeom prst="ellipse">
            <a:avLst/>
          </a:prstGeom>
          <a:solidFill>
            <a:srgbClr val="6D2E46"/>
          </a:solidFill>
          <a:ln/>
        </p:spPr>
      </p:sp>
      <p:sp>
        <p:nvSpPr>
          <p:cNvPr id="22" name="Text 20"/>
          <p:cNvSpPr txBox="1"/>
          <p:nvPr/>
        </p:nvSpPr>
        <p:spPr>
          <a:xfrm>
            <a:off x="777240" y="5404104"/>
            <a:ext cx="548640" cy="548640"/>
          </a:xfrm>
          <a:prstGeom prst="rect">
            <a:avLst/>
          </a:prstGeom>
          <a:noFill/>
          <a:ln/>
        </p:spPr>
        <p:txBody>
          <a:bodyPr wrap="square" lIns="0" tIns="0" rIns="0" bIns="0" rtlCol="0" anchor="ctr"/>
          <a:lstStyle/>
          <a:p>
            <a:pPr marL="0" indent="0" algn="ctr">
              <a:buNone/>
            </a:pPr>
            <a:r>
              <a:rPr lang="en-US" sz="1700" b="1" dirty="0">
                <a:solidFill>
                  <a:srgbClr val="C9962E"/>
                </a:solidFill>
                <a:latin typeface="Cambria" pitchFamily="34" charset="0"/>
                <a:ea typeface="Cambria" pitchFamily="34" charset="-122"/>
                <a:cs typeface="Cambria" pitchFamily="34" charset="-120"/>
              </a:rPr>
              <a:t>5</a:t>
            </a:r>
            <a:endParaRPr lang="en-US" sz="1700" dirty="0"/>
          </a:p>
        </p:txBody>
      </p:sp>
      <p:sp>
        <p:nvSpPr>
          <p:cNvPr id="23" name="Text 21"/>
          <p:cNvSpPr txBox="1"/>
          <p:nvPr/>
        </p:nvSpPr>
        <p:spPr>
          <a:xfrm>
            <a:off x="1508760" y="5257800"/>
            <a:ext cx="9966960" cy="841248"/>
          </a:xfrm>
          <a:prstGeom prst="rect">
            <a:avLst/>
          </a:prstGeom>
          <a:noFill/>
          <a:ln/>
        </p:spPr>
        <p:txBody>
          <a:bodyPr wrap="square" lIns="0" tIns="0" rIns="0" bIns="0" rtlCol="0" anchor="ctr"/>
          <a:lstStyle/>
          <a:p>
            <a:pPr marL="0" indent="0">
              <a:buNone/>
            </a:pPr>
            <a:r>
              <a:rPr lang="en-US" sz="1300" dirty="0">
                <a:solidFill>
                  <a:srgbClr val="2A1420"/>
                </a:solidFill>
                <a:latin typeface="Calibri" pitchFamily="34" charset="0"/>
                <a:ea typeface="Calibri" pitchFamily="34" charset="-122"/>
                <a:cs typeface="Calibri" pitchFamily="34" charset="-120"/>
              </a:rPr>
              <a:t>Legal change (e.g., Thailand's 2025 Marriage Equality Act) and survey redesign (e.g., LGBTQ+ categories) directly reshape what demographic data can show.</a:t>
            </a:r>
            <a:endParaRPr lang="en-US" sz="1300" dirty="0"/>
          </a:p>
        </p:txBody>
      </p:sp>
      <p:sp>
        <p:nvSpPr>
          <p:cNvPr id="24" name="Text 22"/>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25" name="Text 23"/>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47 / 56</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REFERENCES</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References (1 of 3)</a:t>
            </a:r>
            <a:endParaRPr lang="en-US" sz="3000" dirty="0"/>
          </a:p>
        </p:txBody>
      </p:sp>
      <p:sp>
        <p:nvSpPr>
          <p:cNvPr id="4" name="Text 2"/>
          <p:cNvSpPr txBox="1"/>
          <p:nvPr/>
        </p:nvSpPr>
        <p:spPr>
          <a:xfrm>
            <a:off x="548640" y="1463040"/>
            <a:ext cx="11109960" cy="5029200"/>
          </a:xfrm>
          <a:prstGeom prst="rect">
            <a:avLst/>
          </a:prstGeom>
          <a:noFill/>
          <a:ln/>
        </p:spPr>
        <p:txBody>
          <a:bodyPr wrap="square" lIns="0" tIns="0" rIns="0" bIns="0" rtlCol="0" anchor="ctr"/>
          <a:lstStyle/>
          <a:p>
            <a:pPr marL="0" indent="0">
              <a:lnSpc>
                <a:spcPct val="108000"/>
              </a:lnSpc>
              <a:spcAft>
                <a:spcPts val="900"/>
              </a:spcAft>
              <a:buNone/>
            </a:pPr>
            <a:r>
              <a:rPr lang="en-US" sz="1150" dirty="0">
                <a:solidFill>
                  <a:srgbClr val="2A1420"/>
                </a:solidFill>
                <a:latin typeface="Calibri" pitchFamily="34" charset="0"/>
                <a:ea typeface="Calibri" pitchFamily="34" charset="-122"/>
                <a:cs typeface="Calibri" pitchFamily="34" charset="-120"/>
              </a:rPr>
              <a:t>Chulalongkorn Univ. College of Population Studies, in Bangkok Post. (2018, February 15). Wedding belles in steep decline, study says. https://www.bangkokpost.com/thailand/general/1412319/wedding-belles-in-steep-decline-study-says</a:t>
            </a:r>
            <a:endParaRPr lang="en-US" sz="1150" dirty="0"/>
          </a:p>
          <a:p>
            <a:pPr marL="0" indent="0">
              <a:lnSpc>
                <a:spcPct val="108000"/>
              </a:lnSpc>
              <a:spcAft>
                <a:spcPts val="900"/>
              </a:spcAft>
              <a:buNone/>
            </a:pPr>
            <a:r>
              <a:rPr lang="en-US" sz="1150" dirty="0">
                <a:solidFill>
                  <a:srgbClr val="2A1420"/>
                </a:solidFill>
                <a:latin typeface="Calibri" pitchFamily="34" charset="0"/>
                <a:ea typeface="Calibri" pitchFamily="34" charset="-122"/>
                <a:cs typeface="Calibri" pitchFamily="34" charset="-120"/>
              </a:rPr>
              <a:t>Department of Statistics Singapore. (2021). Census of Population 2020, Statistical Release 1: Demographic Characteristics, Education, Language and Religion. https://www.singstat.gov.sg</a:t>
            </a:r>
            <a:endParaRPr lang="en-US" sz="1150" dirty="0"/>
          </a:p>
          <a:p>
            <a:pPr marL="0" indent="0">
              <a:lnSpc>
                <a:spcPct val="108000"/>
              </a:lnSpc>
              <a:spcAft>
                <a:spcPts val="900"/>
              </a:spcAft>
              <a:buNone/>
            </a:pPr>
            <a:r>
              <a:rPr lang="en-US" sz="1150" dirty="0">
                <a:solidFill>
                  <a:srgbClr val="2A1420"/>
                </a:solidFill>
                <a:latin typeface="Calibri" pitchFamily="34" charset="0"/>
                <a:ea typeface="Calibri" pitchFamily="34" charset="-122"/>
                <a:cs typeface="Calibri" pitchFamily="34" charset="-120"/>
              </a:rPr>
              <a:t>Esteve, A., &amp; Reher, D. S. (2024). Trends in living arrangements around the world. Population and Development Review, 50(1), 211–232. https://doi.org/10.1111/padr.12603</a:t>
            </a:r>
            <a:endParaRPr lang="en-US" sz="1150" dirty="0"/>
          </a:p>
          <a:p>
            <a:pPr marL="0" indent="0">
              <a:lnSpc>
                <a:spcPct val="108000"/>
              </a:lnSpc>
              <a:spcAft>
                <a:spcPts val="900"/>
              </a:spcAft>
              <a:buNone/>
            </a:pPr>
            <a:r>
              <a:rPr lang="en-US" sz="1150" dirty="0">
                <a:solidFill>
                  <a:srgbClr val="2A1420"/>
                </a:solidFill>
                <a:latin typeface="Calibri" pitchFamily="34" charset="0"/>
                <a:ea typeface="Calibri" pitchFamily="34" charset="-122"/>
                <a:cs typeface="Calibri" pitchFamily="34" charset="-120"/>
              </a:rPr>
              <a:t>Euromonitor International. (2024). Households: Thailand [Market research report]. https://www.euromonitor.com/households-thailand/report</a:t>
            </a:r>
            <a:endParaRPr lang="en-US" sz="1150" dirty="0"/>
          </a:p>
          <a:p>
            <a:pPr marL="0" indent="0">
              <a:lnSpc>
                <a:spcPct val="108000"/>
              </a:lnSpc>
              <a:spcAft>
                <a:spcPts val="900"/>
              </a:spcAft>
              <a:buNone/>
            </a:pPr>
            <a:r>
              <a:rPr lang="en-US" sz="1150" dirty="0">
                <a:solidFill>
                  <a:srgbClr val="2A1420"/>
                </a:solidFill>
                <a:latin typeface="Calibri" pitchFamily="34" charset="0"/>
                <a:ea typeface="Calibri" pitchFamily="34" charset="-122"/>
                <a:cs typeface="Calibri" pitchFamily="34" charset="-120"/>
              </a:rPr>
              <a:t>Institute for Social Values and Diversity Studies (ISVD). (2025). Japan's 2025 births fall to 671,000 — 15 years ahead of projections, even as marriages rose. https://isvd.or.jp/en/columns/birthrate-2025-671k-acceleration</a:t>
            </a:r>
            <a:endParaRPr lang="en-US" sz="1150" dirty="0"/>
          </a:p>
          <a:p>
            <a:pPr marL="0" indent="0">
              <a:lnSpc>
                <a:spcPct val="108000"/>
              </a:lnSpc>
              <a:spcAft>
                <a:spcPts val="900"/>
              </a:spcAft>
              <a:buNone/>
            </a:pPr>
            <a:r>
              <a:rPr lang="en-US" sz="1150" dirty="0">
                <a:solidFill>
                  <a:srgbClr val="2A1420"/>
                </a:solidFill>
                <a:latin typeface="Calibri" pitchFamily="34" charset="0"/>
                <a:ea typeface="Calibri" pitchFamily="34" charset="-122"/>
                <a:cs typeface="Calibri" pitchFamily="34" charset="-120"/>
              </a:rPr>
              <a:t>Khaosod English. (2023, March 24). A decade of divorces in Thailand reaches 1.3 million partners. https://www.khaosodenglish.com/featured/2023/03/24/a-decade-of-divorces-in-thailand-reaches-1-3-million-partners/</a:t>
            </a:r>
            <a:endParaRPr lang="en-US" sz="1150" dirty="0"/>
          </a:p>
          <a:p>
            <a:pPr marL="0" indent="0">
              <a:lnSpc>
                <a:spcPct val="108000"/>
              </a:lnSpc>
              <a:spcAft>
                <a:spcPts val="900"/>
              </a:spcAft>
              <a:buNone/>
            </a:pPr>
            <a:r>
              <a:rPr lang="en-US" sz="1150" dirty="0">
                <a:solidFill>
                  <a:srgbClr val="2A1420"/>
                </a:solidFill>
                <a:latin typeface="Calibri" pitchFamily="34" charset="0"/>
                <a:ea typeface="Calibri" pitchFamily="34" charset="-122"/>
                <a:cs typeface="Calibri" pitchFamily="34" charset="-120"/>
              </a:rPr>
              <a:t>The Korea Herald. (2025). 30-year report shows marriages halved, births down two-thirds, foreign marital unions now 1 in 10. https://www.koreaherald.com/article/10567780</a:t>
            </a:r>
            <a:endParaRPr lang="en-US" sz="1150" dirty="0"/>
          </a:p>
          <a:p>
            <a:pPr marL="0" indent="0">
              <a:lnSpc>
                <a:spcPct val="108000"/>
              </a:lnSpc>
              <a:spcAft>
                <a:spcPts val="900"/>
              </a:spcAft>
              <a:buNone/>
            </a:pPr>
            <a:r>
              <a:rPr lang="en-US" sz="1150" dirty="0">
                <a:solidFill>
                  <a:srgbClr val="2A1420"/>
                </a:solidFill>
                <a:latin typeface="Calibri" pitchFamily="34" charset="0"/>
                <a:ea typeface="Calibri" pitchFamily="34" charset="-122"/>
                <a:cs typeface="Calibri" pitchFamily="34" charset="-120"/>
              </a:rPr>
              <a:t>Library of Congress, Global Legal Monitor. (2025). Thailand: Law recognizing same-sex marriage takes effect. https://www.loc.gov/item/global-legal-monitor/2025-03-18/thailand-law-recognizing-same-sex-marriage-takes-effect/</a:t>
            </a:r>
            <a:endParaRPr lang="en-US" sz="1150" dirty="0"/>
          </a:p>
        </p:txBody>
      </p:sp>
      <p:sp>
        <p:nvSpPr>
          <p:cNvPr id="5" name="Text 3"/>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6" name="Text 4"/>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48 / 56</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REFERENCES</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References (2 of 3)</a:t>
            </a:r>
            <a:endParaRPr lang="en-US" sz="3000" dirty="0"/>
          </a:p>
        </p:txBody>
      </p:sp>
      <p:sp>
        <p:nvSpPr>
          <p:cNvPr id="4" name="Text 2"/>
          <p:cNvSpPr txBox="1"/>
          <p:nvPr/>
        </p:nvSpPr>
        <p:spPr>
          <a:xfrm>
            <a:off x="548640" y="1463040"/>
            <a:ext cx="11109960" cy="5029200"/>
          </a:xfrm>
          <a:prstGeom prst="rect">
            <a:avLst/>
          </a:prstGeom>
          <a:noFill/>
          <a:ln/>
        </p:spPr>
        <p:txBody>
          <a:bodyPr wrap="square" lIns="0" tIns="0" rIns="0" bIns="0" rtlCol="0" anchor="ctr"/>
          <a:lstStyle/>
          <a:p>
            <a:pPr marL="0" indent="0">
              <a:lnSpc>
                <a:spcPct val="108000"/>
              </a:lnSpc>
              <a:spcAft>
                <a:spcPts val="900"/>
              </a:spcAft>
              <a:buNone/>
            </a:pPr>
            <a:r>
              <a:rPr lang="en-US" sz="1150" dirty="0">
                <a:solidFill>
                  <a:srgbClr val="2A1420"/>
                </a:solidFill>
                <a:latin typeface="Calibri" pitchFamily="34" charset="0"/>
                <a:ea typeface="Calibri" pitchFamily="34" charset="-122"/>
                <a:cs typeface="Calibri" pitchFamily="34" charset="-120"/>
              </a:rPr>
              <a:t>National Statistical Office of Thailand. (2023). Statistical yearbook Thailand 2023. https://www.nso.go.th/public/e-book/Statistical-Yearbook/SYB-2023/99/</a:t>
            </a:r>
            <a:endParaRPr lang="en-US" sz="1150" dirty="0"/>
          </a:p>
          <a:p>
            <a:pPr marL="0" indent="0">
              <a:lnSpc>
                <a:spcPct val="108000"/>
              </a:lnSpc>
              <a:spcAft>
                <a:spcPts val="900"/>
              </a:spcAft>
              <a:buNone/>
            </a:pPr>
            <a:r>
              <a:rPr lang="en-US" sz="1150" dirty="0">
                <a:solidFill>
                  <a:srgbClr val="2A1420"/>
                </a:solidFill>
                <a:latin typeface="Calibri" pitchFamily="34" charset="0"/>
                <a:ea typeface="Calibri" pitchFamily="34" charset="-122"/>
                <a:cs typeface="Calibri" pitchFamily="34" charset="-120"/>
              </a:rPr>
              <a:t>National Statistical Office of Thailand. (2025). Statistical yearbook Thailand 2025. https://www.nso.go.th/public/e-book/Statistical-Yearbook/SYB-2025/100/</a:t>
            </a:r>
            <a:endParaRPr lang="en-US" sz="1150" dirty="0"/>
          </a:p>
          <a:p>
            <a:pPr marL="0" indent="0">
              <a:lnSpc>
                <a:spcPct val="108000"/>
              </a:lnSpc>
              <a:spcAft>
                <a:spcPts val="900"/>
              </a:spcAft>
              <a:buNone/>
            </a:pPr>
            <a:r>
              <a:rPr lang="en-US" sz="1150" dirty="0">
                <a:solidFill>
                  <a:srgbClr val="2A1420"/>
                </a:solidFill>
                <a:latin typeface="Calibri" pitchFamily="34" charset="0"/>
                <a:ea typeface="Calibri" pitchFamily="34" charset="-122"/>
                <a:cs typeface="Calibri" pitchFamily="34" charset="-120"/>
              </a:rPr>
              <a:t>National Statistical Office of Thailand. (2025). Preliminary results of the 2025 Population and Housing Census. https://www.nationthailand.com/news/general/40061744</a:t>
            </a:r>
            <a:endParaRPr lang="en-US" sz="1150" dirty="0"/>
          </a:p>
          <a:p>
            <a:pPr marL="0" indent="0">
              <a:lnSpc>
                <a:spcPct val="108000"/>
              </a:lnSpc>
              <a:spcAft>
                <a:spcPts val="900"/>
              </a:spcAft>
              <a:buNone/>
            </a:pPr>
            <a:r>
              <a:rPr lang="en-US" sz="1150" dirty="0">
                <a:solidFill>
                  <a:srgbClr val="2A1420"/>
                </a:solidFill>
                <a:latin typeface="Calibri" pitchFamily="34" charset="0"/>
                <a:ea typeface="Calibri" pitchFamily="34" charset="-122"/>
                <a:cs typeface="Calibri" pitchFamily="34" charset="-120"/>
              </a:rPr>
              <a:t>OECD. (2024). Society at a glance 2024: Marriage and divorce. https://www.oecd.org/en/publications/society-at-a-glance-2024_918d8db3-en/full-report/marriage-and-divorce_63dd0a7d.html</a:t>
            </a:r>
            <a:endParaRPr lang="en-US" sz="1150" dirty="0"/>
          </a:p>
          <a:p>
            <a:pPr marL="0" indent="0">
              <a:lnSpc>
                <a:spcPct val="108000"/>
              </a:lnSpc>
              <a:spcAft>
                <a:spcPts val="900"/>
              </a:spcAft>
              <a:buNone/>
            </a:pPr>
            <a:r>
              <a:rPr lang="en-US" sz="1150" dirty="0">
                <a:solidFill>
                  <a:srgbClr val="2A1420"/>
                </a:solidFill>
                <a:latin typeface="Calibri" pitchFamily="34" charset="0"/>
                <a:ea typeface="Calibri" pitchFamily="34" charset="-122"/>
                <a:cs typeface="Calibri" pitchFamily="34" charset="-120"/>
              </a:rPr>
              <a:t>Our World in Data. (2024). Marriages and divorces. https://ourworldindata.org/marriages-and-divorces</a:t>
            </a:r>
            <a:endParaRPr lang="en-US" sz="1150" dirty="0"/>
          </a:p>
          <a:p>
            <a:pPr marL="0" indent="0">
              <a:lnSpc>
                <a:spcPct val="108000"/>
              </a:lnSpc>
              <a:spcAft>
                <a:spcPts val="900"/>
              </a:spcAft>
              <a:buNone/>
            </a:pPr>
            <a:r>
              <a:rPr lang="en-US" sz="1150" dirty="0">
                <a:solidFill>
                  <a:srgbClr val="2A1420"/>
                </a:solidFill>
                <a:latin typeface="Calibri" pitchFamily="34" charset="0"/>
                <a:ea typeface="Calibri" pitchFamily="34" charset="-122"/>
                <a:cs typeface="Calibri" pitchFamily="34" charset="-120"/>
              </a:rPr>
              <a:t>Pothisiri, W., Teerawichitchainan, B., &amp; Kaewbuadee, N. (2024). Remarriage in Thailand: A study of emerging trends, correlates, and implications for women's well-being. Journal of Family Issues, 45(9). https://doi.org/10.1177/0192513X231155659</a:t>
            </a:r>
            <a:endParaRPr lang="en-US" sz="1150" dirty="0"/>
          </a:p>
          <a:p>
            <a:pPr marL="0" indent="0">
              <a:lnSpc>
                <a:spcPct val="108000"/>
              </a:lnSpc>
              <a:spcAft>
                <a:spcPts val="900"/>
              </a:spcAft>
              <a:buNone/>
            </a:pPr>
            <a:r>
              <a:rPr lang="en-US" sz="1150" dirty="0">
                <a:solidFill>
                  <a:srgbClr val="2A1420"/>
                </a:solidFill>
                <a:latin typeface="Calibri" pitchFamily="34" charset="0"/>
                <a:ea typeface="Calibri" pitchFamily="34" charset="-122"/>
                <a:cs typeface="Calibri" pitchFamily="34" charset="-120"/>
              </a:rPr>
              <a:t>Statista. (2024). Thailand: Number of registered divorces 2023. https://www.statista.com/statistics/1107934/thailand-number-of-registered-divorces/</a:t>
            </a:r>
            <a:endParaRPr lang="en-US" sz="1150" dirty="0"/>
          </a:p>
          <a:p>
            <a:pPr marL="0" indent="0">
              <a:lnSpc>
                <a:spcPct val="108000"/>
              </a:lnSpc>
              <a:spcAft>
                <a:spcPts val="900"/>
              </a:spcAft>
              <a:buNone/>
            </a:pPr>
            <a:r>
              <a:rPr lang="en-US" sz="1150" dirty="0">
                <a:solidFill>
                  <a:srgbClr val="2A1420"/>
                </a:solidFill>
                <a:latin typeface="Calibri" pitchFamily="34" charset="0"/>
                <a:ea typeface="Calibri" pitchFamily="34" charset="-122"/>
                <a:cs typeface="Calibri" pitchFamily="34" charset="-120"/>
              </a:rPr>
              <a:t>Statistics Korea (KOSTAT). (2025). Marriage and divorce statistics 2024. https://kostat.go.kr</a:t>
            </a:r>
            <a:endParaRPr lang="en-US" sz="1150" dirty="0"/>
          </a:p>
        </p:txBody>
      </p:sp>
      <p:sp>
        <p:nvSpPr>
          <p:cNvPr id="5" name="Text 3"/>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6" name="Text 4"/>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49 / 56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REFERENCES</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References (3 of 3)</a:t>
            </a:r>
            <a:endParaRPr lang="en-US" sz="3000" dirty="0"/>
          </a:p>
        </p:txBody>
      </p:sp>
      <p:sp>
        <p:nvSpPr>
          <p:cNvPr id="4" name="Text 2"/>
          <p:cNvSpPr txBox="1"/>
          <p:nvPr/>
        </p:nvSpPr>
        <p:spPr>
          <a:xfrm>
            <a:off x="548640" y="1463040"/>
            <a:ext cx="11109960" cy="5029200"/>
          </a:xfrm>
          <a:prstGeom prst="rect">
            <a:avLst/>
          </a:prstGeom>
          <a:noFill/>
          <a:ln/>
        </p:spPr>
        <p:txBody>
          <a:bodyPr wrap="square" lIns="0" tIns="0" rIns="0" bIns="0" rtlCol="0" anchor="ctr"/>
          <a:lstStyle/>
          <a:p>
            <a:pPr marL="0" indent="0">
              <a:lnSpc>
                <a:spcPct val="108000"/>
              </a:lnSpc>
              <a:spcAft>
                <a:spcPts val="900"/>
              </a:spcAft>
              <a:buNone/>
            </a:pPr>
            <a:r>
              <a:rPr lang="en-US" sz="1150" dirty="0">
                <a:solidFill>
                  <a:srgbClr val="2A1420"/>
                </a:solidFill>
                <a:latin typeface="Calibri" pitchFamily="34" charset="0"/>
                <a:ea typeface="Calibri" pitchFamily="34" charset="-122"/>
                <a:cs typeface="Calibri" pitchFamily="34" charset="-120"/>
              </a:rPr>
              <a:t>UN Human Rights Office, Regional Office for South-East Asia. (2025). Thailand: UN Human Rights Office welcomes enactment of historic marriage equality law. https://bangkok.ohchr.org/news/2025/thailand-un-human-rights-office-welcomes-enactment-historic-marriage-equality-law</a:t>
            </a:r>
            <a:endParaRPr lang="en-US" sz="1150" dirty="0"/>
          </a:p>
          <a:p>
            <a:pPr marL="0" indent="0">
              <a:lnSpc>
                <a:spcPct val="108000"/>
              </a:lnSpc>
              <a:spcAft>
                <a:spcPts val="900"/>
              </a:spcAft>
              <a:buNone/>
            </a:pPr>
            <a:r>
              <a:rPr lang="en-US" sz="1150" dirty="0">
                <a:solidFill>
                  <a:srgbClr val="2A1420"/>
                </a:solidFill>
                <a:latin typeface="Calibri" pitchFamily="34" charset="0"/>
                <a:ea typeface="Calibri" pitchFamily="34" charset="-122"/>
                <a:cs typeface="Calibri" pitchFamily="34" charset="-120"/>
              </a:rPr>
              <a:t>UNICEF. (2024). Child marriage [Data set]. UNICEF Data. https://data.unicef.org/topic/child-protection/child-marriage/</a:t>
            </a:r>
            <a:endParaRPr lang="en-US" sz="1150" dirty="0"/>
          </a:p>
          <a:p>
            <a:pPr marL="0" indent="0">
              <a:lnSpc>
                <a:spcPct val="108000"/>
              </a:lnSpc>
              <a:spcAft>
                <a:spcPts val="900"/>
              </a:spcAft>
              <a:buNone/>
            </a:pPr>
            <a:r>
              <a:rPr lang="en-US" sz="1150" dirty="0">
                <a:solidFill>
                  <a:srgbClr val="2A1420"/>
                </a:solidFill>
                <a:latin typeface="Calibri" pitchFamily="34" charset="0"/>
                <a:ea typeface="Calibri" pitchFamily="34" charset="-122"/>
                <a:cs typeface="Calibri" pitchFamily="34" charset="-120"/>
              </a:rPr>
              <a:t>U.S. Census Bureau. (2025, December 2). Families and living arrangements: 2025 [Press release]. https://www.census.gov/newsroom/press-releases/2025/families-and-living-arrangements.html</a:t>
            </a:r>
            <a:endParaRPr lang="en-US" sz="1150" dirty="0"/>
          </a:p>
          <a:p>
            <a:pPr marL="0" indent="0">
              <a:lnSpc>
                <a:spcPct val="108000"/>
              </a:lnSpc>
              <a:spcAft>
                <a:spcPts val="900"/>
              </a:spcAft>
              <a:buNone/>
            </a:pPr>
            <a:r>
              <a:rPr lang="en-US" sz="1150" dirty="0">
                <a:solidFill>
                  <a:srgbClr val="2A1420"/>
                </a:solidFill>
                <a:latin typeface="Calibri" pitchFamily="34" charset="0"/>
                <a:ea typeface="Calibri" pitchFamily="34" charset="-122"/>
                <a:cs typeface="Calibri" pitchFamily="34" charset="-120"/>
              </a:rPr>
              <a:t>U.S. Census Bureau. (2026, April). More female than male same-sex couple households in the United States in 2024. https://www.census.gov/library/stories/2026/04/same-sex-couples.html</a:t>
            </a:r>
            <a:endParaRPr lang="en-US" sz="1150" dirty="0"/>
          </a:p>
          <a:p>
            <a:pPr marL="0" indent="0">
              <a:lnSpc>
                <a:spcPct val="108000"/>
              </a:lnSpc>
              <a:spcAft>
                <a:spcPts val="900"/>
              </a:spcAft>
              <a:buNone/>
            </a:pPr>
            <a:r>
              <a:rPr lang="en-US" sz="1150" dirty="0">
                <a:solidFill>
                  <a:srgbClr val="2A1420"/>
                </a:solidFill>
                <a:latin typeface="Calibri" pitchFamily="34" charset="0"/>
                <a:ea typeface="Calibri" pitchFamily="34" charset="-122"/>
                <a:cs typeface="Calibri" pitchFamily="34" charset="-120"/>
              </a:rPr>
              <a:t>Statistics Bureau of Japan / Ministry of Health, Labour and Welfare. (2025). Vital statistics of Japan 2024. https://www.mhlw.go.jp</a:t>
            </a:r>
            <a:endParaRPr lang="en-US" sz="1150" dirty="0"/>
          </a:p>
        </p:txBody>
      </p:sp>
      <p:sp>
        <p:nvSpPr>
          <p:cNvPr id="5" name="Text 3"/>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6" name="Text 4"/>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50 / 56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51">
    <p:bg>
      <p:bgPr>
        <a:solidFill>
          <a:srgbClr val="4A1E30"/>
        </a:solidFill>
        <a:effectLst/>
      </p:bgPr>
    </p:bg>
    <p:spTree>
      <p:nvGrpSpPr>
        <p:cNvPr id="1" name=""/>
        <p:cNvGrpSpPr/>
        <p:nvPr/>
      </p:nvGrpSpPr>
      <p:grpSpPr>
        <a:xfrm>
          <a:off x="0" y="0"/>
          <a:ext cx="0" cy="0"/>
          <a:chOff x="0" y="0"/>
          <a:chExt cx="0" cy="0"/>
        </a:xfrm>
      </p:grpSpPr>
      <p:sp>
        <p:nvSpPr>
          <p:cNvPr id="2" name="Shape 0"/>
          <p:cNvSpPr/>
          <p:nvPr/>
        </p:nvSpPr>
        <p:spPr>
          <a:xfrm>
            <a:off x="8412480" y="-1371600"/>
            <a:ext cx="5486400" cy="5486400"/>
          </a:xfrm>
          <a:prstGeom prst="ellipse">
            <a:avLst/>
          </a:prstGeom>
          <a:solidFill>
            <a:srgbClr val="6D2E46">
              <a:alpha val="55000"/>
            </a:srgbClr>
          </a:solidFill>
          <a:ln/>
        </p:spPr>
      </p:sp>
      <p:sp>
        <p:nvSpPr>
          <p:cNvPr id="3" name="Shape 1"/>
          <p:cNvSpPr/>
          <p:nvPr/>
        </p:nvSpPr>
        <p:spPr>
          <a:xfrm>
            <a:off x="685800" y="2331720"/>
            <a:ext cx="1371600" cy="1371600"/>
          </a:xfrm>
          <a:prstGeom prst="ellipse">
            <a:avLst/>
          </a:prstGeom>
          <a:solidFill>
            <a:srgbClr val="C9962E"/>
          </a:solidFill>
          <a:ln/>
        </p:spPr>
      </p:sp>
      <p:pic>
        <p:nvPicPr>
          <p:cNvPr id="4" name="Image 0" descr="/sessions/blissful-modest-newton/work/build/icons/checklist.png"/>
          <p:cNvPicPr>
            <a:picLocks noChangeAspect="1"/>
          </p:cNvPicPr>
          <p:nvPr/>
        </p:nvPicPr>
        <p:blipFill>
          <a:blip r:embed="rId3"/>
          <a:stretch>
            <a:fillRect/>
          </a:stretch>
        </p:blipFill>
        <p:spPr>
          <a:xfrm>
            <a:off x="994410" y="2640330"/>
            <a:ext cx="754380" cy="754380"/>
          </a:xfrm>
          <a:prstGeom prst="rect">
            <a:avLst/>
          </a:prstGeom>
        </p:spPr>
      </p:pic>
      <p:sp>
        <p:nvSpPr>
          <p:cNvPr id="5" name="Text 2"/>
          <p:cNvSpPr txBox="1"/>
          <p:nvPr/>
        </p:nvSpPr>
        <p:spPr>
          <a:xfrm>
            <a:off x="685800" y="3840480"/>
            <a:ext cx="9144000" cy="365760"/>
          </a:xfrm>
          <a:prstGeom prst="rect">
            <a:avLst/>
          </a:prstGeom>
          <a:noFill/>
          <a:ln/>
        </p:spPr>
        <p:txBody>
          <a:bodyPr wrap="square" lIns="0" tIns="0" rIns="0" bIns="0" rtlCol="0" anchor="ctr"/>
          <a:lstStyle/>
          <a:p>
            <a:pPr marL="0" indent="0">
              <a:buNone/>
            </a:pPr>
            <a:r>
              <a:rPr lang="en-US" sz="1500" b="1" kern="0" spc="200" dirty="0">
                <a:solidFill>
                  <a:srgbClr val="C9962E"/>
                </a:solidFill>
                <a:latin typeface="Calibri" pitchFamily="34" charset="0"/>
                <a:ea typeface="Calibri" pitchFamily="34" charset="-122"/>
                <a:cs typeface="Calibri" pitchFamily="34" charset="-120"/>
              </a:rPr>
              <a:t>BLOCK P</a:t>
            </a:r>
            <a:endParaRPr lang="en-US" sz="1500" dirty="0"/>
          </a:p>
        </p:txBody>
      </p:sp>
      <p:sp>
        <p:nvSpPr>
          <p:cNvPr id="6" name="Text 3"/>
          <p:cNvSpPr txBox="1"/>
          <p:nvPr/>
        </p:nvSpPr>
        <p:spPr>
          <a:xfrm>
            <a:off x="685800" y="4187952"/>
            <a:ext cx="10058400" cy="9144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Practice Exercises</a:t>
            </a:r>
            <a:endParaRPr lang="en-US" sz="3400" dirty="0"/>
          </a:p>
        </p:txBody>
      </p:sp>
      <p:sp>
        <p:nvSpPr>
          <p:cNvPr id="7" name="Text 4"/>
          <p:cNvSpPr txBox="1"/>
          <p:nvPr/>
        </p:nvSpPr>
        <p:spPr>
          <a:xfrm>
            <a:off x="685800" y="5074920"/>
            <a:ext cx="9692640" cy="822960"/>
          </a:xfrm>
          <a:prstGeom prst="rect">
            <a:avLst/>
          </a:prstGeom>
          <a:noFill/>
          <a:ln/>
        </p:spPr>
        <p:txBody>
          <a:bodyPr wrap="square" lIns="0" tIns="0" rIns="0" bIns="0" rtlCol="0" anchor="ctr"/>
          <a:lstStyle/>
          <a:p>
            <a:pPr marL="0" indent="0">
              <a:buNone/>
            </a:pPr>
            <a:r>
              <a:rPr lang="en-US" sz="1500" i="1" dirty="0">
                <a:solidFill>
                  <a:srgbClr val="D9C9CE"/>
                </a:solidFill>
                <a:latin typeface="Calibri" pitchFamily="34" charset="0"/>
                <a:ea typeface="Calibri" pitchFamily="34" charset="-122"/>
                <a:cs typeface="Calibri" pitchFamily="34" charset="-120"/>
              </a:rPr>
              <a:t>18 conceptual, calculation, and applied exercises across four slides — attempt individually, then review with a classmate.</a:t>
            </a:r>
            <a:endParaRPr lang="en-US" sz="1500" dirty="0"/>
          </a:p>
        </p:txBody>
      </p:sp>
      <p:sp>
        <p:nvSpPr>
          <p:cNvPr id="8" name="Text 5"/>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D9C9CE"/>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9" name="Text 6"/>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D9C9CE"/>
                </a:solidFill>
                <a:latin typeface="Calibri" pitchFamily="34" charset="0"/>
                <a:ea typeface="Calibri" pitchFamily="34" charset="-122"/>
                <a:cs typeface="Calibri" pitchFamily="34" charset="-120"/>
              </a:rPr>
              <a:t>51 / 56</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CONSOLIDATE TODAY'S LEARNING</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Practice Exercises (1 of 4) · Conceptual</a:t>
            </a:r>
            <a:endParaRPr lang="en-US" sz="3000" dirty="0"/>
          </a:p>
        </p:txBody>
      </p:sp>
      <p:sp>
        <p:nvSpPr>
          <p:cNvPr id="4" name="Text 2"/>
          <p:cNvSpPr txBox="1"/>
          <p:nvPr/>
        </p:nvSpPr>
        <p:spPr>
          <a:xfrm>
            <a:off x="548640" y="1417320"/>
            <a:ext cx="11109960" cy="4892040"/>
          </a:xfrm>
          <a:prstGeom prst="rect">
            <a:avLst/>
          </a:prstGeom>
          <a:noFill/>
          <a:ln/>
        </p:spPr>
        <p:txBody>
          <a:bodyPr wrap="square" lIns="0" tIns="0" rIns="0" bIns="0" rtlCol="0" anchor="ctr"/>
          <a:lstStyle/>
          <a:p>
            <a:pPr marL="0" indent="0">
              <a:lnSpc>
                <a:spcPct val="115000"/>
              </a:lnSpc>
              <a:spcAft>
                <a:spcPts val="1300"/>
              </a:spcAft>
              <a:buNone/>
            </a:pPr>
            <a:r>
              <a:rPr lang="en-US" sz="1450" dirty="0">
                <a:solidFill>
                  <a:srgbClr val="2A1420"/>
                </a:solidFill>
                <a:latin typeface="Calibri" pitchFamily="34" charset="0"/>
                <a:ea typeface="Calibri" pitchFamily="34" charset="-122"/>
                <a:cs typeface="Calibri" pitchFamily="34" charset="-120"/>
              </a:rPr>
              <a:t>1. Define “household” and “family” and give one real-world example where a person belongs to a household but not a family living with them.</a:t>
            </a:r>
            <a:endParaRPr lang="en-US" sz="1450" dirty="0"/>
          </a:p>
          <a:p>
            <a:pPr marL="0" indent="0">
              <a:lnSpc>
                <a:spcPct val="115000"/>
              </a:lnSpc>
              <a:spcAft>
                <a:spcPts val="1300"/>
              </a:spcAft>
              <a:buNone/>
            </a:pPr>
            <a:r>
              <a:rPr lang="en-US" sz="1450" dirty="0">
                <a:solidFill>
                  <a:srgbClr val="2A1420"/>
                </a:solidFill>
                <a:latin typeface="Calibri" pitchFamily="34" charset="0"/>
                <a:ea typeface="Calibri" pitchFamily="34" charset="-122"/>
                <a:cs typeface="Calibri" pitchFamily="34" charset="-120"/>
              </a:rPr>
              <a:t>2. A census counts a live-in domestic worker as part of the household but not the family. Explain the statistical logic.</a:t>
            </a:r>
            <a:endParaRPr lang="en-US" sz="1450" dirty="0"/>
          </a:p>
          <a:p>
            <a:pPr marL="0" indent="0">
              <a:lnSpc>
                <a:spcPct val="115000"/>
              </a:lnSpc>
              <a:spcAft>
                <a:spcPts val="1300"/>
              </a:spcAft>
              <a:buNone/>
            </a:pPr>
            <a:r>
              <a:rPr lang="en-US" sz="1450" dirty="0">
                <a:solidFill>
                  <a:srgbClr val="2A1420"/>
                </a:solidFill>
                <a:latin typeface="Calibri" pitchFamily="34" charset="0"/>
                <a:ea typeface="Calibri" pitchFamily="34" charset="-122"/>
                <a:cs typeface="Calibri" pitchFamily="34" charset="-120"/>
              </a:rPr>
              <a:t>3. List three living-arrangement stages a typical person passes through between age 18 and age 60, in order.</a:t>
            </a:r>
            <a:endParaRPr lang="en-US" sz="1450" dirty="0"/>
          </a:p>
          <a:p>
            <a:pPr marL="0" indent="0">
              <a:lnSpc>
                <a:spcPct val="115000"/>
              </a:lnSpc>
              <a:spcAft>
                <a:spcPts val="1300"/>
              </a:spcAft>
              <a:buNone/>
            </a:pPr>
            <a:r>
              <a:rPr lang="en-US" sz="1450" dirty="0">
                <a:solidFill>
                  <a:srgbClr val="2A1420"/>
                </a:solidFill>
                <a:latin typeface="Calibri" pitchFamily="34" charset="0"/>
                <a:ea typeface="Calibri" pitchFamily="34" charset="-122"/>
                <a:cs typeface="Calibri" pitchFamily="34" charset="-120"/>
              </a:rPr>
              <a:t>4. Define “ever-married” and explain why it is the complement of “never-married.”</a:t>
            </a:r>
            <a:endParaRPr lang="en-US" sz="1450" dirty="0"/>
          </a:p>
          <a:p>
            <a:pPr marL="0" indent="0">
              <a:lnSpc>
                <a:spcPct val="115000"/>
              </a:lnSpc>
              <a:spcAft>
                <a:spcPts val="1300"/>
              </a:spcAft>
              <a:buNone/>
            </a:pPr>
            <a:r>
              <a:rPr lang="en-US" sz="1450" dirty="0">
                <a:solidFill>
                  <a:srgbClr val="2A1420"/>
                </a:solidFill>
                <a:latin typeface="Calibri" pitchFamily="34" charset="0"/>
                <a:ea typeface="Calibri" pitchFamily="34" charset="-122"/>
                <a:cs typeface="Calibri" pitchFamily="34" charset="-120"/>
              </a:rPr>
              <a:t>5. Explain why “unmarried/nonmarried” combines never-married, divorced, and widowed persons. When is this grouping analytically useful?</a:t>
            </a:r>
            <a:endParaRPr lang="en-US" sz="1450" dirty="0"/>
          </a:p>
        </p:txBody>
      </p:sp>
      <p:sp>
        <p:nvSpPr>
          <p:cNvPr id="5" name="Text 3"/>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6" name="Text 4"/>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52 / 56</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CONSOLIDATE TODAY'S LEARNING</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Practice Exercises (2 of 4) · Calculation</a:t>
            </a:r>
            <a:endParaRPr lang="en-US" sz="3000" dirty="0"/>
          </a:p>
        </p:txBody>
      </p:sp>
      <p:sp>
        <p:nvSpPr>
          <p:cNvPr id="4" name="Text 2"/>
          <p:cNvSpPr txBox="1"/>
          <p:nvPr/>
        </p:nvSpPr>
        <p:spPr>
          <a:xfrm>
            <a:off x="548640" y="1417320"/>
            <a:ext cx="11109960" cy="4892040"/>
          </a:xfrm>
          <a:prstGeom prst="rect">
            <a:avLst/>
          </a:prstGeom>
          <a:noFill/>
          <a:ln/>
        </p:spPr>
        <p:txBody>
          <a:bodyPr wrap="square" lIns="0" tIns="0" rIns="0" bIns="0" rtlCol="0" anchor="ctr"/>
          <a:lstStyle/>
          <a:p>
            <a:pPr marL="0" indent="0">
              <a:lnSpc>
                <a:spcPct val="115000"/>
              </a:lnSpc>
              <a:spcAft>
                <a:spcPts val="1300"/>
              </a:spcAft>
              <a:buNone/>
            </a:pPr>
            <a:r>
              <a:rPr lang="en-US" sz="1450" dirty="0">
                <a:solidFill>
                  <a:srgbClr val="2A1420"/>
                </a:solidFill>
                <a:latin typeface="Calibri" pitchFamily="34" charset="0"/>
                <a:ea typeface="Calibri" pitchFamily="34" charset="-122"/>
                <a:cs typeface="Calibri" pitchFamily="34" charset="-120"/>
              </a:rPr>
              <a:t>6. A district registers 1,850 marriages in a year. Mid-year population is 612,000. Compute the crude marriage rate.</a:t>
            </a:r>
            <a:endParaRPr lang="en-US" sz="1450" dirty="0"/>
          </a:p>
          <a:p>
            <a:pPr marL="0" indent="0">
              <a:lnSpc>
                <a:spcPct val="115000"/>
              </a:lnSpc>
              <a:spcAft>
                <a:spcPts val="1300"/>
              </a:spcAft>
              <a:buNone/>
            </a:pPr>
            <a:r>
              <a:rPr lang="en-US" sz="1450" dirty="0">
                <a:solidFill>
                  <a:srgbClr val="2A1420"/>
                </a:solidFill>
                <a:latin typeface="Calibri" pitchFamily="34" charset="0"/>
                <a:ea typeface="Calibri" pitchFamily="34" charset="-122"/>
                <a:cs typeface="Calibri" pitchFamily="34" charset="-120"/>
              </a:rPr>
              <a:t>7. Using the district in Q6, if the unmarried population aged 15+ is 198,000, compute the general marriage rate. Compare it to the CMR and explain the gap.</a:t>
            </a:r>
            <a:endParaRPr lang="en-US" sz="1450" dirty="0"/>
          </a:p>
          <a:p>
            <a:pPr marL="0" indent="0">
              <a:lnSpc>
                <a:spcPct val="115000"/>
              </a:lnSpc>
              <a:spcAft>
                <a:spcPts val="1300"/>
              </a:spcAft>
              <a:buNone/>
            </a:pPr>
            <a:r>
              <a:rPr lang="en-US" sz="1450" dirty="0">
                <a:solidFill>
                  <a:srgbClr val="2A1420"/>
                </a:solidFill>
                <a:latin typeface="Calibri" pitchFamily="34" charset="0"/>
                <a:ea typeface="Calibri" pitchFamily="34" charset="-122"/>
                <a:cs typeface="Calibri" pitchFamily="34" charset="-120"/>
              </a:rPr>
              <a:t>8. Explain one weakness of the crude marriage rate as a comparative measure across two countries with very different age structures.</a:t>
            </a:r>
            <a:endParaRPr lang="en-US" sz="1450" dirty="0"/>
          </a:p>
          <a:p>
            <a:pPr marL="0" indent="0">
              <a:lnSpc>
                <a:spcPct val="115000"/>
              </a:lnSpc>
              <a:spcAft>
                <a:spcPts val="1300"/>
              </a:spcAft>
              <a:buNone/>
            </a:pPr>
            <a:r>
              <a:rPr lang="en-US" sz="1450" dirty="0">
                <a:solidFill>
                  <a:srgbClr val="2A1420"/>
                </a:solidFill>
                <a:latin typeface="Calibri" pitchFamily="34" charset="0"/>
                <a:ea typeface="Calibri" pitchFamily="34" charset="-122"/>
                <a:cs typeface="Calibri" pitchFamily="34" charset="-120"/>
              </a:rPr>
              <a:t>9. Describe the difference between age-specific marriage rate (ASMR) and singulate mean age at marriage (SMAM). When would you use each?</a:t>
            </a:r>
            <a:endParaRPr lang="en-US" sz="1450" dirty="0"/>
          </a:p>
          <a:p>
            <a:pPr marL="0" indent="0">
              <a:lnSpc>
                <a:spcPct val="115000"/>
              </a:lnSpc>
              <a:spcAft>
                <a:spcPts val="1300"/>
              </a:spcAft>
              <a:buNone/>
            </a:pPr>
            <a:r>
              <a:rPr lang="en-US" sz="1450" dirty="0">
                <a:solidFill>
                  <a:srgbClr val="2A1420"/>
                </a:solidFill>
                <a:latin typeface="Calibri" pitchFamily="34" charset="0"/>
                <a:ea typeface="Calibri" pitchFamily="34" charset="-122"/>
                <a:cs typeface="Calibri" pitchFamily="34" charset="-120"/>
              </a:rPr>
              <a:t>10. What is a “total first marriage rate,” and how is it conceptually similar to the total fertility rate?</a:t>
            </a:r>
            <a:endParaRPr lang="en-US" sz="1450" dirty="0"/>
          </a:p>
        </p:txBody>
      </p:sp>
      <p:sp>
        <p:nvSpPr>
          <p:cNvPr id="5" name="Text 3"/>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6" name="Text 4"/>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53 / 56</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CONSOLIDATE TODAY'S LEARNING</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Practice Exercises (3 of 4) · Applied</a:t>
            </a:r>
            <a:endParaRPr lang="en-US" sz="3000" dirty="0"/>
          </a:p>
        </p:txBody>
      </p:sp>
      <p:sp>
        <p:nvSpPr>
          <p:cNvPr id="4" name="Text 2"/>
          <p:cNvSpPr txBox="1"/>
          <p:nvPr/>
        </p:nvSpPr>
        <p:spPr>
          <a:xfrm>
            <a:off x="548640" y="1417320"/>
            <a:ext cx="11109960" cy="4892040"/>
          </a:xfrm>
          <a:prstGeom prst="rect">
            <a:avLst/>
          </a:prstGeom>
          <a:noFill/>
          <a:ln/>
        </p:spPr>
        <p:txBody>
          <a:bodyPr wrap="square" lIns="0" tIns="0" rIns="0" bIns="0" rtlCol="0" anchor="ctr"/>
          <a:lstStyle/>
          <a:p>
            <a:pPr marL="0" indent="0">
              <a:lnSpc>
                <a:spcPct val="115000"/>
              </a:lnSpc>
              <a:spcAft>
                <a:spcPts val="1300"/>
              </a:spcAft>
              <a:buNone/>
            </a:pPr>
            <a:r>
              <a:rPr lang="en-US" sz="1450" dirty="0">
                <a:solidFill>
                  <a:srgbClr val="2A1420"/>
                </a:solidFill>
                <a:latin typeface="Calibri" pitchFamily="34" charset="0"/>
                <a:ea typeface="Calibri" pitchFamily="34" charset="-122"/>
                <a:cs typeface="Calibri" pitchFamily="34" charset="-120"/>
              </a:rPr>
              <a:t>11. Summarize, in two sentences, why cohabitation is described as a “frontier” in Northern/Central Europe but not (yet) in most of Asia.</a:t>
            </a:r>
            <a:endParaRPr lang="en-US" sz="1450" dirty="0"/>
          </a:p>
          <a:p>
            <a:pPr marL="0" indent="0">
              <a:lnSpc>
                <a:spcPct val="115000"/>
              </a:lnSpc>
              <a:spcAft>
                <a:spcPts val="1300"/>
              </a:spcAft>
              <a:buNone/>
            </a:pPr>
            <a:r>
              <a:rPr lang="en-US" sz="1450" dirty="0">
                <a:solidFill>
                  <a:srgbClr val="2A1420"/>
                </a:solidFill>
                <a:latin typeface="Calibri" pitchFamily="34" charset="0"/>
                <a:ea typeface="Calibri" pitchFamily="34" charset="-122"/>
                <a:cs typeface="Calibri" pitchFamily="34" charset="-120"/>
              </a:rPr>
              <a:t>12. Using the Thailand marriage-registration data (2022-2024) from this session, calculate the percentage decline from 2022 to 2024.</a:t>
            </a:r>
            <a:endParaRPr lang="en-US" sz="1450" dirty="0"/>
          </a:p>
          <a:p>
            <a:pPr marL="0" indent="0">
              <a:lnSpc>
                <a:spcPct val="115000"/>
              </a:lnSpc>
              <a:spcAft>
                <a:spcPts val="1300"/>
              </a:spcAft>
              <a:buNone/>
            </a:pPr>
            <a:r>
              <a:rPr lang="en-US" sz="1450" dirty="0">
                <a:solidFill>
                  <a:srgbClr val="2A1420"/>
                </a:solidFill>
                <a:latin typeface="Calibri" pitchFamily="34" charset="0"/>
                <a:ea typeface="Calibri" pitchFamily="34" charset="-122"/>
                <a:cs typeface="Calibri" pitchFamily="34" charset="-120"/>
              </a:rPr>
              <a:t>13. Explain how Thailand's 2025 Marriage Equality Act could create a discontinuity in a time series of the crude marriage rate. How would you flag this for data users?</a:t>
            </a:r>
            <a:endParaRPr lang="en-US" sz="1450" dirty="0"/>
          </a:p>
          <a:p>
            <a:pPr marL="0" indent="0">
              <a:lnSpc>
                <a:spcPct val="115000"/>
              </a:lnSpc>
              <a:spcAft>
                <a:spcPts val="1300"/>
              </a:spcAft>
              <a:buNone/>
            </a:pPr>
            <a:r>
              <a:rPr lang="en-US" sz="1450" dirty="0">
                <a:solidFill>
                  <a:srgbClr val="2A1420"/>
                </a:solidFill>
                <a:latin typeface="Calibri" pitchFamily="34" charset="0"/>
                <a:ea typeface="Calibri" pitchFamily="34" charset="-122"/>
                <a:cs typeface="Calibri" pitchFamily="34" charset="-120"/>
              </a:rPr>
              <a:t>14. Propose one survey question (with response categories) that would capture “living apart together” couples in a household roster.</a:t>
            </a:r>
            <a:endParaRPr lang="en-US" sz="1450" dirty="0"/>
          </a:p>
          <a:p>
            <a:pPr marL="0" indent="0">
              <a:lnSpc>
                <a:spcPct val="115000"/>
              </a:lnSpc>
              <a:spcAft>
                <a:spcPts val="1300"/>
              </a:spcAft>
              <a:buNone/>
            </a:pPr>
            <a:r>
              <a:rPr lang="en-US" sz="1450" dirty="0">
                <a:solidFill>
                  <a:srgbClr val="2A1420"/>
                </a:solidFill>
                <a:latin typeface="Calibri" pitchFamily="34" charset="0"/>
                <a:ea typeface="Calibri" pitchFamily="34" charset="-122"/>
                <a:cs typeface="Calibri" pitchFamily="34" charset="-120"/>
              </a:rPr>
              <a:t>15. Discuss: how might rising one-person households change the assumptions demographers use in household projection models?</a:t>
            </a:r>
            <a:endParaRPr lang="en-US" sz="1450" dirty="0"/>
          </a:p>
        </p:txBody>
      </p:sp>
      <p:sp>
        <p:nvSpPr>
          <p:cNvPr id="5" name="Text 3"/>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6" name="Text 4"/>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54 / 56</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515600" cy="292608"/>
          </a:xfrm>
          <a:prstGeom prst="rect">
            <a:avLst/>
          </a:prstGeom>
          <a:noFill/>
          <a:ln/>
        </p:spPr>
        <p:txBody>
          <a:bodyPr wrap="square" lIns="0" tIns="0" rIns="0" bIns="0" rtlCol="0" anchor="ctr"/>
          <a:lstStyle/>
          <a:p>
            <a:pPr marL="0" indent="0">
              <a:buNone/>
            </a:pPr>
            <a:r>
              <a:rPr lang="en-US" sz="1300" b="1" kern="0" spc="200" dirty="0">
                <a:solidFill>
                  <a:srgbClr val="A26769"/>
                </a:solidFill>
                <a:latin typeface="Calibri" pitchFamily="34" charset="0"/>
                <a:ea typeface="Calibri" pitchFamily="34" charset="-122"/>
                <a:cs typeface="Calibri" pitchFamily="34" charset="-120"/>
              </a:rPr>
              <a:t>CONSOLIDATE TODAY'S LEARNING</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marL="0" indent="0">
              <a:buNone/>
            </a:pPr>
            <a:r>
              <a:rPr lang="en-US" sz="3000" b="1" dirty="0">
                <a:solidFill>
                  <a:srgbClr val="2A1420"/>
                </a:solidFill>
                <a:latin typeface="Cambria" pitchFamily="34" charset="0"/>
                <a:ea typeface="Cambria" pitchFamily="34" charset="-122"/>
                <a:cs typeface="Cambria" pitchFamily="34" charset="-120"/>
              </a:rPr>
              <a:t>Practice Exercises (4 of 4) · Group-Work Synthesis</a:t>
            </a:r>
            <a:endParaRPr lang="en-US" sz="3000" dirty="0"/>
          </a:p>
        </p:txBody>
      </p:sp>
      <p:sp>
        <p:nvSpPr>
          <p:cNvPr id="4" name="Text 2"/>
          <p:cNvSpPr txBox="1"/>
          <p:nvPr/>
        </p:nvSpPr>
        <p:spPr>
          <a:xfrm>
            <a:off x="548640" y="1417320"/>
            <a:ext cx="11064240" cy="457200"/>
          </a:xfrm>
          <a:prstGeom prst="rect">
            <a:avLst/>
          </a:prstGeom>
          <a:noFill/>
          <a:ln/>
        </p:spPr>
        <p:txBody>
          <a:bodyPr wrap="square" lIns="0" tIns="0" rIns="0" bIns="0" rtlCol="0" anchor="ctr"/>
          <a:lstStyle/>
          <a:p>
            <a:pPr marL="0" indent="0">
              <a:buNone/>
            </a:pPr>
            <a:r>
              <a:rPr lang="en-US" sz="1300" i="1" dirty="0">
                <a:solidFill>
                  <a:srgbClr val="6B5A5F"/>
                </a:solidFill>
                <a:latin typeface="Calibri" pitchFamily="34" charset="0"/>
                <a:ea typeface="Calibri" pitchFamily="34" charset="-122"/>
                <a:cs typeface="Calibri" pitchFamily="34" charset="-120"/>
              </a:rPr>
              <a:t>Bring your worked answers, including your Group Work 1 and 2 report-back notes, to the next session for discussion.</a:t>
            </a:r>
            <a:endParaRPr lang="en-US" sz="1300" dirty="0"/>
          </a:p>
        </p:txBody>
      </p:sp>
      <p:sp>
        <p:nvSpPr>
          <p:cNvPr id="5" name="Text 3"/>
          <p:cNvSpPr txBox="1"/>
          <p:nvPr/>
        </p:nvSpPr>
        <p:spPr>
          <a:xfrm>
            <a:off x="548640" y="1920240"/>
            <a:ext cx="11109960" cy="4389120"/>
          </a:xfrm>
          <a:prstGeom prst="rect">
            <a:avLst/>
          </a:prstGeom>
          <a:noFill/>
          <a:ln/>
        </p:spPr>
        <p:txBody>
          <a:bodyPr wrap="square" lIns="0" tIns="0" rIns="0" bIns="0" rtlCol="0" anchor="ctr"/>
          <a:lstStyle/>
          <a:p>
            <a:pPr marL="0" indent="0">
              <a:lnSpc>
                <a:spcPct val="115000"/>
              </a:lnSpc>
              <a:spcAft>
                <a:spcPts val="1300"/>
              </a:spcAft>
              <a:buNone/>
            </a:pPr>
            <a:r>
              <a:rPr lang="en-US" sz="1450" dirty="0">
                <a:solidFill>
                  <a:srgbClr val="2A1420"/>
                </a:solidFill>
                <a:latin typeface="Calibri" pitchFamily="34" charset="0"/>
                <a:ea typeface="Calibri" pitchFamily="34" charset="-122"/>
                <a:cs typeface="Calibri" pitchFamily="34" charset="-120"/>
              </a:rPr>
              <a:t>16. Compare Japan's and South Korea's 2024 crude marriage rates to Thailand's. Which country's recent trend is most likely to reverse, and why?</a:t>
            </a:r>
            <a:endParaRPr lang="en-US" sz="1450" dirty="0"/>
          </a:p>
          <a:p>
            <a:pPr marL="0" indent="0">
              <a:lnSpc>
                <a:spcPct val="115000"/>
              </a:lnSpc>
              <a:spcAft>
                <a:spcPts val="1300"/>
              </a:spcAft>
              <a:buNone/>
            </a:pPr>
            <a:r>
              <a:rPr lang="en-US" sz="1450" dirty="0">
                <a:solidFill>
                  <a:srgbClr val="2A1420"/>
                </a:solidFill>
                <a:latin typeface="Calibri" pitchFamily="34" charset="0"/>
                <a:ea typeface="Calibri" pitchFamily="34" charset="-122"/>
                <a:cs typeface="Calibri" pitchFamily="34" charset="-120"/>
              </a:rPr>
              <a:t>17. Using Niger's child-marriage prevalence and one high-income country from Group Work 1, name one measurement challenge each context poses for a standard “age at first marriage” survey question.</a:t>
            </a:r>
            <a:endParaRPr lang="en-US" sz="1450" dirty="0"/>
          </a:p>
          <a:p>
            <a:pPr marL="0" indent="0">
              <a:lnSpc>
                <a:spcPct val="115000"/>
              </a:lnSpc>
              <a:spcAft>
                <a:spcPts val="1300"/>
              </a:spcAft>
              <a:buNone/>
            </a:pPr>
            <a:r>
              <a:rPr lang="en-US" sz="1450" dirty="0">
                <a:solidFill>
                  <a:srgbClr val="2A1420"/>
                </a:solidFill>
                <a:latin typeface="Calibri" pitchFamily="34" charset="0"/>
                <a:ea typeface="Calibri" pitchFamily="34" charset="-122"/>
                <a:cs typeface="Calibri" pitchFamily="34" charset="-120"/>
              </a:rPr>
              <a:t>18. Drawing on Group Work 2, explain why a rising one-person-household share can reflect three very different underlying stories (economic opportunity, population aging, or delayed union formation) — and why the policy response should differ accordingly.</a:t>
            </a:r>
            <a:endParaRPr lang="en-US" sz="1450" dirty="0"/>
          </a:p>
        </p:txBody>
      </p:sp>
      <p:sp>
        <p:nvSpPr>
          <p:cNvPr id="6" name="Text 4"/>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6B5A5F"/>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7" name="Text 5"/>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6B5A5F"/>
                </a:solidFill>
                <a:latin typeface="Calibri" pitchFamily="34" charset="0"/>
                <a:ea typeface="Calibri" pitchFamily="34" charset="-122"/>
                <a:cs typeface="Calibri" pitchFamily="34" charset="-120"/>
              </a:rPr>
              <a:t>55 / 56</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6">
    <p:bg>
      <p:bgPr>
        <a:solidFill>
          <a:srgbClr val="4A1E30"/>
        </a:solidFill>
        <a:effectLst/>
      </p:bgPr>
    </p:bg>
    <p:spTree>
      <p:nvGrpSpPr>
        <p:cNvPr id="1" name=""/>
        <p:cNvGrpSpPr/>
        <p:nvPr/>
      </p:nvGrpSpPr>
      <p:grpSpPr>
        <a:xfrm>
          <a:off x="0" y="0"/>
          <a:ext cx="0" cy="0"/>
          <a:chOff x="0" y="0"/>
          <a:chExt cx="0" cy="0"/>
        </a:xfrm>
      </p:grpSpPr>
      <p:sp>
        <p:nvSpPr>
          <p:cNvPr id="2" name="Shape 0"/>
          <p:cNvSpPr/>
          <p:nvPr/>
        </p:nvSpPr>
        <p:spPr>
          <a:xfrm>
            <a:off x="8046720" y="2011680"/>
            <a:ext cx="6400800" cy="6400800"/>
          </a:xfrm>
          <a:prstGeom prst="ellipse">
            <a:avLst/>
          </a:prstGeom>
          <a:solidFill>
            <a:srgbClr val="6D2E46">
              <a:alpha val="55000"/>
            </a:srgbClr>
          </a:solidFill>
          <a:ln/>
        </p:spPr>
      </p:sp>
      <p:sp>
        <p:nvSpPr>
          <p:cNvPr id="3" name="Shape 1"/>
          <p:cNvSpPr/>
          <p:nvPr/>
        </p:nvSpPr>
        <p:spPr>
          <a:xfrm>
            <a:off x="5410048" y="1828800"/>
            <a:ext cx="1371600" cy="1371600"/>
          </a:xfrm>
          <a:prstGeom prst="ellipse">
            <a:avLst/>
          </a:prstGeom>
          <a:solidFill>
            <a:srgbClr val="C9962E"/>
          </a:solidFill>
          <a:ln/>
        </p:spPr>
      </p:sp>
      <p:pic>
        <p:nvPicPr>
          <p:cNvPr id="4" name="Image 0" descr="/sessions/blissful-modest-newton/work/build/icons/handshake.png"/>
          <p:cNvPicPr>
            <a:picLocks noChangeAspect="1"/>
          </p:cNvPicPr>
          <p:nvPr/>
        </p:nvPicPr>
        <p:blipFill>
          <a:blip r:embed="rId3"/>
          <a:stretch>
            <a:fillRect/>
          </a:stretch>
        </p:blipFill>
        <p:spPr>
          <a:xfrm>
            <a:off x="5711800" y="2130552"/>
            <a:ext cx="768096" cy="768096"/>
          </a:xfrm>
          <a:prstGeom prst="rect">
            <a:avLst/>
          </a:prstGeom>
        </p:spPr>
      </p:pic>
      <p:sp>
        <p:nvSpPr>
          <p:cNvPr id="5" name="Text 2"/>
          <p:cNvSpPr txBox="1"/>
          <p:nvPr/>
        </p:nvSpPr>
        <p:spPr>
          <a:xfrm>
            <a:off x="0" y="3520440"/>
            <a:ext cx="12191695" cy="64008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Questions &amp; Discussion</a:t>
            </a:r>
            <a:endParaRPr lang="en-US" sz="3200" dirty="0"/>
          </a:p>
        </p:txBody>
      </p:sp>
      <p:sp>
        <p:nvSpPr>
          <p:cNvPr id="6" name="Text 3"/>
          <p:cNvSpPr txBox="1"/>
          <p:nvPr/>
        </p:nvSpPr>
        <p:spPr>
          <a:xfrm>
            <a:off x="0" y="4251960"/>
            <a:ext cx="12191695" cy="365760"/>
          </a:xfrm>
          <a:prstGeom prst="rect">
            <a:avLst/>
          </a:prstGeom>
          <a:noFill/>
          <a:ln/>
        </p:spPr>
        <p:txBody>
          <a:bodyPr wrap="square" lIns="0" tIns="0" rIns="0" bIns="0" rtlCol="0" anchor="ctr"/>
          <a:lstStyle/>
          <a:p>
            <a:pPr marL="0" indent="0" algn="ctr">
              <a:buNone/>
            </a:pPr>
            <a:r>
              <a:rPr lang="en-US" sz="1400" dirty="0">
                <a:solidFill>
                  <a:srgbClr val="E8DCE1"/>
                </a:solidFill>
                <a:latin typeface="Calibri" pitchFamily="34" charset="0"/>
                <a:ea typeface="Calibri" pitchFamily="34" charset="-122"/>
                <a:cs typeface="Calibri" pitchFamily="34" charset="-120"/>
              </a:rPr>
              <a:t>ruttiya.bhula-or@chula.ac.th   |   College of Population Studies, Chulalongkorn University</a:t>
            </a:r>
            <a:endParaRPr lang="en-US" sz="1400" dirty="0"/>
          </a:p>
        </p:txBody>
      </p:sp>
      <p:sp>
        <p:nvSpPr>
          <p:cNvPr id="7" name="Text 4"/>
          <p:cNvSpPr txBox="1"/>
          <p:nvPr/>
        </p:nvSpPr>
        <p:spPr>
          <a:xfrm>
            <a:off x="457200" y="6547104"/>
            <a:ext cx="8778240" cy="274320"/>
          </a:xfrm>
          <a:prstGeom prst="rect">
            <a:avLst/>
          </a:prstGeom>
          <a:noFill/>
          <a:ln/>
        </p:spPr>
        <p:txBody>
          <a:bodyPr wrap="square" lIns="0" tIns="0" rIns="0" bIns="0" rtlCol="0" anchor="ctr"/>
          <a:lstStyle/>
          <a:p>
            <a:pPr marL="0" indent="0" algn="l">
              <a:buNone/>
            </a:pPr>
            <a:r>
              <a:rPr lang="en-US" sz="900" dirty="0">
                <a:solidFill>
                  <a:srgbClr val="D9C9CE"/>
                </a:solidFill>
                <a:latin typeface="Calibri" pitchFamily="34" charset="0"/>
                <a:ea typeface="Calibri" pitchFamily="34" charset="-122"/>
                <a:cs typeface="Calibri" pitchFamily="34" charset="-120"/>
              </a:rPr>
              <a:t>5140602 Fundamental Demographic Analysis  |  Session 7: Nuptiality, Union Formation &amp; Household Structure</a:t>
            </a:r>
            <a:endParaRPr lang="en-US" sz="900" dirty="0"/>
          </a:p>
        </p:txBody>
      </p:sp>
      <p:sp>
        <p:nvSpPr>
          <p:cNvPr id="8" name="Text 5"/>
          <p:cNvSpPr txBox="1"/>
          <p:nvPr/>
        </p:nvSpPr>
        <p:spPr>
          <a:xfrm>
            <a:off x="11155680" y="6547104"/>
            <a:ext cx="822960" cy="274320"/>
          </a:xfrm>
          <a:prstGeom prst="rect">
            <a:avLst/>
          </a:prstGeom>
          <a:noFill/>
          <a:ln/>
        </p:spPr>
        <p:txBody>
          <a:bodyPr wrap="square" lIns="0" tIns="0" rIns="0" bIns="0" rtlCol="0" anchor="ctr"/>
          <a:lstStyle/>
          <a:p>
            <a:pPr marL="0" indent="0" algn="r">
              <a:buNone/>
            </a:pPr>
            <a:r>
              <a:rPr lang="en-US" sz="900" dirty="0">
                <a:solidFill>
                  <a:srgbClr val="D9C9CE"/>
                </a:solidFill>
                <a:latin typeface="Calibri" pitchFamily="34" charset="0"/>
                <a:ea typeface="Calibri" pitchFamily="34" charset="-122"/>
                <a:cs typeface="Calibri" pitchFamily="34" charset="-120"/>
              </a:rPr>
              <a:t>56 / 56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TotalTime>
  <Words>7019</Words>
  <Application>Microsoft Office PowerPoint</Application>
  <PresentationFormat>Widescreen</PresentationFormat>
  <Paragraphs>608</Paragraphs>
  <Slides>53</Slides>
  <Notes>53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RB</cp:lastModifiedBy>
  <cp:revision>4</cp:revision>
  <dcterms:created xsi:type="dcterms:W3CDTF">2026-09-07T18:03:01Z</dcterms:created>
  <dcterms:modified xsi:type="dcterms:W3CDTF">2026-09-18T03:29:58Z</dcterms:modified>
</cp:coreProperties>
</file>