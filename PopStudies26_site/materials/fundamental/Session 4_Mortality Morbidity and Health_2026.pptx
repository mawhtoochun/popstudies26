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2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rts/chart3.xml" ContentType="application/vnd.openxmlformats-officedocument.drawingml.chart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rts/chart4.xml" ContentType="application/vnd.openxmlformats-officedocument.drawingml.chart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charts/chart5.xml" ContentType="application/vnd.openxmlformats-officedocument.drawingml.chart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0" r:id="rId6"/>
    <p:sldId id="261" r:id="rId7"/>
    <p:sldId id="316" r:id="rId8"/>
    <p:sldId id="263" r:id="rId9"/>
    <p:sldId id="262" r:id="rId10"/>
    <p:sldId id="315" r:id="rId11"/>
    <p:sldId id="264" r:id="rId12"/>
    <p:sldId id="265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52" autoAdjust="0"/>
    <p:restoredTop sz="83774" autoAdjust="0"/>
  </p:normalViewPr>
  <p:slideViewPr>
    <p:cSldViewPr snapToGrid="0" snapToObjects="1">
      <p:cViewPr varScale="1">
        <p:scale>
          <a:sx n="61" d="100"/>
          <a:sy n="61" d="100"/>
        </p:scale>
        <p:origin x="108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Illustrative CDR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Crude death rate (per 1,000)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Population A (older)</c:v>
                </c:pt>
                <c:pt idx="1">
                  <c:v>Population B (younger)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11.5</c:v>
                </c:pt>
                <c:pt idx="1">
                  <c:v>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2C-473B-ACE8-53DC166D56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A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0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A6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Life expectancy at birth, 2026 (UN estimate)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Life expectancy at birth, years (2026)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Japan</c:v>
                </c:pt>
                <c:pt idx="1">
                  <c:v>Thailand</c:v>
                </c:pt>
                <c:pt idx="2">
                  <c:v>Philippines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85.2</c:v>
                </c:pt>
                <c:pt idx="1">
                  <c:v>77.099999999999994</c:v>
                </c:pt>
                <c:pt idx="2">
                  <c:v>70.2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02-480B-B31C-EB6FB7EA8B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A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0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A6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Top 4 global causes of DALYs, 2021 (millions)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DALYs (millions)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COVID-19</c:v>
                </c:pt>
                <c:pt idx="1">
                  <c:v>Ischaemic heart disease</c:v>
                </c:pt>
                <c:pt idx="2">
                  <c:v>Neonatal disorders</c:v>
                </c:pt>
                <c:pt idx="3">
                  <c:v>Stroke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212</c:v>
                </c:pt>
                <c:pt idx="1">
                  <c:v>188.3</c:v>
                </c:pt>
                <c:pt idx="2">
                  <c:v>186.3</c:v>
                </c:pt>
                <c:pt idx="3">
                  <c:v>160.4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4B-44EE-8B88-6A41B8CC4E8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5A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0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A6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/>
              <a:t>Approximate DALY composition by cause type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YLL share (%)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Ischaemic heart disease</c:v>
                </c:pt>
                <c:pt idx="1">
                  <c:v>Low back pain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93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FD-4D39-A0A7-B05E9318F6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YLD share (%)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Ischaemic heart disease</c:v>
                </c:pt>
                <c:pt idx="1">
                  <c:v>Low back pain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</c:v>
                </c:pt>
                <c:pt idx="1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DFD-4D39-A0A7-B05E9318F6D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0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sz="14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Healthy life expectancy at birth, Region of the Americas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HALE (years)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2000</c:v>
                </c:pt>
                <c:pt idx="1">
                  <c:v>2019</c:v>
                </c:pt>
                <c:pt idx="2">
                  <c:v>2021</c:v>
                </c:pt>
                <c:pt idx="3">
                  <c:v>2023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63.05</c:v>
                </c:pt>
                <c:pt idx="1">
                  <c:v>65.180000000000007</c:v>
                </c:pt>
                <c:pt idx="2">
                  <c:v>62.38</c:v>
                </c:pt>
                <c:pt idx="3">
                  <c:v>64.489999999999995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EF-499F-8FF1-3E927C4BA6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5A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0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5A6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484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https://cdn.who.int/media/docs/default-source/gho-documents/global-health-estimates/gpe_discussion_paper_series_paper31_2001_age_standardization_rates.pdf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5140602 FUNDAMENTAL DEMOGRAPHIC ANALYSIS  ·  SESSION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Mortality, Morbidity, and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 Health Measurement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3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&amp; standardized mortality  ·  cause-of-death analysis  ·  DALYs, HALE, and summary measures of health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977640"/>
            <a:ext cx="38404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2062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F3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Population Studies, Chulalongkorn University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F3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Asst. Prof. Dr. Ruttiya Bhula-or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59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6EFE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508760" y="18288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mortality measures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4672" y="25146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crude death rates from age-specific mortality rates and explain why the crude rate can mislead.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89320" y="160020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6EFE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45352" y="1856232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1" name="Text 9"/>
          <p:cNvSpPr/>
          <p:nvPr/>
        </p:nvSpPr>
        <p:spPr>
          <a:xfrm>
            <a:off x="6245352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49440" y="18288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Standardize rates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245352" y="25146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direct and indirect age standardization to compare mortality fairly across populations with different age structures.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6EFE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096512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096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508760" y="4069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cause of death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04672" y="47548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cause-of-death data, data-quality limits, and leading global causes of mortality and disease burden.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89320" y="384048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6EFE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45352" y="4096512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1" name="Text 19"/>
          <p:cNvSpPr/>
          <p:nvPr/>
        </p:nvSpPr>
        <p:spPr>
          <a:xfrm>
            <a:off x="6245352" y="4096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949440" y="4069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summary health measures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45352" y="47548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DALYs, YLL, YLD, and HALE, and use them to interpret global, Thai, and comparative Asian population health.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59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180-Minute Session Structure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6EFE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01368"/>
            <a:ext cx="329184" cy="329184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01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1691640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learning objectives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487168"/>
            <a:ext cx="329184" cy="329184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2377440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— Crude vs. age-specific mortality; direct &amp; indirect standardization (two worked examples each)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EAF0EF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136392"/>
            <a:ext cx="329184" cy="329184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36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34440" y="30632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3639312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749040"/>
            <a:ext cx="329184" cy="329184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4440" y="3639312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— Cause-of-death analysis, data quality, and the COVID-19 mortality shock, in retrospect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48640" y="4325112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6EFE9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434840"/>
            <a:ext cx="329184" cy="329184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434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34440" y="4325112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— Summary measures of population health: DALYs, YLL/YLD, HALE (two worked examples)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48640" y="5010912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5120640"/>
            <a:ext cx="329184" cy="329184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120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34440" y="5010912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discussion &amp; practice exercises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48640" y="5696712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6EFE9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5806440"/>
            <a:ext cx="329184" cy="329184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806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34440" y="5696712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references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59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D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685800" y="3246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· 12:00–1:00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Mortality: Crude, Specific, and Standardized Rates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47091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3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simplest mortality measure is also the most misleading — and the two standardization methods demographers use to fix it.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Crude Death Rate (CDR)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82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Expressed as deaths per 1,000 population per year — the simplest mortality indicator, requiring only two numbers.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the CDR mixes the population's actual mortality risk with its age structure. An older population will show a higher CDR than a younger one even if age-specific risks are identical or lower.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20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still the most widely reported mortality statistic in the news media — precisely because it is easy to compute, not because it is easy to interpret correctly.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52360" y="2103120"/>
            <a:ext cx="3977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CDR =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deaths in a year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  × 1,000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Mid-year population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59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CBB021-8EEE-AFD5-6FFE-E591E5014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700784"/>
            <a:ext cx="6182588" cy="13432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PARADOX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Age Structure Distorts the Crude Death Rate</a:t>
            </a:r>
            <a:endParaRPr lang="en-US" sz="36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213891028"/>
              </p:ext>
            </p:extLst>
          </p:nvPr>
        </p:nvGraphicFramePr>
        <p:xfrm>
          <a:off x="548640" y="1600200"/>
          <a:ext cx="5120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1645920"/>
            <a:ext cx="56692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A has an older age structure and a higher CDR (11.5). Population B is younger, with a lower CDR (6.2).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conclusion: "Population A is less healthy." This can be wrong — A's higher CDR may simply reflect having more people at high-mortality ages, not worse age-specific mortality.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compare age-specific mortality rates directly, or standardize so age structure no longer drives the comparison (next slides).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04279" y="4974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A and B are illustrative, for teaching purposes.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59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>
            <a:extLst>
              <a:ext uri="{FF2B5EF4-FFF2-40B4-BE49-F238E27FC236}">
                <a16:creationId xmlns:a16="http://schemas.microsoft.com/office/drawing/2014/main" id="{1EF45F7C-DBBB-123E-AA01-DBC644D5D46E}"/>
              </a:ext>
            </a:extLst>
          </p:cNvPr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en-US" sz="3200" b="1" dirty="0"/>
              <a:t>Age-Specific Mortality Rate (ASMR) &amp; Age Standardization 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50837F7-2A3A-BD27-925D-0ACDCCECBB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157966"/>
              </p:ext>
            </p:extLst>
          </p:nvPr>
        </p:nvGraphicFramePr>
        <p:xfrm>
          <a:off x="769373" y="1999871"/>
          <a:ext cx="10950676" cy="3991572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2737669">
                  <a:extLst>
                    <a:ext uri="{9D8B030D-6E8A-4147-A177-3AD203B41FA5}">
                      <a16:colId xmlns:a16="http://schemas.microsoft.com/office/drawing/2014/main" val="1225704827"/>
                    </a:ext>
                  </a:extLst>
                </a:gridCol>
                <a:gridCol w="2737669">
                  <a:extLst>
                    <a:ext uri="{9D8B030D-6E8A-4147-A177-3AD203B41FA5}">
                      <a16:colId xmlns:a16="http://schemas.microsoft.com/office/drawing/2014/main" val="1278913935"/>
                    </a:ext>
                  </a:extLst>
                </a:gridCol>
                <a:gridCol w="2737669">
                  <a:extLst>
                    <a:ext uri="{9D8B030D-6E8A-4147-A177-3AD203B41FA5}">
                      <a16:colId xmlns:a16="http://schemas.microsoft.com/office/drawing/2014/main" val="1195881328"/>
                    </a:ext>
                  </a:extLst>
                </a:gridCol>
                <a:gridCol w="2737669">
                  <a:extLst>
                    <a:ext uri="{9D8B030D-6E8A-4147-A177-3AD203B41FA5}">
                      <a16:colId xmlns:a16="http://schemas.microsoft.com/office/drawing/2014/main" val="2785710056"/>
                    </a:ext>
                  </a:extLst>
                </a:gridCol>
              </a:tblGrid>
              <a:tr h="258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Measure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Rates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Population weights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Main 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1043136"/>
                  </a:ext>
                </a:extLst>
              </a:tr>
              <a:tr h="258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ASMR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Observed rate for each age group</a:t>
                      </a:r>
                    </a:p>
                    <a:p>
                      <a:pPr>
                        <a:buNone/>
                      </a:pP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Mortality rate within age group (x)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572197"/>
                  </a:ext>
                </a:extLst>
              </a:tr>
              <a:tr h="90380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2521231"/>
                  </a:ext>
                </a:extLst>
              </a:tr>
              <a:tr h="9038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- Direct standardization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Study population’s ASMRs</a:t>
                      </a:r>
                      <a:endParaRPr 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Standard population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Age-standardized mortality rate</a:t>
                      </a:r>
                      <a:endParaRPr lang="en-US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559014"/>
                  </a:ext>
                </a:extLst>
              </a:tr>
              <a:tr h="9038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- Indirect standardization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Reference population’s ASMRs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Study population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Expected deaths and SMR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045623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19BF9F7-894B-7AEC-EDCF-43BCB8994DA5}"/>
              </a:ext>
            </a:extLst>
          </p:cNvPr>
          <p:cNvSpPr txBox="1"/>
          <p:nvPr/>
        </p:nvSpPr>
        <p:spPr>
          <a:xfrm>
            <a:off x="857863" y="2430264"/>
            <a:ext cx="2514601" cy="70788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Age-Specific Mortality Rate (ASMR)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7D0A06-B038-E73D-DCE3-AACCD8446421}"/>
              </a:ext>
            </a:extLst>
          </p:cNvPr>
          <p:cNvSpPr txBox="1"/>
          <p:nvPr/>
        </p:nvSpPr>
        <p:spPr>
          <a:xfrm>
            <a:off x="857863" y="3365908"/>
            <a:ext cx="2514601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Age Standardization</a:t>
            </a:r>
          </a:p>
          <a:p>
            <a:pPr>
              <a:buNone/>
            </a:pPr>
            <a:endParaRPr lang="en-US" sz="2000" b="1" dirty="0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507DA023-5338-FB4B-1C26-2D0204FEF738}"/>
              </a:ext>
            </a:extLst>
          </p:cNvPr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measure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67417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SHARPER TOOL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Age-Specific Mortality Rate (ASMR)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191001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separately for each age group (usually 5-year bands) — removes the age-mixing problem within each band.</a:t>
            </a:r>
            <a:endParaRPr lang="en-US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set of ASMRs by age is the building block for life tables (see life-table session) and for both standardization methods on the following slides.</a:t>
            </a:r>
            <a:endParaRPr lang="en-US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comparing dozens of age-specific rates across two populations, age group by age group, is informative but unwieldy for headline reporting — hence the need for a single summary number.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52360" y="2103120"/>
            <a:ext cx="3977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ASMR(x) =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Deaths to persons aged x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  × 1,000</a:t>
            </a:r>
            <a:endParaRPr lang="en-US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Mid-year population aged x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59</a:t>
            </a:r>
            <a:endParaRPr lang="en-US" sz="1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5C3580-A6F3-7A03-FCBE-FE701C859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829" y="1798420"/>
            <a:ext cx="7089525" cy="16305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423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CORRECTLY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906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Misconception: CDR vs. Age-Specific Mortality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31142"/>
            <a:ext cx="5394960" cy="15113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446610"/>
            <a:ext cx="512064" cy="677062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446610"/>
            <a:ext cx="512064" cy="677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2240870"/>
            <a:ext cx="4389120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515190"/>
            <a:ext cx="4434840" cy="90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lower crude death rate always means a healthier, lower-risk population.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2131142"/>
            <a:ext cx="5394960" cy="15113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2446610"/>
            <a:ext cx="512064" cy="677062"/>
          </a:xfrm>
          <a:prstGeom prst="ellipse">
            <a:avLst/>
          </a:prstGeom>
          <a:solidFill>
            <a:srgbClr val="2E6E5E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446610"/>
            <a:ext cx="512064" cy="677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40880" y="2240870"/>
            <a:ext cx="4389120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2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2515190"/>
            <a:ext cx="4434840" cy="90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lower CDR can simply mean a younger population. Two populations with identical age-specific mortality risk can post very different CDRs.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043762"/>
            <a:ext cx="5394960" cy="15113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4359230"/>
            <a:ext cx="512064" cy="677062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359230"/>
            <a:ext cx="512064" cy="677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4153490"/>
            <a:ext cx="4389120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427810"/>
            <a:ext cx="4434840" cy="90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country's CDR is rising over time, its health system must be getting worse.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2200" y="4043762"/>
            <a:ext cx="5394960" cy="15113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4359230"/>
            <a:ext cx="512064" cy="677062"/>
          </a:xfrm>
          <a:prstGeom prst="ellipse">
            <a:avLst/>
          </a:prstGeom>
          <a:solidFill>
            <a:srgbClr val="2E6E5E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359230"/>
            <a:ext cx="512064" cy="677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40880" y="4153490"/>
            <a:ext cx="4389120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2E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4427810"/>
            <a:ext cx="4434840" cy="90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rising CDR in an aging population (like Thailand's) can occur even while every age-specific rate is improving — the population is simply older on average.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772400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820095" y="6473952"/>
            <a:ext cx="914400" cy="362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59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BABB0FEE-3BBE-3422-EEFC-759C4C2E1609}"/>
              </a:ext>
            </a:extLst>
          </p:cNvPr>
          <p:cNvSpPr/>
          <p:nvPr/>
        </p:nvSpPr>
        <p:spPr>
          <a:xfrm>
            <a:off x="548640" y="87675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SHARPER TOOL</a:t>
            </a:r>
            <a:endParaRPr lang="en-US" sz="16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519F493B-4C55-549A-0081-BEAE8E7F9E50}"/>
              </a:ext>
            </a:extLst>
          </p:cNvPr>
          <p:cNvSpPr/>
          <p:nvPr/>
        </p:nvSpPr>
        <p:spPr>
          <a:xfrm>
            <a:off x="585019" y="317401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</a:rPr>
              <a:t>The Age Standardization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3DB9A7-D4D9-CC02-6F00-8204B61C7270}"/>
              </a:ext>
            </a:extLst>
          </p:cNvPr>
          <p:cNvSpPr txBox="1"/>
          <p:nvPr/>
        </p:nvSpPr>
        <p:spPr>
          <a:xfrm>
            <a:off x="959629" y="1086652"/>
            <a:ext cx="101960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Direct age standardization</a:t>
            </a:r>
            <a:endParaRPr lang="en-US" dirty="0"/>
          </a:p>
          <a:p>
            <a:pPr>
              <a:buNone/>
            </a:pPr>
            <a:r>
              <a:rPr lang="en-US" dirty="0"/>
              <a:t>Direct standardization applies the </a:t>
            </a:r>
            <a:r>
              <a:rPr lang="en-US" b="1" dirty="0"/>
              <a:t>study population’s age-specific mortality rates</a:t>
            </a:r>
            <a:r>
              <a:rPr lang="en-US" dirty="0"/>
              <a:t> to the age distribution of a </a:t>
            </a:r>
            <a:r>
              <a:rPr lang="en-US" b="1" dirty="0"/>
              <a:t>standard population</a:t>
            </a:r>
            <a:r>
              <a:rPr lang="en-US" dirty="0"/>
              <a:t>. It produces an age-standardized mortality rate (ASDR). It is most appropriate when age-specific rates are reliable and when comparing several populations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FFD52E-DEEC-77FF-95FA-4CEF35D3278C}"/>
              </a:ext>
            </a:extLst>
          </p:cNvPr>
          <p:cNvSpPr txBox="1"/>
          <p:nvPr/>
        </p:nvSpPr>
        <p:spPr>
          <a:xfrm>
            <a:off x="852457" y="3569614"/>
            <a:ext cx="100721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Indirect age standardization</a:t>
            </a:r>
            <a:endParaRPr lang="en-US" dirty="0"/>
          </a:p>
          <a:p>
            <a:pPr>
              <a:buNone/>
            </a:pPr>
            <a:r>
              <a:rPr lang="en-US" dirty="0"/>
              <a:t>Indirect standardization applies the </a:t>
            </a:r>
            <a:r>
              <a:rPr lang="en-US" b="1" dirty="0"/>
              <a:t>standard population’s age-specific mortality rates</a:t>
            </a:r>
            <a:r>
              <a:rPr lang="en-US" dirty="0"/>
              <a:t> to the age distribution of the </a:t>
            </a:r>
            <a:r>
              <a:rPr lang="en-US" b="1" dirty="0"/>
              <a:t>study population</a:t>
            </a:r>
            <a:r>
              <a:rPr lang="en-US" dirty="0"/>
              <a:t>. It compares observed with expected deaths using the standardized mortality ratio (SMR). It is useful for small populations or when the study population’s age-specific rates are unstable.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F017C8A-E357-1580-FB52-76E11D2BC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378" y="2425480"/>
            <a:ext cx="6472394" cy="8761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271D5FD-C23B-E6D4-2765-70D31BB14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460" y="5072569"/>
            <a:ext cx="4267796" cy="87642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4B2133E-1ABF-EE4E-EB6F-04BB34813608}"/>
              </a:ext>
            </a:extLst>
          </p:cNvPr>
          <p:cNvSpPr txBox="1"/>
          <p:nvPr/>
        </p:nvSpPr>
        <p:spPr>
          <a:xfrm>
            <a:off x="959629" y="5905882"/>
            <a:ext cx="111301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u="none" strike="noStrike" dirty="0">
                <a:effectLst/>
                <a:latin typeface="+mn-lt"/>
              </a:rPr>
              <a:t>The </a:t>
            </a:r>
            <a:r>
              <a:rPr lang="en-US" sz="1800" b="1" u="none" strike="noStrike" dirty="0">
                <a:effectLst/>
                <a:latin typeface="+mn-lt"/>
              </a:rPr>
              <a:t>Standardized Mortality Ratio (SMR)</a:t>
            </a:r>
            <a:r>
              <a:rPr lang="en-US" dirty="0"/>
              <a:t> is a tool used to measure health inequality by comparing the actual number of deaths in a specific, vulnerable group or region to the number of deaths you would expect if that group had the same mortality rates as a standard reference population.</a:t>
            </a:r>
          </a:p>
        </p:txBody>
      </p:sp>
    </p:spTree>
    <p:extLst>
      <p:ext uri="{BB962C8B-B14F-4D97-AF65-F5344CB8AC3E}">
        <p14:creationId xmlns:p14="http://schemas.microsoft.com/office/powerpoint/2010/main" val="3386167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0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 · BUILDING INTUITION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Direct Standardization: The Core Idea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of it as a "what-if" experiment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22402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each population's own, real age-specific mortality rates (ASMRs) — these reflect true risk.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944368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2889504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"What death rate would this population show if it had a common, shared age structure instead of its own?"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3730752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each population's ASMRs to that one shared ("standard") age structure, and recompute the overall rate.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4626864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26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457200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every population is now evaluated on the same age structure, any remaining difference reflects true mortality risk — not age mix.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55778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it's like comparing two classrooms' average test scores after adjusting so both classrooms have the same mix of weak and strong students.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59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 · FORMULA &amp; REQUIREMENTS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Direct Age Standardization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Requires: the age-specific mortality rates of the population(s) being compared, plus a standard population's age distribution (e.g., the WHO World Standard Population, or a national standard).</a:t>
            </a:r>
            <a:endParaRPr lang="en-US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an age-standardized death rate (ASDR) — the death rate the population would have if it had the standard age structure.</a:t>
            </a:r>
            <a:endParaRPr lang="en-US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used when reliable age-specific rates are available for the population being studied — the common case for standardization in demography.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4090915"/>
            <a:ext cx="11064240" cy="2191898"/>
          </a:xfrm>
          <a:prstGeom prst="roundRect">
            <a:avLst>
              <a:gd name="adj" fmla="val 4848"/>
            </a:avLst>
          </a:prstGeom>
          <a:solidFill>
            <a:srgbClr val="3D172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4662776"/>
            <a:ext cx="10607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59</a:t>
            </a:r>
            <a:endParaRPr lang="en-US" sz="10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CB6A40-2489-ACC2-375D-A96911479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459" y="4455277"/>
            <a:ext cx="8112805" cy="164377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03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1 · SETUP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258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Standardization: 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Populations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1" y="1600200"/>
            <a:ext cx="499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lay out each population's own ASMR by age, plus the shared standard weights.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525062"/>
              </p:ext>
            </p:extLst>
          </p:nvPr>
        </p:nvGraphicFramePr>
        <p:xfrm>
          <a:off x="548640" y="2217421"/>
          <a:ext cx="5081264" cy="1828800"/>
        </p:xfrm>
        <a:graphic>
          <a:graphicData uri="http://schemas.openxmlformats.org/drawingml/2006/table">
            <a:tbl>
              <a:tblPr/>
              <a:tblGrid>
                <a:gridCol w="1278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9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group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pop.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(weights)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Pop. A ASMR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/1,000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Pop. B ASMR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/1,000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15–64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65+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087368"/>
            <a:ext cx="4749075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at every single age group, Population B's ASMR is higher than Population A's — B has genuinely worse mortality risk at every age.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population weights (300 / 600 / 100) are shared — they do not belong to either A or B; they exist purely to hold age structure constant.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6126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population weights and age-specific rates are illustrative, constructed for this worked example.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59</a:t>
            </a:r>
            <a:endParaRPr lang="en-US" sz="10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D9CD2B-2C3D-51F9-129F-9C8B7886837B}"/>
              </a:ext>
            </a:extLst>
          </p:cNvPr>
          <p:cNvSpPr txBox="1"/>
          <p:nvPr/>
        </p:nvSpPr>
        <p:spPr>
          <a:xfrm>
            <a:off x="6646817" y="804672"/>
            <a:ext cx="426284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Standardization: Calculating the ASDR</a:t>
            </a:r>
            <a:endParaRPr lang="en-US" sz="2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706C40F-A843-E13B-F59C-2A695AEFE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98334"/>
            <a:ext cx="5781368" cy="1381541"/>
          </a:xfrm>
          <a:prstGeom prst="rect">
            <a:avLst/>
          </a:prstGeom>
        </p:spPr>
      </p:pic>
      <p:sp>
        <p:nvSpPr>
          <p:cNvPr id="15" name="Text 6">
            <a:extLst>
              <a:ext uri="{FF2B5EF4-FFF2-40B4-BE49-F238E27FC236}">
                <a16:creationId xmlns:a16="http://schemas.microsoft.com/office/drawing/2014/main" id="{40C38938-09C8-589D-4800-4C7CEDE05B3C}"/>
              </a:ext>
            </a:extLst>
          </p:cNvPr>
          <p:cNvSpPr/>
          <p:nvPr/>
        </p:nvSpPr>
        <p:spPr>
          <a:xfrm>
            <a:off x="6562098" y="3737429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20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45CDAA84-B91A-A5FC-6E52-7DE390AD10BB}"/>
              </a:ext>
            </a:extLst>
          </p:cNvPr>
          <p:cNvSpPr/>
          <p:nvPr/>
        </p:nvSpPr>
        <p:spPr>
          <a:xfrm>
            <a:off x="6289041" y="4468658"/>
            <a:ext cx="52046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though Population B's age-specific rates are all higher than A's at every age, a naive crude-rate comparison (not shown here) could still favor B if B is much younger.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standardizing to the same age structure, B's ASDR (8.64) is clearly, fairly higher than A's (6.45) — a comparison no longer confounded by age.</a:t>
            </a:r>
            <a:endParaRPr lang="en-US" sz="1600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7A726F39-92FE-8D4A-CAC6-5D6EF5CF6E47}"/>
              </a:ext>
            </a:extLst>
          </p:cNvPr>
          <p:cNvSpPr/>
          <p:nvPr/>
        </p:nvSpPr>
        <p:spPr>
          <a:xfrm>
            <a:off x="5206275" y="804672"/>
            <a:ext cx="1232625" cy="66751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2 · REAL DATA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Standardization with Real Data: Thailand vs. Japan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real, estimated age-specific mortality rates for Thailand and Japan (2024–2026), applied to the real WHO World Standard Population.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210312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standard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/1,000,000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Thailand ASMR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Japan ASMR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88,569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84,670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65,877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65–69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29,590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80–84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 (21 age groups total, 0–4 through 100+)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70916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age band shown, Thailand's estimated ASMR is well above Japan's — consistent with Thailand's lower life expectancy at birth (about 77.1 years vs. Japan's 85.2 years).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Age-specific rates derived from single-year probabilities of death in each country's UN World Population Prospects life table (2026 revision).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age-specific mortality derived from United Nations, World Population Prospects (2026 revision), compiled via GeoRank.org, https://georank.org/life-expectancy/thailand and /japan (retrieved 2026-08-16). Standard weights: Ahmad et al. (2001), WHO.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59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2 ·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Thailand vs. Japan: Age-Standardized Death Rates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6EFE9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39449"/>
            <a:ext cx="30175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9.03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162409"/>
            <a:ext cx="301752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 crude death rate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 1,000, 2024 — includes Thailand's own older age structure)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023360" y="1691640"/>
            <a:ext cx="3794760" cy="1554480"/>
          </a:xfrm>
          <a:prstGeom prst="roundRect">
            <a:avLst>
              <a:gd name="adj" fmla="val 4706"/>
            </a:avLst>
          </a:prstGeom>
          <a:solidFill>
            <a:srgbClr val="F6EFE9"/>
          </a:solidFill>
          <a:ln/>
        </p:spPr>
      </p:sp>
      <p:sp>
        <p:nvSpPr>
          <p:cNvPr id="8" name="Text 6"/>
          <p:cNvSpPr/>
          <p:nvPr/>
        </p:nvSpPr>
        <p:spPr>
          <a:xfrm>
            <a:off x="4160520" y="1339449"/>
            <a:ext cx="352044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5.27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160520" y="2162409"/>
            <a:ext cx="352044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 ASDR, standardized to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World Standard Population (per 1,000)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01000" y="169164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6EFE9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1339449"/>
            <a:ext cx="33375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3D6B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138160" y="2162409"/>
            <a:ext cx="333756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ASDR, standardized to the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WHO standard (per 1,000)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0060" y="5268940"/>
            <a:ext cx="1088136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age structure is held constant (both evaluated on the same WHO standard), Thailand's mortality rate (5.27) is roughly double Japan's (2.62) — a genuine risk gap, not an artifact of Thailand simply having more older residents.</a:t>
            </a:r>
            <a:endParaRPr lang="en-US" sz="1250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Thailand's own crude rate (9.03) is higher still than its standardized rate (5.27) — because Thailand's real population is older than the WHO world standard, inflating the crude figure beyond what age-specific risk alone would produce.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59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929FBCE-0942-B9EB-0EC8-9BD9A865A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025" y="2820630"/>
            <a:ext cx="5372850" cy="241016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or Indirect Standardization — Which One?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5440680" cy="59436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DIRECT standardization when…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reliable age-specific rates for the population(s) you are studying.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population is large enough that age-specific rates are statistically stable (not based on tiny cell counts).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a rate expressed in the same units as a crude rate (deaths per 1,000), directly comparable across many populations.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645920"/>
            <a:ext cx="5440680" cy="59436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6459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INDIRECT standardization (SMR) when…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46520" y="242316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Age-specific rates for your study population are unreliable, unavailable, or based on small numbers (e.g., an occupational cohort, a small district).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the study population's age structure and total observed deaths, and can borrow a standard population's age-specific rates.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comparing one specific population against a reference standard, not several populations against each other.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59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Indirect Age Standardization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apply a standard population's known age-specific mortality rates to your study population's own age structure, to get the number of deaths "expected" if the study population behaved like the standard.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the study population's own age-specific rates are unreliable or unavailable — e.g., a small population, or an occupational cohort — but its age structure and total deaths are known.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the Standardized Mortality Ratio (SMR) — observed deaths ÷ expected deaths, usually × 100. SMR &gt; 100 means excess mortality relative to the standard.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393192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SMR = (Observed deaths ÷ Expected deaths) × 100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Expected deaths = Σ (Standard ASMR at age x  ×  Study population at age x)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59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2C9F32-F9EC-B8E1-B38B-8C9A44D56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819" y="3565574"/>
            <a:ext cx="7943038" cy="259590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Indirect Standardization: Computing an SMR</a:t>
            </a:r>
            <a:endParaRPr lang="en-US" sz="3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239192"/>
              </p:ext>
            </p:extLst>
          </p:nvPr>
        </p:nvGraphicFramePr>
        <p:xfrm>
          <a:off x="548640" y="1691640"/>
          <a:ext cx="6217920" cy="17373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group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pop.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(persons)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ASMR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/1,000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040880" y="1783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this study population actually recorded 160 observed deaths in the year.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040880" y="401490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040880" y="4590288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SMR of 119.5 means this population experienced about 19.5% more deaths than expected if it had the standard population's age-specific mortality — evidence of excess mortality risk once age is accounted for.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400" dirty="0">
              <a:solidFill>
                <a:srgbClr val="2B202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other words: </a:t>
            </a:r>
            <a:r>
              <a:rPr lang="en-US" sz="1400" dirty="0"/>
              <a:t>An SMR of 119.5 means that the population had </a:t>
            </a:r>
            <a:r>
              <a:rPr lang="en-US" sz="1400" b="1" dirty="0"/>
              <a:t>19.5% more deaths than expected after accounting for age</a:t>
            </a:r>
            <a:r>
              <a:rPr lang="en-US" sz="1400" dirty="0"/>
              <a:t>.</a:t>
            </a:r>
          </a:p>
        </p:txBody>
      </p:sp>
      <p:sp>
        <p:nvSpPr>
          <p:cNvPr id="10" name="Text 7"/>
          <p:cNvSpPr/>
          <p:nvPr/>
        </p:nvSpPr>
        <p:spPr>
          <a:xfrm>
            <a:off x="548640" y="6126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ASMRs, study population, and observed deaths are illustrative, constructed for this worked example.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59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148D94D-814C-537D-6BA6-6A3F0E33D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377" y="2523056"/>
            <a:ext cx="4569107" cy="90594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2 · REAL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SMR with Real Data: Thailand's Mortality vs. Japan's Standard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if Thailand experienced Japan's age-specific mortality rates, how many deaths would be "expected" — and how does that compare with Thailand's real observed deaths?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798492"/>
              </p:ext>
            </p:extLst>
          </p:nvPr>
        </p:nvGraphicFramePr>
        <p:xfrm>
          <a:off x="548640" y="2194560"/>
          <a:ext cx="11064240" cy="173736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group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Thailand population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(thousands, 2024)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Japan ASMR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/1,000 ("standard")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deaths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(thousands)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10,570.7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50,087.2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1.87 (avg.)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11,010.2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 (avg.)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253.2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five-year age bands (0–4…100+)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71,668.0 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351.9 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1605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Broad-band rows above are illustrative summaries; the full calculation (and this workbook's practice exercises) use all 21 five-year age bands.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461772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Thailand's real, observed total deaths in 2024 were 647,349 (UN World Population Prospects 2024 revision).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"Expected deaths" (351,896) is the count Thailand would show if every age group experienced Japan's much lower age-specific mortality, applied to Thailand's own population structure.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Thailand population — UN WPP 2024 revision via PopulationPyramid.net; Thailand observed deaths — UN WPP 2024 revision via Database.Earth, https://database.earth/population/thailand/deaths; Japan ASMR — UN WPP 2026 revision via GeoRank.org.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59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2 · RESULT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Thailand's SMR Relative to Japan's Mortality Standard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27048"/>
            <a:ext cx="11064240" cy="1648968"/>
          </a:xfrm>
          <a:prstGeom prst="roundRect">
            <a:avLst>
              <a:gd name="adj" fmla="val 8000"/>
            </a:avLst>
          </a:prstGeom>
          <a:solidFill>
            <a:srgbClr val="3D172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53440" y="3205287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6EFE9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3315015"/>
            <a:ext cx="32004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184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90600" y="4055679"/>
            <a:ext cx="32004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Thailand's SMR relative to a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"Japan mortality-risk" standard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11040" y="3205287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6EFE9"/>
          </a:solidFill>
          <a:ln/>
        </p:spPr>
      </p:sp>
      <p:sp>
        <p:nvSpPr>
          <p:cNvPr id="10" name="Text 8"/>
          <p:cNvSpPr/>
          <p:nvPr/>
        </p:nvSpPr>
        <p:spPr>
          <a:xfrm>
            <a:off x="4648200" y="3315015"/>
            <a:ext cx="320040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+84%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648200" y="4055679"/>
            <a:ext cx="32004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deaths relative to what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Japan's age-specific risk implies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85760" y="3205287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6EFE9"/>
          </a:solidFill>
          <a:ln/>
        </p:spPr>
      </p:sp>
      <p:sp>
        <p:nvSpPr>
          <p:cNvPr id="13" name="Text 11"/>
          <p:cNvSpPr/>
          <p:nvPr/>
        </p:nvSpPr>
        <p:spPr>
          <a:xfrm>
            <a:off x="8122920" y="3315015"/>
            <a:ext cx="370332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77.1 / 85.2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122920" y="4055679"/>
            <a:ext cx="370332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 / Japan life expectancy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birth, years (2026 UN estimate)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52628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900"/>
              </a:spcAft>
              <a:buSzPct val="100000"/>
            </a:pPr>
            <a:r>
              <a:rPr lang="en-US" sz="1600" dirty="0" err="1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Intepret</a:t>
            </a: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SMR of 184 means Thailand experienced roughly 84% more deaths in 2024 than it "should have" if every age group carried Japan's age-specific mortality risk — a genuinely large, real gap in underlying health risk, not an artifact of Thailand's different (younger) age structure.</a:t>
            </a:r>
            <a:endParaRPr lang="en-US" sz="1600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indirect-standardization mirror image of the direct-standardization result on the previous slides (Thailand ASDR ≈ 2× Japan's) — both methods point to the same substantive conclusion via different data requirements.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59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1F36E87-7683-A476-FCAD-74811B66B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8311" y="1599280"/>
            <a:ext cx="3474720" cy="145084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CORRECTLY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Misconceptions About Standardization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6EFE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47672"/>
            <a:ext cx="457200" cy="45720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standardized rate is the population's "real" death rate.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2402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hypothetical, constructed number — the rate the population would have under a specific standard age structure. The crude rate remains the real, observed rate; the standardized rate is a fair comparison tool.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456432"/>
            <a:ext cx="457200" cy="45720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417320" y="331012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two standardized rates can be compared, regardless of which standard was used.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7490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rates standardized to the SAME standard population are comparable. An ASDR standardized to the WHO World Standard cannot be directly compared with one standardized to a national 2000 census standard.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6EFE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965192"/>
            <a:ext cx="457200" cy="45720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417320" y="481888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SMR of 100 always means "average" health.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52578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means average relative to whichever standard population's rates were used as the reference — a different standard (e.g., a healthier vs. sicker reference group) would shift what SMR = 100 represents.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59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· REAL DATA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Thailand's Mortality Snapshot, 2024–2026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6EFE9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01368"/>
            <a:ext cx="32461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9.0–9.1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624328"/>
            <a:ext cx="324612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death rate, per 1,000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population, 2023–2024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06240" y="16916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6EFE9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801368"/>
            <a:ext cx="32461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343400" y="2624328"/>
            <a:ext cx="324612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expectancy at birth,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years, UN estimate 2026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63840" y="1691640"/>
            <a:ext cx="3749040" cy="1554480"/>
          </a:xfrm>
          <a:prstGeom prst="roundRect">
            <a:avLst>
              <a:gd name="adj" fmla="val 4706"/>
            </a:avLst>
          </a:prstGeom>
          <a:solidFill>
            <a:srgbClr val="F6EFE9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1801368"/>
            <a:ext cx="34747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3D6B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81.4 / 72.9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001000" y="2624328"/>
            <a:ext cx="347472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/ male life expectancy,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(UN WPP 2026)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Thailand's crude death rate looks moderate, but Thailand is also one of the most aged populations in the developing world (65+ share ≈15.4% of population, 2024 — Session 3).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older age structure mechanically pushes the CDR upward, even where age-specific survival is improving — exactly the distortion this block addresses methodologically, and exactly why the direct/indirect standardization worked examples above used real Thailand data.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 female–male life-expectancy gap (about 8.5 years) also motivates sex-specific and age-specific analysis rather than relying on a single aggregate figure.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Mahidol Population Gazette, Institute for Population and Social Research, Mahidol University (Vol. 33, Jan. 2024), CDR = 9.1; GeoRank.org (2026), compiling UN World Population Prospects 2026 revision, https://georank.org/life-expectancy/thailand (retrieved 2026-08-16).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59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· EPIDEMIOLOGICAL TRANSITION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Asian Countries, Three Transition Stages</a:t>
            </a:r>
            <a:endParaRPr lang="en-US" sz="36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4182974962"/>
              </p:ext>
            </p:extLst>
          </p:nvPr>
        </p:nvGraphicFramePr>
        <p:xfrm>
          <a:off x="548640" y="164592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48418"/>
              </p:ext>
            </p:extLst>
          </p:nvPr>
        </p:nvGraphicFramePr>
        <p:xfrm>
          <a:off x="5852160" y="1645920"/>
          <a:ext cx="5760720" cy="16916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 exp.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(years)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Transition stage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Japan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Late/post-transition: aged, chronic-disease-dominant, very low fertility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Thailand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transition: rapidly aging, NCD-dominant, but still catching up to Japan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Philippines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0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Mid-transition: younger population, higher residual communicable-disease and maternal/child burden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5120640"/>
            <a:ext cx="11064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15-year life-expectancy gap between Japan and the Philippines illustrates why a single "Asia" mortality profile is misleading — countries occupy very different points on the epidemiological transition even within one region.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 sits between the two: its NCD burden already resembles Japan's, but its life expectancy has not yet closed the gap — a pattern the standardization worked examples above quantify directly.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World Population Review (2026). Life expectancy in Asia 2026, compiling UN World Population Prospects and World Bank data. https://worldpopulationreview.com/country-rankings/life-expectancy-in-asia (retrieved 2026-08-16).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59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D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DISCUSSION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Mortality Measure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2971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news report says "Country X has a lower death rate than Country Y, so it must have better healthcare." What question would you ask before accepting this claim?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51960" y="169164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196596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480560" y="2651760"/>
            <a:ext cx="2971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would you prefer indirect standardization over direct standardization for a real analysis? Use the Thailand/Japan examples to justify your answer.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55280" y="169164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3880" y="196596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183880" y="2651760"/>
            <a:ext cx="2971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Thailand's CDR is rising over time partly due to population aging rather than worsening health. How would you communicate this nuance to a non-technical policymaker?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59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3D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371600"/>
            <a:ext cx="1097280" cy="10972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547208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60" b="1" dirty="0">
                <a:solidFill>
                  <a:srgbClr val="3D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336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374904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F3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 ·  back at 1:10 for cause-of-death analysis and the COVID-19 retrospective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59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3D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8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800" dirty="0"/>
          </a:p>
        </p:txBody>
      </p:sp>
      <p:sp>
        <p:nvSpPr>
          <p:cNvPr id="3" name="Text 1"/>
          <p:cNvSpPr/>
          <p:nvPr/>
        </p:nvSpPr>
        <p:spPr>
          <a:xfrm>
            <a:off x="685800" y="3246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Cause-of-Death Analysis &amp; the COVID-19 Mortality Shock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7091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F3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how many died to why — and what a global pandemic revealed about mortality measurement in real time.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59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COUNTS TO CAUSES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Cause-of-Death Analysis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589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registration records not just the fact and timing of death but an underlying cause, coded using the International Classification of Diseases (ICD-11) to enable comparison across countries and over time.</a:t>
            </a:r>
            <a:endParaRPr lang="en-US" sz="16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Cause-specific mortality rate = (Deaths from cause C in a period ÷ Mid-year population) × 100,000 — usually expressed per 100,000 to keep numbers readable for less-common causes.</a:t>
            </a:r>
            <a:endParaRPr lang="en-US" sz="1600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 mortality = (Deaths from cause C ÷ Total deaths) × 100 — useful for describing the mix of causes, but sensitive to the size of the denominator (total deaths), so it should not substitute for a population-based rate.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412480" y="1691640"/>
            <a:ext cx="3200400" cy="2926080"/>
          </a:xfrm>
          <a:prstGeom prst="roundRect">
            <a:avLst>
              <a:gd name="adj" fmla="val 2500"/>
            </a:avLst>
          </a:prstGeom>
          <a:solidFill>
            <a:srgbClr val="3D1729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965960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873252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D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41248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ICD-11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595360" y="32918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3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 classification system coding every cause of death worldwide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59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COMPANION METRIC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Years of Potential Life Lost (YPLL)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356847" cy="4289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YPLL weights premature deaths more heavily than deaths near the end of the natural lifespan — a death at age 20 contributes far more YPLL than one at age 74.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YPLL useful for ranking causes of death by their impact on years of life foregone, not simply by death counts — a cause with fewer total deaths but a younger typical age at death can rank higher in YPLL than a cause with more deaths concentrated at old age.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Conceptually, YPLL is a precursor to YLL used in DALY calculations (Block 3) — both weight death by years of life foregone rather than treating every death identically.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52360" y="2103120"/>
            <a:ext cx="3977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59</a:t>
            </a:r>
            <a:endParaRPr lang="en-US" sz="1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92CC22-6235-6363-F8BB-8D547B6F6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500" y="1666090"/>
            <a:ext cx="6750987" cy="352581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Cause-of-Death Data Come From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6EFE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Civil registration (CRVS)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Medically certified cause of death recorded at time of registration — the gold standard where coverage is complete and coding quality is high.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6EFE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92024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26280" y="2560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Verbal autopsy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26280" y="30632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interview with family/caregivers after a death outside a health facility, used where medical certification is unavailable; algorithms assign a probable cause.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6EFE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192024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75320" y="2560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Modeled estimates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75320" y="30632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Global Health Estimates and the Global Burden of Disease study combine registration, surveys, and statistical models to fill gaps — essential for global comparisons, but estimates, not direct counts.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709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cross-country cause-of-death comparisons (such as GBD rankings, next slides) mix data of very different quality — always check a country's civil-registration completeness before over-interpreting small differences.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59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Quality: Garbage Codes &amp; Misclassification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b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n-US" b="1" i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codes" </a:t>
            </a: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(ill-defined or implausible causes, e.g., "old age," "cardiac arrest," or unspecified codes) are assigned when the true underlying cause could not be determined or was mis-recorded — WHO redistributes a share of these statistically before publishing cause rankings.</a:t>
            </a:r>
            <a:endParaRPr lang="en-US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b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autopsy </a:t>
            </a: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used where most deaths occur outside health facilities — depends on family recall and algorithmic classification; it performs well for some causes (e.g., maternal deaths, injuries) but poorly distinguishes among some chronic and infectious conditions with overlapping symptoms.</a:t>
            </a:r>
            <a:endParaRPr lang="en-US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b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Coding-practice differences across countries </a:t>
            </a: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(which ICD version, how multiple-cause deaths are prioritized, coder training) can create apparent trends or country differences that reflect measurement change, not real epidemiological change.</a:t>
            </a:r>
            <a:endParaRPr lang="en-US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b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rule for consuming cause-of-death statistics</a:t>
            </a: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always check whether a figure is a direct count from complete civil registration, or a modeled/adjusted estimate (e.g., GBD, WHO GHE) — and treat small year-to-year or country-to-country differences in modeled estimates with caution.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59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· REAL DATA (GBD 2021)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Leading Causes of Global Disease Burden, 2021</a:t>
            </a:r>
            <a:endParaRPr lang="en-US" sz="36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506026664"/>
              </p:ext>
            </p:extLst>
          </p:nvPr>
        </p:nvGraphicFramePr>
        <p:xfrm>
          <a:off x="548640" y="1645920"/>
          <a:ext cx="54864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169164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is the first year in which COVID-19 became the single leading cause of global health loss — ahead of ischaemic heart disease, neonatal disorders, and stroke, the diseases that had dominated every prior year of the previous decade.</a:t>
            </a:r>
            <a:endParaRPr lang="en-US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striking illustration of cause-of-death analysis in action: a single infectious disease reordered the global disease-burden ranking within about 18 months.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GBD 2021 Diseases and Injuries Collaborators (2024). Global incidence, prevalence, YLDs, DALYs, and HALE for 371 diseases and injuries, 1990–2021: GBD 2021. The Lancet. https://www.thelancet.com/journals/lancet/article/PIIS0140-6736(24)00757-8/fulltext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59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 · REAL DATA (GBD 2023 UPDATE)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Post-Pandemic Picture: GBD 2023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6EFE9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01368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2.80 bn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2569464"/>
            <a:ext cx="324612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global DALYs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for 2023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06240" y="169164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6EFE9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801368"/>
            <a:ext cx="3246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~65%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343400" y="2569464"/>
            <a:ext cx="324612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global death and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disability from NCDs alone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63840" y="1691640"/>
            <a:ext cx="3749040" cy="1463040"/>
          </a:xfrm>
          <a:prstGeom prst="roundRect">
            <a:avLst>
              <a:gd name="adj" fmla="val 5000"/>
            </a:avLst>
          </a:prstGeom>
          <a:solidFill>
            <a:srgbClr val="F6EFE9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1801368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3D6B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001000" y="2569464"/>
            <a:ext cx="347472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DALYs attributable to high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 blood pressure — the top risk factor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11064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GBD 2023 (published 2025) estimated burden for 375 diseases and injuries and 88 risk factors across 204 countries — the pandemic-era peak of COVID-19 DALYs has receded, and the world's disease-burden ranking has reverted toward its pre-pandemic pattern: ischaemic heart disease, stroke, and diabetes now again dominate the top of the list.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finding highlighted by IHME: overall mortality has continued to decline globally since 2021, but youth (adolescent and young-adult) deaths have risen in some regions and health inequities between the highest- and lowest-burden countries have widened rather than narrowed — a reminder that a falling global average can still mask worsening outcomes for specific groups.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GBD 2023 Diseases and Injuries Collaborators (2025). Burden of 375 diseases and injuries, risk-attributable burden of 88 risk factors, and healthy life expectancy in 204 countries and territories, 1990–2023: GBD 2023. The Lancet. https://www.sciencedirect.com/science/article/pii/S014067362501637X; Institute for Health Metrics and Evaluation (2025). GBD 2023 findings summary. https://www.healthdata.org/research-analysis/library/burden-375-diseases-and-injuries-risk-attributable-burden-88-risk-factors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9120" y="65038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59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 · REAL DATA, THAILAND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Thailand's NCD Burden, 2024–2025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6EFE9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01368"/>
            <a:ext cx="32461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2624328"/>
            <a:ext cx="324612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deaths in Thailand,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2024, attributable to NCDs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(~400,000 deaths)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06240" y="16916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6EFE9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801368"/>
            <a:ext cx="32461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343400" y="2624328"/>
            <a:ext cx="324612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Thai adults 60+ (≈7.4 million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people) live with a chronic NCD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63840" y="1691640"/>
            <a:ext cx="3749040" cy="1554480"/>
          </a:xfrm>
          <a:prstGeom prst="roundRect">
            <a:avLst>
              <a:gd name="adj" fmla="val 4706"/>
            </a:avLst>
          </a:prstGeom>
          <a:solidFill>
            <a:srgbClr val="F6EFE9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1801368"/>
            <a:ext cx="34747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4.4 bn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001000" y="2624328"/>
            <a:ext cx="347472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economic cost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NCDs to Thailand (2025)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3474720"/>
            <a:ext cx="11064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Thailand's top NCD killers — diabetes, cardiovascular disease, cancer, chronic respiratory disease, and mental-health disorders — are driven by five behavioral risk factors: air pollution, smoking, unhealthy diets, physical inactivity, and alcohol consumption.</a:t>
            </a:r>
            <a:endParaRPr lang="en-US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Premature exit from the labor market accounts for 86% of Thailand's total NCD-related economic losses: 52% from premature deaths and 34% from early retirement due to illness — a cause-of-death pattern with direct workforce and productivity implications, not just health-system implications.</a:t>
            </a:r>
            <a:endParaRPr lang="en-US" dirty="0"/>
          </a:p>
          <a:p>
            <a:pPr marL="228600" indent="-228600">
              <a:spcAft>
                <a:spcPts val="900"/>
              </a:spcAft>
              <a:buSzPct val="100000"/>
              <a:buChar char="▪"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mirrors the epidemiological-transition pattern discussed earlier: Thailand's cause-of-death profile is already NCD-dominant like Japan's, even though its life expectancy has not yet closed the gap.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Non-communicable diseases drive major economic losses in Thailand (2025, December 3). Khaosod English, reporting Thailand Ministry of Public Health / UN Thailand data. https://www.khaosodenglish.com/life/2025/12/03/non-communicable-diseases-drive-major-economic-losses-in-thailand/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59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 EXPERIMENT IN MORTALITY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COVID-19 as a Population Health Shock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589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gave demographers an unusually visible, globally synchronized mortality shock — with data published in near real time, contested in real time, and now revisited with several years of hindsight.</a:t>
            </a:r>
            <a:endParaRPr lang="en-US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mortality — deaths above what historical trends would predict — became the preferred way to measure COVID-19's true toll, because it captures both direct COVID deaths and indirect effects (disrupted health services, delayed care, economic stress) without depending on inconsistent testing or cause-of-death coding across countries.</a:t>
            </a:r>
            <a:endParaRPr lang="en-US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mid-2020s, a substantial retrospective literature has moved past acute-phase reporting toward assessing lasting effects on life expectancy, health-system resilience, and whether mortality has fully returned to pre-pandemic trends.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412480" y="1691640"/>
            <a:ext cx="3200400" cy="2926080"/>
          </a:xfrm>
          <a:prstGeom prst="roundRect">
            <a:avLst>
              <a:gd name="adj" fmla="val 2500"/>
            </a:avLst>
          </a:prstGeom>
          <a:solidFill>
            <a:srgbClr val="3D1729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965960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873252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D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41248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2020–25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595360" y="32918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3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years of evolving evidence, from acute shock to retrospective analysis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59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5 · REAL DATA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COVID-19 Erased a Decade of Life-Expectancy Gains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6EFE9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01368"/>
            <a:ext cx="32461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-1.8 yrs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624328"/>
            <a:ext cx="324612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life expectancy at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birth, years, 2019→2021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06240" y="16916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6EFE9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801368"/>
            <a:ext cx="32461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-1.5 yrs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343400" y="2624328"/>
            <a:ext cx="324612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healthy life expectancy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(HALE), years, 2019→2021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63840" y="1691640"/>
            <a:ext cx="3749040" cy="1554480"/>
          </a:xfrm>
          <a:prstGeom prst="roundRect">
            <a:avLst>
              <a:gd name="adj" fmla="val 4706"/>
            </a:avLst>
          </a:prstGeom>
          <a:solidFill>
            <a:srgbClr val="F6EFE9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1801368"/>
            <a:ext cx="347472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71.4 / 61.9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001000" y="2624328"/>
            <a:ext cx="347472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life expectancy / HALE,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(years)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11064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World Health Statistics 2024 report confirmed the pandemic reversed roughly a decade of global gains in life expectancy within just two years — global life expectancy fell to 71.4 years in 2021, back to its 2012 level.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life expectancy (HALE) fell in step, to 61.9 years — also a return to 2012 levels.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decline was not evenly distributed: the Americas region saw HALE fall from 65.18 (2019) to 62.38 (2021), and by 2023 remained about 0.69 years below its pre-pandemic peak — recovery has been real but incomplete (see Example 8, Block 3).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World Health Organization (2024). COVID-19 eliminated a decade of progress in global level of life expectancy. World Health Statistics 2024. https://www.who.int/news/item/24-05-2024-covid-19-eliminated-a-decade-of-progress-in-global-level-of-life-expectancy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59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6 · POST-PANDEMIC RETROSPECTIVE, 2025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 Excess Mortality Really Ended?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2025 ecological study in the International Journal of Epidemiology examined all-cause mortality across 21 countries and found sustained excess mortality persisting well beyond the acute pandemic phase — not a clean return to pre-2020 trends.</a:t>
            </a:r>
            <a:endParaRPr lang="en-US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explanations include: </a:t>
            </a:r>
            <a:r>
              <a:rPr lang="en-US" b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lingering effects of COVID-19 infection (including post-COVID condition), delayed diagnosis and treatment of chronic disease during the pandemic, and disrupted health-system capacity that has not fully recovered in every country.</a:t>
            </a:r>
            <a:endParaRPr lang="en-US" b="1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2025 US cohort study (JAMA Health Forum) similarly tracked excess deaths before, during, and after the pandemic, reinforcing that "post-pandemic" does not automatically mean "pre-pandemic baseline restored."</a:t>
            </a:r>
            <a:endParaRPr lang="en-US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lesson: excess-mortality estimates depend heavily on the choice of historical baseline and modeling method — a key critical-appraisal skill for consuming mortality statistics in the news.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Sustained excess all-cause mortality post COVID-19 in 21 countries: an ecological investigation (2025). International Journal of Epidemiology, 54(3). https://academic.oup.com/ije/article/54/3/dyaf075/8159616; Excess US deaths before, during, and after the COVID-19 pandemic (2025). JAMA Health Forum, via PubMed. https://pubmed.ncbi.nlm.nih.gov/40408091/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59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DISCUSSION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3444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from a Global Mortality Shock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2971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excess mortality be a more trustworthy cross-country measure of COVID-19's impact than official COVID-19 death counts?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251960" y="169164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196596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80560" y="2651760"/>
            <a:ext cx="2971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at least two reasons excess mortality could remain elevated years after the acute pandemic phase ended?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955280" y="169164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3880" y="196596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183880" y="2651760"/>
            <a:ext cx="2971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explain to a policymaker why 'life expectancy has recovered to 2019 levels' and 'excess mortality is still occurring' are not necessarily contradictory statements?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59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3D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8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800" dirty="0"/>
          </a:p>
        </p:txBody>
      </p:sp>
      <p:sp>
        <p:nvSpPr>
          <p:cNvPr id="3" name="Text 1"/>
          <p:cNvSpPr/>
          <p:nvPr/>
        </p:nvSpPr>
        <p:spPr>
          <a:xfrm>
            <a:off x="685800" y="3246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· 2:00–2:45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Measures of Population Health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7091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F3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mortality and morbidity into single indicators — DALYs, YLL, YLD, and healthy life expectancy — and the disability frameworks behind them.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59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SUMMARIZE HEALTH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Measures of Population Health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589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rates alone miss a large share of the health burden: chronic illness, injury, and disability reduce wellbeing and productivity without necessarily causing death.</a:t>
            </a:r>
            <a:endParaRPr lang="en-US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measures of population health combine mortality and non-fatal health loss into a single number, enabling comparison across diseases, countries, and time in one consistent unit.</a:t>
            </a:r>
            <a:endParaRPr lang="en-US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methodological and ethical foundations for these measures — comparability, valuation of health states, and the policy uses and misuses of a single number — were formalized in a landmark WHO volume.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412480" y="1691640"/>
            <a:ext cx="3200400" cy="2926080"/>
          </a:xfrm>
          <a:prstGeom prst="roundRect">
            <a:avLst>
              <a:gd name="adj" fmla="val 2500"/>
            </a:avLst>
          </a:prstGeom>
          <a:solidFill>
            <a:srgbClr val="3D1729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965960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873252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D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41248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595360" y="32918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3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landmark WHO volume defining today's summary health measures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Murray, C. J. L., Salomon, J. A., Mathers, C. D., &amp; Lopez, A. D. (Eds.). (2002). Summary measures of population health: Concepts, ethics, measurement and applications. World Health Organization. https://iris.who.int/handle/10665/42439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59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METRIC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Disability-Adjusted Life Years (DALYs)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72160" cy="445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DALYs let a single unit combine dying young (YLL) and living with illness or impairment (YLD) — essential because these two burdens are otherwise not comparable.</a:t>
            </a:r>
            <a:endParaRPr lang="en-US" sz="20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YLD requires a disability weight (0 = full health, 1 = death-equivalent) for each health state, derived from large population surveys asking people to compare health states — a deliberately value-laden, and openly debated, step (Murray et al., 2002).</a:t>
            </a:r>
            <a:endParaRPr lang="en-US" sz="20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20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DALYs are the core metric of the Global Burden of Disease (GBD) study, used in Examples 2 and 3 of this session.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80538" y="1691639"/>
            <a:ext cx="5778062" cy="3637105"/>
          </a:xfrm>
          <a:prstGeom prst="roundRect">
            <a:avLst>
              <a:gd name="adj" fmla="val 2353"/>
            </a:avLst>
          </a:prstGeom>
          <a:solidFill>
            <a:srgbClr val="3D172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59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7CFED6-E4E6-AC07-11DC-A27A6DD9E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276" y="2124078"/>
            <a:ext cx="5458586" cy="277222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Computing a DALY Estimate — Road-Traffic Injury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dies of a road-traffic injury at age 30. Standard life expectancy at age 30 is 50 more years.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4800600" cy="502920"/>
          </a:xfrm>
          <a:prstGeom prst="roundRect">
            <a:avLst>
              <a:gd name="adj" fmla="val 14545"/>
            </a:avLst>
          </a:prstGeom>
          <a:solidFill>
            <a:srgbClr val="3D1729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9260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YLL = 50 years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Separately, 100 people in a population live with moderate hearing loss (disability weight = 0.02) for 1 year each.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4389120"/>
            <a:ext cx="4800600" cy="502920"/>
          </a:xfrm>
          <a:prstGeom prst="roundRect">
            <a:avLst>
              <a:gd name="adj" fmla="val 14545"/>
            </a:avLst>
          </a:prstGeom>
          <a:solidFill>
            <a:srgbClr val="3D1729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3891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YLD = 100 × 1 × 0.02 = 2 years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22960" y="5074920"/>
            <a:ext cx="4800600" cy="685800"/>
          </a:xfrm>
          <a:prstGeom prst="roundRect">
            <a:avLst>
              <a:gd name="adj" fmla="val 10667"/>
            </a:avLst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507492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DALYs = 50 + 2 = 52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26480" y="18745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this result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26480" y="2240280"/>
            <a:ext cx="5349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how a single premature death (50 YLL) can outweigh a much larger number of people living with a mild condition (2 YLD from 100 people) — DALYs make this trade-off explicit and comparable.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GBD calculations sum YLL and YLD across every age, sex, cause, and location — this is the same logic applied at national and global scale.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59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2 · DIFFERENT CONDITION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Computing a DALY Estimate — Type 2 Diabetes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6EFE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dies of complications of type 2 diabetes at age 58. Standard life expectancy at age 58 is 24 more years.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4800600" cy="502920"/>
          </a:xfrm>
          <a:prstGeom prst="roundRect">
            <a:avLst>
              <a:gd name="adj" fmla="val 14545"/>
            </a:avLst>
          </a:prstGeom>
          <a:solidFill>
            <a:srgbClr val="3D1729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9260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YLL = 24 years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Separately, 40 people live with diabetes with complications (disability weight ≈ 0.15, per GBD disability-weight sets) for an average of 8 years each.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4389120"/>
            <a:ext cx="4800600" cy="502920"/>
          </a:xfrm>
          <a:prstGeom prst="roundRect">
            <a:avLst>
              <a:gd name="adj" fmla="val 14545"/>
            </a:avLst>
          </a:prstGeom>
          <a:solidFill>
            <a:srgbClr val="3D1729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3891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YLD = 40 × 8 × 0.15 = 48 years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5074920"/>
            <a:ext cx="4800600" cy="685800"/>
          </a:xfrm>
          <a:prstGeom prst="roundRect">
            <a:avLst>
              <a:gd name="adj" fmla="val 10667"/>
            </a:avLst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507492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DALYs = 24 + 48 = 72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126480" y="18745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this result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26480" y="2240280"/>
            <a:ext cx="5349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the road-injury example, here YLD (48) outweighs YLL (24) — this is characteristic of chronic NCDs like diabetes, which cause prolonged disability more often than they cause young, sudden deaths.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why Thailand's rising NCD burden (Example 4) shows up strongly in DALYs even where mortality alone might look moderate: chronic disability accumulates over many years lived, not just at the moment of death.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59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6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DECOMPOSING A REAL DISEASE BURDEN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YLL vs. YLD: Ischaemic Heart Disease vs. Low Back Pain</a:t>
            </a:r>
            <a:endParaRPr lang="en-US" sz="36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4139405143"/>
              </p:ext>
            </p:extLst>
          </p:nvPr>
        </p:nvGraphicFramePr>
        <p:xfrm>
          <a:off x="457200" y="1825725"/>
          <a:ext cx="5852160" cy="3846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675120" y="169164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Ischaemic heart disease is overwhelmingly a mortality-driven cause: in GBD accounting, roughly 90%+ of its DALYs come from YLL (premature death), because it kills relatively quickly once symptomatic and is a leading global cause of death (Example 2).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back pain, by contrast, is almost entirely a disability-driven cause: it very rarely causes death, so essentially all of its DALYs are YLD — yet it remains one of the world's leading causes of disability, a fact invisible to any mortality-only statistic.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contrast is exactly why GBD reports DALYs (not just deaths): ranking causes by death counts alone would make low back pain disappear from the list entirely, even though it substantially reduces population wellbeing and productivity.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approximate, illustrative compositions consistent with published GBD YLL/YLD patterns for these two causes; exact shares vary by year, country, and GBD round.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59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CORRECTLY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Misconceptions About DALYs and HALE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6EFE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47672"/>
            <a:ext cx="457200" cy="45720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high-DALY cause is always a high-death-count cause.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2402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necessarily — as the previous slide shows, a cause can rank high in DALYs primarily through YLD (disability), with very few deaths. Always check the YLL/YLD split before assuming "high DALYs" means "high mortality."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456432"/>
            <a:ext cx="457200" cy="45720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417320" y="331012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HALE and life expectancy always move in the same direction.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7490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usually move together, but not always by the same amount — a population can gain years of life expectancy while HALE grows more slowly (or even stalls), if those extra years are increasingly spent in poor health.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6EFE9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965192"/>
            <a:ext cx="457200" cy="457200"/>
          </a:xfrm>
          <a:prstGeom prst="ellipse">
            <a:avLst/>
          </a:prstGeom>
          <a:solidFill>
            <a:srgbClr val="8C2F3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417320" y="481888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Disability weights are objective, universal facts about a disease.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52578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survey-based value judgments about how much a health state reduces wellbeing relative to full health — reasonable people and cultures can and do disagree about them (Murray et al., 2002).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59</a:t>
            </a:r>
            <a:endParaRPr lang="en-US" sz="10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DISABILITY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Domains Behind Disability Measurement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EAF0E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3D6B7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Self-care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Bathing, dressing, eating, toileting without assistance.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EAF0E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920240"/>
            <a:ext cx="457200" cy="457200"/>
          </a:xfrm>
          <a:prstGeom prst="ellipse">
            <a:avLst/>
          </a:prstGeom>
          <a:solidFill>
            <a:srgbClr val="3D6B7D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26280" y="2560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Mobility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26280" y="3017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Walking, climbing stairs, moving from one place to another.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EAF0E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1920240"/>
            <a:ext cx="457200" cy="457200"/>
          </a:xfrm>
          <a:prstGeom prst="ellipse">
            <a:avLst/>
          </a:prstGeom>
          <a:solidFill>
            <a:srgbClr val="3D6B7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75320" y="2560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75320" y="30175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Speaking, understanding, seeing, and hearing well enough to interact.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11064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functional domains — used in instruments such as the WHO Disability Assessment Schedule (WHODAS) and national disability surveys — describe what a person can and cannot do, independent of diagnosis.</a:t>
            </a:r>
            <a:endParaRPr lang="en-US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feed directly into disability weights for YLD calculations: a health state that severely impairs mobility and self-care receives a higher disability weight than one that affects only, say, mild communication difficulty.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59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INDICATOR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 Life Expectancy (HALE)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309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HALE is conceptually life expectancy minus the equivalent years lost to disability — computed using the same disability weights that underlie YLD.</a:t>
            </a:r>
            <a:endParaRPr lang="en-US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answers a different policy question than life expectancy alone: not just "how long do people live" but "how long do people live well."</a:t>
            </a:r>
            <a:endParaRPr lang="en-US" dirty="0"/>
          </a:p>
          <a:p>
            <a:pPr marL="228600" indent="-228600">
              <a:spcAft>
                <a:spcPts val="1300"/>
              </a:spcAft>
              <a:buSzPct val="100000"/>
              <a:buChar char="▪"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and the GBD study both publish HALE by country, sex, and year, making it one of the most widely used single indicators of population health.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223760" y="1691640"/>
            <a:ext cx="4434840" cy="3108960"/>
          </a:xfrm>
          <a:prstGeom prst="roundRect">
            <a:avLst>
              <a:gd name="adj" fmla="val 2353"/>
            </a:avLst>
          </a:prstGeom>
          <a:solidFill>
            <a:srgbClr val="3D1729"/>
          </a:solidFill>
          <a:ln/>
        </p:spPr>
      </p:sp>
      <p:sp>
        <p:nvSpPr>
          <p:cNvPr id="6" name="Text 4"/>
          <p:cNvSpPr/>
          <p:nvPr/>
        </p:nvSpPr>
        <p:spPr>
          <a:xfrm>
            <a:off x="7452360" y="196596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452360" y="2606040"/>
            <a:ext cx="3977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3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number of years a person can expect to live in "full health," accounting for time lived in less-than-full health due to disease or injury.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59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6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7 · REAL DATA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HALE Recovery Remains Incomplete in the Americas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680978476"/>
              </p:ext>
            </p:extLst>
          </p:nvPr>
        </p:nvGraphicFramePr>
        <p:xfrm>
          <a:off x="548640" y="1645920"/>
          <a:ext cx="55778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400800" y="1691640"/>
            <a:ext cx="5212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HALE in the Americas rose steadily from 63.05 years (2000) to a pre-pandemic peak of 65.18 years (2019), then fell sharply to 62.38 years during the acute pandemic phase (2021).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2023, HALE had recovered to 64.49 years — better, but still about 0.69 years below the 2019 peak.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"incomplete recovery" pattern seen globally in Example 5, now shown as a time series rather than a two-point comparison.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Pan American Health Organization (2024/2025). Health-adjusted life expectancy (HALE). PAHO Enhanced Evidence and Intelligence for Action in Health. https://pbdigital.paho.org/en/eob-2024-2025/impact-results/02-health-adjusted-life-expectancy-hale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59</a:t>
            </a:r>
            <a:endParaRPr lang="en-US" sz="10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6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DISCUSSION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3444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Summary Measures Responsibly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2971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Murray et al. (2002) stress that disability weights involve value judgments. What ethical concerns arise from assigning a single numeric weight to a health state?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251960" y="169164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196596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80560" y="2651760"/>
            <a:ext cx="2971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a country with rising life expectancy but flat HALE be a policy concern, even if headline "years of life" numbers look positive?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955280" y="169164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3880" y="196596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183880" y="2651760"/>
            <a:ext cx="2971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were advising Thailand's Ministry of Public Health, would you prioritize tracking DALYs, HALE, or cause-specific mortality rates for elderly-care policy? Justify your choice.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59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Formulas at a Glance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576072"/>
          </a:xfrm>
          <a:prstGeom prst="roundRect">
            <a:avLst>
              <a:gd name="adj" fmla="val 12698"/>
            </a:avLst>
          </a:prstGeom>
          <a:solidFill>
            <a:srgbClr val="F6EFE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3931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Crude Death Rate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1645920"/>
            <a:ext cx="6583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0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(Total deaths ÷ Mid-year population) × 1,000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1106424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86000"/>
            <a:ext cx="3931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Age-Specific Mortality Rate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2286000"/>
            <a:ext cx="6583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0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(Deaths at age x ÷ Population at age x) × 1,000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1064240" cy="576072"/>
          </a:xfrm>
          <a:prstGeom prst="roundRect">
            <a:avLst>
              <a:gd name="adj" fmla="val 12698"/>
            </a:avLst>
          </a:prstGeom>
          <a:solidFill>
            <a:srgbClr val="F6EFE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26080"/>
            <a:ext cx="3931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Age-Standardized Rate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2926080"/>
            <a:ext cx="6583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0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(Study ASMR × Standard pop. weight) ÷ Σ Standard pop.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1106424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66160"/>
            <a:ext cx="3931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Standardized Mortality Ratio (indirect)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3566160"/>
            <a:ext cx="6583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0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(Observed deaths ÷ Expected deaths) × 100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11064240" cy="576072"/>
          </a:xfrm>
          <a:prstGeom prst="roundRect">
            <a:avLst>
              <a:gd name="adj" fmla="val 12698"/>
            </a:avLst>
          </a:prstGeom>
          <a:solidFill>
            <a:srgbClr val="F6EFE9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06240"/>
            <a:ext cx="3931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YPLL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4206240"/>
            <a:ext cx="6583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0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(Reference age − Age at death), summed across deaths below reference age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1106424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846320"/>
            <a:ext cx="3931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6320" y="4846320"/>
            <a:ext cx="6583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0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YLL + YLD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5486400"/>
            <a:ext cx="11064240" cy="576072"/>
          </a:xfrm>
          <a:prstGeom prst="roundRect">
            <a:avLst>
              <a:gd name="adj" fmla="val 12698"/>
            </a:avLst>
          </a:prstGeom>
          <a:solidFill>
            <a:srgbClr val="F6EFE9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486400"/>
            <a:ext cx="3931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46320" y="5486400"/>
            <a:ext cx="65836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0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 expectancy, adjusted for time lived in less-than-full health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59</a:t>
            </a:r>
            <a:endParaRPr lang="en-US" sz="10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4 — Key Takeaways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589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crude death rate is easy to compute but confounds mortality risk with age structure; age-specific rates and standardization (direct or indirect) correct for this — as shown with both illustrative and real Thailand/Japan worked examples.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standardization needs the study population's own age-specific rates; indirect standardization (via the SMR) needs only its age structure and total deaths, applied to a standard population's rates. Both point to the same conclusion when applied to the same real data.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Cause-of-death analysis, powered by ICD coding and studies like the Global Burden of Disease, shows that even a single pandemic year (COVID-19, 2021) can reorder the world's leading causes of health loss — and that recovery, per 2024–2025 retrospective evidence, has been real but incomplete.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DALYs (= YLL + YLD) and HALE combine mortality and morbidity into single, comparable measures of population health, resting on the conceptual and ethical foundations laid out by Murray et al. (2002) — essential tools for any modern demographic analysis of health, including Thailand's rapidly growing NCD burden.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412480" y="1691640"/>
            <a:ext cx="3200400" cy="2926080"/>
          </a:xfrm>
          <a:prstGeom prst="roundRect">
            <a:avLst>
              <a:gd name="adj" fmla="val 2500"/>
            </a:avLst>
          </a:prstGeom>
          <a:solidFill>
            <a:srgbClr val="3D1729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965960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873252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D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41248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595360" y="32918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3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skills from this session: CDR/ASMR, standardization, cause-of-death, DALY/HALE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59</a:t>
            </a:r>
            <a:endParaRPr lang="en-US" sz="10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(1 of 3)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Ahmad, O. B., Boschi-Pinto, C., Lopez, A. D., Murray, C. J. L., Lozano, R., &amp; Inoue, M. (2001). Age standardization of rates: A new WHO standard (GPE Discussion Paper No. 31). World Health Organization. https://cdn.who.int/media/docs/default-source/gho-documents/global-health-estimates/gpe_discussion_paper_series_paper31_2001_age_standardization_rates.pdf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GBD 2021 Diseases and Injuries Collaborators. (2024). Global incidence, prevalence, years lived with disability (YLDs), disability-adjusted life-years (DALYs), and healthy life expectancy (HALE) for 371 diseases and injuries, 1990–2021: A systematic analysis for the Global Burden of Disease Study 2021. The Lancet. https://www.thelancet.com/journals/lancet/article/PIIS0140-6736(24)00757-8/fulltext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GBD 2023 Diseases and Injuries Collaborators. (2025). Burden of 375 diseases and injuries, risk-attributable burden of 88 risk factors, and healthy life expectancy in 204 countries and territories, including 660 subnational locations, 1990–2023: A systematic analysis for the Global Burden of Disease Study 2023. The Lancet. https://www.sciencedirect.com/science/article/pii/S014067362501637X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for Health Metrics and Evaluation. (2025). Burden of 375 diseases and injuries, risk-attributable burden of 88 risk factors, and healthy life expectancy in 204 countries and territories: GBD 2023 [Research summary]. https://www.healthdata.org/research-analysis/library/burden-375-diseases-and-injuries-risk-attributable-burden-88-risk-factors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Murray, C. J. L., Salomon, J. A., Mathers, C. D., &amp; Lopez, A. D. (Eds.). (2002). Summary measures of population health: Concepts, ethics, measurement and applications. World Health Organization. https://iris.who.int/handle/10665/42439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59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(2 of 3)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Health Organization. (2024). COVID-19 eliminated a decade of progress in global level of life expectancy. https://www.who.int/news/item/24-05-2024-covid-19-eliminated-a-decade-of-progress-in-global-level-of-life-expectancy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excess all-cause mortality post COVID-19 in 21 countries: An ecological investigation. (2025). International Journal of Epidemiology, 54(3), dyaf075. https://academic.oup.com/ije/article/54/3/dyaf075/8159616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US deaths before, during, and after the COVID-19 pandemic. (2025). JAMA Health Forum, via PubMed. https://pubmed.ncbi.nlm.nih.gov/40408091/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American Health Organization. (2024/2025). Health-adjusted life expectancy (HALE). Enhanced Evidence and Intelligence for Action in Health. https://pbdigital.paho.org/en/eob-2024-2025/impact-results/02-health-adjusted-life-expectancy-hale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Health Organization. (2025). Healthy life expectancy at birth (years). WHO Data. https://data.who.int/indicators/i/48D9B0C/C64284D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59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(3 of 3)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Macrotrends. (2025). Thailand life expectancy 1950–2025, compiling UN World Population Prospects data. https://www.macrotrends.net/global-metrics/countries/tha/thailand/life-expectancy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for Population and Social Research, Mahidol University. (2024). Mahidol population gazette (Vol. 33). https://ipsr.mahidol.ac.th/wp-content/uploads/2024/01/Gazette2024EN.pdf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Nations, Department of Economic and Social Affairs, Population Division. (2024). World Population Prospects 2024: Deaths, Thailand, compiled via Database.Earth. https://database.earth/population/thailand/deaths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GeoRank. (2026). Thailand and Japan: Life expectancy 1950–2026 &amp; calculator by age, compiling UN World Population Prospects 2026 revision. https://georank.org/life-expectancy/thailand and https://georank.org/life-expectancy/japan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Population Review. (2026). Life expectancy in Asia 2026, compiling UN World Population Prospects and World Bank data. https://worldpopulationreview.com/country-rankings/life-expectancy-in-asia</a:t>
            </a:r>
            <a:endParaRPr lang="en-US" sz="125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Non-communicable diseases drive major economic losses in Thailand. (2025, December 3). Khaosod English. https://www.khaosodenglish.com/life/2025/12/03/non-communicable-diseases-drive-major-economic-losses-in-thailand/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59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3D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8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800" dirty="0"/>
          </a:p>
        </p:txBody>
      </p:sp>
      <p:sp>
        <p:nvSpPr>
          <p:cNvPr id="3" name="Text 1"/>
          <p:cNvSpPr/>
          <p:nvPr/>
        </p:nvSpPr>
        <p:spPr>
          <a:xfrm>
            <a:off x="685800" y="3246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· 2:55–3:00 (ASSIGN AS HOMEWORK)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Exercises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7091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F3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Eighteen questions spanning conceptual understanding and hands-on calculation — mortality-rate, standardization, cause-of-death, and DALY/HALE problems, several using this session's real Thailand and Japan data.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59</a:t>
            </a:r>
            <a:endParaRPr lang="en-US" sz="10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1–5: Mortality Rates &amp; Standardization Concepts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Define the crude death rate and explain why it can mislead when comparing two populations with different age structures.</a:t>
            </a:r>
            <a:endParaRPr lang="en-US" sz="1600" dirty="0"/>
          </a:p>
          <a:p>
            <a:pPr marL="0" indent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is the key difference between direct and indirect age standardization — and what data does each require?</a:t>
            </a:r>
            <a:endParaRPr lang="en-US" sz="1600" dirty="0"/>
          </a:p>
          <a:p>
            <a:pPr marL="0" indent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 population of 250,000 records 2,150 deaths in a year. Calculate the crude death rate per 1,000.</a:t>
            </a:r>
            <a:endParaRPr lang="en-US" sz="1600" dirty="0"/>
          </a:p>
          <a:p>
            <a:pPr marL="0" indent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Explain, in your own words, what a Standardized Mortality Ratio (SMR) of 85 would mean for a study population.</a:t>
            </a:r>
            <a:endParaRPr lang="en-US" sz="1600" dirty="0"/>
          </a:p>
          <a:p>
            <a:pPr marL="0" indent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Why is proportional mortality (% of deaths from a given cause) not a substitute for a population-based cause-specific mortality rate?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59</a:t>
            </a:r>
            <a:endParaRPr lang="en-US" sz="10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6–10: Worked Calculations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Using this session's direct-standardization worked example (illustrative data), recompute Population A's ASDR if its 65+ ASMR rises from 45.0 to 55.0 per 1,000 (standard weights unchanged). Show your work.</a:t>
            </a:r>
            <a:endParaRPr lang="en-US" sz="1600" dirty="0"/>
          </a:p>
          <a:p>
            <a:pPr marL="0" indent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 study population of 20,000 has 3,000 aged 0–14 (standard ASMR 0.5/1,000), 14,000 aged 15–64 (standard ASMR 3.0/1,000), and 3,000 aged 65+ (standard ASMR 48.0/1,000). Calculate expected deaths.</a:t>
            </a:r>
            <a:endParaRPr lang="en-US" sz="1600" dirty="0"/>
          </a:p>
          <a:p>
            <a:pPr marL="0" indent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If the study population in Q7 actually recorded 210 observed deaths, calculate its SMR and interpret the result.</a:t>
            </a:r>
            <a:endParaRPr lang="en-US" sz="1600" dirty="0"/>
          </a:p>
          <a:p>
            <a:pPr marL="0" indent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A person dies at age 45 from a cause with a standard remaining life expectancy of 35 years. Separately, 50 people live with a health state (disability weight 0.10) for 2 years each. Calculate total DALYs (YLL + YLD).</a:t>
            </a:r>
            <a:endParaRPr lang="en-US" sz="1600" dirty="0"/>
          </a:p>
          <a:p>
            <a:pPr marL="0" indent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Explain how you would decide which age groups and how many (e.g., 5-year bands vs. three broad bands) to use when performing standardization for a real dataset.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/ 59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11–15: Cause of Death, COVID-19 &amp; Summary Measures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Why did COVID-19 become the single leading global cause of DALYs in 2021, and what does the GBD 2023 update (Example 3) tell us about how the ranking has shifted since?</a:t>
            </a:r>
            <a:endParaRPr lang="en-US" sz="1600" dirty="0"/>
          </a:p>
          <a:p>
            <a:pPr marL="0" indent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Distinguish 'excess mortality' from 'COVID-19 deaths' as reported in official statistics. Why do researchers often prefer the former for cross-country comparison?</a:t>
            </a:r>
            <a:endParaRPr lang="en-US" sz="1600" dirty="0"/>
          </a:p>
          <a:p>
            <a:pPr marL="0" indent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Using the HALE time series from Example 7 (63.05 in 2000, 65.18 in 2019, 62.38 in 2021, 64.49 in 2023), calculate the percentage-point recovery from the pandemic trough (2021) to 2023, and the remaining gap to the 2019 peak.</a:t>
            </a:r>
            <a:endParaRPr lang="en-US" sz="1600" dirty="0"/>
          </a:p>
          <a:p>
            <a:pPr marL="0" indent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Explain the conceptual difference between life expectancy and healthy life expectancy (HALE), and describe one policy scenario where the two measures would tell different stories.</a:t>
            </a:r>
            <a:endParaRPr lang="en-US" sz="1600" dirty="0"/>
          </a:p>
          <a:p>
            <a:pPr marL="0" indent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Murray et al. (2002) argue that summary measures like DALYs involve ethical choices, not just technical calculation. Give one example of such a choice and discuss its implications.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/ 59</a:t>
            </a:r>
            <a:endParaRPr lang="en-US" sz="10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16–18: Applying This Session's Real Data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Using the real Thailand and Japan direct-standardization worked example (this session), explain in your own words why Thailand's standardized rate (≈5.27/1,000) is lower than its own crude death rate (≈9.0/1,000), while Japan's standardized and crude rates are closer together.</a:t>
            </a:r>
            <a:endParaRPr lang="en-US" dirty="0"/>
          </a:p>
          <a:p>
            <a:pPr marL="0" indent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Using the real SMR worked example (Thailand's observed vs. Japan-standard expected deaths), calculate what Thailand's SMR would be if its observed deaths had instead been 550,000 (all else unchanged). Interpret the change.</a:t>
            </a:r>
            <a:endParaRPr lang="en-US" dirty="0"/>
          </a:p>
          <a:p>
            <a:pPr marL="0" indent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Using the Thailand NCD statistics (Example 4) and the YLL-vs-YLD decomposition (ischaemic heart disease vs. low back pain), argue whether Thailand's public-health priority should lean more toward reducing premature NCD deaths (YLL) or reducing years lived with NCD-related disability (YLD) — and what additional data you would want before deciding.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/ 59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3D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56032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3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continuing our study of demographic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75608" y="4846320"/>
            <a:ext cx="38404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50749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3E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5140602 Fundamental Demographic Analysis · College of Population Studies, Chulalongkorn University · Asst. Prof. Dr. Ruttiya Bhula-or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Mortality, Morbidity &amp; Population Health Measurement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/ 59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9213</Words>
  <Application>Microsoft Office PowerPoint</Application>
  <PresentationFormat>Widescreen</PresentationFormat>
  <Paragraphs>812</Paragraphs>
  <Slides>59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4: Mortality, Morbidity, and Population Health Measurement</dc:title>
  <dc:subject>PptxGenJS Presentation</dc:subject>
  <dc:creator>Asst. Prof. Dr. Ruttiya Bhula-or</dc:creator>
  <cp:lastModifiedBy>RB</cp:lastModifiedBy>
  <cp:revision>54</cp:revision>
  <dcterms:created xsi:type="dcterms:W3CDTF">2026-08-16T15:18:31Z</dcterms:created>
  <dcterms:modified xsi:type="dcterms:W3CDTF">2026-08-24T16:47:39Z</dcterms:modified>
</cp:coreProperties>
</file>