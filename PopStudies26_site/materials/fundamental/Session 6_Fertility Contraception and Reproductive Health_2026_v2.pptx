
<file path=[Content_Types].xml><?xml version="1.0" encoding="utf-8"?>
<Types xmlns="http://schemas.openxmlformats.org/package/2006/content-types">
  <Default ContentType="application/vnd.openxmlformats-officedocument.spreadsheetml.sheet" Extension="xlsx"/>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8" roundtripDataSignature="AMtx7mhWSMTqAUVDymcPFVt+zeTJ80o9u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998C3F9-B6B7-4C79-884C-0743C8849AFD}">
  <a:tblStyle styleId="{1998C3F9-B6B7-4C79-884C-0743C8849AF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14" Type="http://schemas.openxmlformats.org/officeDocument/2006/relationships/slide" Target="slides/slide9.xml"/><Relationship Id="rId58"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6D2E46"/>
                </a:solidFill>
                <a:latin typeface="Calibri"/>
              </a:defRPr>
            </a:pPr>
            <a:r>
              <a:rPr lang="en-US" sz="1300" b="0" i="0" u="none" strike="noStrike">
                <a:solidFill>
                  <a:srgbClr val="6D2E46"/>
                </a:solidFill>
                <a:latin typeface="Calibri"/>
              </a:rPr>
              <a:t>Illustrative ASFR Schedule</a:t>
            </a:r>
          </a:p>
        </c:rich>
      </c:tx>
      <c:overlay val="0"/>
    </c:title>
    <c:autoTitleDeleted val="0"/>
    <c:plotArea>
      <c:layout/>
      <c:barChart>
        <c:barDir val="col"/>
        <c:grouping val="clustered"/>
        <c:varyColors val="0"/>
        <c:ser>
          <c:idx val="0"/>
          <c:order val="0"/>
          <c:tx>
            <c:strRef>
              <c:f>Sheet1!$B$1</c:f>
              <c:strCache>
                <c:ptCount val="1"/>
                <c:pt idx="0">
                  <c:v>ASFR (per 1,000 women)</c:v>
                </c:pt>
              </c:strCache>
            </c:strRef>
          </c:tx>
          <c:spPr>
            <a:solidFill>
              <a:srgbClr val="6D2E46"/>
            </a:solidFill>
            <a:effectLst/>
          </c:spPr>
          <c:invertIfNegative val="0"/>
          <c:dLbls>
            <c:numFmt formatCode="#,##0" sourceLinked="0"/>
            <c:spPr>
              <a:noFill/>
              <a:ln>
                <a:noFill/>
              </a:ln>
              <a:effectLst/>
            </c:spPr>
            <c:txPr>
              <a:bodyPr/>
              <a:lstStyle/>
              <a:p>
                <a:pPr>
                  <a:defRPr sz="1000" b="0" i="0" u="none" strike="noStrike">
                    <a:solidFill>
                      <a:srgbClr val="2D2A2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15-19</c:v>
                </c:pt>
                <c:pt idx="1">
                  <c:v>20-24</c:v>
                </c:pt>
                <c:pt idx="2">
                  <c:v>25-29</c:v>
                </c:pt>
                <c:pt idx="3">
                  <c:v>30-34</c:v>
                </c:pt>
                <c:pt idx="4">
                  <c:v>35-39</c:v>
                </c:pt>
                <c:pt idx="5">
                  <c:v>40-44</c:v>
                </c:pt>
                <c:pt idx="6">
                  <c:v>45-49</c:v>
                </c:pt>
              </c:strCache>
            </c:strRef>
          </c:cat>
          <c:val>
            <c:numRef>
              <c:f>Sheet1!$B$2:$B$8</c:f>
              <c:numCache>
                <c:formatCode>General</c:formatCode>
                <c:ptCount val="7"/>
                <c:pt idx="0">
                  <c:v>8</c:v>
                </c:pt>
                <c:pt idx="1">
                  <c:v>45</c:v>
                </c:pt>
                <c:pt idx="2">
                  <c:v>78</c:v>
                </c:pt>
                <c:pt idx="3">
                  <c:v>62</c:v>
                </c:pt>
                <c:pt idx="4">
                  <c:v>28</c:v>
                </c:pt>
                <c:pt idx="5">
                  <c:v>7</c:v>
                </c:pt>
                <c:pt idx="6">
                  <c:v>0.5</c:v>
                </c:pt>
              </c:numCache>
            </c:numRef>
          </c:val>
          <c:extLst>
            <c:ext xmlns:c16="http://schemas.microsoft.com/office/drawing/2014/chart" uri="{C3380CC4-5D6E-409C-BE32-E72D297353CC}">
              <c16:uniqueId val="{00000000-1487-4E5E-9065-6DD2410AEA74}"/>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D2A2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3D5C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2D2A2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6D2E46"/>
                </a:solidFill>
                <a:latin typeface="Calibri"/>
              </a:defRPr>
            </a:pPr>
            <a:r>
              <a:rPr lang="en-US" sz="1300" b="0" i="0" u="none" strike="noStrike">
                <a:solidFill>
                  <a:srgbClr val="6D2E46"/>
                </a:solidFill>
                <a:latin typeface="Calibri"/>
              </a:rPr>
              <a:t>Two ASFR Schedules Compared</a:t>
            </a:r>
          </a:p>
        </c:rich>
      </c:tx>
      <c:overlay val="0"/>
    </c:title>
    <c:autoTitleDeleted val="0"/>
    <c:plotArea>
      <c:layout/>
      <c:lineChart>
        <c:grouping val="standard"/>
        <c:varyColors val="0"/>
        <c:ser>
          <c:idx val="0"/>
          <c:order val="0"/>
          <c:tx>
            <c:strRef>
              <c:f>Sheet1!$B$1</c:f>
              <c:strCache>
                <c:ptCount val="1"/>
                <c:pt idx="0">
                  <c:v>Thailand-like (illustrative, Slide 15)</c:v>
                </c:pt>
              </c:strCache>
            </c:strRef>
          </c:tx>
          <c:spPr>
            <a:ln w="31750" cap="flat">
              <a:solidFill>
                <a:srgbClr val="A26769"/>
              </a:solidFill>
              <a:prstDash val="solid"/>
              <a:round/>
            </a:ln>
            <a:effectLst/>
          </c:spPr>
          <c:marker>
            <c:symbol val="circle"/>
            <c:size val="6"/>
            <c:spPr>
              <a:solidFill>
                <a:srgbClr val="A26769"/>
              </a:solidFill>
              <a:ln w="9525" cap="flat">
                <a:solidFill>
                  <a:srgbClr val="A26769"/>
                </a:solidFill>
                <a:prstDash val="solid"/>
                <a:round/>
              </a:ln>
              <a:effectLst/>
            </c:spPr>
          </c:marker>
          <c:cat>
            <c:strRef>
              <c:f>Sheet1!$A$2:$A$8</c:f>
              <c:strCache>
                <c:ptCount val="7"/>
                <c:pt idx="0">
                  <c:v>15-19</c:v>
                </c:pt>
                <c:pt idx="1">
                  <c:v>20-24</c:v>
                </c:pt>
                <c:pt idx="2">
                  <c:v>25-29</c:v>
                </c:pt>
                <c:pt idx="3">
                  <c:v>30-34</c:v>
                </c:pt>
                <c:pt idx="4">
                  <c:v>35-39</c:v>
                </c:pt>
                <c:pt idx="5">
                  <c:v>40-44</c:v>
                </c:pt>
                <c:pt idx="6">
                  <c:v>45-49</c:v>
                </c:pt>
              </c:strCache>
            </c:strRef>
          </c:cat>
          <c:val>
            <c:numRef>
              <c:f>Sheet1!$B$2:$B$8</c:f>
              <c:numCache>
                <c:formatCode>General</c:formatCode>
                <c:ptCount val="7"/>
                <c:pt idx="0">
                  <c:v>8</c:v>
                </c:pt>
                <c:pt idx="1">
                  <c:v>45</c:v>
                </c:pt>
                <c:pt idx="2">
                  <c:v>78</c:v>
                </c:pt>
                <c:pt idx="3">
                  <c:v>62</c:v>
                </c:pt>
                <c:pt idx="4">
                  <c:v>28</c:v>
                </c:pt>
                <c:pt idx="5">
                  <c:v>7</c:v>
                </c:pt>
                <c:pt idx="6">
                  <c:v>0.5</c:v>
                </c:pt>
              </c:numCache>
            </c:numRef>
          </c:val>
          <c:smooth val="0"/>
          <c:extLst>
            <c:ext xmlns:c16="http://schemas.microsoft.com/office/drawing/2014/chart" uri="{C3380CC4-5D6E-409C-BE32-E72D297353CC}">
              <c16:uniqueId val="{00000000-3C62-4E53-84EE-347478335CD3}"/>
            </c:ext>
          </c:extLst>
        </c:ser>
        <c:ser>
          <c:idx val="1"/>
          <c:order val="1"/>
          <c:tx>
            <c:strRef>
              <c:f>Sheet1!$C$1</c:f>
              <c:strCache>
                <c:ptCount val="1"/>
                <c:pt idx="0">
                  <c:v>Philippines 2022 NDHS (real)</c:v>
                </c:pt>
              </c:strCache>
            </c:strRef>
          </c:tx>
          <c:spPr>
            <a:ln w="31750" cap="flat">
              <a:solidFill>
                <a:srgbClr val="6D2E46"/>
              </a:solidFill>
              <a:prstDash val="solid"/>
              <a:round/>
            </a:ln>
            <a:effectLst/>
          </c:spPr>
          <c:marker>
            <c:symbol val="circle"/>
            <c:size val="6"/>
            <c:spPr>
              <a:solidFill>
                <a:srgbClr val="6D2E46"/>
              </a:solidFill>
              <a:ln w="9525" cap="flat">
                <a:solidFill>
                  <a:srgbClr val="6D2E46"/>
                </a:solidFill>
                <a:prstDash val="solid"/>
                <a:round/>
              </a:ln>
              <a:effectLst/>
            </c:spPr>
          </c:marker>
          <c:cat>
            <c:strRef>
              <c:f>Sheet1!$A$2:$A$8</c:f>
              <c:strCache>
                <c:ptCount val="7"/>
                <c:pt idx="0">
                  <c:v>15-19</c:v>
                </c:pt>
                <c:pt idx="1">
                  <c:v>20-24</c:v>
                </c:pt>
                <c:pt idx="2">
                  <c:v>25-29</c:v>
                </c:pt>
                <c:pt idx="3">
                  <c:v>30-34</c:v>
                </c:pt>
                <c:pt idx="4">
                  <c:v>35-39</c:v>
                </c:pt>
                <c:pt idx="5">
                  <c:v>40-44</c:v>
                </c:pt>
                <c:pt idx="6">
                  <c:v>45-49</c:v>
                </c:pt>
              </c:strCache>
            </c:strRef>
          </c:cat>
          <c:val>
            <c:numRef>
              <c:f>Sheet1!$C$2:$C$8</c:f>
              <c:numCache>
                <c:formatCode>General</c:formatCode>
                <c:ptCount val="7"/>
                <c:pt idx="0">
                  <c:v>25</c:v>
                </c:pt>
                <c:pt idx="1">
                  <c:v>84</c:v>
                </c:pt>
                <c:pt idx="2">
                  <c:v>105</c:v>
                </c:pt>
                <c:pt idx="3">
                  <c:v>95</c:v>
                </c:pt>
                <c:pt idx="4">
                  <c:v>58</c:v>
                </c:pt>
                <c:pt idx="5">
                  <c:v>21</c:v>
                </c:pt>
                <c:pt idx="6">
                  <c:v>2</c:v>
                </c:pt>
              </c:numCache>
            </c:numRef>
          </c:val>
          <c:smooth val="0"/>
          <c:extLst>
            <c:ext xmlns:c16="http://schemas.microsoft.com/office/drawing/2014/chart" uri="{C3380CC4-5D6E-409C-BE32-E72D297353CC}">
              <c16:uniqueId val="{00000001-3C62-4E53-84EE-347478335CD3}"/>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2D2A2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3D5C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2D2A2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 name="Google Shape;2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8" name="Google Shape;28;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 name="Google Shape;5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0" name="Google Shape;60;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88" name="Google Shape;88;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 name="Google Shape;103;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04" name="Google Shape;104;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 name="Google Shape;115;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16" name="Google Shape;116;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37" name="Google Shape;137;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61" name="Google Shape;161;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 name="Google Shape;18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85" name="Google Shape;185;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 name="Google Shape;20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02" name="Google Shape;202;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19" name="Google Shape;219;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5" name="Google Shape;235;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36" name="Google Shape;236;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52" name="Google Shape;252;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7" name="Google Shape;267;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68" name="Google Shape;268;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7" name="Google Shape;287;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88" name="Google Shape;288;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7" name="Google Shape;297;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98" name="Google Shape;298;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9" name="Google Shape;309;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10" name="Google Shape;310;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4" name="Google Shape;324;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25" name="Google Shape;325;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5" name="Google Shape;335;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36" name="Google Shape;336;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7" name="Google Shape;347;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48" name="Google Shape;348;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2" name="Google Shape;362;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63" name="Google Shape;363;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4" name="Google Shape;374;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75" name="Google Shape;375;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2" name="Google Shape;382;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83" name="Google Shape;383;p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3" name="Google Shape;393;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94" name="Google Shape;394;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7" name="Google Shape;407;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08" name="Google Shape;408;p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2" name="Google Shape;422;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23" name="Google Shape;423;p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7" name="Google Shape;437;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38" name="Google Shape;438;p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8" name="Google Shape;448;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49" name="Google Shape;449;p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2" name="Google Shape;472;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73" name="Google Shape;473;p2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3" name="Google Shape;483;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84" name="Google Shape;484;p3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7" name="Google Shape;507;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08" name="Google Shape;508;p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4" name="Google Shape;524;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25" name="Google Shape;525;p3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1" name="Google Shape;541;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42" name="Google Shape;542;p3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8" name="Google Shape;558;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59" name="Google Shape;559;p3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5" name="Google Shape;575;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76" name="Google Shape;576;p3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7" name="Google Shape;587;p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88" name="Google Shape;588;p3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5" name="Google Shape;605;p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06" name="Google Shape;606;p3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1" name="Google Shape;621;p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22" name="Google Shape;622;p3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0" name="Google Shape;640;p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41" name="Google Shape;641;p3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4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6" name="Google Shape;656;p4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57" name="Google Shape;657;p4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4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9" name="Google Shape;669;p4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70" name="Google Shape;670;p4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0" name="Google Shape;680;p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81" name="Google Shape;681;p4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6" name="Google Shape;696;p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97" name="Google Shape;697;p4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4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5" name="Google Shape;715;p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716" name="Google Shape;716;p4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1" name="Google Shape;731;p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732" name="Google Shape;732;p4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p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2" name="Google Shape;742;p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743" name="Google Shape;743;p4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4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5" name="Google Shape;765;p4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766" name="Google Shape;766;p4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4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9" name="Google Shape;789;p4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790" name="Google Shape;790;p4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4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9" name="Google Shape;799;p4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800" name="Google Shape;800;p4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5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5" name="Google Shape;815;p5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816" name="Google Shape;816;p5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5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9" name="Google Shape;829;p5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830" name="Google Shape;830;p5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p5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1" name="Google Shape;841;p5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842" name="Google Shape;842;p5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www.khaosodenglish.com/featured/2025/01/17/thailands-population-drops-below-66-million-as-births-hit-75-year-low/"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s://psa.gov.ph/content/total-fertility-rate-declined-27-2017-19-2022"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chart" Target="../charts/char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1420"/>
        </a:solidFill>
      </p:bgPr>
    </p:bg>
    <p:spTree>
      <p:nvGrpSpPr>
        <p:cNvPr id="11" name="Shape 11"/>
        <p:cNvGrpSpPr/>
        <p:nvPr/>
      </p:nvGrpSpPr>
      <p:grpSpPr>
        <a:xfrm>
          <a:off x="0" y="0"/>
          <a:ext cx="0" cy="0"/>
          <a:chOff x="0" y="0"/>
          <a:chExt cx="0" cy="0"/>
        </a:xfrm>
      </p:grpSpPr>
      <p:sp>
        <p:nvSpPr>
          <p:cNvPr id="12" name="Google Shape;12;p1"/>
          <p:cNvSpPr/>
          <p:nvPr/>
        </p:nvSpPr>
        <p:spPr>
          <a:xfrm>
            <a:off x="0" y="0"/>
            <a:ext cx="12191695" cy="6858000"/>
          </a:xfrm>
          <a:prstGeom prst="rect">
            <a:avLst/>
          </a:prstGeom>
          <a:solidFill>
            <a:srgbClr val="2A14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1"/>
          <p:cNvSpPr/>
          <p:nvPr/>
        </p:nvSpPr>
        <p:spPr>
          <a:xfrm>
            <a:off x="9418320" y="-1463040"/>
            <a:ext cx="4754880" cy="4754880"/>
          </a:xfrm>
          <a:prstGeom prst="ellipse">
            <a:avLst/>
          </a:prstGeom>
          <a:solidFill>
            <a:srgbClr val="6D2E46">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1"/>
          <p:cNvSpPr/>
          <p:nvPr/>
        </p:nvSpPr>
        <p:spPr>
          <a:xfrm>
            <a:off x="10607040" y="3291840"/>
            <a:ext cx="3108960" cy="3108960"/>
          </a:xfrm>
          <a:prstGeom prst="ellipse">
            <a:avLst/>
          </a:prstGeom>
          <a:solidFill>
            <a:srgbClr val="A26769">
              <a:alpha val="4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1"/>
          <p:cNvSpPr/>
          <p:nvPr/>
        </p:nvSpPr>
        <p:spPr>
          <a:xfrm>
            <a:off x="-1463040" y="-1645920"/>
            <a:ext cx="2926080" cy="2926080"/>
          </a:xfrm>
          <a:prstGeom prst="ellipse">
            <a:avLst/>
          </a:prstGeom>
          <a:solidFill>
            <a:srgbClr val="D9A441">
              <a:alpha val="3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
          <p:cNvSpPr txBox="1"/>
          <p:nvPr/>
        </p:nvSpPr>
        <p:spPr>
          <a:xfrm>
            <a:off x="731520" y="640080"/>
            <a:ext cx="9144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A441"/>
              </a:buClr>
              <a:buSzPts val="1300"/>
              <a:buFont typeface="Calibri"/>
              <a:buNone/>
            </a:pPr>
            <a:r>
              <a:rPr b="1" i="0" lang="en-US" sz="1300" u="none" cap="none" strike="noStrike">
                <a:solidFill>
                  <a:srgbClr val="D9A441"/>
                </a:solidFill>
                <a:latin typeface="Calibri"/>
                <a:ea typeface="Calibri"/>
                <a:cs typeface="Calibri"/>
                <a:sym typeface="Calibri"/>
              </a:rPr>
              <a:t>COLLEGE OF POPULATION STUDIES · CHULALONGKORN UNIVERSITY</a:t>
            </a:r>
            <a:endParaRPr b="0" i="0" sz="1300" u="none" cap="none" strike="noStrike">
              <a:solidFill>
                <a:schemeClr val="dk1"/>
              </a:solidFill>
              <a:latin typeface="Calibri"/>
              <a:ea typeface="Calibri"/>
              <a:cs typeface="Calibri"/>
              <a:sym typeface="Calibri"/>
            </a:endParaRPr>
          </a:p>
        </p:txBody>
      </p:sp>
      <p:sp>
        <p:nvSpPr>
          <p:cNvPr id="17" name="Google Shape;17;p1"/>
          <p:cNvSpPr txBox="1"/>
          <p:nvPr/>
        </p:nvSpPr>
        <p:spPr>
          <a:xfrm>
            <a:off x="731520" y="1051560"/>
            <a:ext cx="9601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EDE8"/>
              </a:buClr>
              <a:buSzPts val="1600"/>
              <a:buFont typeface="Calibri"/>
              <a:buNone/>
            </a:pPr>
            <a:r>
              <a:rPr b="0" i="0" lang="en-US" sz="1600" u="none" cap="none" strike="noStrike">
                <a:solidFill>
                  <a:srgbClr val="F5EDE8"/>
                </a:solidFill>
                <a:latin typeface="Calibri"/>
                <a:ea typeface="Calibri"/>
                <a:cs typeface="Calibri"/>
                <a:sym typeface="Calibri"/>
              </a:rPr>
              <a:t>5140602 Fundamental Demographic Analysis</a:t>
            </a:r>
            <a:endParaRPr b="0" i="0" sz="1600" u="none" cap="none" strike="noStrike">
              <a:solidFill>
                <a:schemeClr val="dk1"/>
              </a:solidFill>
              <a:latin typeface="Calibri"/>
              <a:ea typeface="Calibri"/>
              <a:cs typeface="Calibri"/>
              <a:sym typeface="Calibri"/>
            </a:endParaRPr>
          </a:p>
        </p:txBody>
      </p:sp>
      <p:sp>
        <p:nvSpPr>
          <p:cNvPr id="18" name="Google Shape;18;p1"/>
          <p:cNvSpPr txBox="1"/>
          <p:nvPr/>
        </p:nvSpPr>
        <p:spPr>
          <a:xfrm>
            <a:off x="731520" y="1737360"/>
            <a:ext cx="9601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2200"/>
              <a:buFont typeface="Cambria"/>
              <a:buNone/>
            </a:pPr>
            <a:r>
              <a:rPr b="1" i="0" lang="en-US" sz="2200" u="none" cap="none" strike="noStrike">
                <a:solidFill>
                  <a:srgbClr val="A26769"/>
                </a:solidFill>
                <a:latin typeface="Cambria"/>
                <a:ea typeface="Cambria"/>
                <a:cs typeface="Cambria"/>
                <a:sym typeface="Cambria"/>
              </a:rPr>
              <a:t>Session 6</a:t>
            </a:r>
            <a:endParaRPr b="0" i="0" sz="2200" u="none" cap="none" strike="noStrike">
              <a:solidFill>
                <a:schemeClr val="dk1"/>
              </a:solidFill>
              <a:latin typeface="Calibri"/>
              <a:ea typeface="Calibri"/>
              <a:cs typeface="Calibri"/>
              <a:sym typeface="Calibri"/>
            </a:endParaRPr>
          </a:p>
        </p:txBody>
      </p:sp>
      <p:sp>
        <p:nvSpPr>
          <p:cNvPr id="19" name="Google Shape;19;p1"/>
          <p:cNvSpPr txBox="1"/>
          <p:nvPr/>
        </p:nvSpPr>
        <p:spPr>
          <a:xfrm>
            <a:off x="731520" y="2240280"/>
            <a:ext cx="9875520" cy="17373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FFFFFF"/>
              </a:buClr>
              <a:buSzPts val="4600"/>
              <a:buFont typeface="Cambria"/>
              <a:buNone/>
            </a:pPr>
            <a:r>
              <a:rPr b="1" i="0" lang="en-US" sz="4600" u="none" cap="none" strike="noStrike">
                <a:solidFill>
                  <a:srgbClr val="FFFFFF"/>
                </a:solidFill>
                <a:latin typeface="Cambria"/>
                <a:ea typeface="Cambria"/>
                <a:cs typeface="Cambria"/>
                <a:sym typeface="Cambria"/>
              </a:rPr>
              <a:t>Fertility, Contraception, and</a:t>
            </a:r>
            <a:endParaRPr b="0" i="0" sz="4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4600"/>
              <a:buFont typeface="Cambria"/>
              <a:buNone/>
            </a:pPr>
            <a:r>
              <a:rPr b="1" i="0" lang="en-US" sz="4600" u="none" cap="none" strike="noStrike">
                <a:solidFill>
                  <a:srgbClr val="FFFFFF"/>
                </a:solidFill>
                <a:latin typeface="Cambria"/>
                <a:ea typeface="Cambria"/>
                <a:cs typeface="Cambria"/>
                <a:sym typeface="Cambria"/>
              </a:rPr>
              <a:t>Reproductive Health</a:t>
            </a:r>
            <a:endParaRPr b="0" i="0" sz="4600" u="none" cap="none" strike="noStrike">
              <a:solidFill>
                <a:schemeClr val="dk1"/>
              </a:solidFill>
              <a:latin typeface="Calibri"/>
              <a:ea typeface="Calibri"/>
              <a:cs typeface="Calibri"/>
              <a:sym typeface="Calibri"/>
            </a:endParaRPr>
          </a:p>
        </p:txBody>
      </p:sp>
      <p:sp>
        <p:nvSpPr>
          <p:cNvPr id="20" name="Google Shape;20;p1"/>
          <p:cNvSpPr txBox="1"/>
          <p:nvPr/>
        </p:nvSpPr>
        <p:spPr>
          <a:xfrm>
            <a:off x="731520" y="4160520"/>
            <a:ext cx="896112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C7C0"/>
              </a:buClr>
              <a:buSzPts val="1500"/>
              <a:buFont typeface="Calibri"/>
              <a:buNone/>
            </a:pPr>
            <a:r>
              <a:rPr b="0" i="1" lang="en-US" sz="1500" u="none" cap="none" strike="noStrike">
                <a:solidFill>
                  <a:srgbClr val="D9C7C0"/>
                </a:solidFill>
                <a:latin typeface="Calibri"/>
                <a:ea typeface="Calibri"/>
                <a:cs typeface="Calibri"/>
                <a:sym typeface="Calibri"/>
              </a:rPr>
              <a:t>Period and Cohort Fertility Measures, Proximate Determinants, Contraceptive Prevalence, and Unmet Need</a:t>
            </a:r>
            <a:endParaRPr b="0" i="0" sz="1500" u="none" cap="none" strike="noStrike">
              <a:solidFill>
                <a:schemeClr val="dk1"/>
              </a:solidFill>
              <a:latin typeface="Calibri"/>
              <a:ea typeface="Calibri"/>
              <a:cs typeface="Calibri"/>
              <a:sym typeface="Calibri"/>
            </a:endParaRPr>
          </a:p>
        </p:txBody>
      </p:sp>
      <p:sp>
        <p:nvSpPr>
          <p:cNvPr id="21" name="Google Shape;21;p1"/>
          <p:cNvSpPr txBox="1"/>
          <p:nvPr/>
        </p:nvSpPr>
        <p:spPr>
          <a:xfrm>
            <a:off x="731520" y="598932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Asst. Prof. Dr. Ruttiya Bhula-or</a:t>
            </a:r>
            <a:endParaRPr b="0" i="0" sz="1400" u="none" cap="none" strike="noStrike">
              <a:solidFill>
                <a:schemeClr val="dk1"/>
              </a:solidFill>
              <a:latin typeface="Calibri"/>
              <a:ea typeface="Calibri"/>
              <a:cs typeface="Calibri"/>
              <a:sym typeface="Calibri"/>
            </a:endParaRPr>
          </a:p>
        </p:txBody>
      </p:sp>
      <p:sp>
        <p:nvSpPr>
          <p:cNvPr id="22" name="Google Shape;22;p1"/>
          <p:cNvSpPr txBox="1"/>
          <p:nvPr/>
        </p:nvSpPr>
        <p:spPr>
          <a:xfrm>
            <a:off x="731520" y="6355080"/>
            <a:ext cx="9875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B7B0"/>
              </a:buClr>
              <a:buSzPts val="1100"/>
              <a:buFont typeface="Calibri"/>
              <a:buNone/>
            </a:pPr>
            <a:r>
              <a:rPr b="0" i="0" lang="en-US" sz="1100" u="none" cap="none" strike="noStrike">
                <a:solidFill>
                  <a:srgbClr val="C7B7B0"/>
                </a:solidFill>
                <a:latin typeface="Calibri"/>
                <a:ea typeface="Calibri"/>
                <a:cs typeface="Calibri"/>
                <a:sym typeface="Calibri"/>
              </a:rPr>
              <a:t>College of Population Studies, Chulalongkorn University   |   Revised 2026 Syllabus   |   3-Hour Session</a:t>
            </a:r>
            <a:endParaRPr b="0" i="0" sz="1100" u="none" cap="none" strike="noStrike">
              <a:solidFill>
                <a:schemeClr val="dk1"/>
              </a:solidFill>
              <a:latin typeface="Calibri"/>
              <a:ea typeface="Calibri"/>
              <a:cs typeface="Calibri"/>
              <a:sym typeface="Calibri"/>
            </a:endParaRPr>
          </a:p>
        </p:txBody>
      </p:sp>
      <p:sp>
        <p:nvSpPr>
          <p:cNvPr id="23" name="Google Shape;23;p1"/>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b="0" i="0" lang="en-US" sz="900" u="none" cap="none" strike="noStrike">
                <a:solidFill>
                  <a:srgbClr val="6B6068"/>
                </a:solidFill>
                <a:latin typeface="Calibri"/>
                <a:ea typeface="Calibri"/>
                <a:cs typeface="Calibri"/>
                <a:sym typeface="Calibri"/>
              </a:rPr>
              <a:t>5140602 Fundamental Demographic Analysis – Session 6</a:t>
            </a:r>
            <a:endParaRPr b="0" i="0" sz="900" u="none" cap="none" strike="noStrike">
              <a:solidFill>
                <a:schemeClr val="dk1"/>
              </a:solidFill>
              <a:latin typeface="Calibri"/>
              <a:ea typeface="Calibri"/>
              <a:cs typeface="Calibri"/>
              <a:sym typeface="Calibri"/>
            </a:endParaRPr>
          </a:p>
        </p:txBody>
      </p:sp>
      <p:sp>
        <p:nvSpPr>
          <p:cNvPr id="24" name="Google Shape;24;p1"/>
          <p:cNvSpPr txBox="1"/>
          <p:nvPr/>
        </p:nvSpPr>
        <p:spPr>
          <a:xfrm>
            <a:off x="10728655" y="6492240"/>
            <a:ext cx="10058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068"/>
              </a:buClr>
              <a:buSzPts val="900"/>
              <a:buFont typeface="Calibri"/>
              <a:buNone/>
            </a:pPr>
            <a:r>
              <a:rPr b="0" i="0" lang="en-US" sz="900" u="none" cap="none" strike="noStrike">
                <a:solidFill>
                  <a:srgbClr val="6B6068"/>
                </a:solidFill>
                <a:latin typeface="Calibri"/>
                <a:ea typeface="Calibri"/>
                <a:cs typeface="Calibri"/>
                <a:sym typeface="Calibri"/>
              </a:rPr>
              <a:t>1 / 62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 name="Shape 29"/>
        <p:cNvGrpSpPr/>
        <p:nvPr/>
      </p:nvGrpSpPr>
      <p:grpSpPr>
        <a:xfrm>
          <a:off x="0" y="0"/>
          <a:ext cx="0" cy="0"/>
          <a:chOff x="0" y="0"/>
          <a:chExt cx="0" cy="0"/>
        </a:xfrm>
      </p:grpSpPr>
      <p:sp>
        <p:nvSpPr>
          <p:cNvPr id="30" name="Google Shape;30;p2"/>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SESSION OVERVIEW</a:t>
            </a:r>
            <a:endParaRPr sz="1200">
              <a:solidFill>
                <a:schemeClr val="dk1"/>
              </a:solidFill>
              <a:latin typeface="Calibri"/>
              <a:ea typeface="Calibri"/>
              <a:cs typeface="Calibri"/>
              <a:sym typeface="Calibri"/>
            </a:endParaRPr>
          </a:p>
        </p:txBody>
      </p:sp>
      <p:sp>
        <p:nvSpPr>
          <p:cNvPr id="31" name="Google Shape;31;p2"/>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Learning Objectives</a:t>
            </a:r>
            <a:endParaRPr sz="3000">
              <a:solidFill>
                <a:schemeClr val="dk1"/>
              </a:solidFill>
              <a:latin typeface="Calibri"/>
              <a:ea typeface="Calibri"/>
              <a:cs typeface="Calibri"/>
              <a:sym typeface="Calibri"/>
            </a:endParaRPr>
          </a:p>
        </p:txBody>
      </p:sp>
      <p:sp>
        <p:nvSpPr>
          <p:cNvPr id="32" name="Google Shape;32;p2"/>
          <p:cNvSpPr/>
          <p:nvPr/>
        </p:nvSpPr>
        <p:spPr>
          <a:xfrm>
            <a:off x="548640" y="1618488"/>
            <a:ext cx="502920" cy="502920"/>
          </a:xfrm>
          <a:prstGeom prst="ellipse">
            <a:avLst/>
          </a:prstGeom>
          <a:solidFill>
            <a:srgbClr val="6D2E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txBox="1"/>
          <p:nvPr/>
        </p:nvSpPr>
        <p:spPr>
          <a:xfrm>
            <a:off x="548640" y="1618488"/>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1</a:t>
            </a:r>
            <a:endParaRPr sz="1600">
              <a:solidFill>
                <a:schemeClr val="dk1"/>
              </a:solidFill>
              <a:latin typeface="Calibri"/>
              <a:ea typeface="Calibri"/>
              <a:cs typeface="Calibri"/>
              <a:sym typeface="Calibri"/>
            </a:endParaRPr>
          </a:p>
        </p:txBody>
      </p:sp>
      <p:sp>
        <p:nvSpPr>
          <p:cNvPr id="34" name="Google Shape;34;p2"/>
          <p:cNvSpPr txBox="1"/>
          <p:nvPr/>
        </p:nvSpPr>
        <p:spPr>
          <a:xfrm>
            <a:off x="1234440" y="1600200"/>
            <a:ext cx="10241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450"/>
              <a:buFont typeface="Calibri"/>
              <a:buNone/>
            </a:pPr>
            <a:r>
              <a:rPr b="1" lang="en-US" sz="1450">
                <a:solidFill>
                  <a:srgbClr val="6D2E46"/>
                </a:solidFill>
                <a:latin typeface="Calibri"/>
                <a:ea typeface="Calibri"/>
                <a:cs typeface="Calibri"/>
                <a:sym typeface="Calibri"/>
              </a:rPr>
              <a:t>Distinguish fertility, fecundity, and natality</a:t>
            </a:r>
            <a:endParaRPr sz="1450">
              <a:solidFill>
                <a:schemeClr val="dk1"/>
              </a:solidFill>
              <a:latin typeface="Calibri"/>
              <a:ea typeface="Calibri"/>
              <a:cs typeface="Calibri"/>
              <a:sym typeface="Calibri"/>
            </a:endParaRPr>
          </a:p>
        </p:txBody>
      </p:sp>
      <p:sp>
        <p:nvSpPr>
          <p:cNvPr id="35" name="Google Shape;35;p2"/>
          <p:cNvSpPr txBox="1"/>
          <p:nvPr/>
        </p:nvSpPr>
        <p:spPr>
          <a:xfrm>
            <a:off x="1234440" y="1911096"/>
            <a:ext cx="102412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00"/>
              <a:buFont typeface="Calibri"/>
              <a:buNone/>
            </a:pPr>
            <a:r>
              <a:rPr lang="en-US" sz="1200">
                <a:solidFill>
                  <a:srgbClr val="2D2A2C"/>
                </a:solidFill>
                <a:latin typeface="Calibri"/>
                <a:ea typeface="Calibri"/>
                <a:cs typeface="Calibri"/>
                <a:sym typeface="Calibri"/>
              </a:rPr>
              <a:t>Use each concept and its correct measures precisely, and identify the standard data sources behind fertility statistics.</a:t>
            </a:r>
            <a:endParaRPr sz="1200">
              <a:solidFill>
                <a:schemeClr val="dk1"/>
              </a:solidFill>
              <a:latin typeface="Calibri"/>
              <a:ea typeface="Calibri"/>
              <a:cs typeface="Calibri"/>
              <a:sym typeface="Calibri"/>
            </a:endParaRPr>
          </a:p>
        </p:txBody>
      </p:sp>
      <p:sp>
        <p:nvSpPr>
          <p:cNvPr id="36" name="Google Shape;36;p2"/>
          <p:cNvSpPr/>
          <p:nvPr/>
        </p:nvSpPr>
        <p:spPr>
          <a:xfrm>
            <a:off x="548640" y="2404872"/>
            <a:ext cx="502920" cy="502920"/>
          </a:xfrm>
          <a:prstGeom prst="ellipse">
            <a:avLst/>
          </a:prstGeom>
          <a:solidFill>
            <a:srgbClr val="6D2E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txBox="1"/>
          <p:nvPr/>
        </p:nvSpPr>
        <p:spPr>
          <a:xfrm>
            <a:off x="548640" y="2404872"/>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2</a:t>
            </a:r>
            <a:endParaRPr sz="1600">
              <a:solidFill>
                <a:schemeClr val="dk1"/>
              </a:solidFill>
              <a:latin typeface="Calibri"/>
              <a:ea typeface="Calibri"/>
              <a:cs typeface="Calibri"/>
              <a:sym typeface="Calibri"/>
            </a:endParaRPr>
          </a:p>
        </p:txBody>
      </p:sp>
      <p:sp>
        <p:nvSpPr>
          <p:cNvPr id="38" name="Google Shape;38;p2"/>
          <p:cNvSpPr txBox="1"/>
          <p:nvPr/>
        </p:nvSpPr>
        <p:spPr>
          <a:xfrm>
            <a:off x="1234440" y="2386584"/>
            <a:ext cx="10241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450"/>
              <a:buFont typeface="Calibri"/>
              <a:buNone/>
            </a:pPr>
            <a:r>
              <a:rPr b="1" lang="en-US" sz="1450">
                <a:solidFill>
                  <a:srgbClr val="6D2E46"/>
                </a:solidFill>
                <a:latin typeface="Calibri"/>
                <a:ea typeface="Calibri"/>
                <a:cs typeface="Calibri"/>
                <a:sym typeface="Calibri"/>
              </a:rPr>
              <a:t>Compute the full family of fertility measures</a:t>
            </a:r>
            <a:endParaRPr sz="1450">
              <a:solidFill>
                <a:schemeClr val="dk1"/>
              </a:solidFill>
              <a:latin typeface="Calibri"/>
              <a:ea typeface="Calibri"/>
              <a:cs typeface="Calibri"/>
              <a:sym typeface="Calibri"/>
            </a:endParaRPr>
          </a:p>
        </p:txBody>
      </p:sp>
      <p:sp>
        <p:nvSpPr>
          <p:cNvPr id="39" name="Google Shape;39;p2"/>
          <p:cNvSpPr txBox="1"/>
          <p:nvPr/>
        </p:nvSpPr>
        <p:spPr>
          <a:xfrm>
            <a:off x="1234440" y="2697480"/>
            <a:ext cx="102412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00"/>
              <a:buFont typeface="Calibri"/>
              <a:buNone/>
            </a:pPr>
            <a:r>
              <a:rPr lang="en-US" sz="1200">
                <a:solidFill>
                  <a:srgbClr val="2D2A2C"/>
                </a:solidFill>
                <a:latin typeface="Calibri"/>
                <a:ea typeface="Calibri"/>
                <a:cs typeface="Calibri"/>
                <a:sym typeface="Calibri"/>
              </a:rPr>
              <a:t>Child-Woman Ratio, Crude Birth Rate, General Fertility Rate, Age-Specific Fertility Rates, and the Total Fertility Rate, with two full worked examples.</a:t>
            </a:r>
            <a:endParaRPr sz="1200">
              <a:solidFill>
                <a:schemeClr val="dk1"/>
              </a:solidFill>
              <a:latin typeface="Calibri"/>
              <a:ea typeface="Calibri"/>
              <a:cs typeface="Calibri"/>
              <a:sym typeface="Calibri"/>
            </a:endParaRPr>
          </a:p>
        </p:txBody>
      </p:sp>
      <p:sp>
        <p:nvSpPr>
          <p:cNvPr id="40" name="Google Shape;40;p2"/>
          <p:cNvSpPr/>
          <p:nvPr/>
        </p:nvSpPr>
        <p:spPr>
          <a:xfrm>
            <a:off x="548640" y="3191256"/>
            <a:ext cx="502920" cy="502920"/>
          </a:xfrm>
          <a:prstGeom prst="ellipse">
            <a:avLst/>
          </a:prstGeom>
          <a:solidFill>
            <a:srgbClr val="6D2E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txBox="1"/>
          <p:nvPr/>
        </p:nvSpPr>
        <p:spPr>
          <a:xfrm>
            <a:off x="548640" y="3191256"/>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3</a:t>
            </a:r>
            <a:endParaRPr sz="1600">
              <a:solidFill>
                <a:schemeClr val="dk1"/>
              </a:solidFill>
              <a:latin typeface="Calibri"/>
              <a:ea typeface="Calibri"/>
              <a:cs typeface="Calibri"/>
              <a:sym typeface="Calibri"/>
            </a:endParaRPr>
          </a:p>
        </p:txBody>
      </p:sp>
      <p:sp>
        <p:nvSpPr>
          <p:cNvPr id="42" name="Google Shape;42;p2"/>
          <p:cNvSpPr txBox="1"/>
          <p:nvPr/>
        </p:nvSpPr>
        <p:spPr>
          <a:xfrm>
            <a:off x="1234440" y="3172968"/>
            <a:ext cx="10241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450"/>
              <a:buFont typeface="Calibri"/>
              <a:buNone/>
            </a:pPr>
            <a:r>
              <a:rPr b="1" lang="en-US" sz="1450">
                <a:solidFill>
                  <a:srgbClr val="6D2E46"/>
                </a:solidFill>
                <a:latin typeface="Calibri"/>
                <a:ea typeface="Calibri"/>
                <a:cs typeface="Calibri"/>
                <a:sym typeface="Calibri"/>
              </a:rPr>
              <a:t>Compare major theories of fertility transition</a:t>
            </a:r>
            <a:endParaRPr sz="1450">
              <a:solidFill>
                <a:schemeClr val="dk1"/>
              </a:solidFill>
              <a:latin typeface="Calibri"/>
              <a:ea typeface="Calibri"/>
              <a:cs typeface="Calibri"/>
              <a:sym typeface="Calibri"/>
            </a:endParaRPr>
          </a:p>
        </p:txBody>
      </p:sp>
      <p:sp>
        <p:nvSpPr>
          <p:cNvPr id="43" name="Google Shape;43;p2"/>
          <p:cNvSpPr txBox="1"/>
          <p:nvPr/>
        </p:nvSpPr>
        <p:spPr>
          <a:xfrm>
            <a:off x="1234440" y="3483864"/>
            <a:ext cx="102412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00"/>
              <a:buFont typeface="Calibri"/>
              <a:buNone/>
            </a:pPr>
            <a:r>
              <a:rPr lang="en-US" sz="1200">
                <a:solidFill>
                  <a:srgbClr val="2D2A2C"/>
                </a:solidFill>
                <a:latin typeface="Calibri"/>
                <a:ea typeface="Calibri"/>
                <a:cs typeface="Calibri"/>
                <a:sym typeface="Calibri"/>
              </a:rPr>
              <a:t>Classic demographic transition theory, the neoclassical microeconomic theory of fertility, and regulatory/behavioral theories of fertility decline.</a:t>
            </a:r>
            <a:endParaRPr sz="1200">
              <a:solidFill>
                <a:schemeClr val="dk1"/>
              </a:solidFill>
              <a:latin typeface="Calibri"/>
              <a:ea typeface="Calibri"/>
              <a:cs typeface="Calibri"/>
              <a:sym typeface="Calibri"/>
            </a:endParaRPr>
          </a:p>
        </p:txBody>
      </p:sp>
      <p:sp>
        <p:nvSpPr>
          <p:cNvPr id="44" name="Google Shape;44;p2"/>
          <p:cNvSpPr/>
          <p:nvPr/>
        </p:nvSpPr>
        <p:spPr>
          <a:xfrm>
            <a:off x="548640" y="3977640"/>
            <a:ext cx="502920" cy="502920"/>
          </a:xfrm>
          <a:prstGeom prst="ellipse">
            <a:avLst/>
          </a:prstGeom>
          <a:solidFill>
            <a:srgbClr val="6D2E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txBox="1"/>
          <p:nvPr/>
        </p:nvSpPr>
        <p:spPr>
          <a:xfrm>
            <a:off x="548640" y="397764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4</a:t>
            </a:r>
            <a:endParaRPr sz="1600">
              <a:solidFill>
                <a:schemeClr val="dk1"/>
              </a:solidFill>
              <a:latin typeface="Calibri"/>
              <a:ea typeface="Calibri"/>
              <a:cs typeface="Calibri"/>
              <a:sym typeface="Calibri"/>
            </a:endParaRPr>
          </a:p>
        </p:txBody>
      </p:sp>
      <p:sp>
        <p:nvSpPr>
          <p:cNvPr id="46" name="Google Shape;46;p2"/>
          <p:cNvSpPr txBox="1"/>
          <p:nvPr/>
        </p:nvSpPr>
        <p:spPr>
          <a:xfrm>
            <a:off x="1234440" y="3959352"/>
            <a:ext cx="10241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450"/>
              <a:buFont typeface="Calibri"/>
              <a:buNone/>
            </a:pPr>
            <a:r>
              <a:rPr b="1" lang="en-US" sz="1450">
                <a:solidFill>
                  <a:srgbClr val="6D2E46"/>
                </a:solidFill>
                <a:latin typeface="Calibri"/>
                <a:ea typeface="Calibri"/>
                <a:cs typeface="Calibri"/>
                <a:sym typeface="Calibri"/>
              </a:rPr>
              <a:t>Apply the Bongaarts proximate determinants framework</a:t>
            </a:r>
            <a:endParaRPr sz="1450">
              <a:solidFill>
                <a:schemeClr val="dk1"/>
              </a:solidFill>
              <a:latin typeface="Calibri"/>
              <a:ea typeface="Calibri"/>
              <a:cs typeface="Calibri"/>
              <a:sym typeface="Calibri"/>
            </a:endParaRPr>
          </a:p>
        </p:txBody>
      </p:sp>
      <p:sp>
        <p:nvSpPr>
          <p:cNvPr id="47" name="Google Shape;47;p2"/>
          <p:cNvSpPr txBox="1"/>
          <p:nvPr/>
        </p:nvSpPr>
        <p:spPr>
          <a:xfrm>
            <a:off x="1234440" y="4270248"/>
            <a:ext cx="102412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00"/>
              <a:buFont typeface="Calibri"/>
              <a:buNone/>
            </a:pPr>
            <a:r>
              <a:rPr lang="en-US" sz="1200">
                <a:solidFill>
                  <a:srgbClr val="2D2A2C"/>
                </a:solidFill>
                <a:latin typeface="Calibri"/>
                <a:ea typeface="Calibri"/>
                <a:cs typeface="Calibri"/>
                <a:sym typeface="Calibri"/>
              </a:rPr>
              <a:t>Explain how marriage, contraception, induced abortion, and postpartum infecundability jointly determine observed fertility.</a:t>
            </a:r>
            <a:endParaRPr sz="1200">
              <a:solidFill>
                <a:schemeClr val="dk1"/>
              </a:solidFill>
              <a:latin typeface="Calibri"/>
              <a:ea typeface="Calibri"/>
              <a:cs typeface="Calibri"/>
              <a:sym typeface="Calibri"/>
            </a:endParaRPr>
          </a:p>
        </p:txBody>
      </p:sp>
      <p:sp>
        <p:nvSpPr>
          <p:cNvPr id="48" name="Google Shape;48;p2"/>
          <p:cNvSpPr/>
          <p:nvPr/>
        </p:nvSpPr>
        <p:spPr>
          <a:xfrm>
            <a:off x="548640" y="4764024"/>
            <a:ext cx="502920" cy="502920"/>
          </a:xfrm>
          <a:prstGeom prst="ellipse">
            <a:avLst/>
          </a:prstGeom>
          <a:solidFill>
            <a:srgbClr val="6D2E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txBox="1"/>
          <p:nvPr/>
        </p:nvSpPr>
        <p:spPr>
          <a:xfrm>
            <a:off x="548640" y="4764024"/>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5</a:t>
            </a:r>
            <a:endParaRPr sz="1600">
              <a:solidFill>
                <a:schemeClr val="dk1"/>
              </a:solidFill>
              <a:latin typeface="Calibri"/>
              <a:ea typeface="Calibri"/>
              <a:cs typeface="Calibri"/>
              <a:sym typeface="Calibri"/>
            </a:endParaRPr>
          </a:p>
        </p:txBody>
      </p:sp>
      <p:sp>
        <p:nvSpPr>
          <p:cNvPr id="50" name="Google Shape;50;p2"/>
          <p:cNvSpPr txBox="1"/>
          <p:nvPr/>
        </p:nvSpPr>
        <p:spPr>
          <a:xfrm>
            <a:off x="1234440" y="4745736"/>
            <a:ext cx="10241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450"/>
              <a:buFont typeface="Calibri"/>
              <a:buNone/>
            </a:pPr>
            <a:r>
              <a:rPr b="1" lang="en-US" sz="1450">
                <a:solidFill>
                  <a:srgbClr val="6D2E46"/>
                </a:solidFill>
                <a:latin typeface="Calibri"/>
                <a:ea typeface="Calibri"/>
                <a:cs typeface="Calibri"/>
                <a:sym typeface="Calibri"/>
              </a:rPr>
              <a:t>Evaluate contraceptive prevalence and unmet need</a:t>
            </a:r>
            <a:endParaRPr sz="1450">
              <a:solidFill>
                <a:schemeClr val="dk1"/>
              </a:solidFill>
              <a:latin typeface="Calibri"/>
              <a:ea typeface="Calibri"/>
              <a:cs typeface="Calibri"/>
              <a:sym typeface="Calibri"/>
            </a:endParaRPr>
          </a:p>
        </p:txBody>
      </p:sp>
      <p:sp>
        <p:nvSpPr>
          <p:cNvPr id="51" name="Google Shape;51;p2"/>
          <p:cNvSpPr txBox="1"/>
          <p:nvPr/>
        </p:nvSpPr>
        <p:spPr>
          <a:xfrm>
            <a:off x="1234440" y="5056632"/>
            <a:ext cx="102412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00"/>
              <a:buFont typeface="Calibri"/>
              <a:buNone/>
            </a:pPr>
            <a:r>
              <a:rPr lang="en-US" sz="1200">
                <a:solidFill>
                  <a:srgbClr val="2D2A2C"/>
                </a:solidFill>
                <a:latin typeface="Calibri"/>
                <a:ea typeface="Calibri"/>
                <a:cs typeface="Calibri"/>
                <a:sym typeface="Calibri"/>
              </a:rPr>
              <a:t>Interpret these indicators using real, current country data, including Thailand and other very-low-fertility settings.</a:t>
            </a:r>
            <a:endParaRPr sz="1200">
              <a:solidFill>
                <a:schemeClr val="dk1"/>
              </a:solidFill>
              <a:latin typeface="Calibri"/>
              <a:ea typeface="Calibri"/>
              <a:cs typeface="Calibri"/>
              <a:sym typeface="Calibri"/>
            </a:endParaRPr>
          </a:p>
        </p:txBody>
      </p:sp>
      <p:sp>
        <p:nvSpPr>
          <p:cNvPr id="52" name="Google Shape;52;p2"/>
          <p:cNvSpPr/>
          <p:nvPr/>
        </p:nvSpPr>
        <p:spPr>
          <a:xfrm>
            <a:off x="548640" y="5550408"/>
            <a:ext cx="502920" cy="502920"/>
          </a:xfrm>
          <a:prstGeom prst="ellipse">
            <a:avLst/>
          </a:prstGeom>
          <a:solidFill>
            <a:srgbClr val="6D2E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txBox="1"/>
          <p:nvPr/>
        </p:nvSpPr>
        <p:spPr>
          <a:xfrm>
            <a:off x="548640" y="5550408"/>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6</a:t>
            </a:r>
            <a:endParaRPr sz="1600">
              <a:solidFill>
                <a:schemeClr val="dk1"/>
              </a:solidFill>
              <a:latin typeface="Calibri"/>
              <a:ea typeface="Calibri"/>
              <a:cs typeface="Calibri"/>
              <a:sym typeface="Calibri"/>
            </a:endParaRPr>
          </a:p>
        </p:txBody>
      </p:sp>
      <p:sp>
        <p:nvSpPr>
          <p:cNvPr id="54" name="Google Shape;54;p2"/>
          <p:cNvSpPr txBox="1"/>
          <p:nvPr/>
        </p:nvSpPr>
        <p:spPr>
          <a:xfrm>
            <a:off x="1234440" y="5532120"/>
            <a:ext cx="10241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450"/>
              <a:buFont typeface="Calibri"/>
              <a:buNone/>
            </a:pPr>
            <a:r>
              <a:rPr b="1" lang="en-US" sz="1450">
                <a:solidFill>
                  <a:srgbClr val="6D2E46"/>
                </a:solidFill>
                <a:latin typeface="Calibri"/>
                <a:ea typeface="Calibri"/>
                <a:cs typeface="Calibri"/>
                <a:sym typeface="Calibri"/>
              </a:rPr>
              <a:t>Analyze real fertility policy and decline scenarios in groups</a:t>
            </a:r>
            <a:endParaRPr sz="1450">
              <a:solidFill>
                <a:schemeClr val="dk1"/>
              </a:solidFill>
              <a:latin typeface="Calibri"/>
              <a:ea typeface="Calibri"/>
              <a:cs typeface="Calibri"/>
              <a:sym typeface="Calibri"/>
            </a:endParaRPr>
          </a:p>
        </p:txBody>
      </p:sp>
      <p:sp>
        <p:nvSpPr>
          <p:cNvPr id="55" name="Google Shape;55;p2"/>
          <p:cNvSpPr txBox="1"/>
          <p:nvPr/>
        </p:nvSpPr>
        <p:spPr>
          <a:xfrm>
            <a:off x="1234440" y="5843016"/>
            <a:ext cx="102412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00"/>
              <a:buFont typeface="Calibri"/>
              <a:buNone/>
            </a:pPr>
            <a:r>
              <a:rPr lang="en-US" sz="1200">
                <a:solidFill>
                  <a:srgbClr val="2D2A2C"/>
                </a:solidFill>
                <a:latin typeface="Calibri"/>
                <a:ea typeface="Calibri"/>
                <a:cs typeface="Calibri"/>
                <a:sym typeface="Calibri"/>
              </a:rPr>
              <a:t>Apply this session's theories and frameworks to real countries and real pro-natalist policies in two structured group-work activities.</a:t>
            </a:r>
            <a:endParaRPr sz="1200">
              <a:solidFill>
                <a:schemeClr val="dk1"/>
              </a:solidFill>
              <a:latin typeface="Calibri"/>
              <a:ea typeface="Calibri"/>
              <a:cs typeface="Calibri"/>
              <a:sym typeface="Calibri"/>
            </a:endParaRPr>
          </a:p>
        </p:txBody>
      </p:sp>
      <p:sp>
        <p:nvSpPr>
          <p:cNvPr id="56" name="Google Shape;56;p2"/>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 name="Shape 61"/>
        <p:cNvGrpSpPr/>
        <p:nvPr/>
      </p:nvGrpSpPr>
      <p:grpSpPr>
        <a:xfrm>
          <a:off x="0" y="0"/>
          <a:ext cx="0" cy="0"/>
          <a:chOff x="0" y="0"/>
          <a:chExt cx="0" cy="0"/>
        </a:xfrm>
      </p:grpSpPr>
      <p:sp>
        <p:nvSpPr>
          <p:cNvPr id="62" name="Google Shape;62;p3"/>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AGENDA</a:t>
            </a:r>
            <a:endParaRPr sz="1200">
              <a:solidFill>
                <a:schemeClr val="dk1"/>
              </a:solidFill>
              <a:latin typeface="Calibri"/>
              <a:ea typeface="Calibri"/>
              <a:cs typeface="Calibri"/>
              <a:sym typeface="Calibri"/>
            </a:endParaRPr>
          </a:p>
        </p:txBody>
      </p:sp>
      <p:sp>
        <p:nvSpPr>
          <p:cNvPr id="63" name="Google Shape;63;p3"/>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Session Structure (180 minutes)</a:t>
            </a:r>
            <a:endParaRPr sz="3000">
              <a:solidFill>
                <a:schemeClr val="dk1"/>
              </a:solidFill>
              <a:latin typeface="Calibri"/>
              <a:ea typeface="Calibri"/>
              <a:cs typeface="Calibri"/>
              <a:sym typeface="Calibri"/>
            </a:endParaRPr>
          </a:p>
        </p:txBody>
      </p:sp>
      <p:sp>
        <p:nvSpPr>
          <p:cNvPr id="64" name="Google Shape;64;p3"/>
          <p:cNvSpPr/>
          <p:nvPr/>
        </p:nvSpPr>
        <p:spPr>
          <a:xfrm>
            <a:off x="548640" y="1554480"/>
            <a:ext cx="11064240" cy="841248"/>
          </a:xfrm>
          <a:prstGeom prst="roundRect">
            <a:avLst>
              <a:gd fmla="val 8696" name="adj"/>
            </a:avLst>
          </a:prstGeom>
          <a:solidFill>
            <a:srgbClr val="F7EEEA"/>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txBox="1"/>
          <p:nvPr/>
        </p:nvSpPr>
        <p:spPr>
          <a:xfrm>
            <a:off x="777240" y="1664208"/>
            <a:ext cx="155448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500"/>
              <a:buFont typeface="Cambria"/>
              <a:buNone/>
            </a:pPr>
            <a:r>
              <a:rPr b="1" lang="en-US" sz="1500">
                <a:solidFill>
                  <a:srgbClr val="6D2E46"/>
                </a:solidFill>
                <a:latin typeface="Cambria"/>
                <a:ea typeface="Cambria"/>
                <a:cs typeface="Cambria"/>
                <a:sym typeface="Cambria"/>
              </a:rPr>
              <a:t>Block 1</a:t>
            </a:r>
            <a:endParaRPr sz="1500">
              <a:solidFill>
                <a:schemeClr val="dk1"/>
              </a:solidFill>
              <a:latin typeface="Calibri"/>
              <a:ea typeface="Calibri"/>
              <a:cs typeface="Calibri"/>
              <a:sym typeface="Calibri"/>
            </a:endParaRPr>
          </a:p>
        </p:txBody>
      </p:sp>
      <p:sp>
        <p:nvSpPr>
          <p:cNvPr id="66" name="Google Shape;66;p3"/>
          <p:cNvSpPr txBox="1"/>
          <p:nvPr/>
        </p:nvSpPr>
        <p:spPr>
          <a:xfrm>
            <a:off x="2423160" y="1645920"/>
            <a:ext cx="42062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300"/>
              <a:buFont typeface="Calibri"/>
              <a:buNone/>
            </a:pPr>
            <a:r>
              <a:rPr b="1" lang="en-US" sz="1300">
                <a:solidFill>
                  <a:srgbClr val="2D2A2C"/>
                </a:solidFill>
                <a:latin typeface="Calibri"/>
                <a:ea typeface="Calibri"/>
                <a:cs typeface="Calibri"/>
                <a:sym typeface="Calibri"/>
              </a:rPr>
              <a:t>Concepts, Measurement &amp; Two Worked Examples</a:t>
            </a:r>
            <a:endParaRPr sz="1300">
              <a:solidFill>
                <a:schemeClr val="dk1"/>
              </a:solidFill>
              <a:latin typeface="Calibri"/>
              <a:ea typeface="Calibri"/>
              <a:cs typeface="Calibri"/>
              <a:sym typeface="Calibri"/>
            </a:endParaRPr>
          </a:p>
        </p:txBody>
      </p:sp>
      <p:sp>
        <p:nvSpPr>
          <p:cNvPr id="67" name="Google Shape;67;p3"/>
          <p:cNvSpPr txBox="1"/>
          <p:nvPr/>
        </p:nvSpPr>
        <p:spPr>
          <a:xfrm>
            <a:off x="6766560" y="1645920"/>
            <a:ext cx="46634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1100"/>
              <a:buFont typeface="Calibri"/>
              <a:buNone/>
            </a:pPr>
            <a:r>
              <a:rPr lang="en-US" sz="1100">
                <a:solidFill>
                  <a:srgbClr val="6B6068"/>
                </a:solidFill>
                <a:latin typeface="Calibri"/>
                <a:ea typeface="Calibri"/>
                <a:cs typeface="Calibri"/>
                <a:sym typeface="Calibri"/>
              </a:rPr>
              <a:t>Definitions &amp; data sources; CWR, CBR, GFR, ASFR, TFR; a full worked TFR calculation plus a second real-data worked example.</a:t>
            </a:r>
            <a:endParaRPr sz="1100">
              <a:solidFill>
                <a:schemeClr val="dk1"/>
              </a:solidFill>
              <a:latin typeface="Calibri"/>
              <a:ea typeface="Calibri"/>
              <a:cs typeface="Calibri"/>
              <a:sym typeface="Calibri"/>
            </a:endParaRPr>
          </a:p>
        </p:txBody>
      </p:sp>
      <p:sp>
        <p:nvSpPr>
          <p:cNvPr id="68" name="Google Shape;68;p3"/>
          <p:cNvSpPr/>
          <p:nvPr/>
        </p:nvSpPr>
        <p:spPr>
          <a:xfrm>
            <a:off x="548640" y="2514600"/>
            <a:ext cx="11064240" cy="841248"/>
          </a:xfrm>
          <a:prstGeom prst="roundRect">
            <a:avLst>
              <a:gd fmla="val 8696" name="adj"/>
            </a:avLst>
          </a:prstGeom>
          <a:solidFill>
            <a:srgbClr val="F7EEEA"/>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txBox="1"/>
          <p:nvPr/>
        </p:nvSpPr>
        <p:spPr>
          <a:xfrm>
            <a:off x="777240" y="2624328"/>
            <a:ext cx="155448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500"/>
              <a:buFont typeface="Cambria"/>
              <a:buNone/>
            </a:pPr>
            <a:r>
              <a:rPr b="1" lang="en-US" sz="1500">
                <a:solidFill>
                  <a:srgbClr val="6D2E46"/>
                </a:solidFill>
                <a:latin typeface="Cambria"/>
                <a:ea typeface="Cambria"/>
                <a:cs typeface="Cambria"/>
                <a:sym typeface="Cambria"/>
              </a:rPr>
              <a:t>Break</a:t>
            </a:r>
            <a:endParaRPr sz="1500">
              <a:solidFill>
                <a:schemeClr val="dk1"/>
              </a:solidFill>
              <a:latin typeface="Calibri"/>
              <a:ea typeface="Calibri"/>
              <a:cs typeface="Calibri"/>
              <a:sym typeface="Calibri"/>
            </a:endParaRPr>
          </a:p>
        </p:txBody>
      </p:sp>
      <p:sp>
        <p:nvSpPr>
          <p:cNvPr id="70" name="Google Shape;70;p3"/>
          <p:cNvSpPr txBox="1"/>
          <p:nvPr/>
        </p:nvSpPr>
        <p:spPr>
          <a:xfrm>
            <a:off x="2423160" y="2606040"/>
            <a:ext cx="42062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300"/>
              <a:buFont typeface="Calibri"/>
              <a:buNone/>
            </a:pPr>
            <a:r>
              <a:rPr b="1" lang="en-US" sz="1300">
                <a:solidFill>
                  <a:srgbClr val="2D2A2C"/>
                </a:solidFill>
                <a:latin typeface="Calibri"/>
                <a:ea typeface="Calibri"/>
                <a:cs typeface="Calibri"/>
                <a:sym typeface="Calibri"/>
              </a:rPr>
              <a:t>15-minute short break</a:t>
            </a:r>
            <a:endParaRPr sz="1300">
              <a:solidFill>
                <a:schemeClr val="dk1"/>
              </a:solidFill>
              <a:latin typeface="Calibri"/>
              <a:ea typeface="Calibri"/>
              <a:cs typeface="Calibri"/>
              <a:sym typeface="Calibri"/>
            </a:endParaRPr>
          </a:p>
        </p:txBody>
      </p:sp>
      <p:sp>
        <p:nvSpPr>
          <p:cNvPr id="71" name="Google Shape;71;p3"/>
          <p:cNvSpPr txBox="1"/>
          <p:nvPr/>
        </p:nvSpPr>
        <p:spPr>
          <a:xfrm>
            <a:off x="6766560" y="2606040"/>
            <a:ext cx="46634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1100"/>
              <a:buFont typeface="Calibri"/>
              <a:buNone/>
            </a:pPr>
            <a:r>
              <a:rPr lang="en-US" sz="1100">
                <a:solidFill>
                  <a:srgbClr val="6B6068"/>
                </a:solidFill>
                <a:latin typeface="Calibri"/>
                <a:ea typeface="Calibri"/>
                <a:cs typeface="Calibri"/>
                <a:sym typeface="Calibri"/>
              </a:rPr>
              <a:t>Before the theory and framework block.</a:t>
            </a:r>
            <a:endParaRPr sz="1100">
              <a:solidFill>
                <a:schemeClr val="dk1"/>
              </a:solidFill>
              <a:latin typeface="Calibri"/>
              <a:ea typeface="Calibri"/>
              <a:cs typeface="Calibri"/>
              <a:sym typeface="Calibri"/>
            </a:endParaRPr>
          </a:p>
        </p:txBody>
      </p:sp>
      <p:sp>
        <p:nvSpPr>
          <p:cNvPr id="72" name="Google Shape;72;p3"/>
          <p:cNvSpPr/>
          <p:nvPr/>
        </p:nvSpPr>
        <p:spPr>
          <a:xfrm>
            <a:off x="548640" y="3474720"/>
            <a:ext cx="11064240" cy="841248"/>
          </a:xfrm>
          <a:prstGeom prst="roundRect">
            <a:avLst>
              <a:gd fmla="val 8696" name="adj"/>
            </a:avLst>
          </a:prstGeom>
          <a:solidFill>
            <a:srgbClr val="F7EEEA"/>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txBox="1"/>
          <p:nvPr/>
        </p:nvSpPr>
        <p:spPr>
          <a:xfrm>
            <a:off x="777240" y="3584448"/>
            <a:ext cx="155448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500"/>
              <a:buFont typeface="Cambria"/>
              <a:buNone/>
            </a:pPr>
            <a:r>
              <a:rPr b="1" lang="en-US" sz="1500">
                <a:solidFill>
                  <a:srgbClr val="6D2E46"/>
                </a:solidFill>
                <a:latin typeface="Cambria"/>
                <a:ea typeface="Cambria"/>
                <a:cs typeface="Cambria"/>
                <a:sym typeface="Cambria"/>
              </a:rPr>
              <a:t>Block 2</a:t>
            </a:r>
            <a:endParaRPr sz="1500">
              <a:solidFill>
                <a:schemeClr val="dk1"/>
              </a:solidFill>
              <a:latin typeface="Calibri"/>
              <a:ea typeface="Calibri"/>
              <a:cs typeface="Calibri"/>
              <a:sym typeface="Calibri"/>
            </a:endParaRPr>
          </a:p>
        </p:txBody>
      </p:sp>
      <p:sp>
        <p:nvSpPr>
          <p:cNvPr id="74" name="Google Shape;74;p3"/>
          <p:cNvSpPr txBox="1"/>
          <p:nvPr/>
        </p:nvSpPr>
        <p:spPr>
          <a:xfrm>
            <a:off x="2423160" y="3566160"/>
            <a:ext cx="42062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300"/>
              <a:buFont typeface="Calibri"/>
              <a:buNone/>
            </a:pPr>
            <a:r>
              <a:rPr b="1" lang="en-US" sz="1300">
                <a:solidFill>
                  <a:srgbClr val="2D2A2C"/>
                </a:solidFill>
                <a:latin typeface="Calibri"/>
                <a:ea typeface="Calibri"/>
                <a:cs typeface="Calibri"/>
                <a:sym typeface="Calibri"/>
              </a:rPr>
              <a:t>Theories &amp; Group Work 1</a:t>
            </a:r>
            <a:endParaRPr sz="1300">
              <a:solidFill>
                <a:schemeClr val="dk1"/>
              </a:solidFill>
              <a:latin typeface="Calibri"/>
              <a:ea typeface="Calibri"/>
              <a:cs typeface="Calibri"/>
              <a:sym typeface="Calibri"/>
            </a:endParaRPr>
          </a:p>
        </p:txBody>
      </p:sp>
      <p:sp>
        <p:nvSpPr>
          <p:cNvPr id="75" name="Google Shape;75;p3"/>
          <p:cNvSpPr txBox="1"/>
          <p:nvPr/>
        </p:nvSpPr>
        <p:spPr>
          <a:xfrm>
            <a:off x="6766560" y="3566160"/>
            <a:ext cx="46634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1100"/>
              <a:buFont typeface="Calibri"/>
              <a:buNone/>
            </a:pPr>
            <a:r>
              <a:rPr lang="en-US" sz="1100">
                <a:solidFill>
                  <a:srgbClr val="6B6068"/>
                </a:solidFill>
                <a:latin typeface="Calibri"/>
                <a:ea typeface="Calibri"/>
                <a:cs typeface="Calibri"/>
                <a:sym typeface="Calibri"/>
              </a:rPr>
              <a:t>Demographic transition theory, microeconomic theories of fertility; a real-country group-work analysis.</a:t>
            </a:r>
            <a:endParaRPr sz="1100">
              <a:solidFill>
                <a:schemeClr val="dk1"/>
              </a:solidFill>
              <a:latin typeface="Calibri"/>
              <a:ea typeface="Calibri"/>
              <a:cs typeface="Calibri"/>
              <a:sym typeface="Calibri"/>
            </a:endParaRPr>
          </a:p>
        </p:txBody>
      </p:sp>
      <p:sp>
        <p:nvSpPr>
          <p:cNvPr id="76" name="Google Shape;76;p3"/>
          <p:cNvSpPr/>
          <p:nvPr/>
        </p:nvSpPr>
        <p:spPr>
          <a:xfrm>
            <a:off x="548640" y="4434840"/>
            <a:ext cx="11064240" cy="841248"/>
          </a:xfrm>
          <a:prstGeom prst="roundRect">
            <a:avLst>
              <a:gd fmla="val 8696" name="adj"/>
            </a:avLst>
          </a:prstGeom>
          <a:solidFill>
            <a:srgbClr val="F7EEEA"/>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txBox="1"/>
          <p:nvPr/>
        </p:nvSpPr>
        <p:spPr>
          <a:xfrm>
            <a:off x="777240" y="4544568"/>
            <a:ext cx="155448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500"/>
              <a:buFont typeface="Cambria"/>
              <a:buNone/>
            </a:pPr>
            <a:r>
              <a:rPr b="1" lang="en-US" sz="1500">
                <a:solidFill>
                  <a:srgbClr val="6D2E46"/>
                </a:solidFill>
                <a:latin typeface="Cambria"/>
                <a:ea typeface="Cambria"/>
                <a:cs typeface="Cambria"/>
                <a:sym typeface="Cambria"/>
              </a:rPr>
              <a:t>Block 3</a:t>
            </a:r>
            <a:endParaRPr sz="1500">
              <a:solidFill>
                <a:schemeClr val="dk1"/>
              </a:solidFill>
              <a:latin typeface="Calibri"/>
              <a:ea typeface="Calibri"/>
              <a:cs typeface="Calibri"/>
              <a:sym typeface="Calibri"/>
            </a:endParaRPr>
          </a:p>
        </p:txBody>
      </p:sp>
      <p:sp>
        <p:nvSpPr>
          <p:cNvPr id="78" name="Google Shape;78;p3"/>
          <p:cNvSpPr txBox="1"/>
          <p:nvPr/>
        </p:nvSpPr>
        <p:spPr>
          <a:xfrm>
            <a:off x="2423160" y="4526280"/>
            <a:ext cx="42062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300"/>
              <a:buFont typeface="Calibri"/>
              <a:buNone/>
            </a:pPr>
            <a:r>
              <a:rPr b="1" lang="en-US" sz="1300">
                <a:solidFill>
                  <a:srgbClr val="2D2A2C"/>
                </a:solidFill>
                <a:latin typeface="Calibri"/>
                <a:ea typeface="Calibri"/>
                <a:cs typeface="Calibri"/>
                <a:sym typeface="Calibri"/>
              </a:rPr>
              <a:t>Proximate Determinants, Contraception &amp; Unmet Need</a:t>
            </a:r>
            <a:endParaRPr sz="1300">
              <a:solidFill>
                <a:schemeClr val="dk1"/>
              </a:solidFill>
              <a:latin typeface="Calibri"/>
              <a:ea typeface="Calibri"/>
              <a:cs typeface="Calibri"/>
              <a:sym typeface="Calibri"/>
            </a:endParaRPr>
          </a:p>
        </p:txBody>
      </p:sp>
      <p:sp>
        <p:nvSpPr>
          <p:cNvPr id="79" name="Google Shape;79;p3"/>
          <p:cNvSpPr txBox="1"/>
          <p:nvPr/>
        </p:nvSpPr>
        <p:spPr>
          <a:xfrm>
            <a:off x="6766560" y="4526280"/>
            <a:ext cx="46634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1100"/>
              <a:buFont typeface="Calibri"/>
              <a:buNone/>
            </a:pPr>
            <a:r>
              <a:rPr lang="en-US" sz="1100">
                <a:solidFill>
                  <a:srgbClr val="6B6068"/>
                </a:solidFill>
                <a:latin typeface="Calibri"/>
                <a:ea typeface="Calibri"/>
                <a:cs typeface="Calibri"/>
                <a:sym typeface="Calibri"/>
              </a:rPr>
              <a:t>The Bongaarts framework, contraceptive method mix, unmet need, and real-world cases.</a:t>
            </a:r>
            <a:endParaRPr sz="1100">
              <a:solidFill>
                <a:schemeClr val="dk1"/>
              </a:solidFill>
              <a:latin typeface="Calibri"/>
              <a:ea typeface="Calibri"/>
              <a:cs typeface="Calibri"/>
              <a:sym typeface="Calibri"/>
            </a:endParaRPr>
          </a:p>
        </p:txBody>
      </p:sp>
      <p:sp>
        <p:nvSpPr>
          <p:cNvPr id="80" name="Google Shape;80;p3"/>
          <p:cNvSpPr/>
          <p:nvPr/>
        </p:nvSpPr>
        <p:spPr>
          <a:xfrm>
            <a:off x="548640" y="5394960"/>
            <a:ext cx="11064240" cy="841248"/>
          </a:xfrm>
          <a:prstGeom prst="roundRect">
            <a:avLst>
              <a:gd fmla="val 8696" name="adj"/>
            </a:avLst>
          </a:prstGeom>
          <a:solidFill>
            <a:srgbClr val="F7EEEA"/>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txBox="1"/>
          <p:nvPr/>
        </p:nvSpPr>
        <p:spPr>
          <a:xfrm>
            <a:off x="777240" y="5504688"/>
            <a:ext cx="155448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500"/>
              <a:buFont typeface="Cambria"/>
              <a:buNone/>
            </a:pPr>
            <a:r>
              <a:rPr b="1" lang="en-US" sz="1500">
                <a:solidFill>
                  <a:srgbClr val="6D2E46"/>
                </a:solidFill>
                <a:latin typeface="Cambria"/>
                <a:ea typeface="Cambria"/>
                <a:cs typeface="Cambria"/>
                <a:sym typeface="Cambria"/>
              </a:rPr>
              <a:t>Block 4</a:t>
            </a:r>
            <a:endParaRPr sz="1500">
              <a:solidFill>
                <a:schemeClr val="dk1"/>
              </a:solidFill>
              <a:latin typeface="Calibri"/>
              <a:ea typeface="Calibri"/>
              <a:cs typeface="Calibri"/>
              <a:sym typeface="Calibri"/>
            </a:endParaRPr>
          </a:p>
        </p:txBody>
      </p:sp>
      <p:sp>
        <p:nvSpPr>
          <p:cNvPr id="82" name="Google Shape;82;p3"/>
          <p:cNvSpPr txBox="1"/>
          <p:nvPr/>
        </p:nvSpPr>
        <p:spPr>
          <a:xfrm>
            <a:off x="2423160" y="5486400"/>
            <a:ext cx="42062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300"/>
              <a:buFont typeface="Calibri"/>
              <a:buNone/>
            </a:pPr>
            <a:r>
              <a:rPr b="1" lang="en-US" sz="1300">
                <a:solidFill>
                  <a:srgbClr val="2D2A2C"/>
                </a:solidFill>
                <a:latin typeface="Calibri"/>
                <a:ea typeface="Calibri"/>
                <a:cs typeface="Calibri"/>
                <a:sym typeface="Calibri"/>
              </a:rPr>
              <a:t>Below-Replacement Fertility &amp; Group Work 2</a:t>
            </a:r>
            <a:endParaRPr sz="1300">
              <a:solidFill>
                <a:schemeClr val="dk1"/>
              </a:solidFill>
              <a:latin typeface="Calibri"/>
              <a:ea typeface="Calibri"/>
              <a:cs typeface="Calibri"/>
              <a:sym typeface="Calibri"/>
            </a:endParaRPr>
          </a:p>
        </p:txBody>
      </p:sp>
      <p:sp>
        <p:nvSpPr>
          <p:cNvPr id="83" name="Google Shape;83;p3"/>
          <p:cNvSpPr txBox="1"/>
          <p:nvPr/>
        </p:nvSpPr>
        <p:spPr>
          <a:xfrm>
            <a:off x="6766560" y="5486400"/>
            <a:ext cx="46634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1100"/>
              <a:buFont typeface="Calibri"/>
              <a:buNone/>
            </a:pPr>
            <a:r>
              <a:rPr lang="en-US" sz="1100">
                <a:solidFill>
                  <a:srgbClr val="6B6068"/>
                </a:solidFill>
                <a:latin typeface="Calibri"/>
                <a:ea typeface="Calibri"/>
                <a:cs typeface="Calibri"/>
                <a:sym typeface="Calibri"/>
              </a:rPr>
              <a:t>Global lowest-low fertility patterns; a real pro-natalist policy evaluation; practice exercises and discussion.</a:t>
            </a:r>
            <a:endParaRPr sz="1100">
              <a:solidFill>
                <a:schemeClr val="dk1"/>
              </a:solidFill>
              <a:latin typeface="Calibri"/>
              <a:ea typeface="Calibri"/>
              <a:cs typeface="Calibri"/>
              <a:sym typeface="Calibri"/>
            </a:endParaRPr>
          </a:p>
        </p:txBody>
      </p:sp>
      <p:sp>
        <p:nvSpPr>
          <p:cNvPr id="84" name="Google Shape;84;p3"/>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1420"/>
        </a:solidFill>
      </p:bgPr>
    </p:bg>
    <p:spTree>
      <p:nvGrpSpPr>
        <p:cNvPr id="89" name="Shape 89"/>
        <p:cNvGrpSpPr/>
        <p:nvPr/>
      </p:nvGrpSpPr>
      <p:grpSpPr>
        <a:xfrm>
          <a:off x="0" y="0"/>
          <a:ext cx="0" cy="0"/>
          <a:chOff x="0" y="0"/>
          <a:chExt cx="0" cy="0"/>
        </a:xfrm>
      </p:grpSpPr>
      <p:sp>
        <p:nvSpPr>
          <p:cNvPr id="90" name="Google Shape;90;p4"/>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A441"/>
              </a:buClr>
              <a:buSzPts val="1200"/>
              <a:buFont typeface="Calibri"/>
              <a:buNone/>
            </a:pPr>
            <a:r>
              <a:rPr b="1" lang="en-US" sz="1200">
                <a:solidFill>
                  <a:srgbClr val="D9A441"/>
                </a:solidFill>
                <a:latin typeface="Calibri"/>
                <a:ea typeface="Calibri"/>
                <a:cs typeface="Calibri"/>
                <a:sym typeface="Calibri"/>
              </a:rPr>
              <a:t>MOTIVATION · REAL-WORLD EXAMPLE</a:t>
            </a:r>
            <a:endParaRPr sz="1200">
              <a:solidFill>
                <a:schemeClr val="dk1"/>
              </a:solidFill>
              <a:latin typeface="Calibri"/>
              <a:ea typeface="Calibri"/>
              <a:cs typeface="Calibri"/>
              <a:sym typeface="Calibri"/>
            </a:endParaRPr>
          </a:p>
        </p:txBody>
      </p:sp>
      <p:sp>
        <p:nvSpPr>
          <p:cNvPr id="91" name="Google Shape;91;p4"/>
          <p:cNvSpPr txBox="1"/>
          <p:nvPr/>
        </p:nvSpPr>
        <p:spPr>
          <a:xfrm>
            <a:off x="548640" y="621792"/>
            <a:ext cx="105156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lang="en-US" sz="3000">
                <a:solidFill>
                  <a:srgbClr val="FFFFFF"/>
                </a:solidFill>
                <a:latin typeface="Cambria"/>
                <a:ea typeface="Cambria"/>
                <a:cs typeface="Cambria"/>
                <a:sym typeface="Cambria"/>
              </a:rPr>
              <a:t>Why This Matters Right Now: Thailand's Births Have Collapsed</a:t>
            </a:r>
            <a:endParaRPr sz="3000">
              <a:solidFill>
                <a:schemeClr val="dk1"/>
              </a:solidFill>
              <a:latin typeface="Calibri"/>
              <a:ea typeface="Calibri"/>
              <a:cs typeface="Calibri"/>
              <a:sym typeface="Calibri"/>
            </a:endParaRPr>
          </a:p>
        </p:txBody>
      </p:sp>
      <p:sp>
        <p:nvSpPr>
          <p:cNvPr id="92" name="Google Shape;92;p4"/>
          <p:cNvSpPr txBox="1"/>
          <p:nvPr/>
        </p:nvSpPr>
        <p:spPr>
          <a:xfrm>
            <a:off x="640080" y="1920240"/>
            <a:ext cx="3383280" cy="704088"/>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D9A441"/>
              </a:buClr>
              <a:buSzPts val="4000"/>
              <a:buFont typeface="Cambria"/>
              <a:buNone/>
            </a:pPr>
            <a:r>
              <a:rPr b="1" lang="en-US" sz="4000">
                <a:solidFill>
                  <a:srgbClr val="D9A441"/>
                </a:solidFill>
                <a:latin typeface="Cambria"/>
                <a:ea typeface="Cambria"/>
                <a:cs typeface="Cambria"/>
                <a:sym typeface="Cambria"/>
              </a:rPr>
              <a:t>462,240</a:t>
            </a:r>
            <a:endParaRPr sz="4000">
              <a:solidFill>
                <a:schemeClr val="dk1"/>
              </a:solidFill>
              <a:latin typeface="Calibri"/>
              <a:ea typeface="Calibri"/>
              <a:cs typeface="Calibri"/>
              <a:sym typeface="Calibri"/>
            </a:endParaRPr>
          </a:p>
        </p:txBody>
      </p:sp>
      <p:sp>
        <p:nvSpPr>
          <p:cNvPr id="93" name="Google Shape;93;p4"/>
          <p:cNvSpPr txBox="1"/>
          <p:nvPr/>
        </p:nvSpPr>
        <p:spPr>
          <a:xfrm>
            <a:off x="640080" y="2624328"/>
            <a:ext cx="3383280" cy="57607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5EDE8"/>
              </a:buClr>
              <a:buSzPts val="1150"/>
              <a:buFont typeface="Calibri"/>
              <a:buNone/>
            </a:pPr>
            <a:r>
              <a:rPr lang="en-US" sz="1150">
                <a:solidFill>
                  <a:srgbClr val="F5EDE8"/>
                </a:solidFill>
                <a:latin typeface="Calibri"/>
                <a:ea typeface="Calibri"/>
                <a:cs typeface="Calibri"/>
                <a:sym typeface="Calibri"/>
              </a:rPr>
              <a:t>Births registered in Thailand, 2024</a:t>
            </a:r>
            <a:endParaRPr sz="1150">
              <a:solidFill>
                <a:schemeClr val="dk1"/>
              </a:solidFill>
              <a:latin typeface="Calibri"/>
              <a:ea typeface="Calibri"/>
              <a:cs typeface="Calibri"/>
              <a:sym typeface="Calibri"/>
            </a:endParaRPr>
          </a:p>
        </p:txBody>
      </p:sp>
      <p:sp>
        <p:nvSpPr>
          <p:cNvPr id="94" name="Google Shape;94;p4"/>
          <p:cNvSpPr txBox="1"/>
          <p:nvPr/>
        </p:nvSpPr>
        <p:spPr>
          <a:xfrm>
            <a:off x="4434840" y="1920240"/>
            <a:ext cx="3383280" cy="704088"/>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D9A441"/>
              </a:buClr>
              <a:buSzPts val="4000"/>
              <a:buFont typeface="Cambria"/>
              <a:buNone/>
            </a:pPr>
            <a:r>
              <a:rPr b="1" lang="en-US" sz="4000">
                <a:solidFill>
                  <a:srgbClr val="D9A441"/>
                </a:solidFill>
                <a:latin typeface="Cambria"/>
                <a:ea typeface="Cambria"/>
                <a:cs typeface="Cambria"/>
                <a:sym typeface="Cambria"/>
              </a:rPr>
              <a:t>571,646</a:t>
            </a:r>
            <a:endParaRPr sz="4000">
              <a:solidFill>
                <a:schemeClr val="dk1"/>
              </a:solidFill>
              <a:latin typeface="Calibri"/>
              <a:ea typeface="Calibri"/>
              <a:cs typeface="Calibri"/>
              <a:sym typeface="Calibri"/>
            </a:endParaRPr>
          </a:p>
        </p:txBody>
      </p:sp>
      <p:sp>
        <p:nvSpPr>
          <p:cNvPr id="95" name="Google Shape;95;p4"/>
          <p:cNvSpPr txBox="1"/>
          <p:nvPr/>
        </p:nvSpPr>
        <p:spPr>
          <a:xfrm>
            <a:off x="4434840" y="2624328"/>
            <a:ext cx="3383280" cy="57607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5EDE8"/>
              </a:buClr>
              <a:buSzPts val="1150"/>
              <a:buFont typeface="Calibri"/>
              <a:buNone/>
            </a:pPr>
            <a:r>
              <a:rPr lang="en-US" sz="1150">
                <a:solidFill>
                  <a:srgbClr val="F5EDE8"/>
                </a:solidFill>
                <a:latin typeface="Calibri"/>
                <a:ea typeface="Calibri"/>
                <a:cs typeface="Calibri"/>
                <a:sym typeface="Calibri"/>
              </a:rPr>
              <a:t>Deaths registered in Thailand, 2024</a:t>
            </a:r>
            <a:endParaRPr sz="1150">
              <a:solidFill>
                <a:schemeClr val="dk1"/>
              </a:solidFill>
              <a:latin typeface="Calibri"/>
              <a:ea typeface="Calibri"/>
              <a:cs typeface="Calibri"/>
              <a:sym typeface="Calibri"/>
            </a:endParaRPr>
          </a:p>
        </p:txBody>
      </p:sp>
      <p:sp>
        <p:nvSpPr>
          <p:cNvPr id="96" name="Google Shape;96;p4"/>
          <p:cNvSpPr txBox="1"/>
          <p:nvPr/>
        </p:nvSpPr>
        <p:spPr>
          <a:xfrm>
            <a:off x="8229600" y="1920240"/>
            <a:ext cx="3383280" cy="704088"/>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D9A441"/>
              </a:buClr>
              <a:buSzPts val="4000"/>
              <a:buFont typeface="Cambria"/>
              <a:buNone/>
            </a:pPr>
            <a:r>
              <a:rPr b="1" lang="en-US" sz="4000">
                <a:solidFill>
                  <a:srgbClr val="D9A441"/>
                </a:solidFill>
                <a:latin typeface="Cambria"/>
                <a:ea typeface="Cambria"/>
                <a:cs typeface="Cambria"/>
                <a:sym typeface="Cambria"/>
              </a:rPr>
              <a:t>≈1.0</a:t>
            </a:r>
            <a:endParaRPr sz="4000">
              <a:solidFill>
                <a:schemeClr val="dk1"/>
              </a:solidFill>
              <a:latin typeface="Calibri"/>
              <a:ea typeface="Calibri"/>
              <a:cs typeface="Calibri"/>
              <a:sym typeface="Calibri"/>
            </a:endParaRPr>
          </a:p>
        </p:txBody>
      </p:sp>
      <p:sp>
        <p:nvSpPr>
          <p:cNvPr id="97" name="Google Shape;97;p4"/>
          <p:cNvSpPr txBox="1"/>
          <p:nvPr/>
        </p:nvSpPr>
        <p:spPr>
          <a:xfrm>
            <a:off x="8229600" y="2624328"/>
            <a:ext cx="3383280" cy="57607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5EDE8"/>
              </a:buClr>
              <a:buSzPts val="1150"/>
              <a:buFont typeface="Calibri"/>
              <a:buNone/>
            </a:pPr>
            <a:r>
              <a:rPr lang="en-US" sz="1150">
                <a:solidFill>
                  <a:srgbClr val="F5EDE8"/>
                </a:solidFill>
                <a:latin typeface="Calibri"/>
                <a:ea typeface="Calibri"/>
                <a:cs typeface="Calibri"/>
                <a:sym typeface="Calibri"/>
              </a:rPr>
              <a:t>Estimated Thai total fertility rate, 2024</a:t>
            </a:r>
            <a:endParaRPr sz="1150">
              <a:solidFill>
                <a:schemeClr val="dk1"/>
              </a:solidFill>
              <a:latin typeface="Calibri"/>
              <a:ea typeface="Calibri"/>
              <a:cs typeface="Calibri"/>
              <a:sym typeface="Calibri"/>
            </a:endParaRPr>
          </a:p>
        </p:txBody>
      </p:sp>
      <p:sp>
        <p:nvSpPr>
          <p:cNvPr id="98" name="Google Shape;98;p4"/>
          <p:cNvSpPr txBox="1"/>
          <p:nvPr/>
        </p:nvSpPr>
        <p:spPr>
          <a:xfrm>
            <a:off x="640080" y="3566160"/>
            <a:ext cx="1088136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D9D2"/>
              </a:buClr>
              <a:buSzPts val="1450"/>
              <a:buFont typeface="Calibri"/>
              <a:buNone/>
            </a:pPr>
            <a:r>
              <a:rPr lang="en-US" sz="1450">
                <a:solidFill>
                  <a:srgbClr val="EAD9D2"/>
                </a:solidFill>
                <a:latin typeface="Calibri"/>
                <a:ea typeface="Calibri"/>
                <a:cs typeface="Calibri"/>
                <a:sym typeface="Calibri"/>
              </a:rPr>
              <a:t>For the first time since 1949, annual births in Thailand fell below 500,000 — while deaths exceeded 570,000, meaning Thailand's population is now shrinking through natural decrease. Understanding why requires exactly the measurement toolkit and theory this session builds: from the Crude Birth Rate you will compute by hand today, to the proximate-determinants and transition theories explaining the decline.</a:t>
            </a:r>
            <a:endParaRPr sz="1450">
              <a:solidFill>
                <a:schemeClr val="dk1"/>
              </a:solidFill>
              <a:latin typeface="Calibri"/>
              <a:ea typeface="Calibri"/>
              <a:cs typeface="Calibri"/>
              <a:sym typeface="Calibri"/>
            </a:endParaRPr>
          </a:p>
        </p:txBody>
      </p:sp>
      <p:sp>
        <p:nvSpPr>
          <p:cNvPr id="99" name="Google Shape;99;p4"/>
          <p:cNvSpPr txBox="1"/>
          <p:nvPr/>
        </p:nvSpPr>
        <p:spPr>
          <a:xfrm>
            <a:off x="548640" y="6080760"/>
            <a:ext cx="110642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9C93"/>
              </a:buClr>
              <a:buSzPts val="950"/>
              <a:buFont typeface="Calibri"/>
              <a:buNone/>
            </a:pPr>
            <a:r>
              <a:rPr i="1" lang="en-US" sz="950">
                <a:solidFill>
                  <a:srgbClr val="B49C93"/>
                </a:solidFill>
                <a:latin typeface="Calibri"/>
                <a:ea typeface="Calibri"/>
                <a:cs typeface="Calibri"/>
                <a:sym typeface="Calibri"/>
              </a:rPr>
              <a:t>Source: Khaosod English. (2025, January 17). Thailand's population drops below 66 million as births hit 75-year low. </a:t>
            </a:r>
            <a:r>
              <a:rPr i="1" lang="en-US" sz="950" u="sng">
                <a:solidFill>
                  <a:srgbClr val="B49C93"/>
                </a:solidFill>
                <a:latin typeface="Calibri"/>
                <a:ea typeface="Calibri"/>
                <a:cs typeface="Calibri"/>
                <a:sym typeface="Calibri"/>
                <a:hlinkClick r:id="rId3">
                  <a:extLst>
                    <a:ext uri="{A12FA001-AC4F-418D-AE19-62706E023703}">
                      <ahyp:hlinkClr val="tx"/>
                    </a:ext>
                  </a:extLst>
                </a:hlinkClick>
              </a:rPr>
              <a:t>https://www.khaosodenglish.com/featured/2025/01/17/thailands-population-drops-below-66-million-as-births-hit-75-year-low/</a:t>
            </a:r>
            <a:r>
              <a:rPr i="1" lang="en-US" sz="950">
                <a:solidFill>
                  <a:srgbClr val="B49C93"/>
                </a:solidFill>
                <a:latin typeface="Calibri"/>
                <a:ea typeface="Calibri"/>
                <a:cs typeface="Calibri"/>
                <a:sym typeface="Calibri"/>
              </a:rPr>
              <a:t> </a:t>
            </a:r>
            <a:endParaRPr sz="950">
              <a:solidFill>
                <a:schemeClr val="dk1"/>
              </a:solidFill>
              <a:latin typeface="Calibri"/>
              <a:ea typeface="Calibri"/>
              <a:cs typeface="Calibri"/>
              <a:sym typeface="Calibri"/>
            </a:endParaRPr>
          </a:p>
        </p:txBody>
      </p:sp>
      <p:sp>
        <p:nvSpPr>
          <p:cNvPr id="100" name="Google Shape;100;p4"/>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1420"/>
        </a:solidFill>
      </p:bgPr>
    </p:bg>
    <p:spTree>
      <p:nvGrpSpPr>
        <p:cNvPr id="105" name="Shape 105"/>
        <p:cNvGrpSpPr/>
        <p:nvPr/>
      </p:nvGrpSpPr>
      <p:grpSpPr>
        <a:xfrm>
          <a:off x="0" y="0"/>
          <a:ext cx="0" cy="0"/>
          <a:chOff x="0" y="0"/>
          <a:chExt cx="0" cy="0"/>
        </a:xfrm>
      </p:grpSpPr>
      <p:sp>
        <p:nvSpPr>
          <p:cNvPr id="106" name="Google Shape;106;p5"/>
          <p:cNvSpPr/>
          <p:nvPr/>
        </p:nvSpPr>
        <p:spPr>
          <a:xfrm>
            <a:off x="8778240" y="-2011680"/>
            <a:ext cx="5943600" cy="5943600"/>
          </a:xfrm>
          <a:prstGeom prst="ellipse">
            <a:avLst/>
          </a:prstGeom>
          <a:solidFill>
            <a:srgbClr val="6D2E46">
              <a:alpha val="5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
          <p:cNvSpPr/>
          <p:nvPr/>
        </p:nvSpPr>
        <p:spPr>
          <a:xfrm>
            <a:off x="-1554480" y="4297680"/>
            <a:ext cx="2194560" cy="2194560"/>
          </a:xfrm>
          <a:prstGeom prst="ellipse">
            <a:avLst/>
          </a:prstGeom>
          <a:solidFill>
            <a:srgbClr val="A26769">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
          <p:cNvSpPr txBox="1"/>
          <p:nvPr/>
        </p:nvSpPr>
        <p:spPr>
          <a:xfrm>
            <a:off x="822960" y="2331720"/>
            <a:ext cx="9144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A441"/>
              </a:buClr>
              <a:buSzPts val="1400"/>
              <a:buFont typeface="Calibri"/>
              <a:buNone/>
            </a:pPr>
            <a:r>
              <a:rPr b="1" lang="en-US" sz="1400">
                <a:solidFill>
                  <a:srgbClr val="D9A441"/>
                </a:solidFill>
                <a:latin typeface="Calibri"/>
                <a:ea typeface="Calibri"/>
                <a:cs typeface="Calibri"/>
                <a:sym typeface="Calibri"/>
              </a:rPr>
              <a:t>BLOCK 1</a:t>
            </a:r>
            <a:endParaRPr sz="1400">
              <a:solidFill>
                <a:schemeClr val="dk1"/>
              </a:solidFill>
              <a:latin typeface="Calibri"/>
              <a:ea typeface="Calibri"/>
              <a:cs typeface="Calibri"/>
              <a:sym typeface="Calibri"/>
            </a:endParaRPr>
          </a:p>
        </p:txBody>
      </p:sp>
      <p:sp>
        <p:nvSpPr>
          <p:cNvPr id="109" name="Google Shape;109;p5"/>
          <p:cNvSpPr txBox="1"/>
          <p:nvPr/>
        </p:nvSpPr>
        <p:spPr>
          <a:xfrm>
            <a:off x="822960" y="2743200"/>
            <a:ext cx="1024128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800"/>
              <a:buFont typeface="Cambria"/>
              <a:buNone/>
            </a:pPr>
            <a:r>
              <a:rPr b="1" lang="en-US" sz="3800">
                <a:solidFill>
                  <a:srgbClr val="FFFFFF"/>
                </a:solidFill>
                <a:latin typeface="Cambria"/>
                <a:ea typeface="Cambria"/>
                <a:cs typeface="Cambria"/>
                <a:sym typeface="Cambria"/>
              </a:rPr>
              <a:t>Concepts, Measurement &amp; a Worked Example</a:t>
            </a:r>
            <a:endParaRPr sz="3800">
              <a:solidFill>
                <a:schemeClr val="dk1"/>
              </a:solidFill>
              <a:latin typeface="Calibri"/>
              <a:ea typeface="Calibri"/>
              <a:cs typeface="Calibri"/>
              <a:sym typeface="Calibri"/>
            </a:endParaRPr>
          </a:p>
        </p:txBody>
      </p:sp>
      <p:sp>
        <p:nvSpPr>
          <p:cNvPr id="110" name="Google Shape;110;p5"/>
          <p:cNvSpPr txBox="1"/>
          <p:nvPr/>
        </p:nvSpPr>
        <p:spPr>
          <a:xfrm>
            <a:off x="822960" y="4160520"/>
            <a:ext cx="96012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C7C0"/>
              </a:buClr>
              <a:buSzPts val="1600"/>
              <a:buFont typeface="Calibri"/>
              <a:buNone/>
            </a:pPr>
            <a:r>
              <a:rPr i="1" lang="en-US" sz="1600">
                <a:solidFill>
                  <a:srgbClr val="D9C7C0"/>
                </a:solidFill>
                <a:latin typeface="Calibri"/>
                <a:ea typeface="Calibri"/>
                <a:cs typeface="Calibri"/>
                <a:sym typeface="Calibri"/>
              </a:rPr>
              <a:t>Defining fertility precisely, the standard data sources, and building every core fertility measure from raw data.</a:t>
            </a:r>
            <a:endParaRPr sz="1600">
              <a:solidFill>
                <a:schemeClr val="dk1"/>
              </a:solidFill>
              <a:latin typeface="Calibri"/>
              <a:ea typeface="Calibri"/>
              <a:cs typeface="Calibri"/>
              <a:sym typeface="Calibri"/>
            </a:endParaRPr>
          </a:p>
        </p:txBody>
      </p:sp>
      <p:sp>
        <p:nvSpPr>
          <p:cNvPr id="111" name="Google Shape;111;p5"/>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
        <p:nvSpPr>
          <p:cNvPr id="112" name="Google Shape;112;p5"/>
          <p:cNvSpPr txBox="1"/>
          <p:nvPr/>
        </p:nvSpPr>
        <p:spPr>
          <a:xfrm>
            <a:off x="10728655" y="6492240"/>
            <a:ext cx="10058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 / 62</a:t>
            </a:r>
            <a:endParaRPr sz="9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 name="Shape 117"/>
        <p:cNvGrpSpPr/>
        <p:nvPr/>
      </p:nvGrpSpPr>
      <p:grpSpPr>
        <a:xfrm>
          <a:off x="0" y="0"/>
          <a:ext cx="0" cy="0"/>
          <a:chOff x="0" y="0"/>
          <a:chExt cx="0" cy="0"/>
        </a:xfrm>
      </p:grpSpPr>
      <p:sp>
        <p:nvSpPr>
          <p:cNvPr id="118" name="Google Shape;118;p6"/>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DEFINITIONS</a:t>
            </a:r>
            <a:endParaRPr sz="1200">
              <a:solidFill>
                <a:schemeClr val="dk1"/>
              </a:solidFill>
              <a:latin typeface="Calibri"/>
              <a:ea typeface="Calibri"/>
              <a:cs typeface="Calibri"/>
              <a:sym typeface="Calibri"/>
            </a:endParaRPr>
          </a:p>
        </p:txBody>
      </p:sp>
      <p:sp>
        <p:nvSpPr>
          <p:cNvPr id="119" name="Google Shape;119;p6"/>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Fertility, Fecundity, and Natality: Three Different Concepts</a:t>
            </a:r>
            <a:endParaRPr sz="3000">
              <a:solidFill>
                <a:schemeClr val="dk1"/>
              </a:solidFill>
              <a:latin typeface="Calibri"/>
              <a:ea typeface="Calibri"/>
              <a:cs typeface="Calibri"/>
              <a:sym typeface="Calibri"/>
            </a:endParaRPr>
          </a:p>
        </p:txBody>
      </p:sp>
      <p:sp>
        <p:nvSpPr>
          <p:cNvPr id="120" name="Google Shape;120;p6"/>
          <p:cNvSpPr/>
          <p:nvPr/>
        </p:nvSpPr>
        <p:spPr>
          <a:xfrm>
            <a:off x="548640" y="1600200"/>
            <a:ext cx="3520440" cy="2743200"/>
          </a:xfrm>
          <a:prstGeom prst="roundRect">
            <a:avLst>
              <a:gd fmla="val 2667" name="adj"/>
            </a:avLst>
          </a:prstGeom>
          <a:solidFill>
            <a:srgbClr val="F7EEEA"/>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6"/>
          <p:cNvSpPr txBox="1"/>
          <p:nvPr/>
        </p:nvSpPr>
        <p:spPr>
          <a:xfrm>
            <a:off x="777240" y="1783080"/>
            <a:ext cx="3063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900"/>
              <a:buFont typeface="Cambria"/>
              <a:buNone/>
            </a:pPr>
            <a:r>
              <a:rPr b="1" lang="en-US" sz="1900">
                <a:solidFill>
                  <a:srgbClr val="6D2E46"/>
                </a:solidFill>
                <a:latin typeface="Cambria"/>
                <a:ea typeface="Cambria"/>
                <a:cs typeface="Cambria"/>
                <a:sym typeface="Cambria"/>
              </a:rPr>
              <a:t>Fertility</a:t>
            </a:r>
            <a:endParaRPr sz="1900">
              <a:solidFill>
                <a:schemeClr val="dk1"/>
              </a:solidFill>
              <a:latin typeface="Calibri"/>
              <a:ea typeface="Calibri"/>
              <a:cs typeface="Calibri"/>
              <a:sym typeface="Calibri"/>
            </a:endParaRPr>
          </a:p>
        </p:txBody>
      </p:sp>
      <p:sp>
        <p:nvSpPr>
          <p:cNvPr id="122" name="Google Shape;122;p6"/>
          <p:cNvSpPr txBox="1"/>
          <p:nvPr/>
        </p:nvSpPr>
        <p:spPr>
          <a:xfrm>
            <a:off x="777240" y="2240280"/>
            <a:ext cx="3063240" cy="1965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50"/>
              <a:buFont typeface="Calibri"/>
              <a:buNone/>
            </a:pPr>
            <a:r>
              <a:rPr lang="en-US" sz="1250">
                <a:solidFill>
                  <a:srgbClr val="2D2A2C"/>
                </a:solidFill>
                <a:latin typeface="Calibri"/>
                <a:ea typeface="Calibri"/>
                <a:cs typeface="Calibri"/>
                <a:sym typeface="Calibri"/>
              </a:rPr>
              <a:t>The actual reproductive performance of an individual or population — the number of live births that actually occur. This is what fertility RATES measure.</a:t>
            </a:r>
            <a:endParaRPr sz="1250">
              <a:solidFill>
                <a:schemeClr val="dk1"/>
              </a:solidFill>
              <a:latin typeface="Calibri"/>
              <a:ea typeface="Calibri"/>
              <a:cs typeface="Calibri"/>
              <a:sym typeface="Calibri"/>
            </a:endParaRPr>
          </a:p>
        </p:txBody>
      </p:sp>
      <p:sp>
        <p:nvSpPr>
          <p:cNvPr id="123" name="Google Shape;123;p6"/>
          <p:cNvSpPr/>
          <p:nvPr/>
        </p:nvSpPr>
        <p:spPr>
          <a:xfrm>
            <a:off x="4325112" y="1600200"/>
            <a:ext cx="3520440" cy="2743200"/>
          </a:xfrm>
          <a:prstGeom prst="roundRect">
            <a:avLst>
              <a:gd fmla="val 2667" name="adj"/>
            </a:avLst>
          </a:prstGeom>
          <a:solidFill>
            <a:srgbClr val="F7EEEA"/>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6"/>
          <p:cNvSpPr txBox="1"/>
          <p:nvPr/>
        </p:nvSpPr>
        <p:spPr>
          <a:xfrm>
            <a:off x="4553712" y="1783080"/>
            <a:ext cx="3063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900"/>
              <a:buFont typeface="Cambria"/>
              <a:buNone/>
            </a:pPr>
            <a:r>
              <a:rPr b="1" lang="en-US" sz="1900">
                <a:solidFill>
                  <a:srgbClr val="6D2E46"/>
                </a:solidFill>
                <a:latin typeface="Cambria"/>
                <a:ea typeface="Cambria"/>
                <a:cs typeface="Cambria"/>
                <a:sym typeface="Cambria"/>
              </a:rPr>
              <a:t>Fecundity</a:t>
            </a:r>
            <a:endParaRPr sz="1900">
              <a:solidFill>
                <a:schemeClr val="dk1"/>
              </a:solidFill>
              <a:latin typeface="Calibri"/>
              <a:ea typeface="Calibri"/>
              <a:cs typeface="Calibri"/>
              <a:sym typeface="Calibri"/>
            </a:endParaRPr>
          </a:p>
        </p:txBody>
      </p:sp>
      <p:sp>
        <p:nvSpPr>
          <p:cNvPr id="125" name="Google Shape;125;p6"/>
          <p:cNvSpPr txBox="1"/>
          <p:nvPr/>
        </p:nvSpPr>
        <p:spPr>
          <a:xfrm>
            <a:off x="4553712" y="2240280"/>
            <a:ext cx="3063240" cy="1965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50"/>
              <a:buFont typeface="Calibri"/>
              <a:buNone/>
            </a:pPr>
            <a:r>
              <a:rPr lang="en-US" sz="1250">
                <a:solidFill>
                  <a:srgbClr val="2D2A2C"/>
                </a:solidFill>
                <a:latin typeface="Calibri"/>
                <a:ea typeface="Calibri"/>
                <a:cs typeface="Calibri"/>
                <a:sym typeface="Calibri"/>
              </a:rPr>
              <a:t>The physiological CAPACITY to bear children — a potential, not an outcome. A woman can be highly fecund yet have zero fertility (by choice, circumstance, or lack of exposure to intercourse).</a:t>
            </a:r>
            <a:endParaRPr sz="1250">
              <a:solidFill>
                <a:schemeClr val="dk1"/>
              </a:solidFill>
              <a:latin typeface="Calibri"/>
              <a:ea typeface="Calibri"/>
              <a:cs typeface="Calibri"/>
              <a:sym typeface="Calibri"/>
            </a:endParaRPr>
          </a:p>
        </p:txBody>
      </p:sp>
      <p:sp>
        <p:nvSpPr>
          <p:cNvPr id="126" name="Google Shape;126;p6"/>
          <p:cNvSpPr/>
          <p:nvPr/>
        </p:nvSpPr>
        <p:spPr>
          <a:xfrm>
            <a:off x="8101584" y="1600200"/>
            <a:ext cx="3520440" cy="2743200"/>
          </a:xfrm>
          <a:prstGeom prst="roundRect">
            <a:avLst>
              <a:gd fmla="val 2667" name="adj"/>
            </a:avLst>
          </a:prstGeom>
          <a:solidFill>
            <a:srgbClr val="F7EEEA"/>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
          <p:cNvSpPr txBox="1"/>
          <p:nvPr/>
        </p:nvSpPr>
        <p:spPr>
          <a:xfrm>
            <a:off x="8330184" y="1783080"/>
            <a:ext cx="3063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900"/>
              <a:buFont typeface="Cambria"/>
              <a:buNone/>
            </a:pPr>
            <a:r>
              <a:rPr b="1" lang="en-US" sz="1900">
                <a:solidFill>
                  <a:srgbClr val="6D2E46"/>
                </a:solidFill>
                <a:latin typeface="Cambria"/>
                <a:ea typeface="Cambria"/>
                <a:cs typeface="Cambria"/>
                <a:sym typeface="Cambria"/>
              </a:rPr>
              <a:t>Natality</a:t>
            </a:r>
            <a:endParaRPr sz="1900">
              <a:solidFill>
                <a:schemeClr val="dk1"/>
              </a:solidFill>
              <a:latin typeface="Calibri"/>
              <a:ea typeface="Calibri"/>
              <a:cs typeface="Calibri"/>
              <a:sym typeface="Calibri"/>
            </a:endParaRPr>
          </a:p>
        </p:txBody>
      </p:sp>
      <p:sp>
        <p:nvSpPr>
          <p:cNvPr id="128" name="Google Shape;128;p6"/>
          <p:cNvSpPr txBox="1"/>
          <p:nvPr/>
        </p:nvSpPr>
        <p:spPr>
          <a:xfrm>
            <a:off x="8330184" y="2240280"/>
            <a:ext cx="3063240" cy="1965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50"/>
              <a:buFont typeface="Calibri"/>
              <a:buNone/>
            </a:pPr>
            <a:r>
              <a:rPr lang="en-US" sz="1250">
                <a:solidFill>
                  <a:srgbClr val="2D2A2C"/>
                </a:solidFill>
                <a:latin typeface="Calibri"/>
                <a:ea typeface="Calibri"/>
                <a:cs typeface="Calibri"/>
                <a:sym typeface="Calibri"/>
              </a:rPr>
              <a:t>A broader, population-level term for the frequency of births in a population — often used loosely as a synonym for fertility, but properly refers to the birth phenomenon itself.</a:t>
            </a:r>
            <a:endParaRPr sz="1250">
              <a:solidFill>
                <a:schemeClr val="dk1"/>
              </a:solidFill>
              <a:latin typeface="Calibri"/>
              <a:ea typeface="Calibri"/>
              <a:cs typeface="Calibri"/>
              <a:sym typeface="Calibri"/>
            </a:endParaRPr>
          </a:p>
        </p:txBody>
      </p:sp>
      <p:sp>
        <p:nvSpPr>
          <p:cNvPr id="129" name="Google Shape;129;p6"/>
          <p:cNvSpPr/>
          <p:nvPr/>
        </p:nvSpPr>
        <p:spPr>
          <a:xfrm>
            <a:off x="548640" y="4572000"/>
            <a:ext cx="11064240" cy="1234440"/>
          </a:xfrm>
          <a:prstGeom prst="roundRect">
            <a:avLst>
              <a:gd fmla="val 5926" name="adj"/>
            </a:avLst>
          </a:prstGeom>
          <a:solidFill>
            <a:srgbClr val="F1E4DE"/>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6"/>
          <p:cNvSpPr txBox="1"/>
          <p:nvPr/>
        </p:nvSpPr>
        <p:spPr>
          <a:xfrm>
            <a:off x="777240" y="470916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300"/>
              <a:buFont typeface="Calibri"/>
              <a:buNone/>
            </a:pPr>
            <a:r>
              <a:rPr b="1" lang="en-US" sz="1300">
                <a:solidFill>
                  <a:srgbClr val="6D2E46"/>
                </a:solidFill>
                <a:latin typeface="Calibri"/>
                <a:ea typeface="Calibri"/>
                <a:cs typeface="Calibri"/>
                <a:sym typeface="Calibri"/>
              </a:rPr>
              <a:t>Why the distinction matters</a:t>
            </a:r>
            <a:endParaRPr sz="1300">
              <a:solidFill>
                <a:schemeClr val="dk1"/>
              </a:solidFill>
              <a:latin typeface="Calibri"/>
              <a:ea typeface="Calibri"/>
              <a:cs typeface="Calibri"/>
              <a:sym typeface="Calibri"/>
            </a:endParaRPr>
          </a:p>
        </p:txBody>
      </p:sp>
      <p:sp>
        <p:nvSpPr>
          <p:cNvPr id="131" name="Google Shape;131;p6"/>
          <p:cNvSpPr txBox="1"/>
          <p:nvPr/>
        </p:nvSpPr>
        <p:spPr>
          <a:xfrm>
            <a:off x="777240" y="5010912"/>
            <a:ext cx="106070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50"/>
              <a:buFont typeface="Calibri"/>
              <a:buNone/>
            </a:pPr>
            <a:r>
              <a:rPr lang="en-US" sz="1250">
                <a:solidFill>
                  <a:srgbClr val="2D2A2C"/>
                </a:solidFill>
                <a:latin typeface="Calibri"/>
                <a:ea typeface="Calibri"/>
                <a:cs typeface="Calibri"/>
                <a:sym typeface="Calibri"/>
              </a:rPr>
              <a:t>Proximate-determinants analysis (Block 3) exists precisely because the gap between fecundity (biological maximum) and fertility (observed outcome) is explained by behavior — marriage, contraception, abortion, breastfeeding.</a:t>
            </a:r>
            <a:endParaRPr sz="1250">
              <a:solidFill>
                <a:schemeClr val="dk1"/>
              </a:solidFill>
              <a:latin typeface="Calibri"/>
              <a:ea typeface="Calibri"/>
              <a:cs typeface="Calibri"/>
              <a:sym typeface="Calibri"/>
            </a:endParaRPr>
          </a:p>
        </p:txBody>
      </p:sp>
      <p:sp>
        <p:nvSpPr>
          <p:cNvPr id="132" name="Google Shape;132;p6"/>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
        <p:nvSpPr>
          <p:cNvPr id="133" name="Google Shape;133;p6"/>
          <p:cNvSpPr txBox="1"/>
          <p:nvPr/>
        </p:nvSpPr>
        <p:spPr>
          <a:xfrm>
            <a:off x="10728655" y="6492240"/>
            <a:ext cx="10058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6 / 62</a:t>
            </a:r>
            <a:endParaRPr sz="9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8" name="Shape 138"/>
        <p:cNvGrpSpPr/>
        <p:nvPr/>
      </p:nvGrpSpPr>
      <p:grpSpPr>
        <a:xfrm>
          <a:off x="0" y="0"/>
          <a:ext cx="0" cy="0"/>
          <a:chOff x="0" y="0"/>
          <a:chExt cx="0" cy="0"/>
        </a:xfrm>
      </p:grpSpPr>
      <p:sp>
        <p:nvSpPr>
          <p:cNvPr id="139" name="Google Shape;139;p7"/>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MEASUREMENT FOUNDATIONS</a:t>
            </a:r>
            <a:endParaRPr sz="1200">
              <a:solidFill>
                <a:schemeClr val="dk1"/>
              </a:solidFill>
              <a:latin typeface="Calibri"/>
              <a:ea typeface="Calibri"/>
              <a:cs typeface="Calibri"/>
              <a:sym typeface="Calibri"/>
            </a:endParaRPr>
          </a:p>
        </p:txBody>
      </p:sp>
      <p:sp>
        <p:nvSpPr>
          <p:cNvPr id="140" name="Google Shape;140;p7"/>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Where Fertility Data Come From</a:t>
            </a:r>
            <a:endParaRPr sz="3000">
              <a:solidFill>
                <a:schemeClr val="dk1"/>
              </a:solidFill>
              <a:latin typeface="Calibri"/>
              <a:ea typeface="Calibri"/>
              <a:cs typeface="Calibri"/>
              <a:sym typeface="Calibri"/>
            </a:endParaRPr>
          </a:p>
        </p:txBody>
      </p:sp>
      <p:sp>
        <p:nvSpPr>
          <p:cNvPr id="141" name="Google Shape;141;p7"/>
          <p:cNvSpPr/>
          <p:nvPr/>
        </p:nvSpPr>
        <p:spPr>
          <a:xfrm>
            <a:off x="548640" y="1600200"/>
            <a:ext cx="502920" cy="502920"/>
          </a:xfrm>
          <a:prstGeom prst="ellipse">
            <a:avLst/>
          </a:prstGeom>
          <a:solidFill>
            <a:srgbClr val="6D2E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7"/>
          <p:cNvSpPr txBox="1"/>
          <p:nvPr/>
        </p:nvSpPr>
        <p:spPr>
          <a:xfrm>
            <a:off x="548640" y="160020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①</a:t>
            </a:r>
            <a:endParaRPr sz="1800">
              <a:solidFill>
                <a:schemeClr val="dk1"/>
              </a:solidFill>
              <a:latin typeface="Calibri"/>
              <a:ea typeface="Calibri"/>
              <a:cs typeface="Calibri"/>
              <a:sym typeface="Calibri"/>
            </a:endParaRPr>
          </a:p>
        </p:txBody>
      </p:sp>
      <p:sp>
        <p:nvSpPr>
          <p:cNvPr id="143" name="Google Shape;143;p7"/>
          <p:cNvSpPr txBox="1"/>
          <p:nvPr/>
        </p:nvSpPr>
        <p:spPr>
          <a:xfrm>
            <a:off x="1234440" y="1581912"/>
            <a:ext cx="10332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450"/>
              <a:buFont typeface="Calibri"/>
              <a:buNone/>
            </a:pPr>
            <a:r>
              <a:rPr b="1" lang="en-US" sz="1450">
                <a:solidFill>
                  <a:srgbClr val="6D2E46"/>
                </a:solidFill>
                <a:latin typeface="Calibri"/>
                <a:ea typeface="Calibri"/>
                <a:cs typeface="Calibri"/>
                <a:sym typeface="Calibri"/>
              </a:rPr>
              <a:t>Civil (vital) registration systems</a:t>
            </a:r>
            <a:endParaRPr sz="1450">
              <a:solidFill>
                <a:schemeClr val="dk1"/>
              </a:solidFill>
              <a:latin typeface="Calibri"/>
              <a:ea typeface="Calibri"/>
              <a:cs typeface="Calibri"/>
              <a:sym typeface="Calibri"/>
            </a:endParaRPr>
          </a:p>
        </p:txBody>
      </p:sp>
      <p:sp>
        <p:nvSpPr>
          <p:cNvPr id="144" name="Google Shape;144;p7"/>
          <p:cNvSpPr txBox="1"/>
          <p:nvPr/>
        </p:nvSpPr>
        <p:spPr>
          <a:xfrm>
            <a:off x="1234440" y="1929384"/>
            <a:ext cx="10332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50"/>
              <a:buFont typeface="Calibri"/>
              <a:buNone/>
            </a:pPr>
            <a:r>
              <a:rPr lang="en-US" sz="1250">
                <a:solidFill>
                  <a:srgbClr val="2D2A2C"/>
                </a:solidFill>
                <a:latin typeface="Calibri"/>
                <a:ea typeface="Calibri"/>
                <a:cs typeface="Calibri"/>
                <a:sym typeface="Calibri"/>
              </a:rPr>
              <a:t>Continuous recording of every birth as it occurs — the gold standard when coverage and quality are high (as in Thailand's Department of Provincial Administration registration system), enabling annual CBR, GFR, ASFR, and TFR.</a:t>
            </a:r>
            <a:endParaRPr sz="1250">
              <a:solidFill>
                <a:schemeClr val="dk1"/>
              </a:solidFill>
              <a:latin typeface="Calibri"/>
              <a:ea typeface="Calibri"/>
              <a:cs typeface="Calibri"/>
              <a:sym typeface="Calibri"/>
            </a:endParaRPr>
          </a:p>
        </p:txBody>
      </p:sp>
      <p:sp>
        <p:nvSpPr>
          <p:cNvPr id="145" name="Google Shape;145;p7"/>
          <p:cNvSpPr/>
          <p:nvPr/>
        </p:nvSpPr>
        <p:spPr>
          <a:xfrm>
            <a:off x="548640" y="2587752"/>
            <a:ext cx="502920" cy="502920"/>
          </a:xfrm>
          <a:prstGeom prst="ellipse">
            <a:avLst/>
          </a:prstGeom>
          <a:solidFill>
            <a:srgbClr val="6D2E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7"/>
          <p:cNvSpPr txBox="1"/>
          <p:nvPr/>
        </p:nvSpPr>
        <p:spPr>
          <a:xfrm>
            <a:off x="548640" y="2587752"/>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②</a:t>
            </a:r>
            <a:endParaRPr sz="1800">
              <a:solidFill>
                <a:schemeClr val="dk1"/>
              </a:solidFill>
              <a:latin typeface="Calibri"/>
              <a:ea typeface="Calibri"/>
              <a:cs typeface="Calibri"/>
              <a:sym typeface="Calibri"/>
            </a:endParaRPr>
          </a:p>
        </p:txBody>
      </p:sp>
      <p:sp>
        <p:nvSpPr>
          <p:cNvPr id="147" name="Google Shape;147;p7"/>
          <p:cNvSpPr txBox="1"/>
          <p:nvPr/>
        </p:nvSpPr>
        <p:spPr>
          <a:xfrm>
            <a:off x="1234440" y="2569464"/>
            <a:ext cx="10332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450"/>
              <a:buFont typeface="Calibri"/>
              <a:buNone/>
            </a:pPr>
            <a:r>
              <a:rPr b="1" lang="en-US" sz="1450">
                <a:solidFill>
                  <a:srgbClr val="6D2E46"/>
                </a:solidFill>
                <a:latin typeface="Calibri"/>
                <a:ea typeface="Calibri"/>
                <a:cs typeface="Calibri"/>
                <a:sym typeface="Calibri"/>
              </a:rPr>
              <a:t>Population censuses</a:t>
            </a:r>
            <a:endParaRPr sz="1450">
              <a:solidFill>
                <a:schemeClr val="dk1"/>
              </a:solidFill>
              <a:latin typeface="Calibri"/>
              <a:ea typeface="Calibri"/>
              <a:cs typeface="Calibri"/>
              <a:sym typeface="Calibri"/>
            </a:endParaRPr>
          </a:p>
        </p:txBody>
      </p:sp>
      <p:sp>
        <p:nvSpPr>
          <p:cNvPr id="148" name="Google Shape;148;p7"/>
          <p:cNvSpPr txBox="1"/>
          <p:nvPr/>
        </p:nvSpPr>
        <p:spPr>
          <a:xfrm>
            <a:off x="1234440" y="2916936"/>
            <a:ext cx="10332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50"/>
              <a:buFont typeface="Calibri"/>
              <a:buNone/>
            </a:pPr>
            <a:r>
              <a:rPr lang="en-US" sz="1250">
                <a:solidFill>
                  <a:srgbClr val="2D2A2C"/>
                </a:solidFill>
                <a:latin typeface="Calibri"/>
                <a:ea typeface="Calibri"/>
                <a:cs typeface="Calibri"/>
                <a:sym typeface="Calibri"/>
              </a:rPr>
              <a:t>Periodic (typically decennial) full enumeration; often includes retrospective fertility questions ("children ever born," "births in the last 12 months") that allow indirect estimation where registration is weak.</a:t>
            </a:r>
            <a:endParaRPr sz="1250">
              <a:solidFill>
                <a:schemeClr val="dk1"/>
              </a:solidFill>
              <a:latin typeface="Calibri"/>
              <a:ea typeface="Calibri"/>
              <a:cs typeface="Calibri"/>
              <a:sym typeface="Calibri"/>
            </a:endParaRPr>
          </a:p>
        </p:txBody>
      </p:sp>
      <p:sp>
        <p:nvSpPr>
          <p:cNvPr id="149" name="Google Shape;149;p7"/>
          <p:cNvSpPr/>
          <p:nvPr/>
        </p:nvSpPr>
        <p:spPr>
          <a:xfrm>
            <a:off x="548640" y="3575304"/>
            <a:ext cx="502920" cy="502920"/>
          </a:xfrm>
          <a:prstGeom prst="ellipse">
            <a:avLst/>
          </a:prstGeom>
          <a:solidFill>
            <a:srgbClr val="6D2E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7"/>
          <p:cNvSpPr txBox="1"/>
          <p:nvPr/>
        </p:nvSpPr>
        <p:spPr>
          <a:xfrm>
            <a:off x="548640" y="3575304"/>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③</a:t>
            </a:r>
            <a:endParaRPr sz="1800">
              <a:solidFill>
                <a:schemeClr val="dk1"/>
              </a:solidFill>
              <a:latin typeface="Calibri"/>
              <a:ea typeface="Calibri"/>
              <a:cs typeface="Calibri"/>
              <a:sym typeface="Calibri"/>
            </a:endParaRPr>
          </a:p>
        </p:txBody>
      </p:sp>
      <p:sp>
        <p:nvSpPr>
          <p:cNvPr id="151" name="Google Shape;151;p7"/>
          <p:cNvSpPr txBox="1"/>
          <p:nvPr/>
        </p:nvSpPr>
        <p:spPr>
          <a:xfrm>
            <a:off x="1234440" y="3557016"/>
            <a:ext cx="10332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450"/>
              <a:buFont typeface="Calibri"/>
              <a:buNone/>
            </a:pPr>
            <a:r>
              <a:rPr b="1" lang="en-US" sz="1450">
                <a:solidFill>
                  <a:srgbClr val="6D2E46"/>
                </a:solidFill>
                <a:latin typeface="Calibri"/>
                <a:ea typeface="Calibri"/>
                <a:cs typeface="Calibri"/>
                <a:sym typeface="Calibri"/>
              </a:rPr>
              <a:t>Sample surveys</a:t>
            </a:r>
            <a:endParaRPr sz="1450">
              <a:solidFill>
                <a:schemeClr val="dk1"/>
              </a:solidFill>
              <a:latin typeface="Calibri"/>
              <a:ea typeface="Calibri"/>
              <a:cs typeface="Calibri"/>
              <a:sym typeface="Calibri"/>
            </a:endParaRPr>
          </a:p>
        </p:txBody>
      </p:sp>
      <p:sp>
        <p:nvSpPr>
          <p:cNvPr id="152" name="Google Shape;152;p7"/>
          <p:cNvSpPr txBox="1"/>
          <p:nvPr/>
        </p:nvSpPr>
        <p:spPr>
          <a:xfrm>
            <a:off x="1234440" y="3904488"/>
            <a:ext cx="10332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50"/>
              <a:buFont typeface="Calibri"/>
              <a:buNone/>
            </a:pPr>
            <a:r>
              <a:rPr lang="en-US" sz="1250">
                <a:solidFill>
                  <a:srgbClr val="2D2A2C"/>
                </a:solidFill>
                <a:latin typeface="Calibri"/>
                <a:ea typeface="Calibri"/>
                <a:cs typeface="Calibri"/>
                <a:sym typeface="Calibri"/>
              </a:rPr>
              <a:t>Demographic and Health Surveys (DHS), Multiple Indicator Cluster Surveys (MICS), and national surveys collect detailed birth histories, enabling cohort fertility analysis, contraceptive prevalence, and unmet need — not just period rates.</a:t>
            </a:r>
            <a:endParaRPr sz="1250">
              <a:solidFill>
                <a:schemeClr val="dk1"/>
              </a:solidFill>
              <a:latin typeface="Calibri"/>
              <a:ea typeface="Calibri"/>
              <a:cs typeface="Calibri"/>
              <a:sym typeface="Calibri"/>
            </a:endParaRPr>
          </a:p>
        </p:txBody>
      </p:sp>
      <p:sp>
        <p:nvSpPr>
          <p:cNvPr id="153" name="Google Shape;153;p7"/>
          <p:cNvSpPr/>
          <p:nvPr/>
        </p:nvSpPr>
        <p:spPr>
          <a:xfrm>
            <a:off x="548640" y="4709160"/>
            <a:ext cx="11064240" cy="1097280"/>
          </a:xfrm>
          <a:prstGeom prst="roundRect">
            <a:avLst>
              <a:gd fmla="val 6667" name="adj"/>
            </a:avLst>
          </a:prstGeom>
          <a:solidFill>
            <a:srgbClr val="F1E4DE"/>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7"/>
          <p:cNvSpPr txBox="1"/>
          <p:nvPr/>
        </p:nvSpPr>
        <p:spPr>
          <a:xfrm>
            <a:off x="777240" y="484632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300"/>
              <a:buFont typeface="Calibri"/>
              <a:buNone/>
            </a:pPr>
            <a:r>
              <a:rPr b="1" lang="en-US" sz="1300">
                <a:solidFill>
                  <a:srgbClr val="6D2E46"/>
                </a:solidFill>
                <a:latin typeface="Calibri"/>
                <a:ea typeface="Calibri"/>
                <a:cs typeface="Calibri"/>
                <a:sym typeface="Calibri"/>
              </a:rPr>
              <a:t>Choosing a source</a:t>
            </a:r>
            <a:endParaRPr sz="1300">
              <a:solidFill>
                <a:schemeClr val="dk1"/>
              </a:solidFill>
              <a:latin typeface="Calibri"/>
              <a:ea typeface="Calibri"/>
              <a:cs typeface="Calibri"/>
              <a:sym typeface="Calibri"/>
            </a:endParaRPr>
          </a:p>
        </p:txBody>
      </p:sp>
      <p:sp>
        <p:nvSpPr>
          <p:cNvPr id="155" name="Google Shape;155;p7"/>
          <p:cNvSpPr txBox="1"/>
          <p:nvPr/>
        </p:nvSpPr>
        <p:spPr>
          <a:xfrm>
            <a:off x="777240" y="5138928"/>
            <a:ext cx="106070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50"/>
              <a:buFont typeface="Calibri"/>
              <a:buNone/>
            </a:pPr>
            <a:r>
              <a:rPr lang="en-US" sz="1250">
                <a:solidFill>
                  <a:srgbClr val="2D2A2C"/>
                </a:solidFill>
                <a:latin typeface="Calibri"/>
                <a:ea typeface="Calibri"/>
                <a:cs typeface="Calibri"/>
                <a:sym typeface="Calibri"/>
              </a:rPr>
              <a:t>Registration data give the most timely, precise period rates; surveys are essential for behavioral indicators (contraception, unmet need, proximate determinants) that registration systems do not capture.</a:t>
            </a:r>
            <a:endParaRPr sz="1250">
              <a:solidFill>
                <a:schemeClr val="dk1"/>
              </a:solidFill>
              <a:latin typeface="Calibri"/>
              <a:ea typeface="Calibri"/>
              <a:cs typeface="Calibri"/>
              <a:sym typeface="Calibri"/>
            </a:endParaRPr>
          </a:p>
        </p:txBody>
      </p:sp>
      <p:sp>
        <p:nvSpPr>
          <p:cNvPr id="156" name="Google Shape;156;p7"/>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
        <p:nvSpPr>
          <p:cNvPr id="157" name="Google Shape;157;p7"/>
          <p:cNvSpPr txBox="1"/>
          <p:nvPr/>
        </p:nvSpPr>
        <p:spPr>
          <a:xfrm>
            <a:off x="10728655" y="6492240"/>
            <a:ext cx="10058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7 / 62</a:t>
            </a:r>
            <a:endParaRPr sz="9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2" name="Shape 162"/>
        <p:cNvGrpSpPr/>
        <p:nvPr/>
      </p:nvGrpSpPr>
      <p:grpSpPr>
        <a:xfrm>
          <a:off x="0" y="0"/>
          <a:ext cx="0" cy="0"/>
          <a:chOff x="0" y="0"/>
          <a:chExt cx="0" cy="0"/>
        </a:xfrm>
      </p:grpSpPr>
      <p:sp>
        <p:nvSpPr>
          <p:cNvPr id="163" name="Google Shape;163;p8"/>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CHECK YOUR UNDERSTANDING</a:t>
            </a:r>
            <a:endParaRPr sz="1200">
              <a:solidFill>
                <a:schemeClr val="dk1"/>
              </a:solidFill>
              <a:latin typeface="Calibri"/>
              <a:ea typeface="Calibri"/>
              <a:cs typeface="Calibri"/>
              <a:sym typeface="Calibri"/>
            </a:endParaRPr>
          </a:p>
        </p:txBody>
      </p:sp>
      <p:sp>
        <p:nvSpPr>
          <p:cNvPr id="164" name="Google Shape;164;p8"/>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Common Misconceptions About Fertility Measures</a:t>
            </a:r>
            <a:endParaRPr sz="3000">
              <a:solidFill>
                <a:schemeClr val="dk1"/>
              </a:solidFill>
              <a:latin typeface="Calibri"/>
              <a:ea typeface="Calibri"/>
              <a:cs typeface="Calibri"/>
              <a:sym typeface="Calibri"/>
            </a:endParaRPr>
          </a:p>
        </p:txBody>
      </p:sp>
      <p:sp>
        <p:nvSpPr>
          <p:cNvPr id="165" name="Google Shape;165;p8"/>
          <p:cNvSpPr/>
          <p:nvPr/>
        </p:nvSpPr>
        <p:spPr>
          <a:xfrm>
            <a:off x="548640" y="1554480"/>
            <a:ext cx="11064240" cy="1417320"/>
          </a:xfrm>
          <a:prstGeom prst="roundRect">
            <a:avLst>
              <a:gd fmla="val 5161" name="adj"/>
            </a:avLst>
          </a:prstGeom>
          <a:solidFill>
            <a:srgbClr val="FBF3EF"/>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8"/>
          <p:cNvSpPr/>
          <p:nvPr/>
        </p:nvSpPr>
        <p:spPr>
          <a:xfrm>
            <a:off x="749808" y="1773936"/>
            <a:ext cx="502920" cy="502920"/>
          </a:xfrm>
          <a:prstGeom prst="ellipse">
            <a:avLst/>
          </a:prstGeom>
          <a:solidFill>
            <a:srgbClr val="A267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8"/>
          <p:cNvSpPr txBox="1"/>
          <p:nvPr/>
        </p:nvSpPr>
        <p:spPr>
          <a:xfrm>
            <a:off x="749808" y="1773936"/>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168" name="Google Shape;168;p8"/>
          <p:cNvSpPr txBox="1"/>
          <p:nvPr/>
        </p:nvSpPr>
        <p:spPr>
          <a:xfrm>
            <a:off x="1417320" y="1664208"/>
            <a:ext cx="9966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400"/>
              <a:buFont typeface="Cambria"/>
              <a:buNone/>
            </a:pPr>
            <a:r>
              <a:rPr b="1" i="1" lang="en-US" sz="1400">
                <a:solidFill>
                  <a:srgbClr val="6D2E46"/>
                </a:solidFill>
                <a:latin typeface="Cambria"/>
                <a:ea typeface="Cambria"/>
                <a:cs typeface="Cambria"/>
                <a:sym typeface="Cambria"/>
              </a:rPr>
              <a:t>"CBR and TFR measure the same thing."</a:t>
            </a:r>
            <a:endParaRPr sz="1400">
              <a:solidFill>
                <a:schemeClr val="dk1"/>
              </a:solidFill>
              <a:latin typeface="Calibri"/>
              <a:ea typeface="Calibri"/>
              <a:cs typeface="Calibri"/>
              <a:sym typeface="Calibri"/>
            </a:endParaRPr>
          </a:p>
        </p:txBody>
      </p:sp>
      <p:sp>
        <p:nvSpPr>
          <p:cNvPr id="169" name="Google Shape;169;p8"/>
          <p:cNvSpPr txBox="1"/>
          <p:nvPr/>
        </p:nvSpPr>
        <p:spPr>
          <a:xfrm>
            <a:off x="1417320" y="2057400"/>
            <a:ext cx="99669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180"/>
              <a:buFont typeface="Calibri"/>
              <a:buNone/>
            </a:pPr>
            <a:r>
              <a:rPr lang="en-US" sz="1180">
                <a:solidFill>
                  <a:srgbClr val="2D2A2C"/>
                </a:solidFill>
                <a:latin typeface="Calibri"/>
                <a:ea typeface="Calibri"/>
                <a:cs typeface="Calibri"/>
                <a:sym typeface="Calibri"/>
              </a:rPr>
              <a:t>They do not. CBR divides births by the ENTIRE population and is heavily distorted by age-sex structure. TFR is built from age-specific rates among women of reproductive age and is comparable across populations with very different structures. A country can have a low CBR but a moderate TFR simply because it has few women of childbearing age relative to its total population.</a:t>
            </a:r>
            <a:endParaRPr sz="1180">
              <a:solidFill>
                <a:schemeClr val="dk1"/>
              </a:solidFill>
              <a:latin typeface="Calibri"/>
              <a:ea typeface="Calibri"/>
              <a:cs typeface="Calibri"/>
              <a:sym typeface="Calibri"/>
            </a:endParaRPr>
          </a:p>
        </p:txBody>
      </p:sp>
      <p:sp>
        <p:nvSpPr>
          <p:cNvPr id="170" name="Google Shape;170;p8"/>
          <p:cNvSpPr/>
          <p:nvPr/>
        </p:nvSpPr>
        <p:spPr>
          <a:xfrm>
            <a:off x="548640" y="3127248"/>
            <a:ext cx="11064240" cy="1417320"/>
          </a:xfrm>
          <a:prstGeom prst="roundRect">
            <a:avLst>
              <a:gd fmla="val 5161" name="adj"/>
            </a:avLst>
          </a:prstGeom>
          <a:solidFill>
            <a:srgbClr val="FBF3EF"/>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8"/>
          <p:cNvSpPr/>
          <p:nvPr/>
        </p:nvSpPr>
        <p:spPr>
          <a:xfrm>
            <a:off x="749808" y="3346704"/>
            <a:ext cx="502920" cy="502920"/>
          </a:xfrm>
          <a:prstGeom prst="ellipse">
            <a:avLst/>
          </a:prstGeom>
          <a:solidFill>
            <a:srgbClr val="A267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8"/>
          <p:cNvSpPr txBox="1"/>
          <p:nvPr/>
        </p:nvSpPr>
        <p:spPr>
          <a:xfrm>
            <a:off x="749808" y="3346704"/>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173" name="Google Shape;173;p8"/>
          <p:cNvSpPr txBox="1"/>
          <p:nvPr/>
        </p:nvSpPr>
        <p:spPr>
          <a:xfrm>
            <a:off x="1417320" y="3236976"/>
            <a:ext cx="9966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400"/>
              <a:buFont typeface="Cambria"/>
              <a:buNone/>
            </a:pPr>
            <a:r>
              <a:rPr b="1" i="1" lang="en-US" sz="1400">
                <a:solidFill>
                  <a:srgbClr val="6D2E46"/>
                </a:solidFill>
                <a:latin typeface="Cambria"/>
                <a:ea typeface="Cambria"/>
                <a:cs typeface="Cambria"/>
                <a:sym typeface="Cambria"/>
              </a:rPr>
              <a:t>"A falling period TFR always means women want fewer children."</a:t>
            </a:r>
            <a:endParaRPr sz="1400">
              <a:solidFill>
                <a:schemeClr val="dk1"/>
              </a:solidFill>
              <a:latin typeface="Calibri"/>
              <a:ea typeface="Calibri"/>
              <a:cs typeface="Calibri"/>
              <a:sym typeface="Calibri"/>
            </a:endParaRPr>
          </a:p>
        </p:txBody>
      </p:sp>
      <p:sp>
        <p:nvSpPr>
          <p:cNvPr id="174" name="Google Shape;174;p8"/>
          <p:cNvSpPr txBox="1"/>
          <p:nvPr/>
        </p:nvSpPr>
        <p:spPr>
          <a:xfrm>
            <a:off x="1417320" y="3630168"/>
            <a:ext cx="99669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180"/>
              <a:buFont typeface="Calibri"/>
              <a:buNone/>
            </a:pPr>
            <a:r>
              <a:rPr lang="en-US" sz="1180">
                <a:solidFill>
                  <a:srgbClr val="2D2A2C"/>
                </a:solidFill>
                <a:latin typeface="Calibri"/>
                <a:ea typeface="Calibri"/>
                <a:cs typeface="Calibri"/>
                <a:sym typeface="Calibri"/>
              </a:rPr>
              <a:t>Not necessarily — this conflates tempo and quantum. If women are simply postponing births to later ages (a timing/tempo shift), period TFR falls temporarily even though completed cohort fertility (the quantum) may barely change. Always ask whether mean age at childbearing is rising before concluding that desired family size has fallen.</a:t>
            </a:r>
            <a:endParaRPr sz="1180">
              <a:solidFill>
                <a:schemeClr val="dk1"/>
              </a:solidFill>
              <a:latin typeface="Calibri"/>
              <a:ea typeface="Calibri"/>
              <a:cs typeface="Calibri"/>
              <a:sym typeface="Calibri"/>
            </a:endParaRPr>
          </a:p>
        </p:txBody>
      </p:sp>
      <p:sp>
        <p:nvSpPr>
          <p:cNvPr id="175" name="Google Shape;175;p8"/>
          <p:cNvSpPr/>
          <p:nvPr/>
        </p:nvSpPr>
        <p:spPr>
          <a:xfrm>
            <a:off x="548640" y="4700016"/>
            <a:ext cx="11064240" cy="1417320"/>
          </a:xfrm>
          <a:prstGeom prst="roundRect">
            <a:avLst>
              <a:gd fmla="val 5161" name="adj"/>
            </a:avLst>
          </a:prstGeom>
          <a:solidFill>
            <a:srgbClr val="FBF3EF"/>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8"/>
          <p:cNvSpPr/>
          <p:nvPr/>
        </p:nvSpPr>
        <p:spPr>
          <a:xfrm>
            <a:off x="749808" y="4919472"/>
            <a:ext cx="502920" cy="502920"/>
          </a:xfrm>
          <a:prstGeom prst="ellipse">
            <a:avLst/>
          </a:prstGeom>
          <a:solidFill>
            <a:srgbClr val="A267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8"/>
          <p:cNvSpPr txBox="1"/>
          <p:nvPr/>
        </p:nvSpPr>
        <p:spPr>
          <a:xfrm>
            <a:off x="749808" y="4919472"/>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178" name="Google Shape;178;p8"/>
          <p:cNvSpPr txBox="1"/>
          <p:nvPr/>
        </p:nvSpPr>
        <p:spPr>
          <a:xfrm>
            <a:off x="1417320" y="4809744"/>
            <a:ext cx="9966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400"/>
              <a:buFont typeface="Cambria"/>
              <a:buNone/>
            </a:pPr>
            <a:r>
              <a:rPr b="1" i="1" lang="en-US" sz="1400">
                <a:solidFill>
                  <a:srgbClr val="6D2E46"/>
                </a:solidFill>
                <a:latin typeface="Cambria"/>
                <a:ea typeface="Cambria"/>
                <a:cs typeface="Cambria"/>
                <a:sym typeface="Cambria"/>
              </a:rPr>
              <a:t>"Replacement-level fertility is always exactly 2.0 or exactly 2.1."</a:t>
            </a:r>
            <a:endParaRPr sz="1400">
              <a:solidFill>
                <a:schemeClr val="dk1"/>
              </a:solidFill>
              <a:latin typeface="Calibri"/>
              <a:ea typeface="Calibri"/>
              <a:cs typeface="Calibri"/>
              <a:sym typeface="Calibri"/>
            </a:endParaRPr>
          </a:p>
        </p:txBody>
      </p:sp>
      <p:sp>
        <p:nvSpPr>
          <p:cNvPr id="179" name="Google Shape;179;p8"/>
          <p:cNvSpPr txBox="1"/>
          <p:nvPr/>
        </p:nvSpPr>
        <p:spPr>
          <a:xfrm>
            <a:off x="1417320" y="5202936"/>
            <a:ext cx="99669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180"/>
              <a:buFont typeface="Calibri"/>
              <a:buNone/>
            </a:pPr>
            <a:r>
              <a:rPr lang="en-US" sz="1180">
                <a:solidFill>
                  <a:srgbClr val="2D2A2C"/>
                </a:solidFill>
                <a:latin typeface="Calibri"/>
                <a:ea typeface="Calibri"/>
                <a:cs typeface="Calibri"/>
                <a:sym typeface="Calibri"/>
              </a:rPr>
              <a:t>2.1 is a common low-mortality benchmark, but the true replacement level depends on the sex ratio at birth and, especially, on mortality before the end of the reproductive years. Where child and young-adult mortality remain substantial, replacement-level TFR can be considerably higher — up to 2.5–3.3 in some high-mortality settings.</a:t>
            </a:r>
            <a:endParaRPr sz="1180">
              <a:solidFill>
                <a:schemeClr val="dk1"/>
              </a:solidFill>
              <a:latin typeface="Calibri"/>
              <a:ea typeface="Calibri"/>
              <a:cs typeface="Calibri"/>
              <a:sym typeface="Calibri"/>
            </a:endParaRPr>
          </a:p>
        </p:txBody>
      </p:sp>
      <p:sp>
        <p:nvSpPr>
          <p:cNvPr id="180" name="Google Shape;180;p8"/>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
        <p:nvSpPr>
          <p:cNvPr id="181" name="Google Shape;181;p8"/>
          <p:cNvSpPr txBox="1"/>
          <p:nvPr/>
        </p:nvSpPr>
        <p:spPr>
          <a:xfrm>
            <a:off x="10728655" y="6492240"/>
            <a:ext cx="10058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8 / 62</a:t>
            </a:r>
            <a:endParaRPr sz="9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6" name="Shape 186"/>
        <p:cNvGrpSpPr/>
        <p:nvPr/>
      </p:nvGrpSpPr>
      <p:grpSpPr>
        <a:xfrm>
          <a:off x="0" y="0"/>
          <a:ext cx="0" cy="0"/>
          <a:chOff x="0" y="0"/>
          <a:chExt cx="0" cy="0"/>
        </a:xfrm>
      </p:grpSpPr>
      <p:sp>
        <p:nvSpPr>
          <p:cNvPr id="187" name="Google Shape;187;p9"/>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INDIRECT MEASURE</a:t>
            </a:r>
            <a:endParaRPr sz="1200">
              <a:solidFill>
                <a:schemeClr val="dk1"/>
              </a:solidFill>
              <a:latin typeface="Calibri"/>
              <a:ea typeface="Calibri"/>
              <a:cs typeface="Calibri"/>
              <a:sym typeface="Calibri"/>
            </a:endParaRPr>
          </a:p>
        </p:txBody>
      </p:sp>
      <p:sp>
        <p:nvSpPr>
          <p:cNvPr id="188" name="Google Shape;188;p9"/>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Child-Woman Ratio (CWR): A Census-Based Proxy</a:t>
            </a:r>
            <a:endParaRPr sz="3000">
              <a:solidFill>
                <a:schemeClr val="dk1"/>
              </a:solidFill>
              <a:latin typeface="Calibri"/>
              <a:ea typeface="Calibri"/>
              <a:cs typeface="Calibri"/>
              <a:sym typeface="Calibri"/>
            </a:endParaRPr>
          </a:p>
        </p:txBody>
      </p:sp>
      <p:sp>
        <p:nvSpPr>
          <p:cNvPr id="189" name="Google Shape;189;p9"/>
          <p:cNvSpPr/>
          <p:nvPr/>
        </p:nvSpPr>
        <p:spPr>
          <a:xfrm>
            <a:off x="548640" y="1554480"/>
            <a:ext cx="11064240" cy="868680"/>
          </a:xfrm>
          <a:prstGeom prst="roundRect">
            <a:avLst>
              <a:gd fmla="val 8421" name="adj"/>
            </a:avLst>
          </a:prstGeom>
          <a:solidFill>
            <a:srgbClr val="2A1420"/>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9"/>
          <p:cNvSpPr txBox="1"/>
          <p:nvPr/>
        </p:nvSpPr>
        <p:spPr>
          <a:xfrm>
            <a:off x="822960" y="1554480"/>
            <a:ext cx="1051560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A441"/>
              </a:buClr>
              <a:buSzPts val="1700"/>
              <a:buFont typeface="Courier New"/>
              <a:buNone/>
            </a:pPr>
            <a:r>
              <a:rPr b="1" lang="en-US" sz="1700">
                <a:solidFill>
                  <a:srgbClr val="D9A441"/>
                </a:solidFill>
                <a:latin typeface="Courier New"/>
                <a:ea typeface="Courier New"/>
                <a:cs typeface="Courier New"/>
                <a:sym typeface="Courier New"/>
              </a:rPr>
              <a:t>CWR = (Children aged 0-4) / (Women aged 15-49) × 1,000</a:t>
            </a:r>
            <a:endParaRPr sz="1700">
              <a:solidFill>
                <a:schemeClr val="dk1"/>
              </a:solidFill>
              <a:latin typeface="Calibri"/>
              <a:ea typeface="Calibri"/>
              <a:cs typeface="Calibri"/>
              <a:sym typeface="Calibri"/>
            </a:endParaRPr>
          </a:p>
        </p:txBody>
      </p:sp>
      <p:sp>
        <p:nvSpPr>
          <p:cNvPr id="191" name="Google Shape;191;p9"/>
          <p:cNvSpPr txBox="1"/>
          <p:nvPr/>
        </p:nvSpPr>
        <p:spPr>
          <a:xfrm>
            <a:off x="548640" y="2697480"/>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350"/>
              <a:buFont typeface="Calibri"/>
              <a:buNone/>
            </a:pPr>
            <a:r>
              <a:rPr b="1" lang="en-US" sz="1350">
                <a:solidFill>
                  <a:srgbClr val="6D2E46"/>
                </a:solidFill>
                <a:latin typeface="Calibri"/>
                <a:ea typeface="Calibri"/>
                <a:cs typeface="Calibri"/>
                <a:sym typeface="Calibri"/>
              </a:rPr>
              <a:t>Useful when no birth registration exists</a:t>
            </a:r>
            <a:endParaRPr sz="1350">
              <a:solidFill>
                <a:schemeClr val="dk1"/>
              </a:solidFill>
              <a:latin typeface="Calibri"/>
              <a:ea typeface="Calibri"/>
              <a:cs typeface="Calibri"/>
              <a:sym typeface="Calibri"/>
            </a:endParaRPr>
          </a:p>
        </p:txBody>
      </p:sp>
      <p:sp>
        <p:nvSpPr>
          <p:cNvPr id="192" name="Google Shape;192;p9"/>
          <p:cNvSpPr txBox="1"/>
          <p:nvPr/>
        </p:nvSpPr>
        <p:spPr>
          <a:xfrm>
            <a:off x="548640" y="2999232"/>
            <a:ext cx="108813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30"/>
              <a:buFont typeface="Calibri"/>
              <a:buNone/>
            </a:pPr>
            <a:r>
              <a:rPr lang="en-US" sz="1230">
                <a:solidFill>
                  <a:srgbClr val="2D2A2C"/>
                </a:solidFill>
                <a:latin typeface="Calibri"/>
                <a:ea typeface="Calibri"/>
                <a:cs typeface="Calibri"/>
                <a:sym typeface="Calibri"/>
              </a:rPr>
              <a:t>Computable from a single census age structure alone — no vital registration required, which is why it is still used for historical and low-data-quality settings.</a:t>
            </a:r>
            <a:endParaRPr sz="1230">
              <a:solidFill>
                <a:schemeClr val="dk1"/>
              </a:solidFill>
              <a:latin typeface="Calibri"/>
              <a:ea typeface="Calibri"/>
              <a:cs typeface="Calibri"/>
              <a:sym typeface="Calibri"/>
            </a:endParaRPr>
          </a:p>
        </p:txBody>
      </p:sp>
      <p:sp>
        <p:nvSpPr>
          <p:cNvPr id="193" name="Google Shape;193;p9"/>
          <p:cNvSpPr txBox="1"/>
          <p:nvPr/>
        </p:nvSpPr>
        <p:spPr>
          <a:xfrm>
            <a:off x="548640" y="3721608"/>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350"/>
              <a:buFont typeface="Calibri"/>
              <a:buNone/>
            </a:pPr>
            <a:r>
              <a:rPr b="1" lang="en-US" sz="1350">
                <a:solidFill>
                  <a:srgbClr val="6D2E46"/>
                </a:solidFill>
                <a:latin typeface="Calibri"/>
                <a:ea typeface="Calibri"/>
                <a:cs typeface="Calibri"/>
                <a:sym typeface="Calibri"/>
              </a:rPr>
              <a:t>Key limitations</a:t>
            </a:r>
            <a:endParaRPr sz="1350">
              <a:solidFill>
                <a:schemeClr val="dk1"/>
              </a:solidFill>
              <a:latin typeface="Calibri"/>
              <a:ea typeface="Calibri"/>
              <a:cs typeface="Calibri"/>
              <a:sym typeface="Calibri"/>
            </a:endParaRPr>
          </a:p>
        </p:txBody>
      </p:sp>
      <p:sp>
        <p:nvSpPr>
          <p:cNvPr id="194" name="Google Shape;194;p9"/>
          <p:cNvSpPr txBox="1"/>
          <p:nvPr/>
        </p:nvSpPr>
        <p:spPr>
          <a:xfrm>
            <a:off x="548640" y="4023360"/>
            <a:ext cx="108813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30"/>
              <a:buFont typeface="Calibri"/>
              <a:buNone/>
            </a:pPr>
            <a:r>
              <a:rPr lang="en-US" sz="1230">
                <a:solidFill>
                  <a:srgbClr val="2D2A2C"/>
                </a:solidFill>
                <a:latin typeface="Calibri"/>
                <a:ea typeface="Calibri"/>
                <a:cs typeface="Calibri"/>
                <a:sym typeface="Calibri"/>
              </a:rPr>
              <a:t>Distorted by child mortality (undercounts fertility where infant/child mortality is high) and by migration of children or women of reproductive age between the census and the reference period.</a:t>
            </a:r>
            <a:endParaRPr sz="1230">
              <a:solidFill>
                <a:schemeClr val="dk1"/>
              </a:solidFill>
              <a:latin typeface="Calibri"/>
              <a:ea typeface="Calibri"/>
              <a:cs typeface="Calibri"/>
              <a:sym typeface="Calibri"/>
            </a:endParaRPr>
          </a:p>
        </p:txBody>
      </p:sp>
      <p:sp>
        <p:nvSpPr>
          <p:cNvPr id="195" name="Google Shape;195;p9"/>
          <p:cNvSpPr txBox="1"/>
          <p:nvPr/>
        </p:nvSpPr>
        <p:spPr>
          <a:xfrm>
            <a:off x="548640" y="4745736"/>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350"/>
              <a:buFont typeface="Calibri"/>
              <a:buNone/>
            </a:pPr>
            <a:r>
              <a:rPr b="1" lang="en-US" sz="1350">
                <a:solidFill>
                  <a:srgbClr val="6D2E46"/>
                </a:solidFill>
                <a:latin typeface="Calibri"/>
                <a:ea typeface="Calibri"/>
                <a:cs typeface="Calibri"/>
                <a:sym typeface="Calibri"/>
              </a:rPr>
              <a:t>Not age-specific</a:t>
            </a:r>
            <a:endParaRPr sz="1350">
              <a:solidFill>
                <a:schemeClr val="dk1"/>
              </a:solidFill>
              <a:latin typeface="Calibri"/>
              <a:ea typeface="Calibri"/>
              <a:cs typeface="Calibri"/>
              <a:sym typeface="Calibri"/>
            </a:endParaRPr>
          </a:p>
        </p:txBody>
      </p:sp>
      <p:sp>
        <p:nvSpPr>
          <p:cNvPr id="196" name="Google Shape;196;p9"/>
          <p:cNvSpPr txBox="1"/>
          <p:nvPr/>
        </p:nvSpPr>
        <p:spPr>
          <a:xfrm>
            <a:off x="548640" y="5047488"/>
            <a:ext cx="108813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30"/>
              <a:buFont typeface="Calibri"/>
              <a:buNone/>
            </a:pPr>
            <a:r>
              <a:rPr lang="en-US" sz="1230">
                <a:solidFill>
                  <a:srgbClr val="2D2A2C"/>
                </a:solidFill>
                <a:latin typeface="Calibri"/>
                <a:ea typeface="Calibri"/>
                <a:cs typeface="Calibri"/>
                <a:sym typeface="Calibri"/>
              </a:rPr>
              <a:t>Gives one crude population-level ratio — cannot show which reproductive ages are driving fertility, unlike ASFR.</a:t>
            </a:r>
            <a:endParaRPr sz="1230">
              <a:solidFill>
                <a:schemeClr val="dk1"/>
              </a:solidFill>
              <a:latin typeface="Calibri"/>
              <a:ea typeface="Calibri"/>
              <a:cs typeface="Calibri"/>
              <a:sym typeface="Calibri"/>
            </a:endParaRPr>
          </a:p>
        </p:txBody>
      </p:sp>
      <p:sp>
        <p:nvSpPr>
          <p:cNvPr id="197" name="Google Shape;197;p9"/>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
        <p:nvSpPr>
          <p:cNvPr id="198" name="Google Shape;198;p9"/>
          <p:cNvSpPr txBox="1"/>
          <p:nvPr/>
        </p:nvSpPr>
        <p:spPr>
          <a:xfrm>
            <a:off x="10728655" y="6492240"/>
            <a:ext cx="10058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9 / 62</a:t>
            </a:r>
            <a:endParaRPr sz="9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3" name="Shape 203"/>
        <p:cNvGrpSpPr/>
        <p:nvPr/>
      </p:nvGrpSpPr>
      <p:grpSpPr>
        <a:xfrm>
          <a:off x="0" y="0"/>
          <a:ext cx="0" cy="0"/>
          <a:chOff x="0" y="0"/>
          <a:chExt cx="0" cy="0"/>
        </a:xfrm>
      </p:grpSpPr>
      <p:sp>
        <p:nvSpPr>
          <p:cNvPr id="204" name="Google Shape;204;p10"/>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THE SIMPLEST FERTILITY MEASURE</a:t>
            </a:r>
            <a:endParaRPr sz="1200">
              <a:solidFill>
                <a:schemeClr val="dk1"/>
              </a:solidFill>
              <a:latin typeface="Calibri"/>
              <a:ea typeface="Calibri"/>
              <a:cs typeface="Calibri"/>
              <a:sym typeface="Calibri"/>
            </a:endParaRPr>
          </a:p>
        </p:txBody>
      </p:sp>
      <p:sp>
        <p:nvSpPr>
          <p:cNvPr id="205" name="Google Shape;205;p10"/>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Crude Birth Rate (CBR)</a:t>
            </a:r>
            <a:endParaRPr sz="3000">
              <a:solidFill>
                <a:schemeClr val="dk1"/>
              </a:solidFill>
              <a:latin typeface="Calibri"/>
              <a:ea typeface="Calibri"/>
              <a:cs typeface="Calibri"/>
              <a:sym typeface="Calibri"/>
            </a:endParaRPr>
          </a:p>
        </p:txBody>
      </p:sp>
      <p:sp>
        <p:nvSpPr>
          <p:cNvPr id="206" name="Google Shape;206;p10"/>
          <p:cNvSpPr/>
          <p:nvPr/>
        </p:nvSpPr>
        <p:spPr>
          <a:xfrm>
            <a:off x="548640" y="1554480"/>
            <a:ext cx="11064240" cy="868680"/>
          </a:xfrm>
          <a:prstGeom prst="roundRect">
            <a:avLst>
              <a:gd fmla="val 8421" name="adj"/>
            </a:avLst>
          </a:prstGeom>
          <a:solidFill>
            <a:srgbClr val="2A1420"/>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0"/>
          <p:cNvSpPr txBox="1"/>
          <p:nvPr/>
        </p:nvSpPr>
        <p:spPr>
          <a:xfrm>
            <a:off x="822960" y="1554480"/>
            <a:ext cx="1051560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A441"/>
              </a:buClr>
              <a:buSzPts val="1700"/>
              <a:buFont typeface="Courier New"/>
              <a:buNone/>
            </a:pPr>
            <a:r>
              <a:rPr b="1" lang="en-US" sz="1700">
                <a:solidFill>
                  <a:srgbClr val="D9A441"/>
                </a:solidFill>
                <a:latin typeface="Courier New"/>
                <a:ea typeface="Courier New"/>
                <a:cs typeface="Courier New"/>
                <a:sym typeface="Courier New"/>
              </a:rPr>
              <a:t>CBR = (Total live births in a year) / (Mid-year total population) × 1,000</a:t>
            </a:r>
            <a:endParaRPr sz="1700">
              <a:solidFill>
                <a:schemeClr val="dk1"/>
              </a:solidFill>
              <a:latin typeface="Calibri"/>
              <a:ea typeface="Calibri"/>
              <a:cs typeface="Calibri"/>
              <a:sym typeface="Calibri"/>
            </a:endParaRPr>
          </a:p>
        </p:txBody>
      </p:sp>
      <p:sp>
        <p:nvSpPr>
          <p:cNvPr id="208" name="Google Shape;208;p10"/>
          <p:cNvSpPr txBox="1"/>
          <p:nvPr/>
        </p:nvSpPr>
        <p:spPr>
          <a:xfrm>
            <a:off x="548640" y="2697480"/>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350"/>
              <a:buFont typeface="Calibri"/>
              <a:buNone/>
            </a:pPr>
            <a:r>
              <a:rPr b="1" lang="en-US" sz="1350">
                <a:solidFill>
                  <a:srgbClr val="6D2E46"/>
                </a:solidFill>
                <a:latin typeface="Calibri"/>
                <a:ea typeface="Calibri"/>
                <a:cs typeface="Calibri"/>
                <a:sym typeface="Calibri"/>
              </a:rPr>
              <a:t>Easy to compute, easy to misinterpret</a:t>
            </a:r>
            <a:endParaRPr sz="1350">
              <a:solidFill>
                <a:schemeClr val="dk1"/>
              </a:solidFill>
              <a:latin typeface="Calibri"/>
              <a:ea typeface="Calibri"/>
              <a:cs typeface="Calibri"/>
              <a:sym typeface="Calibri"/>
            </a:endParaRPr>
          </a:p>
        </p:txBody>
      </p:sp>
      <p:sp>
        <p:nvSpPr>
          <p:cNvPr id="209" name="Google Shape;209;p10"/>
          <p:cNvSpPr txBox="1"/>
          <p:nvPr/>
        </p:nvSpPr>
        <p:spPr>
          <a:xfrm>
            <a:off x="548640" y="2999232"/>
            <a:ext cx="108813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30"/>
              <a:buFont typeface="Calibri"/>
              <a:buNone/>
            </a:pPr>
            <a:r>
              <a:rPr lang="en-US" sz="1230">
                <a:solidFill>
                  <a:srgbClr val="2D2A2C"/>
                </a:solidFill>
                <a:latin typeface="Calibri"/>
                <a:ea typeface="Calibri"/>
                <a:cs typeface="Calibri"/>
                <a:sym typeface="Calibri"/>
              </a:rPr>
              <a:t>The denominator is the ENTIRE population — men, children, the elderly — not just women capable of childbearing.</a:t>
            </a:r>
            <a:endParaRPr sz="1230">
              <a:solidFill>
                <a:schemeClr val="dk1"/>
              </a:solidFill>
              <a:latin typeface="Calibri"/>
              <a:ea typeface="Calibri"/>
              <a:cs typeface="Calibri"/>
              <a:sym typeface="Calibri"/>
            </a:endParaRPr>
          </a:p>
        </p:txBody>
      </p:sp>
      <p:sp>
        <p:nvSpPr>
          <p:cNvPr id="210" name="Google Shape;210;p10"/>
          <p:cNvSpPr txBox="1"/>
          <p:nvPr/>
        </p:nvSpPr>
        <p:spPr>
          <a:xfrm>
            <a:off x="548640" y="3721608"/>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350"/>
              <a:buFont typeface="Calibri"/>
              <a:buNone/>
            </a:pPr>
            <a:r>
              <a:rPr b="1" lang="en-US" sz="1350">
                <a:solidFill>
                  <a:srgbClr val="6D2E46"/>
                </a:solidFill>
                <a:latin typeface="Calibri"/>
                <a:ea typeface="Calibri"/>
                <a:cs typeface="Calibri"/>
                <a:sym typeface="Calibri"/>
              </a:rPr>
              <a:t>Major limitation: sensitive to age-sex structure</a:t>
            </a:r>
            <a:endParaRPr sz="1350">
              <a:solidFill>
                <a:schemeClr val="dk1"/>
              </a:solidFill>
              <a:latin typeface="Calibri"/>
              <a:ea typeface="Calibri"/>
              <a:cs typeface="Calibri"/>
              <a:sym typeface="Calibri"/>
            </a:endParaRPr>
          </a:p>
        </p:txBody>
      </p:sp>
      <p:sp>
        <p:nvSpPr>
          <p:cNvPr id="211" name="Google Shape;211;p10"/>
          <p:cNvSpPr txBox="1"/>
          <p:nvPr/>
        </p:nvSpPr>
        <p:spPr>
          <a:xfrm>
            <a:off x="548640" y="4023360"/>
            <a:ext cx="108813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30"/>
              <a:buFont typeface="Calibri"/>
              <a:buNone/>
            </a:pPr>
            <a:r>
              <a:rPr lang="en-US" sz="1230">
                <a:solidFill>
                  <a:srgbClr val="2D2A2C"/>
                </a:solidFill>
                <a:latin typeface="Calibri"/>
                <a:ea typeface="Calibri"/>
                <a:cs typeface="Calibri"/>
                <a:sym typeface="Calibri"/>
              </a:rPr>
              <a:t>Two populations with identical age-specific fertility behavior can show very different CBRs simply because one has a younger, more female-heavy population.</a:t>
            </a:r>
            <a:endParaRPr sz="1230">
              <a:solidFill>
                <a:schemeClr val="dk1"/>
              </a:solidFill>
              <a:latin typeface="Calibri"/>
              <a:ea typeface="Calibri"/>
              <a:cs typeface="Calibri"/>
              <a:sym typeface="Calibri"/>
            </a:endParaRPr>
          </a:p>
        </p:txBody>
      </p:sp>
      <p:sp>
        <p:nvSpPr>
          <p:cNvPr id="212" name="Google Shape;212;p10"/>
          <p:cNvSpPr txBox="1"/>
          <p:nvPr/>
        </p:nvSpPr>
        <p:spPr>
          <a:xfrm>
            <a:off x="548640" y="4745736"/>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350"/>
              <a:buFont typeface="Calibri"/>
              <a:buNone/>
            </a:pPr>
            <a:r>
              <a:rPr b="1" lang="en-US" sz="1350">
                <a:solidFill>
                  <a:srgbClr val="6D2E46"/>
                </a:solidFill>
                <a:latin typeface="Calibri"/>
                <a:ea typeface="Calibri"/>
                <a:cs typeface="Calibri"/>
                <a:sym typeface="Calibri"/>
              </a:rPr>
              <a:t>Why demographers move beyond it</a:t>
            </a:r>
            <a:endParaRPr sz="1350">
              <a:solidFill>
                <a:schemeClr val="dk1"/>
              </a:solidFill>
              <a:latin typeface="Calibri"/>
              <a:ea typeface="Calibri"/>
              <a:cs typeface="Calibri"/>
              <a:sym typeface="Calibri"/>
            </a:endParaRPr>
          </a:p>
        </p:txBody>
      </p:sp>
      <p:sp>
        <p:nvSpPr>
          <p:cNvPr id="213" name="Google Shape;213;p10"/>
          <p:cNvSpPr txBox="1"/>
          <p:nvPr/>
        </p:nvSpPr>
        <p:spPr>
          <a:xfrm>
            <a:off x="548640" y="5047488"/>
            <a:ext cx="108813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30"/>
              <a:buFont typeface="Calibri"/>
              <a:buNone/>
            </a:pPr>
            <a:r>
              <a:rPr lang="en-US" sz="1230">
                <a:solidFill>
                  <a:srgbClr val="2D2A2C"/>
                </a:solidFill>
                <a:latin typeface="Calibri"/>
                <a:ea typeface="Calibri"/>
                <a:cs typeface="Calibri"/>
                <a:sym typeface="Calibri"/>
              </a:rPr>
              <a:t>This structure-sensitivity is exactly why GFR, ASFR, and TFR were developed — each restricts or standardizes the denominator to isolate actual reproductive behavior.</a:t>
            </a:r>
            <a:endParaRPr sz="1230">
              <a:solidFill>
                <a:schemeClr val="dk1"/>
              </a:solidFill>
              <a:latin typeface="Calibri"/>
              <a:ea typeface="Calibri"/>
              <a:cs typeface="Calibri"/>
              <a:sym typeface="Calibri"/>
            </a:endParaRPr>
          </a:p>
        </p:txBody>
      </p:sp>
      <p:sp>
        <p:nvSpPr>
          <p:cNvPr id="214" name="Google Shape;214;p10"/>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
        <p:nvSpPr>
          <p:cNvPr id="215" name="Google Shape;215;p10"/>
          <p:cNvSpPr txBox="1"/>
          <p:nvPr/>
        </p:nvSpPr>
        <p:spPr>
          <a:xfrm>
            <a:off x="10728655" y="6492240"/>
            <a:ext cx="10058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10 / 62</a:t>
            </a:r>
            <a:endParaRPr sz="9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0" name="Shape 220"/>
        <p:cNvGrpSpPr/>
        <p:nvPr/>
      </p:nvGrpSpPr>
      <p:grpSpPr>
        <a:xfrm>
          <a:off x="0" y="0"/>
          <a:ext cx="0" cy="0"/>
          <a:chOff x="0" y="0"/>
          <a:chExt cx="0" cy="0"/>
        </a:xfrm>
      </p:grpSpPr>
      <p:sp>
        <p:nvSpPr>
          <p:cNvPr id="221" name="Google Shape;221;p11"/>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RESTRICTING THE DENOMINATOR</a:t>
            </a:r>
            <a:endParaRPr sz="1200">
              <a:solidFill>
                <a:schemeClr val="dk1"/>
              </a:solidFill>
              <a:latin typeface="Calibri"/>
              <a:ea typeface="Calibri"/>
              <a:cs typeface="Calibri"/>
              <a:sym typeface="Calibri"/>
            </a:endParaRPr>
          </a:p>
        </p:txBody>
      </p:sp>
      <p:sp>
        <p:nvSpPr>
          <p:cNvPr id="222" name="Google Shape;222;p11"/>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General Fertility Rate (GFR)</a:t>
            </a:r>
            <a:endParaRPr sz="3000">
              <a:solidFill>
                <a:schemeClr val="dk1"/>
              </a:solidFill>
              <a:latin typeface="Calibri"/>
              <a:ea typeface="Calibri"/>
              <a:cs typeface="Calibri"/>
              <a:sym typeface="Calibri"/>
            </a:endParaRPr>
          </a:p>
        </p:txBody>
      </p:sp>
      <p:sp>
        <p:nvSpPr>
          <p:cNvPr id="223" name="Google Shape;223;p11"/>
          <p:cNvSpPr/>
          <p:nvPr/>
        </p:nvSpPr>
        <p:spPr>
          <a:xfrm>
            <a:off x="548640" y="1554480"/>
            <a:ext cx="11064240" cy="868680"/>
          </a:xfrm>
          <a:prstGeom prst="roundRect">
            <a:avLst>
              <a:gd fmla="val 8421" name="adj"/>
            </a:avLst>
          </a:prstGeom>
          <a:solidFill>
            <a:srgbClr val="2A1420"/>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1"/>
          <p:cNvSpPr txBox="1"/>
          <p:nvPr/>
        </p:nvSpPr>
        <p:spPr>
          <a:xfrm>
            <a:off x="822960" y="1554480"/>
            <a:ext cx="1051560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A441"/>
              </a:buClr>
              <a:buSzPts val="1700"/>
              <a:buFont typeface="Courier New"/>
              <a:buNone/>
            </a:pPr>
            <a:r>
              <a:rPr b="1" lang="en-US" sz="1700">
                <a:solidFill>
                  <a:srgbClr val="D9A441"/>
                </a:solidFill>
                <a:latin typeface="Courier New"/>
                <a:ea typeface="Courier New"/>
                <a:cs typeface="Courier New"/>
                <a:sym typeface="Courier New"/>
              </a:rPr>
              <a:t>GFR = (Total live births in a year) / (Mid-year women aged 15-49) × 1,000</a:t>
            </a:r>
            <a:endParaRPr sz="1700">
              <a:solidFill>
                <a:schemeClr val="dk1"/>
              </a:solidFill>
              <a:latin typeface="Calibri"/>
              <a:ea typeface="Calibri"/>
              <a:cs typeface="Calibri"/>
              <a:sym typeface="Calibri"/>
            </a:endParaRPr>
          </a:p>
        </p:txBody>
      </p:sp>
      <p:sp>
        <p:nvSpPr>
          <p:cNvPr id="225" name="Google Shape;225;p11"/>
          <p:cNvSpPr txBox="1"/>
          <p:nvPr/>
        </p:nvSpPr>
        <p:spPr>
          <a:xfrm>
            <a:off x="548640" y="2697480"/>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350"/>
              <a:buFont typeface="Calibri"/>
              <a:buNone/>
            </a:pPr>
            <a:r>
              <a:rPr b="1" lang="en-US" sz="1350">
                <a:solidFill>
                  <a:srgbClr val="6D2E46"/>
                </a:solidFill>
                <a:latin typeface="Calibri"/>
                <a:ea typeface="Calibri"/>
                <a:cs typeface="Calibri"/>
                <a:sym typeface="Calibri"/>
              </a:rPr>
              <a:t>A real improvement over CBR</a:t>
            </a:r>
            <a:endParaRPr sz="1350">
              <a:solidFill>
                <a:schemeClr val="dk1"/>
              </a:solidFill>
              <a:latin typeface="Calibri"/>
              <a:ea typeface="Calibri"/>
              <a:cs typeface="Calibri"/>
              <a:sym typeface="Calibri"/>
            </a:endParaRPr>
          </a:p>
        </p:txBody>
      </p:sp>
      <p:sp>
        <p:nvSpPr>
          <p:cNvPr id="226" name="Google Shape;226;p11"/>
          <p:cNvSpPr txBox="1"/>
          <p:nvPr/>
        </p:nvSpPr>
        <p:spPr>
          <a:xfrm>
            <a:off x="548640" y="2999232"/>
            <a:ext cx="108813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30"/>
              <a:buFont typeface="Calibri"/>
              <a:buNone/>
            </a:pPr>
            <a:r>
              <a:rPr lang="en-US" sz="1230">
                <a:solidFill>
                  <a:srgbClr val="2D2A2C"/>
                </a:solidFill>
                <a:latin typeface="Calibri"/>
                <a:ea typeface="Calibri"/>
                <a:cs typeface="Calibri"/>
                <a:sym typeface="Calibri"/>
              </a:rPr>
              <a:t>Restricting the denominator to women of reproductive age (15-49) removes the distortion from the number of men, children, and the elderly in the population.</a:t>
            </a:r>
            <a:endParaRPr sz="1230">
              <a:solidFill>
                <a:schemeClr val="dk1"/>
              </a:solidFill>
              <a:latin typeface="Calibri"/>
              <a:ea typeface="Calibri"/>
              <a:cs typeface="Calibri"/>
              <a:sym typeface="Calibri"/>
            </a:endParaRPr>
          </a:p>
        </p:txBody>
      </p:sp>
      <p:sp>
        <p:nvSpPr>
          <p:cNvPr id="227" name="Google Shape;227;p11"/>
          <p:cNvSpPr txBox="1"/>
          <p:nvPr/>
        </p:nvSpPr>
        <p:spPr>
          <a:xfrm>
            <a:off x="548640" y="3721608"/>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350"/>
              <a:buFont typeface="Calibri"/>
              <a:buNone/>
            </a:pPr>
            <a:r>
              <a:rPr b="1" lang="en-US" sz="1350">
                <a:solidFill>
                  <a:srgbClr val="6D2E46"/>
                </a:solidFill>
                <a:latin typeface="Calibri"/>
                <a:ea typeface="Calibri"/>
                <a:cs typeface="Calibri"/>
                <a:sym typeface="Calibri"/>
              </a:rPr>
              <a:t>Still not age-specific</a:t>
            </a:r>
            <a:endParaRPr sz="1350">
              <a:solidFill>
                <a:schemeClr val="dk1"/>
              </a:solidFill>
              <a:latin typeface="Calibri"/>
              <a:ea typeface="Calibri"/>
              <a:cs typeface="Calibri"/>
              <a:sym typeface="Calibri"/>
            </a:endParaRPr>
          </a:p>
        </p:txBody>
      </p:sp>
      <p:sp>
        <p:nvSpPr>
          <p:cNvPr id="228" name="Google Shape;228;p11"/>
          <p:cNvSpPr txBox="1"/>
          <p:nvPr/>
        </p:nvSpPr>
        <p:spPr>
          <a:xfrm>
            <a:off x="548640" y="4023360"/>
            <a:ext cx="108813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30"/>
              <a:buFont typeface="Calibri"/>
              <a:buNone/>
            </a:pPr>
            <a:r>
              <a:rPr lang="en-US" sz="1230">
                <a:solidFill>
                  <a:srgbClr val="2D2A2C"/>
                </a:solidFill>
                <a:latin typeface="Calibri"/>
                <a:ea typeface="Calibri"/>
                <a:cs typeface="Calibri"/>
                <a:sym typeface="Calibri"/>
              </a:rPr>
              <a:t>Two populations with identical GFR can have very different underlying age patterns — one concentrated at ages 20-24, another spread evenly — GFR cannot distinguish them.</a:t>
            </a:r>
            <a:endParaRPr sz="1230">
              <a:solidFill>
                <a:schemeClr val="dk1"/>
              </a:solidFill>
              <a:latin typeface="Calibri"/>
              <a:ea typeface="Calibri"/>
              <a:cs typeface="Calibri"/>
              <a:sym typeface="Calibri"/>
            </a:endParaRPr>
          </a:p>
        </p:txBody>
      </p:sp>
      <p:sp>
        <p:nvSpPr>
          <p:cNvPr id="229" name="Google Shape;229;p11"/>
          <p:cNvSpPr txBox="1"/>
          <p:nvPr/>
        </p:nvSpPr>
        <p:spPr>
          <a:xfrm>
            <a:off x="548640" y="4745736"/>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350"/>
              <a:buFont typeface="Calibri"/>
              <a:buNone/>
            </a:pPr>
            <a:r>
              <a:rPr b="1" lang="en-US" sz="1350">
                <a:solidFill>
                  <a:srgbClr val="6D2E46"/>
                </a:solidFill>
                <a:latin typeface="Calibri"/>
                <a:ea typeface="Calibri"/>
                <a:cs typeface="Calibri"/>
                <a:sym typeface="Calibri"/>
              </a:rPr>
              <a:t>Worked example (preview)</a:t>
            </a:r>
            <a:endParaRPr sz="1350">
              <a:solidFill>
                <a:schemeClr val="dk1"/>
              </a:solidFill>
              <a:latin typeface="Calibri"/>
              <a:ea typeface="Calibri"/>
              <a:cs typeface="Calibri"/>
              <a:sym typeface="Calibri"/>
            </a:endParaRPr>
          </a:p>
        </p:txBody>
      </p:sp>
      <p:sp>
        <p:nvSpPr>
          <p:cNvPr id="230" name="Google Shape;230;p11"/>
          <p:cNvSpPr txBox="1"/>
          <p:nvPr/>
        </p:nvSpPr>
        <p:spPr>
          <a:xfrm>
            <a:off x="548640" y="5047488"/>
            <a:ext cx="108813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30"/>
              <a:buFont typeface="Calibri"/>
              <a:buNone/>
            </a:pPr>
            <a:r>
              <a:rPr lang="en-US" sz="1230">
                <a:solidFill>
                  <a:srgbClr val="2D2A2C"/>
                </a:solidFill>
                <a:latin typeface="Calibri"/>
                <a:ea typeface="Calibri"/>
                <a:cs typeface="Calibri"/>
                <a:sym typeface="Calibri"/>
              </a:rPr>
              <a:t>Population 1,000,000; women 15-49 = 260,000; births = 14,000/year → CBR = 14.0 per 1,000 total population; GFR = (14,000/260,000)×1,000 = 53.8 per 1,000 women 15-49.</a:t>
            </a:r>
            <a:endParaRPr sz="1230">
              <a:solidFill>
                <a:schemeClr val="dk1"/>
              </a:solidFill>
              <a:latin typeface="Calibri"/>
              <a:ea typeface="Calibri"/>
              <a:cs typeface="Calibri"/>
              <a:sym typeface="Calibri"/>
            </a:endParaRPr>
          </a:p>
        </p:txBody>
      </p:sp>
      <p:sp>
        <p:nvSpPr>
          <p:cNvPr id="231" name="Google Shape;231;p11"/>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
        <p:nvSpPr>
          <p:cNvPr id="232" name="Google Shape;232;p11"/>
          <p:cNvSpPr txBox="1"/>
          <p:nvPr/>
        </p:nvSpPr>
        <p:spPr>
          <a:xfrm>
            <a:off x="10728655" y="6492240"/>
            <a:ext cx="10058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11 / 62</a:t>
            </a:r>
            <a:endParaRPr sz="9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7" name="Shape 237"/>
        <p:cNvGrpSpPr/>
        <p:nvPr/>
      </p:nvGrpSpPr>
      <p:grpSpPr>
        <a:xfrm>
          <a:off x="0" y="0"/>
          <a:ext cx="0" cy="0"/>
          <a:chOff x="0" y="0"/>
          <a:chExt cx="0" cy="0"/>
        </a:xfrm>
      </p:grpSpPr>
      <p:sp>
        <p:nvSpPr>
          <p:cNvPr id="238" name="Google Shape;238;p12"/>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THE BUILDING BLOCK FOR TFR</a:t>
            </a:r>
            <a:endParaRPr sz="1200">
              <a:solidFill>
                <a:schemeClr val="dk1"/>
              </a:solidFill>
              <a:latin typeface="Calibri"/>
              <a:ea typeface="Calibri"/>
              <a:cs typeface="Calibri"/>
              <a:sym typeface="Calibri"/>
            </a:endParaRPr>
          </a:p>
        </p:txBody>
      </p:sp>
      <p:sp>
        <p:nvSpPr>
          <p:cNvPr id="239" name="Google Shape;239;p12"/>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Age-Specific Fertility Rate (ASFR)</a:t>
            </a:r>
            <a:endParaRPr sz="3000">
              <a:solidFill>
                <a:schemeClr val="dk1"/>
              </a:solidFill>
              <a:latin typeface="Calibri"/>
              <a:ea typeface="Calibri"/>
              <a:cs typeface="Calibri"/>
              <a:sym typeface="Calibri"/>
            </a:endParaRPr>
          </a:p>
        </p:txBody>
      </p:sp>
      <p:sp>
        <p:nvSpPr>
          <p:cNvPr id="240" name="Google Shape;240;p12"/>
          <p:cNvSpPr/>
          <p:nvPr/>
        </p:nvSpPr>
        <p:spPr>
          <a:xfrm>
            <a:off x="548640" y="1554480"/>
            <a:ext cx="11064240" cy="868680"/>
          </a:xfrm>
          <a:prstGeom prst="roundRect">
            <a:avLst>
              <a:gd fmla="val 8421" name="adj"/>
            </a:avLst>
          </a:prstGeom>
          <a:solidFill>
            <a:srgbClr val="2A1420"/>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2"/>
          <p:cNvSpPr txBox="1"/>
          <p:nvPr/>
        </p:nvSpPr>
        <p:spPr>
          <a:xfrm>
            <a:off x="822960" y="1554480"/>
            <a:ext cx="1051560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A441"/>
              </a:buClr>
              <a:buSzPts val="1700"/>
              <a:buFont typeface="Courier New"/>
              <a:buNone/>
            </a:pPr>
            <a:r>
              <a:rPr b="1" lang="en-US" sz="1700">
                <a:solidFill>
                  <a:srgbClr val="D9A441"/>
                </a:solidFill>
                <a:latin typeface="Courier New"/>
                <a:ea typeface="Courier New"/>
                <a:cs typeface="Courier New"/>
                <a:sym typeface="Courier New"/>
              </a:rPr>
              <a:t>ₙFx = (Births to women aged x to x+n) / (Mid-year women aged x to x+n) × 1,000</a:t>
            </a:r>
            <a:endParaRPr sz="1700">
              <a:solidFill>
                <a:schemeClr val="dk1"/>
              </a:solidFill>
              <a:latin typeface="Calibri"/>
              <a:ea typeface="Calibri"/>
              <a:cs typeface="Calibri"/>
              <a:sym typeface="Calibri"/>
            </a:endParaRPr>
          </a:p>
        </p:txBody>
      </p:sp>
      <p:sp>
        <p:nvSpPr>
          <p:cNvPr id="242" name="Google Shape;242;p12"/>
          <p:cNvSpPr txBox="1"/>
          <p:nvPr/>
        </p:nvSpPr>
        <p:spPr>
          <a:xfrm>
            <a:off x="548640" y="2697480"/>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350"/>
              <a:buFont typeface="Calibri"/>
              <a:buNone/>
            </a:pPr>
            <a:r>
              <a:rPr b="1" lang="en-US" sz="1350">
                <a:solidFill>
                  <a:srgbClr val="6D2E46"/>
                </a:solidFill>
                <a:latin typeface="Calibri"/>
                <a:ea typeface="Calibri"/>
                <a:cs typeface="Calibri"/>
                <a:sym typeface="Calibri"/>
              </a:rPr>
              <a:t>Computed separately for each age group</a:t>
            </a:r>
            <a:endParaRPr sz="1350">
              <a:solidFill>
                <a:schemeClr val="dk1"/>
              </a:solidFill>
              <a:latin typeface="Calibri"/>
              <a:ea typeface="Calibri"/>
              <a:cs typeface="Calibri"/>
              <a:sym typeface="Calibri"/>
            </a:endParaRPr>
          </a:p>
        </p:txBody>
      </p:sp>
      <p:sp>
        <p:nvSpPr>
          <p:cNvPr id="243" name="Google Shape;243;p12"/>
          <p:cNvSpPr txBox="1"/>
          <p:nvPr/>
        </p:nvSpPr>
        <p:spPr>
          <a:xfrm>
            <a:off x="548640" y="2999232"/>
            <a:ext cx="108813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30"/>
              <a:buFont typeface="Calibri"/>
              <a:buNone/>
            </a:pPr>
            <a:r>
              <a:rPr lang="en-US" sz="1230">
                <a:solidFill>
                  <a:srgbClr val="2D2A2C"/>
                </a:solidFill>
                <a:latin typeface="Calibri"/>
                <a:ea typeface="Calibri"/>
                <a:cs typeface="Calibri"/>
                <a:sym typeface="Calibri"/>
              </a:rPr>
              <a:t>Typically 5-year groups: 15-19, 20-24, 25-29, ... 45-49 — this is what lets us see the SHAPE of the fertility schedule, not just its level.</a:t>
            </a:r>
            <a:endParaRPr sz="1230">
              <a:solidFill>
                <a:schemeClr val="dk1"/>
              </a:solidFill>
              <a:latin typeface="Calibri"/>
              <a:ea typeface="Calibri"/>
              <a:cs typeface="Calibri"/>
              <a:sym typeface="Calibri"/>
            </a:endParaRPr>
          </a:p>
        </p:txBody>
      </p:sp>
      <p:sp>
        <p:nvSpPr>
          <p:cNvPr id="244" name="Google Shape;244;p12"/>
          <p:cNvSpPr txBox="1"/>
          <p:nvPr/>
        </p:nvSpPr>
        <p:spPr>
          <a:xfrm>
            <a:off x="548640" y="3721608"/>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350"/>
              <a:buFont typeface="Calibri"/>
              <a:buNone/>
            </a:pPr>
            <a:r>
              <a:rPr b="1" lang="en-US" sz="1350">
                <a:solidFill>
                  <a:srgbClr val="6D2E46"/>
                </a:solidFill>
                <a:latin typeface="Calibri"/>
                <a:ea typeface="Calibri"/>
                <a:cs typeface="Calibri"/>
                <a:sym typeface="Calibri"/>
              </a:rPr>
              <a:t>The most analytically rich fertility measure</a:t>
            </a:r>
            <a:endParaRPr sz="1350">
              <a:solidFill>
                <a:schemeClr val="dk1"/>
              </a:solidFill>
              <a:latin typeface="Calibri"/>
              <a:ea typeface="Calibri"/>
              <a:cs typeface="Calibri"/>
              <a:sym typeface="Calibri"/>
            </a:endParaRPr>
          </a:p>
        </p:txBody>
      </p:sp>
      <p:sp>
        <p:nvSpPr>
          <p:cNvPr id="245" name="Google Shape;245;p12"/>
          <p:cNvSpPr txBox="1"/>
          <p:nvPr/>
        </p:nvSpPr>
        <p:spPr>
          <a:xfrm>
            <a:off x="548640" y="4023360"/>
            <a:ext cx="108813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30"/>
              <a:buFont typeface="Calibri"/>
              <a:buNone/>
            </a:pPr>
            <a:r>
              <a:rPr lang="en-US" sz="1230">
                <a:solidFill>
                  <a:srgbClr val="2D2A2C"/>
                </a:solidFill>
                <a:latin typeface="Calibri"/>
                <a:ea typeface="Calibri"/>
                <a:cs typeface="Calibri"/>
                <a:sym typeface="Calibri"/>
              </a:rPr>
              <a:t>ASFR reveals timing (early vs. late childbearing), which CBR and GFR completely obscure — essential for comparing fertility postponement across cohorts or countries.</a:t>
            </a:r>
            <a:endParaRPr sz="1230">
              <a:solidFill>
                <a:schemeClr val="dk1"/>
              </a:solidFill>
              <a:latin typeface="Calibri"/>
              <a:ea typeface="Calibri"/>
              <a:cs typeface="Calibri"/>
              <a:sym typeface="Calibri"/>
            </a:endParaRPr>
          </a:p>
        </p:txBody>
      </p:sp>
      <p:sp>
        <p:nvSpPr>
          <p:cNvPr id="246" name="Google Shape;246;p12"/>
          <p:cNvSpPr txBox="1"/>
          <p:nvPr/>
        </p:nvSpPr>
        <p:spPr>
          <a:xfrm>
            <a:off x="548640" y="4745736"/>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350"/>
              <a:buFont typeface="Calibri"/>
              <a:buNone/>
            </a:pPr>
            <a:r>
              <a:rPr b="1" lang="en-US" sz="1350">
                <a:solidFill>
                  <a:srgbClr val="6D2E46"/>
                </a:solidFill>
                <a:latin typeface="Calibri"/>
                <a:ea typeface="Calibri"/>
                <a:cs typeface="Calibri"/>
                <a:sym typeface="Calibri"/>
              </a:rPr>
              <a:t>Feeds directly into TFR</a:t>
            </a:r>
            <a:endParaRPr sz="1350">
              <a:solidFill>
                <a:schemeClr val="dk1"/>
              </a:solidFill>
              <a:latin typeface="Calibri"/>
              <a:ea typeface="Calibri"/>
              <a:cs typeface="Calibri"/>
              <a:sym typeface="Calibri"/>
            </a:endParaRPr>
          </a:p>
        </p:txBody>
      </p:sp>
      <p:sp>
        <p:nvSpPr>
          <p:cNvPr id="247" name="Google Shape;247;p12"/>
          <p:cNvSpPr txBox="1"/>
          <p:nvPr/>
        </p:nvSpPr>
        <p:spPr>
          <a:xfrm>
            <a:off x="548640" y="5047488"/>
            <a:ext cx="108813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30"/>
              <a:buFont typeface="Calibri"/>
              <a:buNone/>
            </a:pPr>
            <a:r>
              <a:rPr lang="en-US" sz="1230">
                <a:solidFill>
                  <a:srgbClr val="2D2A2C"/>
                </a:solidFill>
                <a:latin typeface="Calibri"/>
                <a:ea typeface="Calibri"/>
                <a:cs typeface="Calibri"/>
                <a:sym typeface="Calibri"/>
              </a:rPr>
              <a:t>The Total Fertility Rate (next slide) is simply built by summing ASFRs across all reproductive ages.</a:t>
            </a:r>
            <a:endParaRPr sz="1230">
              <a:solidFill>
                <a:schemeClr val="dk1"/>
              </a:solidFill>
              <a:latin typeface="Calibri"/>
              <a:ea typeface="Calibri"/>
              <a:cs typeface="Calibri"/>
              <a:sym typeface="Calibri"/>
            </a:endParaRPr>
          </a:p>
        </p:txBody>
      </p:sp>
      <p:sp>
        <p:nvSpPr>
          <p:cNvPr id="248" name="Google Shape;248;p12"/>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3" name="Shape 253"/>
        <p:cNvGrpSpPr/>
        <p:nvPr/>
      </p:nvGrpSpPr>
      <p:grpSpPr>
        <a:xfrm>
          <a:off x="0" y="0"/>
          <a:ext cx="0" cy="0"/>
          <a:chOff x="0" y="0"/>
          <a:chExt cx="0" cy="0"/>
        </a:xfrm>
      </p:grpSpPr>
      <p:sp>
        <p:nvSpPr>
          <p:cNvPr id="254" name="Google Shape;254;p13"/>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THE HEADLINE PERIOD FERTILITY INDICATOR</a:t>
            </a:r>
            <a:endParaRPr sz="1200">
              <a:solidFill>
                <a:schemeClr val="dk1"/>
              </a:solidFill>
              <a:latin typeface="Calibri"/>
              <a:ea typeface="Calibri"/>
              <a:cs typeface="Calibri"/>
              <a:sym typeface="Calibri"/>
            </a:endParaRPr>
          </a:p>
        </p:txBody>
      </p:sp>
      <p:sp>
        <p:nvSpPr>
          <p:cNvPr id="255" name="Google Shape;255;p13"/>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Total Fertility Rate (TFR)</a:t>
            </a:r>
            <a:endParaRPr sz="3000">
              <a:solidFill>
                <a:schemeClr val="dk1"/>
              </a:solidFill>
              <a:latin typeface="Calibri"/>
              <a:ea typeface="Calibri"/>
              <a:cs typeface="Calibri"/>
              <a:sym typeface="Calibri"/>
            </a:endParaRPr>
          </a:p>
        </p:txBody>
      </p:sp>
      <p:sp>
        <p:nvSpPr>
          <p:cNvPr id="256" name="Google Shape;256;p13"/>
          <p:cNvSpPr/>
          <p:nvPr/>
        </p:nvSpPr>
        <p:spPr>
          <a:xfrm>
            <a:off x="548640" y="1554480"/>
            <a:ext cx="11064240" cy="868680"/>
          </a:xfrm>
          <a:prstGeom prst="roundRect">
            <a:avLst>
              <a:gd fmla="val 8421" name="adj"/>
            </a:avLst>
          </a:prstGeom>
          <a:solidFill>
            <a:srgbClr val="2A1420"/>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3"/>
          <p:cNvSpPr txBox="1"/>
          <p:nvPr/>
        </p:nvSpPr>
        <p:spPr>
          <a:xfrm>
            <a:off x="822960" y="1554480"/>
            <a:ext cx="1051560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A441"/>
              </a:buClr>
              <a:buSzPts val="1700"/>
              <a:buFont typeface="Courier New"/>
              <a:buNone/>
            </a:pPr>
            <a:r>
              <a:rPr b="1" lang="en-US" sz="1700">
                <a:solidFill>
                  <a:srgbClr val="D9A441"/>
                </a:solidFill>
                <a:latin typeface="Courier New"/>
                <a:ea typeface="Courier New"/>
                <a:cs typeface="Courier New"/>
                <a:sym typeface="Courier New"/>
              </a:rPr>
              <a:t>TFR = n × Σ(ₙFx) / 1,000   [sum of all ASFRs, × age-interval width, typically n = 5]</a:t>
            </a:r>
            <a:endParaRPr sz="1700">
              <a:solidFill>
                <a:schemeClr val="dk1"/>
              </a:solidFill>
              <a:latin typeface="Calibri"/>
              <a:ea typeface="Calibri"/>
              <a:cs typeface="Calibri"/>
              <a:sym typeface="Calibri"/>
            </a:endParaRPr>
          </a:p>
        </p:txBody>
      </p:sp>
      <p:sp>
        <p:nvSpPr>
          <p:cNvPr id="258" name="Google Shape;258;p13"/>
          <p:cNvSpPr txBox="1"/>
          <p:nvPr/>
        </p:nvSpPr>
        <p:spPr>
          <a:xfrm>
            <a:off x="548640" y="2697480"/>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350"/>
              <a:buFont typeface="Calibri"/>
              <a:buNone/>
            </a:pPr>
            <a:r>
              <a:rPr b="1" lang="en-US" sz="1350">
                <a:solidFill>
                  <a:srgbClr val="6D2E46"/>
                </a:solidFill>
                <a:latin typeface="Calibri"/>
                <a:ea typeface="Calibri"/>
                <a:cs typeface="Calibri"/>
                <a:sym typeface="Calibri"/>
              </a:rPr>
              <a:t>A synthetic-cohort measure, like e0 in a life table</a:t>
            </a:r>
            <a:endParaRPr sz="1350">
              <a:solidFill>
                <a:schemeClr val="dk1"/>
              </a:solidFill>
              <a:latin typeface="Calibri"/>
              <a:ea typeface="Calibri"/>
              <a:cs typeface="Calibri"/>
              <a:sym typeface="Calibri"/>
            </a:endParaRPr>
          </a:p>
        </p:txBody>
      </p:sp>
      <p:sp>
        <p:nvSpPr>
          <p:cNvPr id="259" name="Google Shape;259;p13"/>
          <p:cNvSpPr txBox="1"/>
          <p:nvPr/>
        </p:nvSpPr>
        <p:spPr>
          <a:xfrm>
            <a:off x="548640" y="2999232"/>
            <a:ext cx="108813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30"/>
              <a:buFont typeface="Calibri"/>
              <a:buNone/>
            </a:pPr>
            <a:r>
              <a:rPr lang="en-US" sz="1230">
                <a:solidFill>
                  <a:srgbClr val="2D2A2C"/>
                </a:solidFill>
                <a:latin typeface="Calibri"/>
                <a:ea typeface="Calibri"/>
                <a:cs typeface="Calibri"/>
                <a:sym typeface="Calibri"/>
              </a:rPr>
              <a:t>TFR answers: "If a hypothetical woman experienced today's observed ASFR schedule at every age throughout her reproductive life, how many children would she have?"</a:t>
            </a:r>
            <a:endParaRPr sz="1230">
              <a:solidFill>
                <a:schemeClr val="dk1"/>
              </a:solidFill>
              <a:latin typeface="Calibri"/>
              <a:ea typeface="Calibri"/>
              <a:cs typeface="Calibri"/>
              <a:sym typeface="Calibri"/>
            </a:endParaRPr>
          </a:p>
        </p:txBody>
      </p:sp>
      <p:sp>
        <p:nvSpPr>
          <p:cNvPr id="260" name="Google Shape;260;p13"/>
          <p:cNvSpPr txBox="1"/>
          <p:nvPr/>
        </p:nvSpPr>
        <p:spPr>
          <a:xfrm>
            <a:off x="548640" y="3721608"/>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350"/>
              <a:buFont typeface="Calibri"/>
              <a:buNone/>
            </a:pPr>
            <a:r>
              <a:rPr b="1" lang="en-US" sz="1350">
                <a:solidFill>
                  <a:srgbClr val="6D2E46"/>
                </a:solidFill>
                <a:latin typeface="Calibri"/>
                <a:ea typeface="Calibri"/>
                <a:cs typeface="Calibri"/>
                <a:sym typeface="Calibri"/>
              </a:rPr>
              <a:t>Replacement level ≈ 2.1</a:t>
            </a:r>
            <a:endParaRPr sz="1350">
              <a:solidFill>
                <a:schemeClr val="dk1"/>
              </a:solidFill>
              <a:latin typeface="Calibri"/>
              <a:ea typeface="Calibri"/>
              <a:cs typeface="Calibri"/>
              <a:sym typeface="Calibri"/>
            </a:endParaRPr>
          </a:p>
        </p:txBody>
      </p:sp>
      <p:sp>
        <p:nvSpPr>
          <p:cNvPr id="261" name="Google Shape;261;p13"/>
          <p:cNvSpPr txBox="1"/>
          <p:nvPr/>
        </p:nvSpPr>
        <p:spPr>
          <a:xfrm>
            <a:off x="548640" y="4023360"/>
            <a:ext cx="108813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30"/>
              <a:buFont typeface="Calibri"/>
              <a:buNone/>
            </a:pPr>
            <a:r>
              <a:rPr lang="en-US" sz="1230">
                <a:solidFill>
                  <a:srgbClr val="2D2A2C"/>
                </a:solidFill>
                <a:latin typeface="Calibri"/>
                <a:ea typeface="Calibri"/>
                <a:cs typeface="Calibri"/>
                <a:sym typeface="Calibri"/>
              </a:rPr>
              <a:t>The TFR at which a population, in the absence of migration, exactly replaces itself across generations (slightly above 2.0 to offset mortality before reproductive age).</a:t>
            </a:r>
            <a:endParaRPr sz="1230">
              <a:solidFill>
                <a:schemeClr val="dk1"/>
              </a:solidFill>
              <a:latin typeface="Calibri"/>
              <a:ea typeface="Calibri"/>
              <a:cs typeface="Calibri"/>
              <a:sym typeface="Calibri"/>
            </a:endParaRPr>
          </a:p>
        </p:txBody>
      </p:sp>
      <p:sp>
        <p:nvSpPr>
          <p:cNvPr id="262" name="Google Shape;262;p13"/>
          <p:cNvSpPr txBox="1"/>
          <p:nvPr/>
        </p:nvSpPr>
        <p:spPr>
          <a:xfrm>
            <a:off x="548640" y="4745736"/>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350"/>
              <a:buFont typeface="Calibri"/>
              <a:buNone/>
            </a:pPr>
            <a:r>
              <a:rPr b="1" lang="en-US" sz="1350">
                <a:solidFill>
                  <a:srgbClr val="6D2E46"/>
                </a:solidFill>
                <a:latin typeface="Calibri"/>
                <a:ea typeface="Calibri"/>
                <a:cs typeface="Calibri"/>
                <a:sym typeface="Calibri"/>
              </a:rPr>
              <a:t>Period vs. cohort TFR</a:t>
            </a:r>
            <a:endParaRPr sz="1350">
              <a:solidFill>
                <a:schemeClr val="dk1"/>
              </a:solidFill>
              <a:latin typeface="Calibri"/>
              <a:ea typeface="Calibri"/>
              <a:cs typeface="Calibri"/>
              <a:sym typeface="Calibri"/>
            </a:endParaRPr>
          </a:p>
        </p:txBody>
      </p:sp>
      <p:sp>
        <p:nvSpPr>
          <p:cNvPr id="263" name="Google Shape;263;p13"/>
          <p:cNvSpPr txBox="1"/>
          <p:nvPr/>
        </p:nvSpPr>
        <p:spPr>
          <a:xfrm>
            <a:off x="548640" y="5047488"/>
            <a:ext cx="108813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30"/>
              <a:buFont typeface="Calibri"/>
              <a:buNone/>
            </a:pPr>
            <a:r>
              <a:rPr lang="en-US" sz="1230">
                <a:solidFill>
                  <a:srgbClr val="2D2A2C"/>
                </a:solidFill>
                <a:latin typeface="Calibri"/>
                <a:ea typeface="Calibri"/>
                <a:cs typeface="Calibri"/>
                <a:sym typeface="Calibri"/>
              </a:rPr>
              <a:t>Period TFR (computed here) can be distorted by "tempo effects" — if women are simply postponing births, period TFR falls temporarily even if completed (cohort) family size does not change as much.</a:t>
            </a:r>
            <a:endParaRPr sz="1230">
              <a:solidFill>
                <a:schemeClr val="dk1"/>
              </a:solidFill>
              <a:latin typeface="Calibri"/>
              <a:ea typeface="Calibri"/>
              <a:cs typeface="Calibri"/>
              <a:sym typeface="Calibri"/>
            </a:endParaRPr>
          </a:p>
        </p:txBody>
      </p:sp>
      <p:sp>
        <p:nvSpPr>
          <p:cNvPr id="264" name="Google Shape;264;p13"/>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 name="Shape 269"/>
        <p:cNvGrpSpPr/>
        <p:nvPr/>
      </p:nvGrpSpPr>
      <p:grpSpPr>
        <a:xfrm>
          <a:off x="0" y="0"/>
          <a:ext cx="0" cy="0"/>
          <a:chOff x="0" y="0"/>
          <a:chExt cx="0" cy="0"/>
        </a:xfrm>
      </p:grpSpPr>
      <p:sp>
        <p:nvSpPr>
          <p:cNvPr id="270" name="Google Shape;270;p14"/>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A CRITICAL DISTINCTION</a:t>
            </a:r>
            <a:endParaRPr sz="1200">
              <a:solidFill>
                <a:schemeClr val="dk1"/>
              </a:solidFill>
              <a:latin typeface="Calibri"/>
              <a:ea typeface="Calibri"/>
              <a:cs typeface="Calibri"/>
              <a:sym typeface="Calibri"/>
            </a:endParaRPr>
          </a:p>
        </p:txBody>
      </p:sp>
      <p:sp>
        <p:nvSpPr>
          <p:cNvPr id="271" name="Google Shape;271;p14"/>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Period vs. Cohort Fertility, and Mean Age at Childbearing</a:t>
            </a:r>
            <a:endParaRPr sz="3000">
              <a:solidFill>
                <a:schemeClr val="dk1"/>
              </a:solidFill>
              <a:latin typeface="Calibri"/>
              <a:ea typeface="Calibri"/>
              <a:cs typeface="Calibri"/>
              <a:sym typeface="Calibri"/>
            </a:endParaRPr>
          </a:p>
        </p:txBody>
      </p:sp>
      <p:sp>
        <p:nvSpPr>
          <p:cNvPr id="272" name="Google Shape;272;p14"/>
          <p:cNvSpPr/>
          <p:nvPr/>
        </p:nvSpPr>
        <p:spPr>
          <a:xfrm>
            <a:off x="548640" y="1600200"/>
            <a:ext cx="5394960" cy="1600200"/>
          </a:xfrm>
          <a:prstGeom prst="roundRect">
            <a:avLst>
              <a:gd fmla="val 4571" name="adj"/>
            </a:avLst>
          </a:prstGeom>
          <a:solidFill>
            <a:srgbClr val="F7EEEA"/>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4"/>
          <p:cNvSpPr txBox="1"/>
          <p:nvPr/>
        </p:nvSpPr>
        <p:spPr>
          <a:xfrm>
            <a:off x="777240" y="1755648"/>
            <a:ext cx="4937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600"/>
              <a:buFont typeface="Cambria"/>
              <a:buNone/>
            </a:pPr>
            <a:r>
              <a:rPr b="1" lang="en-US" sz="1600">
                <a:solidFill>
                  <a:srgbClr val="6D2E46"/>
                </a:solidFill>
                <a:latin typeface="Cambria"/>
                <a:ea typeface="Cambria"/>
                <a:cs typeface="Cambria"/>
                <a:sym typeface="Cambria"/>
              </a:rPr>
              <a:t>Period TFR</a:t>
            </a:r>
            <a:endParaRPr sz="1600">
              <a:solidFill>
                <a:schemeClr val="dk1"/>
              </a:solidFill>
              <a:latin typeface="Calibri"/>
              <a:ea typeface="Calibri"/>
              <a:cs typeface="Calibri"/>
              <a:sym typeface="Calibri"/>
            </a:endParaRPr>
          </a:p>
        </p:txBody>
      </p:sp>
      <p:sp>
        <p:nvSpPr>
          <p:cNvPr id="274" name="Google Shape;274;p14"/>
          <p:cNvSpPr txBox="1"/>
          <p:nvPr/>
        </p:nvSpPr>
        <p:spPr>
          <a:xfrm>
            <a:off x="777240" y="2148840"/>
            <a:ext cx="493776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30"/>
              <a:buFont typeface="Calibri"/>
              <a:buNone/>
            </a:pPr>
            <a:r>
              <a:rPr lang="en-US" sz="1230">
                <a:solidFill>
                  <a:srgbClr val="2D2A2C"/>
                </a:solidFill>
                <a:latin typeface="Calibri"/>
                <a:ea typeface="Calibri"/>
                <a:cs typeface="Calibri"/>
                <a:sym typeface="Calibri"/>
              </a:rPr>
              <a:t>A snapshot: applies one calendar year's ASFR schedule to a synthetic cohort. Fast to compute, immediately available — but sensitive to short-term timing shifts.</a:t>
            </a:r>
            <a:endParaRPr sz="1230">
              <a:solidFill>
                <a:schemeClr val="dk1"/>
              </a:solidFill>
              <a:latin typeface="Calibri"/>
              <a:ea typeface="Calibri"/>
              <a:cs typeface="Calibri"/>
              <a:sym typeface="Calibri"/>
            </a:endParaRPr>
          </a:p>
        </p:txBody>
      </p:sp>
      <p:sp>
        <p:nvSpPr>
          <p:cNvPr id="275" name="Google Shape;275;p14"/>
          <p:cNvSpPr/>
          <p:nvPr/>
        </p:nvSpPr>
        <p:spPr>
          <a:xfrm>
            <a:off x="6217920" y="1600200"/>
            <a:ext cx="5394960" cy="1600200"/>
          </a:xfrm>
          <a:prstGeom prst="roundRect">
            <a:avLst>
              <a:gd fmla="val 4571" name="adj"/>
            </a:avLst>
          </a:prstGeom>
          <a:solidFill>
            <a:srgbClr val="F7EEEA"/>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4"/>
          <p:cNvSpPr txBox="1"/>
          <p:nvPr/>
        </p:nvSpPr>
        <p:spPr>
          <a:xfrm>
            <a:off x="6446520" y="1755648"/>
            <a:ext cx="4937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600"/>
              <a:buFont typeface="Cambria"/>
              <a:buNone/>
            </a:pPr>
            <a:r>
              <a:rPr b="1" lang="en-US" sz="1600">
                <a:solidFill>
                  <a:srgbClr val="6D2E46"/>
                </a:solidFill>
                <a:latin typeface="Cambria"/>
                <a:ea typeface="Cambria"/>
                <a:cs typeface="Cambria"/>
                <a:sym typeface="Cambria"/>
              </a:rPr>
              <a:t>Cohort (completed) fertility</a:t>
            </a:r>
            <a:endParaRPr sz="1600">
              <a:solidFill>
                <a:schemeClr val="dk1"/>
              </a:solidFill>
              <a:latin typeface="Calibri"/>
              <a:ea typeface="Calibri"/>
              <a:cs typeface="Calibri"/>
              <a:sym typeface="Calibri"/>
            </a:endParaRPr>
          </a:p>
        </p:txBody>
      </p:sp>
      <p:sp>
        <p:nvSpPr>
          <p:cNvPr id="277" name="Google Shape;277;p14"/>
          <p:cNvSpPr txBox="1"/>
          <p:nvPr/>
        </p:nvSpPr>
        <p:spPr>
          <a:xfrm>
            <a:off x="6446520" y="2148840"/>
            <a:ext cx="493776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30"/>
              <a:buFont typeface="Calibri"/>
              <a:buNone/>
            </a:pPr>
            <a:r>
              <a:rPr lang="en-US" sz="1230">
                <a:solidFill>
                  <a:srgbClr val="2D2A2C"/>
                </a:solidFill>
                <a:latin typeface="Calibri"/>
                <a:ea typeface="Calibri"/>
                <a:cs typeface="Calibri"/>
                <a:sym typeface="Calibri"/>
              </a:rPr>
              <a:t>The actual average number of children born to women of a real birth cohort by the end of their reproductive lives. Only fully known decades later.</a:t>
            </a:r>
            <a:endParaRPr sz="1230">
              <a:solidFill>
                <a:schemeClr val="dk1"/>
              </a:solidFill>
              <a:latin typeface="Calibri"/>
              <a:ea typeface="Calibri"/>
              <a:cs typeface="Calibri"/>
              <a:sym typeface="Calibri"/>
            </a:endParaRPr>
          </a:p>
        </p:txBody>
      </p:sp>
      <p:sp>
        <p:nvSpPr>
          <p:cNvPr id="278" name="Google Shape;278;p14"/>
          <p:cNvSpPr/>
          <p:nvPr/>
        </p:nvSpPr>
        <p:spPr>
          <a:xfrm>
            <a:off x="548640" y="3383280"/>
            <a:ext cx="11064240" cy="1051560"/>
          </a:xfrm>
          <a:prstGeom prst="roundRect">
            <a:avLst>
              <a:gd fmla="val 6957" name="adj"/>
            </a:avLst>
          </a:prstGeom>
          <a:solidFill>
            <a:srgbClr val="F1E4DE"/>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4"/>
          <p:cNvSpPr txBox="1"/>
          <p:nvPr/>
        </p:nvSpPr>
        <p:spPr>
          <a:xfrm>
            <a:off x="777240" y="3520440"/>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300"/>
              <a:buFont typeface="Calibri"/>
              <a:buNone/>
            </a:pPr>
            <a:r>
              <a:rPr b="1" lang="en-US" sz="1300">
                <a:solidFill>
                  <a:srgbClr val="6D2E46"/>
                </a:solidFill>
                <a:latin typeface="Calibri"/>
                <a:ea typeface="Calibri"/>
                <a:cs typeface="Calibri"/>
                <a:sym typeface="Calibri"/>
              </a:rPr>
              <a:t>Tempo effects</a:t>
            </a:r>
            <a:endParaRPr sz="1300">
              <a:solidFill>
                <a:schemeClr val="dk1"/>
              </a:solidFill>
              <a:latin typeface="Calibri"/>
              <a:ea typeface="Calibri"/>
              <a:cs typeface="Calibri"/>
              <a:sym typeface="Calibri"/>
            </a:endParaRPr>
          </a:p>
        </p:txBody>
      </p:sp>
      <p:sp>
        <p:nvSpPr>
          <p:cNvPr id="280" name="Google Shape;280;p14"/>
          <p:cNvSpPr txBox="1"/>
          <p:nvPr/>
        </p:nvSpPr>
        <p:spPr>
          <a:xfrm>
            <a:off x="777240" y="3803904"/>
            <a:ext cx="106070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00"/>
              <a:buFont typeface="Calibri"/>
              <a:buNone/>
            </a:pPr>
            <a:r>
              <a:rPr lang="en-US" sz="1200">
                <a:solidFill>
                  <a:srgbClr val="2D2A2C"/>
                </a:solidFill>
                <a:latin typeface="Calibri"/>
                <a:ea typeface="Calibri"/>
                <a:cs typeface="Calibri"/>
                <a:sym typeface="Calibri"/>
              </a:rPr>
              <a:t>When women delay childbearing (rising mean age at first birth), period TFR can fall even if cohort fertility barely changes — a key reason to interpret sudden period-TFR declines cautiously.</a:t>
            </a:r>
            <a:endParaRPr sz="1200">
              <a:solidFill>
                <a:schemeClr val="dk1"/>
              </a:solidFill>
              <a:latin typeface="Calibri"/>
              <a:ea typeface="Calibri"/>
              <a:cs typeface="Calibri"/>
              <a:sym typeface="Calibri"/>
            </a:endParaRPr>
          </a:p>
        </p:txBody>
      </p:sp>
      <p:sp>
        <p:nvSpPr>
          <p:cNvPr id="281" name="Google Shape;281;p14"/>
          <p:cNvSpPr/>
          <p:nvPr/>
        </p:nvSpPr>
        <p:spPr>
          <a:xfrm>
            <a:off x="548640" y="4572000"/>
            <a:ext cx="11064240" cy="1234440"/>
          </a:xfrm>
          <a:prstGeom prst="roundRect">
            <a:avLst>
              <a:gd fmla="val 5926" name="adj"/>
            </a:avLst>
          </a:prstGeom>
          <a:solidFill>
            <a:srgbClr val="2A1420"/>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4"/>
          <p:cNvSpPr txBox="1"/>
          <p:nvPr/>
        </p:nvSpPr>
        <p:spPr>
          <a:xfrm>
            <a:off x="777240" y="4709160"/>
            <a:ext cx="106070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A441"/>
              </a:buClr>
              <a:buSzPts val="1600"/>
              <a:buFont typeface="Courier New"/>
              <a:buNone/>
            </a:pPr>
            <a:r>
              <a:rPr b="1" lang="en-US" sz="1600">
                <a:solidFill>
                  <a:srgbClr val="D9A441"/>
                </a:solidFill>
                <a:latin typeface="Courier New"/>
                <a:ea typeface="Courier New"/>
                <a:cs typeface="Courier New"/>
                <a:sym typeface="Courier New"/>
              </a:rPr>
              <a:t>MAC = Σ(x_mid × ₙFx) / Σ(ₙFx)</a:t>
            </a:r>
            <a:endParaRPr sz="1600">
              <a:solidFill>
                <a:schemeClr val="dk1"/>
              </a:solidFill>
              <a:latin typeface="Calibri"/>
              <a:ea typeface="Calibri"/>
              <a:cs typeface="Calibri"/>
              <a:sym typeface="Calibri"/>
            </a:endParaRPr>
          </a:p>
        </p:txBody>
      </p:sp>
      <p:sp>
        <p:nvSpPr>
          <p:cNvPr id="283" name="Google Shape;283;p14"/>
          <p:cNvSpPr txBox="1"/>
          <p:nvPr/>
        </p:nvSpPr>
        <p:spPr>
          <a:xfrm>
            <a:off x="777240" y="5166360"/>
            <a:ext cx="106070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EDE8"/>
              </a:buClr>
              <a:buSzPts val="1180"/>
              <a:buFont typeface="Calibri"/>
              <a:buNone/>
            </a:pPr>
            <a:r>
              <a:rPr lang="en-US" sz="1180">
                <a:solidFill>
                  <a:srgbClr val="F5EDE8"/>
                </a:solidFill>
                <a:latin typeface="Calibri"/>
                <a:ea typeface="Calibri"/>
                <a:cs typeface="Calibri"/>
                <a:sym typeface="Calibri"/>
              </a:rPr>
              <a:t>Mean age at childbearing (MAC), where x_mid is the mid-point of each age group — summarizes WHEN, on average, childbearing occurs within the ASFR schedule.</a:t>
            </a:r>
            <a:endParaRPr sz="1180">
              <a:solidFill>
                <a:schemeClr val="dk1"/>
              </a:solidFill>
              <a:latin typeface="Calibri"/>
              <a:ea typeface="Calibri"/>
              <a:cs typeface="Calibri"/>
              <a:sym typeface="Calibri"/>
            </a:endParaRPr>
          </a:p>
        </p:txBody>
      </p:sp>
      <p:sp>
        <p:nvSpPr>
          <p:cNvPr id="284" name="Google Shape;284;p14"/>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9" name="Shape 289"/>
        <p:cNvGrpSpPr/>
        <p:nvPr/>
      </p:nvGrpSpPr>
      <p:grpSpPr>
        <a:xfrm>
          <a:off x="0" y="0"/>
          <a:ext cx="0" cy="0"/>
          <a:chOff x="0" y="0"/>
          <a:chExt cx="0" cy="0"/>
        </a:xfrm>
      </p:grpSpPr>
      <p:sp>
        <p:nvSpPr>
          <p:cNvPr id="290" name="Google Shape;290;p15"/>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WORKED EXAMPLE 1 · SETUP (ILLUSTRATIVE POPULATION)</a:t>
            </a:r>
            <a:endParaRPr sz="1200">
              <a:solidFill>
                <a:schemeClr val="dk1"/>
              </a:solidFill>
              <a:latin typeface="Calibri"/>
              <a:ea typeface="Calibri"/>
              <a:cs typeface="Calibri"/>
              <a:sym typeface="Calibri"/>
            </a:endParaRPr>
          </a:p>
        </p:txBody>
      </p:sp>
      <p:sp>
        <p:nvSpPr>
          <p:cNvPr id="291" name="Google Shape;291;p15"/>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Worked Example: Age-Specific Fertility Rates</a:t>
            </a:r>
            <a:endParaRPr sz="3000">
              <a:solidFill>
                <a:schemeClr val="dk1"/>
              </a:solidFill>
              <a:latin typeface="Calibri"/>
              <a:ea typeface="Calibri"/>
              <a:cs typeface="Calibri"/>
              <a:sym typeface="Calibri"/>
            </a:endParaRPr>
          </a:p>
        </p:txBody>
      </p:sp>
      <p:graphicFrame>
        <p:nvGraphicFramePr>
          <p:cNvPr id="292" name="Google Shape;292;p15"/>
          <p:cNvGraphicFramePr/>
          <p:nvPr/>
        </p:nvGraphicFramePr>
        <p:xfrm>
          <a:off x="548640" y="1554480"/>
          <a:ext cx="3000000" cy="3000000"/>
        </p:xfrm>
        <a:graphic>
          <a:graphicData uri="http://schemas.openxmlformats.org/drawingml/2006/table">
            <a:tbl>
              <a:tblPr>
                <a:noFill/>
                <a:tableStyleId>{1998C3F9-B6B7-4C79-884C-0743C8849AFD}</a:tableStyleId>
              </a:tblPr>
              <a:tblGrid>
                <a:gridCol w="2766050"/>
                <a:gridCol w="2766050"/>
                <a:gridCol w="2766050"/>
                <a:gridCol w="2766050"/>
              </a:tblGrid>
              <a:tr h="40005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Age group</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6D2E46"/>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Births to women in group</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6D2E46"/>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Women in group (mid-year)</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6D2E46"/>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ₙFx (per 1,000)</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6D2E46"/>
                    </a:solidFill>
                  </a:tcPr>
                </a:tc>
              </a:tr>
              <a:tr h="400050">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15–19</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960</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120,000</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8.0</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r>
              <a:tr h="400050">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20–24</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5,175</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115,000</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45.0</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r>
              <a:tr h="400050">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25–29</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8,970</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115,000</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78.0</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r>
              <a:tr h="400050">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30–34</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6,944</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112,000</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62.0</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r>
              <a:tr h="400050">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35–39</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3,024</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108,000</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28.0</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r>
              <a:tr h="400050">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40–44</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700</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100,000</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7.0</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r>
              <a:tr h="400050">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45–49</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46</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92,000</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0.5</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r>
            </a:tbl>
          </a:graphicData>
        </a:graphic>
      </p:graphicFrame>
      <p:sp>
        <p:nvSpPr>
          <p:cNvPr id="293" name="Google Shape;293;p15"/>
          <p:cNvSpPr txBox="1"/>
          <p:nvPr/>
        </p:nvSpPr>
        <p:spPr>
          <a:xfrm>
            <a:off x="548640" y="4983480"/>
            <a:ext cx="110642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1250"/>
              <a:buFont typeface="Calibri"/>
              <a:buNone/>
            </a:pPr>
            <a:r>
              <a:rPr i="1" lang="en-US" sz="1250">
                <a:solidFill>
                  <a:srgbClr val="6B6068"/>
                </a:solidFill>
                <a:latin typeface="Calibri"/>
                <a:ea typeface="Calibri"/>
                <a:cs typeface="Calibri"/>
                <a:sym typeface="Calibri"/>
              </a:rPr>
              <a:t>Illustrative population, loosely modeled on a low-fertility Southeast Asian setting. ₙFx = (births/women) × 1,000, e.g. age 20–24: (5,175/115,000)×1,000 = 45.0.</a:t>
            </a:r>
            <a:endParaRPr sz="1250">
              <a:solidFill>
                <a:schemeClr val="dk1"/>
              </a:solidFill>
              <a:latin typeface="Calibri"/>
              <a:ea typeface="Calibri"/>
              <a:cs typeface="Calibri"/>
              <a:sym typeface="Calibri"/>
            </a:endParaRPr>
          </a:p>
        </p:txBody>
      </p:sp>
      <p:sp>
        <p:nvSpPr>
          <p:cNvPr id="294" name="Google Shape;294;p15"/>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9" name="Shape 299"/>
        <p:cNvGrpSpPr/>
        <p:nvPr/>
      </p:nvGrpSpPr>
      <p:grpSpPr>
        <a:xfrm>
          <a:off x="0" y="0"/>
          <a:ext cx="0" cy="0"/>
          <a:chOff x="0" y="0"/>
          <a:chExt cx="0" cy="0"/>
        </a:xfrm>
      </p:grpSpPr>
      <p:sp>
        <p:nvSpPr>
          <p:cNvPr id="300" name="Google Shape;300;p16"/>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WORKED EXAMPLE 1 · CALCULATION</a:t>
            </a:r>
            <a:endParaRPr sz="1200">
              <a:solidFill>
                <a:schemeClr val="dk1"/>
              </a:solidFill>
              <a:latin typeface="Calibri"/>
              <a:ea typeface="Calibri"/>
              <a:cs typeface="Calibri"/>
              <a:sym typeface="Calibri"/>
            </a:endParaRPr>
          </a:p>
        </p:txBody>
      </p:sp>
      <p:sp>
        <p:nvSpPr>
          <p:cNvPr id="301" name="Google Shape;301;p16"/>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Worked Example: Computing the Total Fertility Rate</a:t>
            </a:r>
            <a:endParaRPr sz="3000">
              <a:solidFill>
                <a:schemeClr val="dk1"/>
              </a:solidFill>
              <a:latin typeface="Calibri"/>
              <a:ea typeface="Calibri"/>
              <a:cs typeface="Calibri"/>
              <a:sym typeface="Calibri"/>
            </a:endParaRPr>
          </a:p>
        </p:txBody>
      </p:sp>
      <p:graphicFrame>
        <p:nvGraphicFramePr>
          <p:cNvPr id="302" name="Google Shape;302;p16"/>
          <p:cNvGraphicFramePr/>
          <p:nvPr/>
        </p:nvGraphicFramePr>
        <p:xfrm>
          <a:off x="548640" y="1554480"/>
          <a:ext cx="3000000" cy="3000000"/>
        </p:xfrm>
        <a:graphic>
          <a:graphicData uri="http://schemas.openxmlformats.org/drawingml/2006/table">
            <a:tbl>
              <a:tblPr>
                <a:noFill/>
                <a:tableStyleId>{1998C3F9-B6B7-4C79-884C-0743C8849AFD}</a:tableStyleId>
              </a:tblPr>
              <a:tblGrid>
                <a:gridCol w="4114800"/>
                <a:gridCol w="3200400"/>
                <a:gridCol w="3749050"/>
              </a:tblGrid>
              <a:tr h="40005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Age group</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6D2E46"/>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ₙFx</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6D2E46"/>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Contribution = (ₙFx × 5) / 1,000</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6D2E46"/>
                    </a:solidFill>
                  </a:tcPr>
                </a:tc>
              </a:tr>
              <a:tr h="400050">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15–19</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8.0</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0.0400</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r>
              <a:tr h="400050">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20–24</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45.0</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0.2250</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r>
              <a:tr h="400050">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25–29</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78.0</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0.3900</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r>
              <a:tr h="400050">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30–34</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62.0</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0.3100</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r>
              <a:tr h="400050">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35–39</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28.0</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0.1400</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r>
              <a:tr h="400050">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40–44</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7.0</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0.0350</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r>
              <a:tr h="400050">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45–49</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0.5</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0.0025</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r>
            </a:tbl>
          </a:graphicData>
        </a:graphic>
      </p:graphicFrame>
      <p:sp>
        <p:nvSpPr>
          <p:cNvPr id="303" name="Google Shape;303;p16"/>
          <p:cNvSpPr/>
          <p:nvPr/>
        </p:nvSpPr>
        <p:spPr>
          <a:xfrm>
            <a:off x="548640" y="4983480"/>
            <a:ext cx="11064240" cy="960120"/>
          </a:xfrm>
          <a:prstGeom prst="roundRect">
            <a:avLst>
              <a:gd fmla="val 7619" name="adj"/>
            </a:avLst>
          </a:prstGeom>
          <a:solidFill>
            <a:srgbClr val="2A1420"/>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6"/>
          <p:cNvSpPr txBox="1"/>
          <p:nvPr/>
        </p:nvSpPr>
        <p:spPr>
          <a:xfrm>
            <a:off x="777240" y="5120640"/>
            <a:ext cx="10607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A441"/>
              </a:buClr>
              <a:buSzPts val="1500"/>
              <a:buFont typeface="Courier New"/>
              <a:buNone/>
            </a:pPr>
            <a:r>
              <a:rPr b="1" lang="en-US" sz="1500">
                <a:solidFill>
                  <a:srgbClr val="D9A441"/>
                </a:solidFill>
                <a:latin typeface="Courier New"/>
                <a:ea typeface="Courier New"/>
                <a:cs typeface="Courier New"/>
                <a:sym typeface="Courier New"/>
              </a:rPr>
              <a:t>TFR = 5 × Σ(ₙFx)/1,000 = 5 × 228.5/1,000 = 1.14 children per woman</a:t>
            </a:r>
            <a:endParaRPr sz="1500">
              <a:solidFill>
                <a:schemeClr val="dk1"/>
              </a:solidFill>
              <a:latin typeface="Calibri"/>
              <a:ea typeface="Calibri"/>
              <a:cs typeface="Calibri"/>
              <a:sym typeface="Calibri"/>
            </a:endParaRPr>
          </a:p>
        </p:txBody>
      </p:sp>
      <p:sp>
        <p:nvSpPr>
          <p:cNvPr id="305" name="Google Shape;305;p16"/>
          <p:cNvSpPr txBox="1"/>
          <p:nvPr/>
        </p:nvSpPr>
        <p:spPr>
          <a:xfrm>
            <a:off x="777240" y="5486400"/>
            <a:ext cx="10607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EDE8"/>
              </a:buClr>
              <a:buSzPts val="1150"/>
              <a:buFont typeface="Calibri"/>
              <a:buNone/>
            </a:pPr>
            <a:r>
              <a:rPr lang="en-US" sz="1150">
                <a:solidFill>
                  <a:srgbClr val="F5EDE8"/>
                </a:solidFill>
                <a:latin typeface="Calibri"/>
                <a:ea typeface="Calibri"/>
                <a:cs typeface="Calibri"/>
                <a:sym typeface="Calibri"/>
              </a:rPr>
              <a:t>Well below the replacement level of 2.1 — consistent with the Thailand-like pattern in Slide 4.</a:t>
            </a:r>
            <a:endParaRPr sz="1150">
              <a:solidFill>
                <a:schemeClr val="dk1"/>
              </a:solidFill>
              <a:latin typeface="Calibri"/>
              <a:ea typeface="Calibri"/>
              <a:cs typeface="Calibri"/>
              <a:sym typeface="Calibri"/>
            </a:endParaRPr>
          </a:p>
        </p:txBody>
      </p:sp>
      <p:sp>
        <p:nvSpPr>
          <p:cNvPr id="306" name="Google Shape;306;p16"/>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1" name="Shape 311"/>
        <p:cNvGrpSpPr/>
        <p:nvPr/>
      </p:nvGrpSpPr>
      <p:grpSpPr>
        <a:xfrm>
          <a:off x="0" y="0"/>
          <a:ext cx="0" cy="0"/>
          <a:chOff x="0" y="0"/>
          <a:chExt cx="0" cy="0"/>
        </a:xfrm>
      </p:grpSpPr>
      <p:sp>
        <p:nvSpPr>
          <p:cNvPr id="312" name="Google Shape;312;p17"/>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WORKED EXAMPLE 1 · VISUALISATION</a:t>
            </a:r>
            <a:endParaRPr sz="1200">
              <a:solidFill>
                <a:schemeClr val="dk1"/>
              </a:solidFill>
              <a:latin typeface="Calibri"/>
              <a:ea typeface="Calibri"/>
              <a:cs typeface="Calibri"/>
              <a:sym typeface="Calibri"/>
            </a:endParaRPr>
          </a:p>
        </p:txBody>
      </p:sp>
      <p:sp>
        <p:nvSpPr>
          <p:cNvPr id="313" name="Google Shape;313;p17"/>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The Fertility Schedule: Where Childbearing Concentrates</a:t>
            </a:r>
            <a:endParaRPr sz="3000">
              <a:solidFill>
                <a:schemeClr val="dk1"/>
              </a:solidFill>
              <a:latin typeface="Calibri"/>
              <a:ea typeface="Calibri"/>
              <a:cs typeface="Calibri"/>
              <a:sym typeface="Calibri"/>
            </a:endParaRPr>
          </a:p>
        </p:txBody>
      </p:sp>
      <p:graphicFrame>
        <p:nvGraphicFramePr>
          <p:cNvPr id="314" name="Google Shape;314;p17"/>
          <p:cNvGraphicFramePr/>
          <p:nvPr/>
        </p:nvGraphicFramePr>
        <p:xfrm>
          <a:off x="548640" y="1554480"/>
          <a:ext cx="6675120" cy="4114800"/>
        </p:xfrm>
        <a:graphic>
          <a:graphicData uri="http://schemas.openxmlformats.org/drawingml/2006/chart">
            <c:chart r:id="rId3"/>
          </a:graphicData>
        </a:graphic>
      </p:graphicFrame>
      <p:sp>
        <p:nvSpPr>
          <p:cNvPr id="315" name="Google Shape;315;p17"/>
          <p:cNvSpPr txBox="1"/>
          <p:nvPr/>
        </p:nvSpPr>
        <p:spPr>
          <a:xfrm>
            <a:off x="7452360" y="1600200"/>
            <a:ext cx="42062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300"/>
              <a:buFont typeface="Calibri"/>
              <a:buNone/>
            </a:pPr>
            <a:r>
              <a:rPr b="1" lang="en-US" sz="1300">
                <a:solidFill>
                  <a:srgbClr val="6D2E46"/>
                </a:solidFill>
                <a:latin typeface="Calibri"/>
                <a:ea typeface="Calibri"/>
                <a:cs typeface="Calibri"/>
                <a:sym typeface="Calibri"/>
              </a:rPr>
              <a:t>Peak at 25–29</a:t>
            </a:r>
            <a:endParaRPr sz="1300">
              <a:solidFill>
                <a:schemeClr val="dk1"/>
              </a:solidFill>
              <a:latin typeface="Calibri"/>
              <a:ea typeface="Calibri"/>
              <a:cs typeface="Calibri"/>
              <a:sym typeface="Calibri"/>
            </a:endParaRPr>
          </a:p>
        </p:txBody>
      </p:sp>
      <p:sp>
        <p:nvSpPr>
          <p:cNvPr id="316" name="Google Shape;316;p17"/>
          <p:cNvSpPr txBox="1"/>
          <p:nvPr/>
        </p:nvSpPr>
        <p:spPr>
          <a:xfrm>
            <a:off x="7452360" y="1911096"/>
            <a:ext cx="420624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130"/>
              <a:buFont typeface="Calibri"/>
              <a:buNone/>
            </a:pPr>
            <a:r>
              <a:rPr lang="en-US" sz="1130">
                <a:solidFill>
                  <a:srgbClr val="2D2A2C"/>
                </a:solidFill>
                <a:latin typeface="Calibri"/>
                <a:ea typeface="Calibri"/>
                <a:cs typeface="Calibri"/>
                <a:sym typeface="Calibri"/>
              </a:rPr>
              <a:t>Fertility is concentrated in the mid-to-late twenties in this schedule — the mode of the age pattern.</a:t>
            </a:r>
            <a:endParaRPr sz="1130">
              <a:solidFill>
                <a:schemeClr val="dk1"/>
              </a:solidFill>
              <a:latin typeface="Calibri"/>
              <a:ea typeface="Calibri"/>
              <a:cs typeface="Calibri"/>
              <a:sym typeface="Calibri"/>
            </a:endParaRPr>
          </a:p>
        </p:txBody>
      </p:sp>
      <p:sp>
        <p:nvSpPr>
          <p:cNvPr id="317" name="Google Shape;317;p17"/>
          <p:cNvSpPr txBox="1"/>
          <p:nvPr/>
        </p:nvSpPr>
        <p:spPr>
          <a:xfrm>
            <a:off x="7452360" y="2971800"/>
            <a:ext cx="42062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300"/>
              <a:buFont typeface="Calibri"/>
              <a:buNone/>
            </a:pPr>
            <a:r>
              <a:rPr b="1" lang="en-US" sz="1300">
                <a:solidFill>
                  <a:srgbClr val="6D2E46"/>
                </a:solidFill>
                <a:latin typeface="Calibri"/>
                <a:ea typeface="Calibri"/>
                <a:cs typeface="Calibri"/>
                <a:sym typeface="Calibri"/>
              </a:rPr>
              <a:t>Right-skewed decline</a:t>
            </a:r>
            <a:endParaRPr sz="1300">
              <a:solidFill>
                <a:schemeClr val="dk1"/>
              </a:solidFill>
              <a:latin typeface="Calibri"/>
              <a:ea typeface="Calibri"/>
              <a:cs typeface="Calibri"/>
              <a:sym typeface="Calibri"/>
            </a:endParaRPr>
          </a:p>
        </p:txBody>
      </p:sp>
      <p:sp>
        <p:nvSpPr>
          <p:cNvPr id="318" name="Google Shape;318;p17"/>
          <p:cNvSpPr txBox="1"/>
          <p:nvPr/>
        </p:nvSpPr>
        <p:spPr>
          <a:xfrm>
            <a:off x="7452360" y="3282696"/>
            <a:ext cx="420624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130"/>
              <a:buFont typeface="Calibri"/>
              <a:buNone/>
            </a:pPr>
            <a:r>
              <a:rPr lang="en-US" sz="1130">
                <a:solidFill>
                  <a:srgbClr val="2D2A2C"/>
                </a:solidFill>
                <a:latin typeface="Calibri"/>
                <a:ea typeface="Calibri"/>
                <a:cs typeface="Calibri"/>
                <a:sym typeface="Calibri"/>
              </a:rPr>
              <a:t>The fall-off after age 30 is steady but slower than the rise before 25.</a:t>
            </a:r>
            <a:endParaRPr sz="1130">
              <a:solidFill>
                <a:schemeClr val="dk1"/>
              </a:solidFill>
              <a:latin typeface="Calibri"/>
              <a:ea typeface="Calibri"/>
              <a:cs typeface="Calibri"/>
              <a:sym typeface="Calibri"/>
            </a:endParaRPr>
          </a:p>
        </p:txBody>
      </p:sp>
      <p:sp>
        <p:nvSpPr>
          <p:cNvPr id="319" name="Google Shape;319;p17"/>
          <p:cNvSpPr txBox="1"/>
          <p:nvPr/>
        </p:nvSpPr>
        <p:spPr>
          <a:xfrm>
            <a:off x="7452360" y="4343400"/>
            <a:ext cx="42062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300"/>
              <a:buFont typeface="Calibri"/>
              <a:buNone/>
            </a:pPr>
            <a:r>
              <a:rPr b="1" lang="en-US" sz="1300">
                <a:solidFill>
                  <a:srgbClr val="6D2E46"/>
                </a:solidFill>
                <a:latin typeface="Calibri"/>
                <a:ea typeface="Calibri"/>
                <a:cs typeface="Calibri"/>
                <a:sym typeface="Calibri"/>
              </a:rPr>
              <a:t>Policy relevance</a:t>
            </a:r>
            <a:endParaRPr sz="1300">
              <a:solidFill>
                <a:schemeClr val="dk1"/>
              </a:solidFill>
              <a:latin typeface="Calibri"/>
              <a:ea typeface="Calibri"/>
              <a:cs typeface="Calibri"/>
              <a:sym typeface="Calibri"/>
            </a:endParaRPr>
          </a:p>
        </p:txBody>
      </p:sp>
      <p:sp>
        <p:nvSpPr>
          <p:cNvPr id="320" name="Google Shape;320;p17"/>
          <p:cNvSpPr txBox="1"/>
          <p:nvPr/>
        </p:nvSpPr>
        <p:spPr>
          <a:xfrm>
            <a:off x="7452360" y="4654296"/>
            <a:ext cx="420624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130"/>
              <a:buFont typeface="Calibri"/>
              <a:buNone/>
            </a:pPr>
            <a:r>
              <a:rPr lang="en-US" sz="1130">
                <a:solidFill>
                  <a:srgbClr val="2D2A2C"/>
                </a:solidFill>
                <a:latin typeface="Calibri"/>
                <a:ea typeface="Calibri"/>
                <a:cs typeface="Calibri"/>
                <a:sym typeface="Calibri"/>
              </a:rPr>
              <a:t>A schedule shifting rightward over time (peak moving toward 30–34) is the signature of fertility postponement, seen across urban East and Southeast Asia.</a:t>
            </a:r>
            <a:endParaRPr sz="1130">
              <a:solidFill>
                <a:schemeClr val="dk1"/>
              </a:solidFill>
              <a:latin typeface="Calibri"/>
              <a:ea typeface="Calibri"/>
              <a:cs typeface="Calibri"/>
              <a:sym typeface="Calibri"/>
            </a:endParaRPr>
          </a:p>
        </p:txBody>
      </p:sp>
      <p:sp>
        <p:nvSpPr>
          <p:cNvPr id="321" name="Google Shape;321;p17"/>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6" name="Shape 326"/>
        <p:cNvGrpSpPr/>
        <p:nvPr/>
      </p:nvGrpSpPr>
      <p:grpSpPr>
        <a:xfrm>
          <a:off x="0" y="0"/>
          <a:ext cx="0" cy="0"/>
          <a:chOff x="0" y="0"/>
          <a:chExt cx="0" cy="0"/>
        </a:xfrm>
      </p:grpSpPr>
      <p:sp>
        <p:nvSpPr>
          <p:cNvPr id="327" name="Google Shape;327;p18"/>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WORKED EXAMPLE 2 · A SECOND, REAL DATASET</a:t>
            </a:r>
            <a:endParaRPr sz="1200">
              <a:solidFill>
                <a:schemeClr val="dk1"/>
              </a:solidFill>
              <a:latin typeface="Calibri"/>
              <a:ea typeface="Calibri"/>
              <a:cs typeface="Calibri"/>
              <a:sym typeface="Calibri"/>
            </a:endParaRPr>
          </a:p>
        </p:txBody>
      </p:sp>
      <p:sp>
        <p:nvSpPr>
          <p:cNvPr id="328" name="Google Shape;328;p18"/>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A Real ASFR Schedule: The Philippines, 2022</a:t>
            </a:r>
            <a:endParaRPr sz="3000">
              <a:solidFill>
                <a:schemeClr val="dk1"/>
              </a:solidFill>
              <a:latin typeface="Calibri"/>
              <a:ea typeface="Calibri"/>
              <a:cs typeface="Calibri"/>
              <a:sym typeface="Calibri"/>
            </a:endParaRPr>
          </a:p>
        </p:txBody>
      </p:sp>
      <p:sp>
        <p:nvSpPr>
          <p:cNvPr id="329" name="Google Shape;329;p18"/>
          <p:cNvSpPr txBox="1"/>
          <p:nvPr/>
        </p:nvSpPr>
        <p:spPr>
          <a:xfrm>
            <a:off x="548640" y="1600200"/>
            <a:ext cx="110642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450"/>
              <a:buFont typeface="Calibri"/>
              <a:buNone/>
            </a:pPr>
            <a:r>
              <a:rPr lang="en-US" sz="1450">
                <a:solidFill>
                  <a:srgbClr val="2D2A2C"/>
                </a:solidFill>
                <a:latin typeface="Calibri"/>
                <a:ea typeface="Calibri"/>
                <a:cs typeface="Calibri"/>
                <a:sym typeface="Calibri"/>
              </a:rPr>
              <a:t>Everything so far used an illustrative population. Now we compute the same measures from real, published survey data — the 2022 Philippine National Demographic and Health Survey (NDHS) — and check our arithmetic against the officially published TFR.</a:t>
            </a:r>
            <a:endParaRPr sz="1450">
              <a:solidFill>
                <a:schemeClr val="dk1"/>
              </a:solidFill>
              <a:latin typeface="Calibri"/>
              <a:ea typeface="Calibri"/>
              <a:cs typeface="Calibri"/>
              <a:sym typeface="Calibri"/>
            </a:endParaRPr>
          </a:p>
        </p:txBody>
      </p:sp>
      <p:graphicFrame>
        <p:nvGraphicFramePr>
          <p:cNvPr id="330" name="Google Shape;330;p18"/>
          <p:cNvGraphicFramePr/>
          <p:nvPr/>
        </p:nvGraphicFramePr>
        <p:xfrm>
          <a:off x="548640" y="2514600"/>
          <a:ext cx="3000000" cy="3000000"/>
        </p:xfrm>
        <a:graphic>
          <a:graphicData uri="http://schemas.openxmlformats.org/drawingml/2006/table">
            <a:tbl>
              <a:tblPr>
                <a:noFill/>
                <a:tableStyleId>{1998C3F9-B6B7-4C79-884C-0743C8849AFD}</a:tableStyleId>
              </a:tblPr>
              <a:tblGrid>
                <a:gridCol w="5532125"/>
                <a:gridCol w="5532125"/>
              </a:tblGrid>
              <a:tr h="411475">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Age group</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6D2E46"/>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ASFR (births per 1,000 women), 2022 NDHS</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6D2E46"/>
                    </a:solidFill>
                  </a:tcPr>
                </a:tc>
              </a:tr>
              <a:tr h="411475">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15–19</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25</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r>
              <a:tr h="411475">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20–24</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84</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r>
              <a:tr h="411475">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25–29</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105</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r>
              <a:tr h="411475">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30–34</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95</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r>
              <a:tr h="411475">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35–39</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58</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r>
              <a:tr h="411475">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40–44</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21</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r>
              <a:tr h="411475">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45–49</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2</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r>
            </a:tbl>
          </a:graphicData>
        </a:graphic>
      </p:graphicFrame>
      <p:sp>
        <p:nvSpPr>
          <p:cNvPr id="331" name="Google Shape;331;p18"/>
          <p:cNvSpPr txBox="1"/>
          <p:nvPr/>
        </p:nvSpPr>
        <p:spPr>
          <a:xfrm>
            <a:off x="548640" y="6035040"/>
            <a:ext cx="110642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50"/>
              <a:buFont typeface="Calibri"/>
              <a:buNone/>
            </a:pPr>
            <a:r>
              <a:rPr i="1" lang="en-US" sz="950">
                <a:solidFill>
                  <a:srgbClr val="6B6068"/>
                </a:solidFill>
                <a:latin typeface="Calibri"/>
                <a:ea typeface="Calibri"/>
                <a:cs typeface="Calibri"/>
                <a:sym typeface="Calibri"/>
              </a:rPr>
              <a:t>Source: Philippine Statistics Authority. (2022, November 13). Total fertility rate declined from 2.7 in 2017 to 1.9 in 2022 [Preliminary results, 2022 NDHS]. </a:t>
            </a:r>
            <a:r>
              <a:rPr i="1" lang="en-US" sz="950" u="sng">
                <a:solidFill>
                  <a:srgbClr val="6B6068"/>
                </a:solidFill>
                <a:latin typeface="Calibri"/>
                <a:ea typeface="Calibri"/>
                <a:cs typeface="Calibri"/>
                <a:sym typeface="Calibri"/>
                <a:hlinkClick r:id="rId3">
                  <a:extLst>
                    <a:ext uri="{A12FA001-AC4F-418D-AE19-62706E023703}">
                      <ahyp:hlinkClr val="tx"/>
                    </a:ext>
                  </a:extLst>
                </a:hlinkClick>
              </a:rPr>
              <a:t>https://psa.gov.ph/content/total-fertility-rate-declined-27-2017-19-2022</a:t>
            </a:r>
            <a:r>
              <a:rPr i="1" lang="en-US" sz="950">
                <a:solidFill>
                  <a:srgbClr val="6B6068"/>
                </a:solidFill>
                <a:latin typeface="Calibri"/>
                <a:ea typeface="Calibri"/>
                <a:cs typeface="Calibri"/>
                <a:sym typeface="Calibri"/>
              </a:rPr>
              <a:t> </a:t>
            </a:r>
            <a:endParaRPr sz="950">
              <a:solidFill>
                <a:schemeClr val="dk1"/>
              </a:solidFill>
              <a:latin typeface="Calibri"/>
              <a:ea typeface="Calibri"/>
              <a:cs typeface="Calibri"/>
              <a:sym typeface="Calibri"/>
            </a:endParaRPr>
          </a:p>
        </p:txBody>
      </p:sp>
      <p:sp>
        <p:nvSpPr>
          <p:cNvPr id="332" name="Google Shape;332;p18"/>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7" name="Shape 337"/>
        <p:cNvGrpSpPr/>
        <p:nvPr/>
      </p:nvGrpSpPr>
      <p:grpSpPr>
        <a:xfrm>
          <a:off x="0" y="0"/>
          <a:ext cx="0" cy="0"/>
          <a:chOff x="0" y="0"/>
          <a:chExt cx="0" cy="0"/>
        </a:xfrm>
      </p:grpSpPr>
      <p:sp>
        <p:nvSpPr>
          <p:cNvPr id="338" name="Google Shape;338;p19"/>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WORKED EXAMPLE 2 · CALCULATION</a:t>
            </a:r>
            <a:endParaRPr sz="1200">
              <a:solidFill>
                <a:schemeClr val="dk1"/>
              </a:solidFill>
              <a:latin typeface="Calibri"/>
              <a:ea typeface="Calibri"/>
              <a:cs typeface="Calibri"/>
              <a:sym typeface="Calibri"/>
            </a:endParaRPr>
          </a:p>
        </p:txBody>
      </p:sp>
      <p:sp>
        <p:nvSpPr>
          <p:cNvPr id="339" name="Google Shape;339;p19"/>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Summing the Philippines' ASFR Schedule to TFR</a:t>
            </a:r>
            <a:endParaRPr sz="3000">
              <a:solidFill>
                <a:schemeClr val="dk1"/>
              </a:solidFill>
              <a:latin typeface="Calibri"/>
              <a:ea typeface="Calibri"/>
              <a:cs typeface="Calibri"/>
              <a:sym typeface="Calibri"/>
            </a:endParaRPr>
          </a:p>
        </p:txBody>
      </p:sp>
      <p:graphicFrame>
        <p:nvGraphicFramePr>
          <p:cNvPr id="340" name="Google Shape;340;p19"/>
          <p:cNvGraphicFramePr/>
          <p:nvPr/>
        </p:nvGraphicFramePr>
        <p:xfrm>
          <a:off x="548640" y="1554480"/>
          <a:ext cx="3000000" cy="3000000"/>
        </p:xfrm>
        <a:graphic>
          <a:graphicData uri="http://schemas.openxmlformats.org/drawingml/2006/table">
            <a:tbl>
              <a:tblPr>
                <a:noFill/>
                <a:tableStyleId>{1998C3F9-B6B7-4C79-884C-0743C8849AFD}</a:tableStyleId>
              </a:tblPr>
              <a:tblGrid>
                <a:gridCol w="4114800"/>
                <a:gridCol w="3200400"/>
                <a:gridCol w="3749050"/>
              </a:tblGrid>
              <a:tr h="405775">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Age group</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6D2E46"/>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ASFR</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6D2E46"/>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Contribution = (ASFR × 5)/1,000</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6D2E46"/>
                    </a:solidFill>
                  </a:tcPr>
                </a:tc>
              </a:tr>
              <a:tr h="405775">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15–19</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25</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0.125</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r>
              <a:tr h="405775">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20–24</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84</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0.420</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r>
              <a:tr h="405775">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25–29</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105</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0.525</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r>
              <a:tr h="405775">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30–34</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95</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0.475</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r>
              <a:tr h="405775">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35–39</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58</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0.290</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r>
              <a:tr h="405775">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40–44</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21</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0.105</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r>
              <a:tr h="405775">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45–49</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2</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0.010</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r>
            </a:tbl>
          </a:graphicData>
        </a:graphic>
      </p:graphicFrame>
      <p:sp>
        <p:nvSpPr>
          <p:cNvPr id="341" name="Google Shape;341;p19"/>
          <p:cNvSpPr/>
          <p:nvPr/>
        </p:nvSpPr>
        <p:spPr>
          <a:xfrm>
            <a:off x="548640" y="4983480"/>
            <a:ext cx="11064240" cy="1005840"/>
          </a:xfrm>
          <a:prstGeom prst="roundRect">
            <a:avLst>
              <a:gd fmla="val 7273" name="adj"/>
            </a:avLst>
          </a:prstGeom>
          <a:solidFill>
            <a:srgbClr val="2A1420"/>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9"/>
          <p:cNvSpPr txBox="1"/>
          <p:nvPr/>
        </p:nvSpPr>
        <p:spPr>
          <a:xfrm>
            <a:off x="777240" y="5102352"/>
            <a:ext cx="106070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A441"/>
              </a:buClr>
              <a:buSzPts val="1450"/>
              <a:buFont typeface="Courier New"/>
              <a:buNone/>
            </a:pPr>
            <a:r>
              <a:rPr b="1" lang="en-US" sz="1450">
                <a:solidFill>
                  <a:srgbClr val="D9A441"/>
                </a:solidFill>
                <a:latin typeface="Courier New"/>
                <a:ea typeface="Courier New"/>
                <a:cs typeface="Courier New"/>
                <a:sym typeface="Courier New"/>
              </a:rPr>
              <a:t>Computed TFR = 5 × Σ(ASFR)/1,000 = 5 × 390/1,000 = 1.95 ≈ 1.9 children per woman</a:t>
            </a:r>
            <a:endParaRPr sz="1450">
              <a:solidFill>
                <a:schemeClr val="dk1"/>
              </a:solidFill>
              <a:latin typeface="Calibri"/>
              <a:ea typeface="Calibri"/>
              <a:cs typeface="Calibri"/>
              <a:sym typeface="Calibri"/>
            </a:endParaRPr>
          </a:p>
        </p:txBody>
      </p:sp>
      <p:sp>
        <p:nvSpPr>
          <p:cNvPr id="343" name="Google Shape;343;p19"/>
          <p:cNvSpPr txBox="1"/>
          <p:nvPr/>
        </p:nvSpPr>
        <p:spPr>
          <a:xfrm>
            <a:off x="777240" y="5486400"/>
            <a:ext cx="106070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EDE8"/>
              </a:buClr>
              <a:buSzPts val="1100"/>
              <a:buFont typeface="Calibri"/>
              <a:buNone/>
            </a:pPr>
            <a:r>
              <a:rPr lang="en-US" sz="1100">
                <a:solidFill>
                  <a:srgbClr val="F5EDE8"/>
                </a:solidFill>
                <a:latin typeface="Calibri"/>
                <a:ea typeface="Calibri"/>
                <a:cs typeface="Calibri"/>
                <a:sym typeface="Calibri"/>
              </a:rPr>
              <a:t>This matches the PSA's officially published 2022 NDHS TFR of 1.9 almost exactly (the small gap is rounding in the published per-1,000 rates) — a genuine consistency check on the ASFR-to-TFR method.</a:t>
            </a:r>
            <a:endParaRPr sz="1100">
              <a:solidFill>
                <a:schemeClr val="dk1"/>
              </a:solidFill>
              <a:latin typeface="Calibri"/>
              <a:ea typeface="Calibri"/>
              <a:cs typeface="Calibri"/>
              <a:sym typeface="Calibri"/>
            </a:endParaRPr>
          </a:p>
        </p:txBody>
      </p:sp>
      <p:sp>
        <p:nvSpPr>
          <p:cNvPr id="344" name="Google Shape;344;p19"/>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9" name="Shape 349"/>
        <p:cNvGrpSpPr/>
        <p:nvPr/>
      </p:nvGrpSpPr>
      <p:grpSpPr>
        <a:xfrm>
          <a:off x="0" y="0"/>
          <a:ext cx="0" cy="0"/>
          <a:chOff x="0" y="0"/>
          <a:chExt cx="0" cy="0"/>
        </a:xfrm>
      </p:grpSpPr>
      <p:sp>
        <p:nvSpPr>
          <p:cNvPr id="350" name="Google Shape;350;p20"/>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WORKED EXAMPLE 2 · INTERPRETATION</a:t>
            </a:r>
            <a:endParaRPr sz="1200">
              <a:solidFill>
                <a:schemeClr val="dk1"/>
              </a:solidFill>
              <a:latin typeface="Calibri"/>
              <a:ea typeface="Calibri"/>
              <a:cs typeface="Calibri"/>
              <a:sym typeface="Calibri"/>
            </a:endParaRPr>
          </a:p>
        </p:txBody>
      </p:sp>
      <p:sp>
        <p:nvSpPr>
          <p:cNvPr id="351" name="Google Shape;351;p20"/>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Comparing Two Real Fertility Schedules: Thailand vs. the Philippines</a:t>
            </a:r>
            <a:endParaRPr sz="3000">
              <a:solidFill>
                <a:schemeClr val="dk1"/>
              </a:solidFill>
              <a:latin typeface="Calibri"/>
              <a:ea typeface="Calibri"/>
              <a:cs typeface="Calibri"/>
              <a:sym typeface="Calibri"/>
            </a:endParaRPr>
          </a:p>
        </p:txBody>
      </p:sp>
      <p:graphicFrame>
        <p:nvGraphicFramePr>
          <p:cNvPr id="352" name="Google Shape;352;p20"/>
          <p:cNvGraphicFramePr/>
          <p:nvPr/>
        </p:nvGraphicFramePr>
        <p:xfrm>
          <a:off x="548640" y="1554480"/>
          <a:ext cx="6858000" cy="3977640"/>
        </p:xfrm>
        <a:graphic>
          <a:graphicData uri="http://schemas.openxmlformats.org/drawingml/2006/chart">
            <c:chart r:id="rId3"/>
          </a:graphicData>
        </a:graphic>
      </p:graphicFrame>
      <p:sp>
        <p:nvSpPr>
          <p:cNvPr id="353" name="Google Shape;353;p20"/>
          <p:cNvSpPr txBox="1"/>
          <p:nvPr/>
        </p:nvSpPr>
        <p:spPr>
          <a:xfrm>
            <a:off x="7589520" y="1554480"/>
            <a:ext cx="40690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250"/>
              <a:buFont typeface="Calibri"/>
              <a:buNone/>
            </a:pPr>
            <a:r>
              <a:rPr b="1" lang="en-US" sz="1250">
                <a:solidFill>
                  <a:srgbClr val="6D2E46"/>
                </a:solidFill>
                <a:latin typeface="Calibri"/>
                <a:ea typeface="Calibri"/>
                <a:cs typeface="Calibri"/>
                <a:sym typeface="Calibri"/>
              </a:rPr>
              <a:t>Same peak age, very different level</a:t>
            </a:r>
            <a:endParaRPr sz="1250">
              <a:solidFill>
                <a:schemeClr val="dk1"/>
              </a:solidFill>
              <a:latin typeface="Calibri"/>
              <a:ea typeface="Calibri"/>
              <a:cs typeface="Calibri"/>
              <a:sym typeface="Calibri"/>
            </a:endParaRPr>
          </a:p>
        </p:txBody>
      </p:sp>
      <p:sp>
        <p:nvSpPr>
          <p:cNvPr id="354" name="Google Shape;354;p20"/>
          <p:cNvSpPr txBox="1"/>
          <p:nvPr/>
        </p:nvSpPr>
        <p:spPr>
          <a:xfrm>
            <a:off x="7589520" y="1865376"/>
            <a:ext cx="406908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100"/>
              <a:buFont typeface="Calibri"/>
              <a:buNone/>
            </a:pPr>
            <a:r>
              <a:rPr lang="en-US" sz="1100">
                <a:solidFill>
                  <a:srgbClr val="2D2A2C"/>
                </a:solidFill>
                <a:latin typeface="Calibri"/>
                <a:ea typeface="Calibri"/>
                <a:cs typeface="Calibri"/>
                <a:sym typeface="Calibri"/>
              </a:rPr>
              <a:t>Both schedules peak at 25–29, but the Philippines' rate at every age is far higher — its TFR (1.9) is nearly double Thailand's (≈1.0).</a:t>
            </a:r>
            <a:endParaRPr sz="1100">
              <a:solidFill>
                <a:schemeClr val="dk1"/>
              </a:solidFill>
              <a:latin typeface="Calibri"/>
              <a:ea typeface="Calibri"/>
              <a:cs typeface="Calibri"/>
              <a:sym typeface="Calibri"/>
            </a:endParaRPr>
          </a:p>
        </p:txBody>
      </p:sp>
      <p:sp>
        <p:nvSpPr>
          <p:cNvPr id="355" name="Google Shape;355;p20"/>
          <p:cNvSpPr txBox="1"/>
          <p:nvPr/>
        </p:nvSpPr>
        <p:spPr>
          <a:xfrm>
            <a:off x="7589520" y="2926080"/>
            <a:ext cx="40690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250"/>
              <a:buFont typeface="Calibri"/>
              <a:buNone/>
            </a:pPr>
            <a:r>
              <a:rPr b="1" lang="en-US" sz="1250">
                <a:solidFill>
                  <a:srgbClr val="6D2E46"/>
                </a:solidFill>
                <a:latin typeface="Calibri"/>
                <a:ea typeface="Calibri"/>
                <a:cs typeface="Calibri"/>
                <a:sym typeface="Calibri"/>
              </a:rPr>
              <a:t>Mean age at childbearing</a:t>
            </a:r>
            <a:endParaRPr sz="1250">
              <a:solidFill>
                <a:schemeClr val="dk1"/>
              </a:solidFill>
              <a:latin typeface="Calibri"/>
              <a:ea typeface="Calibri"/>
              <a:cs typeface="Calibri"/>
              <a:sym typeface="Calibri"/>
            </a:endParaRPr>
          </a:p>
        </p:txBody>
      </p:sp>
      <p:sp>
        <p:nvSpPr>
          <p:cNvPr id="356" name="Google Shape;356;p20"/>
          <p:cNvSpPr txBox="1"/>
          <p:nvPr/>
        </p:nvSpPr>
        <p:spPr>
          <a:xfrm>
            <a:off x="7589520" y="3236976"/>
            <a:ext cx="406908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100"/>
              <a:buFont typeface="Calibri"/>
              <a:buNone/>
            </a:pPr>
            <a:r>
              <a:rPr lang="en-US" sz="1100">
                <a:solidFill>
                  <a:srgbClr val="2D2A2C"/>
                </a:solidFill>
                <a:latin typeface="Calibri"/>
                <a:ea typeface="Calibri"/>
                <a:cs typeface="Calibri"/>
                <a:sym typeface="Calibri"/>
              </a:rPr>
              <a:t>MAC = Σ(x_mid×ASFR)/Σ(ASFR) ≈ 29.4 years for the Philippines schedule — try computing this yourself as practice.</a:t>
            </a:r>
            <a:endParaRPr sz="1100">
              <a:solidFill>
                <a:schemeClr val="dk1"/>
              </a:solidFill>
              <a:latin typeface="Calibri"/>
              <a:ea typeface="Calibri"/>
              <a:cs typeface="Calibri"/>
              <a:sym typeface="Calibri"/>
            </a:endParaRPr>
          </a:p>
        </p:txBody>
      </p:sp>
      <p:sp>
        <p:nvSpPr>
          <p:cNvPr id="357" name="Google Shape;357;p20"/>
          <p:cNvSpPr txBox="1"/>
          <p:nvPr/>
        </p:nvSpPr>
        <p:spPr>
          <a:xfrm>
            <a:off x="7589520" y="4297680"/>
            <a:ext cx="40690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250"/>
              <a:buFont typeface="Calibri"/>
              <a:buNone/>
            </a:pPr>
            <a:r>
              <a:rPr b="1" lang="en-US" sz="1250">
                <a:solidFill>
                  <a:srgbClr val="6D2E46"/>
                </a:solidFill>
                <a:latin typeface="Calibri"/>
                <a:ea typeface="Calibri"/>
                <a:cs typeface="Calibri"/>
                <a:sym typeface="Calibri"/>
              </a:rPr>
              <a:t>Both below replacement</a:t>
            </a:r>
            <a:endParaRPr sz="1250">
              <a:solidFill>
                <a:schemeClr val="dk1"/>
              </a:solidFill>
              <a:latin typeface="Calibri"/>
              <a:ea typeface="Calibri"/>
              <a:cs typeface="Calibri"/>
              <a:sym typeface="Calibri"/>
            </a:endParaRPr>
          </a:p>
        </p:txBody>
      </p:sp>
      <p:sp>
        <p:nvSpPr>
          <p:cNvPr id="358" name="Google Shape;358;p20"/>
          <p:cNvSpPr txBox="1"/>
          <p:nvPr/>
        </p:nvSpPr>
        <p:spPr>
          <a:xfrm>
            <a:off x="7589520" y="4608576"/>
            <a:ext cx="406908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100"/>
              <a:buFont typeface="Calibri"/>
              <a:buNone/>
            </a:pPr>
            <a:r>
              <a:rPr lang="en-US" sz="1100">
                <a:solidFill>
                  <a:srgbClr val="2D2A2C"/>
                </a:solidFill>
                <a:latin typeface="Calibri"/>
                <a:ea typeface="Calibri"/>
                <a:cs typeface="Calibri"/>
                <a:sym typeface="Calibri"/>
              </a:rPr>
              <a:t>Even the higher of the two (1.9) sits below the 2.1 replacement benchmark — illustrating how widespread below-replacement fertility has become in Asia.</a:t>
            </a:r>
            <a:endParaRPr sz="1100">
              <a:solidFill>
                <a:schemeClr val="dk1"/>
              </a:solidFill>
              <a:latin typeface="Calibri"/>
              <a:ea typeface="Calibri"/>
              <a:cs typeface="Calibri"/>
              <a:sym typeface="Calibri"/>
            </a:endParaRPr>
          </a:p>
        </p:txBody>
      </p:sp>
      <p:sp>
        <p:nvSpPr>
          <p:cNvPr id="359" name="Google Shape;359;p20"/>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4" name="Shape 364"/>
        <p:cNvGrpSpPr/>
        <p:nvPr/>
      </p:nvGrpSpPr>
      <p:grpSpPr>
        <a:xfrm>
          <a:off x="0" y="0"/>
          <a:ext cx="0" cy="0"/>
          <a:chOff x="0" y="0"/>
          <a:chExt cx="0" cy="0"/>
        </a:xfrm>
      </p:grpSpPr>
      <p:sp>
        <p:nvSpPr>
          <p:cNvPr id="365" name="Google Shape;365;p21"/>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MEASUREMENT SUMMARY</a:t>
            </a:r>
            <a:endParaRPr sz="1200">
              <a:solidFill>
                <a:schemeClr val="dk1"/>
              </a:solidFill>
              <a:latin typeface="Calibri"/>
              <a:ea typeface="Calibri"/>
              <a:cs typeface="Calibri"/>
              <a:sym typeface="Calibri"/>
            </a:endParaRPr>
          </a:p>
        </p:txBody>
      </p:sp>
      <p:sp>
        <p:nvSpPr>
          <p:cNvPr id="366" name="Google Shape;366;p21"/>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Comparing the Three Core Fertility Rates</a:t>
            </a:r>
            <a:endParaRPr sz="3000">
              <a:solidFill>
                <a:schemeClr val="dk1"/>
              </a:solidFill>
              <a:latin typeface="Calibri"/>
              <a:ea typeface="Calibri"/>
              <a:cs typeface="Calibri"/>
              <a:sym typeface="Calibri"/>
            </a:endParaRPr>
          </a:p>
        </p:txBody>
      </p:sp>
      <p:graphicFrame>
        <p:nvGraphicFramePr>
          <p:cNvPr id="367" name="Google Shape;367;p21"/>
          <p:cNvGraphicFramePr/>
          <p:nvPr/>
        </p:nvGraphicFramePr>
        <p:xfrm>
          <a:off x="548640" y="1645920"/>
          <a:ext cx="3000000" cy="3000000"/>
        </p:xfrm>
        <a:graphic>
          <a:graphicData uri="http://schemas.openxmlformats.org/drawingml/2006/table">
            <a:tbl>
              <a:tblPr>
                <a:noFill/>
                <a:tableStyleId>{1998C3F9-B6B7-4C79-884C-0743C8849AFD}</a:tableStyleId>
              </a:tblPr>
              <a:tblGrid>
                <a:gridCol w="2560325"/>
                <a:gridCol w="2743200"/>
                <a:gridCol w="3017525"/>
                <a:gridCol w="2743200"/>
              </a:tblGrid>
              <a:tr h="59435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Measure</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6D2E46"/>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Denominator</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6D2E46"/>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Main strength</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6D2E46"/>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Main limitation</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6D2E46"/>
                    </a:solidFill>
                  </a:tcPr>
                </a:tc>
              </a:tr>
              <a:tr h="594350">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CBR</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Entire population</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Simple; needs only total births and population</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Highly sensitive to age-sex structure</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r>
              <a:tr h="594350">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GFR</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Women aged 15–49</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Removes distortion from men, children, elderly</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Still not age-specific — hides timing patterns</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r>
              <a:tr h="594350">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TFR (from ASFR)</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Women in each 5-yr age group</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Standardized; comparable across populations and time</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Period version subject to tempo distortion</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r>
            </a:tbl>
          </a:graphicData>
        </a:graphic>
      </p:graphicFrame>
      <p:sp>
        <p:nvSpPr>
          <p:cNvPr id="368" name="Google Shape;368;p21"/>
          <p:cNvSpPr/>
          <p:nvPr/>
        </p:nvSpPr>
        <p:spPr>
          <a:xfrm>
            <a:off x="548640" y="4297680"/>
            <a:ext cx="11064240" cy="1005840"/>
          </a:xfrm>
          <a:prstGeom prst="roundRect">
            <a:avLst>
              <a:gd fmla="val 7273" name="adj"/>
            </a:avLst>
          </a:prstGeom>
          <a:solidFill>
            <a:srgbClr val="F1E4DE"/>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1"/>
          <p:cNvSpPr txBox="1"/>
          <p:nvPr/>
        </p:nvSpPr>
        <p:spPr>
          <a:xfrm>
            <a:off x="777240" y="4480560"/>
            <a:ext cx="106070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350"/>
              <a:buFont typeface="Calibri"/>
              <a:buNone/>
            </a:pPr>
            <a:r>
              <a:rPr lang="en-US" sz="1350">
                <a:solidFill>
                  <a:srgbClr val="2D2A2C"/>
                </a:solidFill>
                <a:latin typeface="Calibri"/>
                <a:ea typeface="Calibri"/>
                <a:cs typeface="Calibri"/>
                <a:sym typeface="Calibri"/>
              </a:rPr>
              <a:t>Rule of thumb: always prefer TFR for cross-country or cross-time comparison; use CBR only when only aggregate vital-registration totals are available.</a:t>
            </a:r>
            <a:endParaRPr sz="1350">
              <a:solidFill>
                <a:schemeClr val="dk1"/>
              </a:solidFill>
              <a:latin typeface="Calibri"/>
              <a:ea typeface="Calibri"/>
              <a:cs typeface="Calibri"/>
              <a:sym typeface="Calibri"/>
            </a:endParaRPr>
          </a:p>
        </p:txBody>
      </p:sp>
      <p:sp>
        <p:nvSpPr>
          <p:cNvPr id="370" name="Google Shape;370;p21"/>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
        <p:nvSpPr>
          <p:cNvPr id="371" name="Google Shape;371;p21"/>
          <p:cNvSpPr txBox="1"/>
          <p:nvPr/>
        </p:nvSpPr>
        <p:spPr>
          <a:xfrm>
            <a:off x="296984" y="5577840"/>
            <a:ext cx="12191695"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2000"/>
              <a:buFont typeface="Calibri"/>
              <a:buNone/>
            </a:pPr>
            <a:r>
              <a:rPr i="1" lang="en-US" sz="2000">
                <a:solidFill>
                  <a:schemeClr val="dk1"/>
                </a:solidFill>
                <a:highlight>
                  <a:srgbClr val="FFFF00"/>
                </a:highlight>
                <a:latin typeface="Calibri"/>
                <a:ea typeface="Calibri"/>
                <a:cs typeface="Calibri"/>
                <a:sym typeface="Calibri"/>
              </a:rPr>
              <a:t>The computational lab</a:t>
            </a:r>
            <a:endParaRPr sz="2000">
              <a:solidFill>
                <a:schemeClr val="dk1"/>
              </a:solidFill>
              <a:highlight>
                <a:srgbClr val="FFFF00"/>
              </a:highlight>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1420"/>
        </a:solidFill>
      </p:bgPr>
    </p:bg>
    <p:spTree>
      <p:nvGrpSpPr>
        <p:cNvPr id="376" name="Shape 376"/>
        <p:cNvGrpSpPr/>
        <p:nvPr/>
      </p:nvGrpSpPr>
      <p:grpSpPr>
        <a:xfrm>
          <a:off x="0" y="0"/>
          <a:ext cx="0" cy="0"/>
          <a:chOff x="0" y="0"/>
          <a:chExt cx="0" cy="0"/>
        </a:xfrm>
      </p:grpSpPr>
      <p:sp>
        <p:nvSpPr>
          <p:cNvPr id="377" name="Google Shape;377;p22"/>
          <p:cNvSpPr/>
          <p:nvPr/>
        </p:nvSpPr>
        <p:spPr>
          <a:xfrm>
            <a:off x="4480560" y="2011680"/>
            <a:ext cx="3200400" cy="3200400"/>
          </a:xfrm>
          <a:prstGeom prst="ellipse">
            <a:avLst/>
          </a:prstGeom>
          <a:solidFill>
            <a:srgbClr val="6D2E46">
              <a:alpha val="6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2"/>
          <p:cNvSpPr txBox="1"/>
          <p:nvPr/>
        </p:nvSpPr>
        <p:spPr>
          <a:xfrm>
            <a:off x="0" y="2651760"/>
            <a:ext cx="12191695"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400"/>
              <a:buFont typeface="Cambria"/>
              <a:buNone/>
            </a:pPr>
            <a:r>
              <a:rPr b="1" lang="en-US" sz="4400">
                <a:solidFill>
                  <a:srgbClr val="FFFFFF"/>
                </a:solidFill>
                <a:latin typeface="Cambria"/>
                <a:ea typeface="Cambria"/>
                <a:cs typeface="Cambria"/>
                <a:sym typeface="Cambria"/>
              </a:rPr>
              <a:t>SHORT BREAK</a:t>
            </a:r>
            <a:endParaRPr sz="4400">
              <a:solidFill>
                <a:schemeClr val="dk1"/>
              </a:solidFill>
              <a:latin typeface="Calibri"/>
              <a:ea typeface="Calibri"/>
              <a:cs typeface="Calibri"/>
              <a:sym typeface="Calibri"/>
            </a:endParaRPr>
          </a:p>
        </p:txBody>
      </p:sp>
      <p:sp>
        <p:nvSpPr>
          <p:cNvPr id="379" name="Google Shape;379;p22"/>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1420"/>
        </a:solidFill>
      </p:bgPr>
    </p:bg>
    <p:spTree>
      <p:nvGrpSpPr>
        <p:cNvPr id="384" name="Shape 384"/>
        <p:cNvGrpSpPr/>
        <p:nvPr/>
      </p:nvGrpSpPr>
      <p:grpSpPr>
        <a:xfrm>
          <a:off x="0" y="0"/>
          <a:ext cx="0" cy="0"/>
          <a:chOff x="0" y="0"/>
          <a:chExt cx="0" cy="0"/>
        </a:xfrm>
      </p:grpSpPr>
      <p:sp>
        <p:nvSpPr>
          <p:cNvPr id="385" name="Google Shape;385;p23"/>
          <p:cNvSpPr/>
          <p:nvPr/>
        </p:nvSpPr>
        <p:spPr>
          <a:xfrm>
            <a:off x="8778240" y="-2011680"/>
            <a:ext cx="5943600" cy="5943600"/>
          </a:xfrm>
          <a:prstGeom prst="ellipse">
            <a:avLst/>
          </a:prstGeom>
          <a:solidFill>
            <a:srgbClr val="6D2E46">
              <a:alpha val="5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3"/>
          <p:cNvSpPr/>
          <p:nvPr/>
        </p:nvSpPr>
        <p:spPr>
          <a:xfrm>
            <a:off x="-1554480" y="4297680"/>
            <a:ext cx="2194560" cy="2194560"/>
          </a:xfrm>
          <a:prstGeom prst="ellipse">
            <a:avLst/>
          </a:prstGeom>
          <a:solidFill>
            <a:srgbClr val="A26769">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3"/>
          <p:cNvSpPr txBox="1"/>
          <p:nvPr/>
        </p:nvSpPr>
        <p:spPr>
          <a:xfrm>
            <a:off x="822960" y="2331720"/>
            <a:ext cx="9144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A441"/>
              </a:buClr>
              <a:buSzPts val="1400"/>
              <a:buFont typeface="Calibri"/>
              <a:buNone/>
            </a:pPr>
            <a:r>
              <a:rPr b="1" lang="en-US" sz="1400">
                <a:solidFill>
                  <a:srgbClr val="D9A441"/>
                </a:solidFill>
                <a:latin typeface="Calibri"/>
                <a:ea typeface="Calibri"/>
                <a:cs typeface="Calibri"/>
                <a:sym typeface="Calibri"/>
              </a:rPr>
              <a:t>BLOCK 2</a:t>
            </a:r>
            <a:endParaRPr sz="1400">
              <a:solidFill>
                <a:schemeClr val="dk1"/>
              </a:solidFill>
              <a:latin typeface="Calibri"/>
              <a:ea typeface="Calibri"/>
              <a:cs typeface="Calibri"/>
              <a:sym typeface="Calibri"/>
            </a:endParaRPr>
          </a:p>
        </p:txBody>
      </p:sp>
      <p:sp>
        <p:nvSpPr>
          <p:cNvPr id="388" name="Google Shape;388;p23"/>
          <p:cNvSpPr txBox="1"/>
          <p:nvPr/>
        </p:nvSpPr>
        <p:spPr>
          <a:xfrm>
            <a:off x="822960" y="2743200"/>
            <a:ext cx="1024128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800"/>
              <a:buFont typeface="Cambria"/>
              <a:buNone/>
            </a:pPr>
            <a:r>
              <a:rPr b="1" lang="en-US" sz="3800">
                <a:solidFill>
                  <a:srgbClr val="FFFFFF"/>
                </a:solidFill>
                <a:latin typeface="Cambria"/>
                <a:ea typeface="Cambria"/>
                <a:cs typeface="Cambria"/>
                <a:sym typeface="Cambria"/>
              </a:rPr>
              <a:t>Theories of Fertility Transition</a:t>
            </a:r>
            <a:endParaRPr sz="3800">
              <a:solidFill>
                <a:schemeClr val="dk1"/>
              </a:solidFill>
              <a:latin typeface="Calibri"/>
              <a:ea typeface="Calibri"/>
              <a:cs typeface="Calibri"/>
              <a:sym typeface="Calibri"/>
            </a:endParaRPr>
          </a:p>
        </p:txBody>
      </p:sp>
      <p:sp>
        <p:nvSpPr>
          <p:cNvPr id="389" name="Google Shape;389;p23"/>
          <p:cNvSpPr txBox="1"/>
          <p:nvPr/>
        </p:nvSpPr>
        <p:spPr>
          <a:xfrm>
            <a:off x="822960" y="4160520"/>
            <a:ext cx="96012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C7C0"/>
              </a:buClr>
              <a:buSzPts val="1600"/>
              <a:buFont typeface="Calibri"/>
              <a:buNone/>
            </a:pPr>
            <a:r>
              <a:rPr i="1" lang="en-US" sz="1600">
                <a:solidFill>
                  <a:srgbClr val="D9C7C0"/>
                </a:solidFill>
                <a:latin typeface="Calibri"/>
                <a:ea typeface="Calibri"/>
                <a:cs typeface="Calibri"/>
                <a:sym typeface="Calibri"/>
              </a:rPr>
              <a:t>Why fertility falls: from the classic demographic transition to microeconomic and behavioral explanations.</a:t>
            </a:r>
            <a:endParaRPr sz="1600">
              <a:solidFill>
                <a:schemeClr val="dk1"/>
              </a:solidFill>
              <a:latin typeface="Calibri"/>
              <a:ea typeface="Calibri"/>
              <a:cs typeface="Calibri"/>
              <a:sym typeface="Calibri"/>
            </a:endParaRPr>
          </a:p>
        </p:txBody>
      </p:sp>
      <p:sp>
        <p:nvSpPr>
          <p:cNvPr id="390" name="Google Shape;390;p23"/>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5" name="Shape 395"/>
        <p:cNvGrpSpPr/>
        <p:nvPr/>
      </p:nvGrpSpPr>
      <p:grpSpPr>
        <a:xfrm>
          <a:off x="0" y="0"/>
          <a:ext cx="0" cy="0"/>
          <a:chOff x="0" y="0"/>
          <a:chExt cx="0" cy="0"/>
        </a:xfrm>
      </p:grpSpPr>
      <p:sp>
        <p:nvSpPr>
          <p:cNvPr id="396" name="Google Shape;396;p24"/>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400"/>
              <a:buFont typeface="Calibri"/>
              <a:buNone/>
            </a:pPr>
            <a:r>
              <a:rPr b="1" lang="en-US" sz="1400">
                <a:solidFill>
                  <a:srgbClr val="A26769"/>
                </a:solidFill>
                <a:latin typeface="Calibri"/>
                <a:ea typeface="Calibri"/>
                <a:cs typeface="Calibri"/>
                <a:sym typeface="Calibri"/>
              </a:rPr>
              <a:t>THEORY 1</a:t>
            </a:r>
            <a:endParaRPr sz="1400">
              <a:solidFill>
                <a:schemeClr val="dk1"/>
              </a:solidFill>
              <a:latin typeface="Calibri"/>
              <a:ea typeface="Calibri"/>
              <a:cs typeface="Calibri"/>
              <a:sym typeface="Calibri"/>
            </a:endParaRPr>
          </a:p>
        </p:txBody>
      </p:sp>
      <p:sp>
        <p:nvSpPr>
          <p:cNvPr id="397" name="Google Shape;397;p24"/>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200"/>
              <a:buFont typeface="Cambria"/>
              <a:buNone/>
            </a:pPr>
            <a:r>
              <a:rPr b="1" lang="en-US" sz="3200">
                <a:solidFill>
                  <a:srgbClr val="2A1420"/>
                </a:solidFill>
                <a:latin typeface="Cambria"/>
                <a:ea typeface="Cambria"/>
                <a:cs typeface="Cambria"/>
                <a:sym typeface="Cambria"/>
              </a:rPr>
              <a:t>Classic Demographic Transition Theory</a:t>
            </a:r>
            <a:endParaRPr sz="3200">
              <a:solidFill>
                <a:schemeClr val="dk1"/>
              </a:solidFill>
              <a:latin typeface="Calibri"/>
              <a:ea typeface="Calibri"/>
              <a:cs typeface="Calibri"/>
              <a:sym typeface="Calibri"/>
            </a:endParaRPr>
          </a:p>
        </p:txBody>
      </p:sp>
      <p:sp>
        <p:nvSpPr>
          <p:cNvPr id="398" name="Google Shape;398;p24"/>
          <p:cNvSpPr txBox="1"/>
          <p:nvPr/>
        </p:nvSpPr>
        <p:spPr>
          <a:xfrm>
            <a:off x="548640" y="1600200"/>
            <a:ext cx="10881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600"/>
              <a:buFont typeface="Calibri"/>
              <a:buNone/>
            </a:pPr>
            <a:r>
              <a:rPr b="1" lang="en-US" sz="1600">
                <a:solidFill>
                  <a:srgbClr val="6D2E46"/>
                </a:solidFill>
                <a:latin typeface="Calibri"/>
                <a:ea typeface="Calibri"/>
                <a:cs typeface="Calibri"/>
                <a:sym typeface="Calibri"/>
              </a:rPr>
              <a:t>The core sequence</a:t>
            </a:r>
            <a:endParaRPr sz="1600">
              <a:solidFill>
                <a:schemeClr val="dk1"/>
              </a:solidFill>
              <a:latin typeface="Calibri"/>
              <a:ea typeface="Calibri"/>
              <a:cs typeface="Calibri"/>
              <a:sym typeface="Calibri"/>
            </a:endParaRPr>
          </a:p>
        </p:txBody>
      </p:sp>
      <p:sp>
        <p:nvSpPr>
          <p:cNvPr id="399" name="Google Shape;399;p24"/>
          <p:cNvSpPr txBox="1"/>
          <p:nvPr/>
        </p:nvSpPr>
        <p:spPr>
          <a:xfrm>
            <a:off x="548640" y="1938528"/>
            <a:ext cx="108813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400"/>
              <a:buFont typeface="Calibri"/>
              <a:buNone/>
            </a:pPr>
            <a:r>
              <a:rPr lang="en-US" sz="1400">
                <a:solidFill>
                  <a:srgbClr val="2D2A2C"/>
                </a:solidFill>
                <a:latin typeface="Calibri"/>
                <a:ea typeface="Calibri"/>
                <a:cs typeface="Calibri"/>
                <a:sym typeface="Calibri"/>
              </a:rPr>
              <a:t>Pre-transition: high mortality, high fertility, slow growth. Stage 2: mortality falls first (sanitation, medicine), fertility stays high → rapid growth. Stage 3: fertility falls toward mortality. Stage 4: low mortality, low fertility, slow/negative growth.</a:t>
            </a:r>
            <a:endParaRPr sz="1400">
              <a:solidFill>
                <a:schemeClr val="dk1"/>
              </a:solidFill>
              <a:latin typeface="Calibri"/>
              <a:ea typeface="Calibri"/>
              <a:cs typeface="Calibri"/>
              <a:sym typeface="Calibri"/>
            </a:endParaRPr>
          </a:p>
        </p:txBody>
      </p:sp>
      <p:sp>
        <p:nvSpPr>
          <p:cNvPr id="400" name="Google Shape;400;p24"/>
          <p:cNvSpPr txBox="1"/>
          <p:nvPr/>
        </p:nvSpPr>
        <p:spPr>
          <a:xfrm>
            <a:off x="548640" y="2926080"/>
            <a:ext cx="10881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600"/>
              <a:buFont typeface="Calibri"/>
              <a:buNone/>
            </a:pPr>
            <a:r>
              <a:rPr b="1" lang="en-US" sz="1600">
                <a:solidFill>
                  <a:srgbClr val="6D2E46"/>
                </a:solidFill>
                <a:latin typeface="Calibri"/>
                <a:ea typeface="Calibri"/>
                <a:cs typeface="Calibri"/>
                <a:sym typeface="Calibri"/>
              </a:rPr>
              <a:t>Why fertility eventually falls</a:t>
            </a:r>
            <a:endParaRPr sz="1600">
              <a:solidFill>
                <a:schemeClr val="dk1"/>
              </a:solidFill>
              <a:latin typeface="Calibri"/>
              <a:ea typeface="Calibri"/>
              <a:cs typeface="Calibri"/>
              <a:sym typeface="Calibri"/>
            </a:endParaRPr>
          </a:p>
        </p:txBody>
      </p:sp>
      <p:sp>
        <p:nvSpPr>
          <p:cNvPr id="401" name="Google Shape;401;p24"/>
          <p:cNvSpPr txBox="1"/>
          <p:nvPr/>
        </p:nvSpPr>
        <p:spPr>
          <a:xfrm>
            <a:off x="548640" y="3264408"/>
            <a:ext cx="108813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400"/>
              <a:buFont typeface="Calibri"/>
              <a:buNone/>
            </a:pPr>
            <a:r>
              <a:rPr lang="en-US" sz="1400">
                <a:solidFill>
                  <a:srgbClr val="2D2A2C"/>
                </a:solidFill>
                <a:latin typeface="Calibri"/>
                <a:ea typeface="Calibri"/>
                <a:cs typeface="Calibri"/>
                <a:sym typeface="Calibri"/>
              </a:rPr>
              <a:t>Original theory (Notestein and others) emphasized urbanization, industrialization, rising costs of children, declining infant mortality, and the shift from extended to nuclear family systems.</a:t>
            </a:r>
            <a:endParaRPr sz="1400">
              <a:solidFill>
                <a:schemeClr val="dk1"/>
              </a:solidFill>
              <a:latin typeface="Calibri"/>
              <a:ea typeface="Calibri"/>
              <a:cs typeface="Calibri"/>
              <a:sym typeface="Calibri"/>
            </a:endParaRPr>
          </a:p>
        </p:txBody>
      </p:sp>
      <p:sp>
        <p:nvSpPr>
          <p:cNvPr id="402" name="Google Shape;402;p24"/>
          <p:cNvSpPr txBox="1"/>
          <p:nvPr/>
        </p:nvSpPr>
        <p:spPr>
          <a:xfrm>
            <a:off x="548640" y="4160520"/>
            <a:ext cx="10881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600"/>
              <a:buFont typeface="Calibri"/>
              <a:buNone/>
            </a:pPr>
            <a:r>
              <a:rPr b="1" lang="en-US" sz="1600">
                <a:solidFill>
                  <a:srgbClr val="6D2E46"/>
                </a:solidFill>
                <a:latin typeface="Calibri"/>
                <a:ea typeface="Calibri"/>
                <a:cs typeface="Calibri"/>
                <a:sym typeface="Calibri"/>
              </a:rPr>
              <a:t>Strengths and critiques</a:t>
            </a:r>
            <a:endParaRPr sz="1600">
              <a:solidFill>
                <a:schemeClr val="dk1"/>
              </a:solidFill>
              <a:latin typeface="Calibri"/>
              <a:ea typeface="Calibri"/>
              <a:cs typeface="Calibri"/>
              <a:sym typeface="Calibri"/>
            </a:endParaRPr>
          </a:p>
        </p:txBody>
      </p:sp>
      <p:sp>
        <p:nvSpPr>
          <p:cNvPr id="403" name="Google Shape;403;p24"/>
          <p:cNvSpPr txBox="1"/>
          <p:nvPr/>
        </p:nvSpPr>
        <p:spPr>
          <a:xfrm>
            <a:off x="548640" y="4498848"/>
            <a:ext cx="108813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400"/>
              <a:buFont typeface="Calibri"/>
              <a:buNone/>
            </a:pPr>
            <a:r>
              <a:rPr lang="en-US" sz="1400">
                <a:solidFill>
                  <a:srgbClr val="2D2A2C"/>
                </a:solidFill>
                <a:latin typeface="Calibri"/>
                <a:ea typeface="Calibri"/>
                <a:cs typeface="Calibri"/>
                <a:sym typeface="Calibri"/>
              </a:rPr>
              <a:t>Fits the historical European experience reasonably well but has been criticized for treating fertility decline as an almost automatic by-product of "modernization" rather than a set of specific, contestable behavioral choices.</a:t>
            </a:r>
            <a:endParaRPr sz="1400">
              <a:solidFill>
                <a:schemeClr val="dk1"/>
              </a:solidFill>
              <a:latin typeface="Calibri"/>
              <a:ea typeface="Calibri"/>
              <a:cs typeface="Calibri"/>
              <a:sym typeface="Calibri"/>
            </a:endParaRPr>
          </a:p>
        </p:txBody>
      </p:sp>
      <p:sp>
        <p:nvSpPr>
          <p:cNvPr id="404" name="Google Shape;404;p24"/>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1000"/>
              <a:buFont typeface="Calibri"/>
              <a:buNone/>
            </a:pPr>
            <a:r>
              <a:rPr lang="en-US" sz="1000">
                <a:solidFill>
                  <a:srgbClr val="6B6068"/>
                </a:solidFill>
                <a:latin typeface="Calibri"/>
                <a:ea typeface="Calibri"/>
                <a:cs typeface="Calibri"/>
                <a:sym typeface="Calibri"/>
              </a:rPr>
              <a:t>5140602 Fundamental Demographic Analysis – Session 6</a:t>
            </a:r>
            <a:endParaRPr sz="10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9" name="Shape 409"/>
        <p:cNvGrpSpPr/>
        <p:nvPr/>
      </p:nvGrpSpPr>
      <p:grpSpPr>
        <a:xfrm>
          <a:off x="0" y="0"/>
          <a:ext cx="0" cy="0"/>
          <a:chOff x="0" y="0"/>
          <a:chExt cx="0" cy="0"/>
        </a:xfrm>
      </p:grpSpPr>
      <p:sp>
        <p:nvSpPr>
          <p:cNvPr id="410" name="Google Shape;410;p25"/>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400"/>
              <a:buFont typeface="Calibri"/>
              <a:buNone/>
            </a:pPr>
            <a:r>
              <a:rPr b="1" lang="en-US" sz="1400">
                <a:solidFill>
                  <a:srgbClr val="A26769"/>
                </a:solidFill>
                <a:latin typeface="Calibri"/>
                <a:ea typeface="Calibri"/>
                <a:cs typeface="Calibri"/>
                <a:sym typeface="Calibri"/>
              </a:rPr>
              <a:t>THEORY 2</a:t>
            </a:r>
            <a:endParaRPr sz="1400">
              <a:solidFill>
                <a:schemeClr val="dk1"/>
              </a:solidFill>
              <a:latin typeface="Calibri"/>
              <a:ea typeface="Calibri"/>
              <a:cs typeface="Calibri"/>
              <a:sym typeface="Calibri"/>
            </a:endParaRPr>
          </a:p>
        </p:txBody>
      </p:sp>
      <p:sp>
        <p:nvSpPr>
          <p:cNvPr id="411" name="Google Shape;411;p25"/>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200"/>
              <a:buFont typeface="Cambria"/>
              <a:buNone/>
            </a:pPr>
            <a:r>
              <a:rPr b="1" lang="en-US" sz="3200">
                <a:solidFill>
                  <a:srgbClr val="2A1420"/>
                </a:solidFill>
                <a:latin typeface="Cambria"/>
                <a:ea typeface="Cambria"/>
                <a:cs typeface="Cambria"/>
                <a:sym typeface="Cambria"/>
              </a:rPr>
              <a:t>Neoclassical Microeconomic Theory of Fertility (Becker)</a:t>
            </a:r>
            <a:endParaRPr sz="3200">
              <a:solidFill>
                <a:schemeClr val="dk1"/>
              </a:solidFill>
              <a:latin typeface="Calibri"/>
              <a:ea typeface="Calibri"/>
              <a:cs typeface="Calibri"/>
              <a:sym typeface="Calibri"/>
            </a:endParaRPr>
          </a:p>
        </p:txBody>
      </p:sp>
      <p:sp>
        <p:nvSpPr>
          <p:cNvPr id="412" name="Google Shape;412;p25"/>
          <p:cNvSpPr txBox="1"/>
          <p:nvPr/>
        </p:nvSpPr>
        <p:spPr>
          <a:xfrm>
            <a:off x="548640" y="1600200"/>
            <a:ext cx="10881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600"/>
              <a:buFont typeface="Calibri"/>
              <a:buNone/>
            </a:pPr>
            <a:r>
              <a:rPr b="1" lang="en-US" sz="1600">
                <a:solidFill>
                  <a:srgbClr val="6D2E46"/>
                </a:solidFill>
                <a:latin typeface="Calibri"/>
                <a:ea typeface="Calibri"/>
                <a:cs typeface="Calibri"/>
                <a:sym typeface="Calibri"/>
              </a:rPr>
              <a:t>Children as a "durable good"</a:t>
            </a:r>
            <a:endParaRPr sz="1600">
              <a:solidFill>
                <a:schemeClr val="dk1"/>
              </a:solidFill>
              <a:latin typeface="Calibri"/>
              <a:ea typeface="Calibri"/>
              <a:cs typeface="Calibri"/>
              <a:sym typeface="Calibri"/>
            </a:endParaRPr>
          </a:p>
        </p:txBody>
      </p:sp>
      <p:sp>
        <p:nvSpPr>
          <p:cNvPr id="413" name="Google Shape;413;p25"/>
          <p:cNvSpPr txBox="1"/>
          <p:nvPr/>
        </p:nvSpPr>
        <p:spPr>
          <a:xfrm>
            <a:off x="548640" y="1938528"/>
            <a:ext cx="108813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400"/>
              <a:buFont typeface="Calibri"/>
              <a:buNone/>
            </a:pPr>
            <a:r>
              <a:rPr lang="en-US" sz="1400">
                <a:solidFill>
                  <a:srgbClr val="2D2A2C"/>
                </a:solidFill>
                <a:latin typeface="Calibri"/>
                <a:ea typeface="Calibri"/>
                <a:cs typeface="Calibri"/>
                <a:sym typeface="Calibri"/>
              </a:rPr>
              <a:t>Households choose quantity (n) and quality (q) of children subject to a budget and time constraint, maximizing utility U(n, q, other goods).</a:t>
            </a:r>
            <a:endParaRPr sz="1400">
              <a:solidFill>
                <a:schemeClr val="dk1"/>
              </a:solidFill>
              <a:latin typeface="Calibri"/>
              <a:ea typeface="Calibri"/>
              <a:cs typeface="Calibri"/>
              <a:sym typeface="Calibri"/>
            </a:endParaRPr>
          </a:p>
        </p:txBody>
      </p:sp>
      <p:sp>
        <p:nvSpPr>
          <p:cNvPr id="414" name="Google Shape;414;p25"/>
          <p:cNvSpPr txBox="1"/>
          <p:nvPr/>
        </p:nvSpPr>
        <p:spPr>
          <a:xfrm>
            <a:off x="548640" y="2697480"/>
            <a:ext cx="10881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600"/>
              <a:buFont typeface="Calibri"/>
              <a:buNone/>
            </a:pPr>
            <a:r>
              <a:rPr b="1" lang="en-US" sz="1600">
                <a:solidFill>
                  <a:srgbClr val="6D2E46"/>
                </a:solidFill>
                <a:latin typeface="Calibri"/>
                <a:ea typeface="Calibri"/>
                <a:cs typeface="Calibri"/>
                <a:sym typeface="Calibri"/>
              </a:rPr>
              <a:t>The quantity–quality trade-off</a:t>
            </a:r>
            <a:endParaRPr sz="1600">
              <a:solidFill>
                <a:schemeClr val="dk1"/>
              </a:solidFill>
              <a:latin typeface="Calibri"/>
              <a:ea typeface="Calibri"/>
              <a:cs typeface="Calibri"/>
              <a:sym typeface="Calibri"/>
            </a:endParaRPr>
          </a:p>
        </p:txBody>
      </p:sp>
      <p:sp>
        <p:nvSpPr>
          <p:cNvPr id="415" name="Google Shape;415;p25"/>
          <p:cNvSpPr txBox="1"/>
          <p:nvPr/>
        </p:nvSpPr>
        <p:spPr>
          <a:xfrm>
            <a:off x="548640" y="3035808"/>
            <a:ext cx="108813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400"/>
              <a:buFont typeface="Calibri"/>
              <a:buNone/>
            </a:pPr>
            <a:r>
              <a:rPr lang="en-US" sz="1400">
                <a:solidFill>
                  <a:srgbClr val="2D2A2C"/>
                </a:solidFill>
                <a:latin typeface="Calibri"/>
                <a:ea typeface="Calibri"/>
                <a:cs typeface="Calibri"/>
                <a:sym typeface="Calibri"/>
              </a:rPr>
              <a:t>As household income and the opportunity cost of parental (especially maternal) time rise, parents rationally substitute toward fewer children with more investment per child — "quality" becomes relatively cheaper than "quantity."</a:t>
            </a:r>
            <a:endParaRPr sz="1400">
              <a:solidFill>
                <a:schemeClr val="dk1"/>
              </a:solidFill>
              <a:latin typeface="Calibri"/>
              <a:ea typeface="Calibri"/>
              <a:cs typeface="Calibri"/>
              <a:sym typeface="Calibri"/>
            </a:endParaRPr>
          </a:p>
        </p:txBody>
      </p:sp>
      <p:sp>
        <p:nvSpPr>
          <p:cNvPr id="416" name="Google Shape;416;p25"/>
          <p:cNvSpPr txBox="1"/>
          <p:nvPr/>
        </p:nvSpPr>
        <p:spPr>
          <a:xfrm>
            <a:off x="548640" y="3977640"/>
            <a:ext cx="10881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600"/>
              <a:buFont typeface="Calibri"/>
              <a:buNone/>
            </a:pPr>
            <a:r>
              <a:rPr b="1" lang="en-US" sz="1600">
                <a:solidFill>
                  <a:srgbClr val="6D2E46"/>
                </a:solidFill>
                <a:latin typeface="Calibri"/>
                <a:ea typeface="Calibri"/>
                <a:cs typeface="Calibri"/>
                <a:sym typeface="Calibri"/>
              </a:rPr>
              <a:t>Rising cost of children drives fertility down</a:t>
            </a:r>
            <a:endParaRPr sz="1600">
              <a:solidFill>
                <a:schemeClr val="dk1"/>
              </a:solidFill>
              <a:latin typeface="Calibri"/>
              <a:ea typeface="Calibri"/>
              <a:cs typeface="Calibri"/>
              <a:sym typeface="Calibri"/>
            </a:endParaRPr>
          </a:p>
        </p:txBody>
      </p:sp>
      <p:sp>
        <p:nvSpPr>
          <p:cNvPr id="417" name="Google Shape;417;p25"/>
          <p:cNvSpPr txBox="1"/>
          <p:nvPr/>
        </p:nvSpPr>
        <p:spPr>
          <a:xfrm>
            <a:off x="548640" y="4315968"/>
            <a:ext cx="108813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400"/>
              <a:buFont typeface="Calibri"/>
              <a:buNone/>
            </a:pPr>
            <a:r>
              <a:rPr lang="en-US" sz="1400">
                <a:solidFill>
                  <a:srgbClr val="2D2A2C"/>
                </a:solidFill>
                <a:latin typeface="Calibri"/>
                <a:ea typeface="Calibri"/>
                <a:cs typeface="Calibri"/>
                <a:sym typeface="Calibri"/>
              </a:rPr>
              <a:t>Compulsory schooling, child labor laws, and rising female wages all raise the direct and opportunity cost of childbearing — consistent with fertility decline alongside female education and labor-force gains.</a:t>
            </a:r>
            <a:endParaRPr sz="1400">
              <a:solidFill>
                <a:schemeClr val="dk1"/>
              </a:solidFill>
              <a:latin typeface="Calibri"/>
              <a:ea typeface="Calibri"/>
              <a:cs typeface="Calibri"/>
              <a:sym typeface="Calibri"/>
            </a:endParaRPr>
          </a:p>
        </p:txBody>
      </p:sp>
      <p:sp>
        <p:nvSpPr>
          <p:cNvPr id="418" name="Google Shape;418;p25"/>
          <p:cNvSpPr txBox="1"/>
          <p:nvPr/>
        </p:nvSpPr>
        <p:spPr>
          <a:xfrm>
            <a:off x="548640" y="6053328"/>
            <a:ext cx="110642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1000"/>
              <a:buFont typeface="Calibri"/>
              <a:buNone/>
            </a:pPr>
            <a:r>
              <a:rPr i="1" lang="en-US" sz="1000">
                <a:solidFill>
                  <a:srgbClr val="6B6068"/>
                </a:solidFill>
                <a:latin typeface="Calibri"/>
                <a:ea typeface="Calibri"/>
                <a:cs typeface="Calibri"/>
                <a:sym typeface="Calibri"/>
              </a:rPr>
              <a:t>Source: Becker, G. S. (1960). An economic analysis of fertility. In Demographic and economic change in developed countries (pp. 209–240). Princeton University Press for NBER.</a:t>
            </a:r>
            <a:endParaRPr sz="1000">
              <a:solidFill>
                <a:schemeClr val="dk1"/>
              </a:solidFill>
              <a:latin typeface="Calibri"/>
              <a:ea typeface="Calibri"/>
              <a:cs typeface="Calibri"/>
              <a:sym typeface="Calibri"/>
            </a:endParaRPr>
          </a:p>
        </p:txBody>
      </p:sp>
      <p:sp>
        <p:nvSpPr>
          <p:cNvPr id="419" name="Google Shape;419;p25"/>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1000"/>
              <a:buFont typeface="Calibri"/>
              <a:buNone/>
            </a:pPr>
            <a:r>
              <a:rPr lang="en-US" sz="1000">
                <a:solidFill>
                  <a:srgbClr val="6B6068"/>
                </a:solidFill>
                <a:latin typeface="Calibri"/>
                <a:ea typeface="Calibri"/>
                <a:cs typeface="Calibri"/>
                <a:sym typeface="Calibri"/>
              </a:rPr>
              <a:t>5140602 Fundamental Demographic Analysis – Session 6</a:t>
            </a:r>
            <a:endParaRPr sz="10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4" name="Shape 424"/>
        <p:cNvGrpSpPr/>
        <p:nvPr/>
      </p:nvGrpSpPr>
      <p:grpSpPr>
        <a:xfrm>
          <a:off x="0" y="0"/>
          <a:ext cx="0" cy="0"/>
          <a:chOff x="0" y="0"/>
          <a:chExt cx="0" cy="0"/>
        </a:xfrm>
      </p:grpSpPr>
      <p:sp>
        <p:nvSpPr>
          <p:cNvPr id="425" name="Google Shape;425;p26"/>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THEORY 3</a:t>
            </a:r>
            <a:endParaRPr sz="1200">
              <a:solidFill>
                <a:schemeClr val="dk1"/>
              </a:solidFill>
              <a:latin typeface="Calibri"/>
              <a:ea typeface="Calibri"/>
              <a:cs typeface="Calibri"/>
              <a:sym typeface="Calibri"/>
            </a:endParaRPr>
          </a:p>
        </p:txBody>
      </p:sp>
      <p:sp>
        <p:nvSpPr>
          <p:cNvPr id="426" name="Google Shape;426;p26"/>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Regulatory (Behavioral) Microeconomic Theory of Fertility (Easterlin)</a:t>
            </a:r>
            <a:endParaRPr sz="3000">
              <a:solidFill>
                <a:schemeClr val="dk1"/>
              </a:solidFill>
              <a:latin typeface="Calibri"/>
              <a:ea typeface="Calibri"/>
              <a:cs typeface="Calibri"/>
              <a:sym typeface="Calibri"/>
            </a:endParaRPr>
          </a:p>
        </p:txBody>
      </p:sp>
      <p:sp>
        <p:nvSpPr>
          <p:cNvPr id="427" name="Google Shape;427;p26"/>
          <p:cNvSpPr txBox="1"/>
          <p:nvPr/>
        </p:nvSpPr>
        <p:spPr>
          <a:xfrm>
            <a:off x="548640" y="1600200"/>
            <a:ext cx="10881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400"/>
              <a:buFont typeface="Calibri"/>
              <a:buNone/>
            </a:pPr>
            <a:r>
              <a:rPr b="1" lang="en-US" sz="1400">
                <a:solidFill>
                  <a:srgbClr val="6D2E46"/>
                </a:solidFill>
                <a:latin typeface="Calibri"/>
                <a:ea typeface="Calibri"/>
                <a:cs typeface="Calibri"/>
                <a:sym typeface="Calibri"/>
              </a:rPr>
              <a:t>Three components of observed fertility</a:t>
            </a:r>
            <a:endParaRPr sz="1400">
              <a:solidFill>
                <a:schemeClr val="dk1"/>
              </a:solidFill>
              <a:latin typeface="Calibri"/>
              <a:ea typeface="Calibri"/>
              <a:cs typeface="Calibri"/>
              <a:sym typeface="Calibri"/>
            </a:endParaRPr>
          </a:p>
        </p:txBody>
      </p:sp>
      <p:sp>
        <p:nvSpPr>
          <p:cNvPr id="428" name="Google Shape;428;p26"/>
          <p:cNvSpPr txBox="1"/>
          <p:nvPr/>
        </p:nvSpPr>
        <p:spPr>
          <a:xfrm>
            <a:off x="548640" y="1938528"/>
            <a:ext cx="108813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50"/>
              <a:buFont typeface="Calibri"/>
              <a:buNone/>
            </a:pPr>
            <a:r>
              <a:rPr lang="en-US" sz="1250">
                <a:solidFill>
                  <a:srgbClr val="2D2A2C"/>
                </a:solidFill>
                <a:latin typeface="Calibri"/>
                <a:ea typeface="Calibri"/>
                <a:cs typeface="Calibri"/>
                <a:sym typeface="Calibri"/>
              </a:rPr>
              <a:t>(1) demand for children, (2) supply of children (natural fertility net of infant/child mortality), and (3) the costs of fertility regulation (access to and cost of contraception).</a:t>
            </a:r>
            <a:endParaRPr sz="1250">
              <a:solidFill>
                <a:schemeClr val="dk1"/>
              </a:solidFill>
              <a:latin typeface="Calibri"/>
              <a:ea typeface="Calibri"/>
              <a:cs typeface="Calibri"/>
              <a:sym typeface="Calibri"/>
            </a:endParaRPr>
          </a:p>
        </p:txBody>
      </p:sp>
      <p:sp>
        <p:nvSpPr>
          <p:cNvPr id="429" name="Google Shape;429;p26"/>
          <p:cNvSpPr txBox="1"/>
          <p:nvPr/>
        </p:nvSpPr>
        <p:spPr>
          <a:xfrm>
            <a:off x="548640" y="2697480"/>
            <a:ext cx="10881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400"/>
              <a:buFont typeface="Calibri"/>
              <a:buNone/>
            </a:pPr>
            <a:r>
              <a:rPr b="1" lang="en-US" sz="1400">
                <a:solidFill>
                  <a:srgbClr val="6D2E46"/>
                </a:solidFill>
                <a:latin typeface="Calibri"/>
                <a:ea typeface="Calibri"/>
                <a:cs typeface="Calibri"/>
                <a:sym typeface="Calibri"/>
              </a:rPr>
              <a:t>Adds "relative income" and aspirations</a:t>
            </a:r>
            <a:endParaRPr sz="1400">
              <a:solidFill>
                <a:schemeClr val="dk1"/>
              </a:solidFill>
              <a:latin typeface="Calibri"/>
              <a:ea typeface="Calibri"/>
              <a:cs typeface="Calibri"/>
              <a:sym typeface="Calibri"/>
            </a:endParaRPr>
          </a:p>
        </p:txBody>
      </p:sp>
      <p:sp>
        <p:nvSpPr>
          <p:cNvPr id="430" name="Google Shape;430;p26"/>
          <p:cNvSpPr txBox="1"/>
          <p:nvPr/>
        </p:nvSpPr>
        <p:spPr>
          <a:xfrm>
            <a:off x="548640" y="3035808"/>
            <a:ext cx="108813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50"/>
              <a:buFont typeface="Calibri"/>
              <a:buNone/>
            </a:pPr>
            <a:r>
              <a:rPr lang="en-US" sz="1250">
                <a:solidFill>
                  <a:srgbClr val="2D2A2C"/>
                </a:solidFill>
                <a:latin typeface="Calibri"/>
                <a:ea typeface="Calibri"/>
                <a:cs typeface="Calibri"/>
                <a:sym typeface="Calibri"/>
              </a:rPr>
              <a:t>Fertility desires are shaped by comparing material aspirations (formed in childhood) against current earning potential — cohorts facing a favorable ratio tend toward higher fertility, and vice versa.</a:t>
            </a:r>
            <a:endParaRPr sz="1250">
              <a:solidFill>
                <a:schemeClr val="dk1"/>
              </a:solidFill>
              <a:latin typeface="Calibri"/>
              <a:ea typeface="Calibri"/>
              <a:cs typeface="Calibri"/>
              <a:sym typeface="Calibri"/>
            </a:endParaRPr>
          </a:p>
        </p:txBody>
      </p:sp>
      <p:sp>
        <p:nvSpPr>
          <p:cNvPr id="431" name="Google Shape;431;p26"/>
          <p:cNvSpPr txBox="1"/>
          <p:nvPr/>
        </p:nvSpPr>
        <p:spPr>
          <a:xfrm>
            <a:off x="548640" y="3931920"/>
            <a:ext cx="10881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400"/>
              <a:buFont typeface="Calibri"/>
              <a:buNone/>
            </a:pPr>
            <a:r>
              <a:rPr b="1" lang="en-US" sz="1400">
                <a:solidFill>
                  <a:srgbClr val="6D2E46"/>
                </a:solidFill>
                <a:latin typeface="Calibri"/>
                <a:ea typeface="Calibri"/>
                <a:cs typeface="Calibri"/>
                <a:sym typeface="Calibri"/>
              </a:rPr>
              <a:t>Why "regulatory": the missing piece in Becker's model</a:t>
            </a:r>
            <a:endParaRPr sz="1400">
              <a:solidFill>
                <a:schemeClr val="dk1"/>
              </a:solidFill>
              <a:latin typeface="Calibri"/>
              <a:ea typeface="Calibri"/>
              <a:cs typeface="Calibri"/>
              <a:sym typeface="Calibri"/>
            </a:endParaRPr>
          </a:p>
        </p:txBody>
      </p:sp>
      <p:sp>
        <p:nvSpPr>
          <p:cNvPr id="432" name="Google Shape;432;p26"/>
          <p:cNvSpPr txBox="1"/>
          <p:nvPr/>
        </p:nvSpPr>
        <p:spPr>
          <a:xfrm>
            <a:off x="548640" y="4270248"/>
            <a:ext cx="108813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50"/>
              <a:buFont typeface="Calibri"/>
              <a:buNone/>
            </a:pPr>
            <a:r>
              <a:rPr lang="en-US" sz="1250">
                <a:solidFill>
                  <a:srgbClr val="2D2A2C"/>
                </a:solidFill>
                <a:latin typeface="Calibri"/>
                <a:ea typeface="Calibri"/>
                <a:cs typeface="Calibri"/>
                <a:sym typeface="Calibri"/>
              </a:rPr>
              <a:t>Even where demand for children is low, fertility only falls in practice if effective, low-cost fertility regulation is available — the bridge to the Bongaarts proximate-determinants framework in Block 3.</a:t>
            </a:r>
            <a:endParaRPr sz="1250">
              <a:solidFill>
                <a:schemeClr val="dk1"/>
              </a:solidFill>
              <a:latin typeface="Calibri"/>
              <a:ea typeface="Calibri"/>
              <a:cs typeface="Calibri"/>
              <a:sym typeface="Calibri"/>
            </a:endParaRPr>
          </a:p>
        </p:txBody>
      </p:sp>
      <p:sp>
        <p:nvSpPr>
          <p:cNvPr id="433" name="Google Shape;433;p26"/>
          <p:cNvSpPr txBox="1"/>
          <p:nvPr/>
        </p:nvSpPr>
        <p:spPr>
          <a:xfrm>
            <a:off x="548640" y="6053328"/>
            <a:ext cx="110642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50"/>
              <a:buFont typeface="Calibri"/>
              <a:buNone/>
            </a:pPr>
            <a:r>
              <a:rPr i="1" lang="en-US" sz="950">
                <a:solidFill>
                  <a:srgbClr val="6B6068"/>
                </a:solidFill>
                <a:latin typeface="Calibri"/>
                <a:ea typeface="Calibri"/>
                <a:cs typeface="Calibri"/>
                <a:sym typeface="Calibri"/>
              </a:rPr>
              <a:t>Source: Easterlin, R. A. (1975). An economic framework for fertility analysis. Studies in Family Planning, 6(3), 54–63.</a:t>
            </a:r>
            <a:endParaRPr sz="950">
              <a:solidFill>
                <a:schemeClr val="dk1"/>
              </a:solidFill>
              <a:latin typeface="Calibri"/>
              <a:ea typeface="Calibri"/>
              <a:cs typeface="Calibri"/>
              <a:sym typeface="Calibri"/>
            </a:endParaRPr>
          </a:p>
        </p:txBody>
      </p:sp>
      <p:sp>
        <p:nvSpPr>
          <p:cNvPr id="434" name="Google Shape;434;p26"/>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9" name="Shape 439"/>
        <p:cNvGrpSpPr/>
        <p:nvPr/>
      </p:nvGrpSpPr>
      <p:grpSpPr>
        <a:xfrm>
          <a:off x="0" y="0"/>
          <a:ext cx="0" cy="0"/>
          <a:chOff x="0" y="0"/>
          <a:chExt cx="0" cy="0"/>
        </a:xfrm>
      </p:grpSpPr>
      <p:sp>
        <p:nvSpPr>
          <p:cNvPr id="440" name="Google Shape;440;p27"/>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SYNTHESIS</a:t>
            </a:r>
            <a:endParaRPr sz="1200">
              <a:solidFill>
                <a:schemeClr val="dk1"/>
              </a:solidFill>
              <a:latin typeface="Calibri"/>
              <a:ea typeface="Calibri"/>
              <a:cs typeface="Calibri"/>
              <a:sym typeface="Calibri"/>
            </a:endParaRPr>
          </a:p>
        </p:txBody>
      </p:sp>
      <p:sp>
        <p:nvSpPr>
          <p:cNvPr id="441" name="Google Shape;441;p27"/>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Comparing the Three Theoretical Traditions</a:t>
            </a:r>
            <a:endParaRPr sz="3000">
              <a:solidFill>
                <a:schemeClr val="dk1"/>
              </a:solidFill>
              <a:latin typeface="Calibri"/>
              <a:ea typeface="Calibri"/>
              <a:cs typeface="Calibri"/>
              <a:sym typeface="Calibri"/>
            </a:endParaRPr>
          </a:p>
        </p:txBody>
      </p:sp>
      <p:graphicFrame>
        <p:nvGraphicFramePr>
          <p:cNvPr id="442" name="Google Shape;442;p27"/>
          <p:cNvGraphicFramePr/>
          <p:nvPr/>
        </p:nvGraphicFramePr>
        <p:xfrm>
          <a:off x="548640" y="1645920"/>
          <a:ext cx="3000000" cy="3000000"/>
        </p:xfrm>
        <a:graphic>
          <a:graphicData uri="http://schemas.openxmlformats.org/drawingml/2006/table">
            <a:tbl>
              <a:tblPr>
                <a:noFill/>
                <a:tableStyleId>{1998C3F9-B6B7-4C79-884C-0743C8849AFD}</a:tableStyleId>
              </a:tblPr>
              <a:tblGrid>
                <a:gridCol w="2743200"/>
                <a:gridCol w="4206250"/>
                <a:gridCol w="4114800"/>
              </a:tblGrid>
              <a:tr h="70865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Theory</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6D2E46"/>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Core driver of decline</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6D2E46"/>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Best explains</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6D2E46"/>
                    </a:solidFill>
                  </a:tcPr>
                </a:tc>
              </a:tr>
              <a:tr h="708650">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Classic demographic transition</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Modernization: falling mortality, urbanization, industrialization</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Long-run, cross-country historical patterns</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r>
              <a:tr h="708650">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Neoclassical (Becker)</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Rising cost of children and quantity–quality trade-off</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Why richer, more educated households have fewer, more "invested-in" children</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r>
              <a:tr h="708650">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Regulatory/behavioral (Easterlin)</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Relative income/aspirations plus access to fertility regulation</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Short/medium-run fluctuations and WHY desired declines translate into actual decline</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r>
            </a:tbl>
          </a:graphicData>
        </a:graphic>
      </p:graphicFrame>
      <p:sp>
        <p:nvSpPr>
          <p:cNvPr id="443" name="Google Shape;443;p27"/>
          <p:cNvSpPr/>
          <p:nvPr/>
        </p:nvSpPr>
        <p:spPr>
          <a:xfrm>
            <a:off x="548640" y="4709160"/>
            <a:ext cx="11064240" cy="1097280"/>
          </a:xfrm>
          <a:prstGeom prst="roundRect">
            <a:avLst>
              <a:gd fmla="val 6667" name="adj"/>
            </a:avLst>
          </a:prstGeom>
          <a:solidFill>
            <a:srgbClr val="F1E4DE"/>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7"/>
          <p:cNvSpPr txBox="1"/>
          <p:nvPr/>
        </p:nvSpPr>
        <p:spPr>
          <a:xfrm>
            <a:off x="777240" y="4846320"/>
            <a:ext cx="1060704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50"/>
              <a:buFont typeface="Calibri"/>
              <a:buNone/>
            </a:pPr>
            <a:r>
              <a:rPr lang="en-US" sz="1250">
                <a:solidFill>
                  <a:srgbClr val="2D2A2C"/>
                </a:solidFill>
                <a:latin typeface="Calibri"/>
                <a:ea typeface="Calibri"/>
                <a:cs typeface="Calibri"/>
                <a:sym typeface="Calibri"/>
              </a:rPr>
              <a:t>These theories are complementary, not competing: transition theory explains the long arc, Becker explains household-level resource allocation, and Easterlin explains why the translation from desire to outcome depends on access to regulation.</a:t>
            </a:r>
            <a:endParaRPr sz="1250">
              <a:solidFill>
                <a:schemeClr val="dk1"/>
              </a:solidFill>
              <a:latin typeface="Calibri"/>
              <a:ea typeface="Calibri"/>
              <a:cs typeface="Calibri"/>
              <a:sym typeface="Calibri"/>
            </a:endParaRPr>
          </a:p>
        </p:txBody>
      </p:sp>
      <p:sp>
        <p:nvSpPr>
          <p:cNvPr id="445" name="Google Shape;445;p27"/>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0" name="Shape 450"/>
        <p:cNvGrpSpPr/>
        <p:nvPr/>
      </p:nvGrpSpPr>
      <p:grpSpPr>
        <a:xfrm>
          <a:off x="0" y="0"/>
          <a:ext cx="0" cy="0"/>
          <a:chOff x="0" y="0"/>
          <a:chExt cx="0" cy="0"/>
        </a:xfrm>
      </p:grpSpPr>
      <p:sp>
        <p:nvSpPr>
          <p:cNvPr id="451" name="Google Shape;451;p28"/>
          <p:cNvSpPr txBox="1"/>
          <p:nvPr/>
        </p:nvSpPr>
        <p:spPr>
          <a:xfrm>
            <a:off x="548640" y="888046"/>
            <a:ext cx="11064240" cy="55670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200"/>
              <a:buFont typeface="Cambria"/>
              <a:buNone/>
            </a:pPr>
            <a:r>
              <a:rPr b="1" lang="en-US" sz="3200">
                <a:solidFill>
                  <a:srgbClr val="2A1420"/>
                </a:solidFill>
                <a:latin typeface="Cambria"/>
                <a:ea typeface="Cambria"/>
                <a:cs typeface="Cambria"/>
                <a:sym typeface="Cambria"/>
              </a:rPr>
              <a:t>Four Real Countries, Four Different Fertility Stories</a:t>
            </a:r>
            <a:endParaRPr sz="3200">
              <a:solidFill>
                <a:schemeClr val="dk1"/>
              </a:solidFill>
              <a:latin typeface="Calibri"/>
              <a:ea typeface="Calibri"/>
              <a:cs typeface="Calibri"/>
              <a:sym typeface="Calibri"/>
            </a:endParaRPr>
          </a:p>
        </p:txBody>
      </p:sp>
      <p:sp>
        <p:nvSpPr>
          <p:cNvPr id="452" name="Google Shape;452;p28"/>
          <p:cNvSpPr/>
          <p:nvPr/>
        </p:nvSpPr>
        <p:spPr>
          <a:xfrm>
            <a:off x="548640" y="1600200"/>
            <a:ext cx="5394960" cy="2057400"/>
          </a:xfrm>
          <a:prstGeom prst="roundRect">
            <a:avLst>
              <a:gd fmla="val 3556" name="adj"/>
            </a:avLst>
          </a:prstGeom>
          <a:solidFill>
            <a:srgbClr val="F7EEEA"/>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8"/>
          <p:cNvSpPr txBox="1"/>
          <p:nvPr/>
        </p:nvSpPr>
        <p:spPr>
          <a:xfrm>
            <a:off x="777240" y="1737360"/>
            <a:ext cx="49377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A6B"/>
              </a:buClr>
              <a:buSzPts val="1600"/>
              <a:buFont typeface="Cambria"/>
              <a:buNone/>
            </a:pPr>
            <a:r>
              <a:rPr b="1" lang="en-US" sz="1600">
                <a:solidFill>
                  <a:srgbClr val="1B7A6B"/>
                </a:solidFill>
                <a:latin typeface="Cambria"/>
                <a:ea typeface="Cambria"/>
                <a:cs typeface="Cambria"/>
                <a:sym typeface="Cambria"/>
              </a:rPr>
              <a:t>Group A — Thailand</a:t>
            </a:r>
            <a:endParaRPr sz="1600">
              <a:solidFill>
                <a:schemeClr val="dk1"/>
              </a:solidFill>
              <a:latin typeface="Calibri"/>
              <a:ea typeface="Calibri"/>
              <a:cs typeface="Calibri"/>
              <a:sym typeface="Calibri"/>
            </a:endParaRPr>
          </a:p>
        </p:txBody>
      </p:sp>
      <p:sp>
        <p:nvSpPr>
          <p:cNvPr id="454" name="Google Shape;454;p28"/>
          <p:cNvSpPr txBox="1"/>
          <p:nvPr/>
        </p:nvSpPr>
        <p:spPr>
          <a:xfrm>
            <a:off x="777240" y="2103120"/>
            <a:ext cx="493776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00"/>
              <a:buFont typeface="Calibri"/>
              <a:buNone/>
            </a:pPr>
            <a:r>
              <a:rPr lang="en-US" sz="1200">
                <a:solidFill>
                  <a:srgbClr val="2D2A2C"/>
                </a:solidFill>
                <a:latin typeface="Calibri"/>
                <a:ea typeface="Calibri"/>
                <a:cs typeface="Calibri"/>
                <a:sym typeface="Calibri"/>
              </a:rPr>
              <a:t>TFR ≈ 0.93 (2025, Mahidol Population Gazette). Women 15-49: 15.6M. CPR 73%, but marriage rates are falling sharply. Below-replacement for over 30 years.</a:t>
            </a:r>
            <a:endParaRPr sz="1200">
              <a:solidFill>
                <a:schemeClr val="dk1"/>
              </a:solidFill>
              <a:latin typeface="Calibri"/>
              <a:ea typeface="Calibri"/>
              <a:cs typeface="Calibri"/>
              <a:sym typeface="Calibri"/>
            </a:endParaRPr>
          </a:p>
        </p:txBody>
      </p:sp>
      <p:sp>
        <p:nvSpPr>
          <p:cNvPr id="455" name="Google Shape;455;p28"/>
          <p:cNvSpPr txBox="1"/>
          <p:nvPr/>
        </p:nvSpPr>
        <p:spPr>
          <a:xfrm>
            <a:off x="777240" y="3200400"/>
            <a:ext cx="49377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i="1" lang="en-US" sz="900">
                <a:solidFill>
                  <a:srgbClr val="6B6068"/>
                </a:solidFill>
                <a:latin typeface="Calibri"/>
                <a:ea typeface="Calibri"/>
                <a:cs typeface="Calibri"/>
                <a:sym typeface="Calibri"/>
              </a:rPr>
              <a:t>Institute for Population and Social Research, Mahidol University (2025). Mahidol Population Gazette (Vol. 34).</a:t>
            </a:r>
            <a:endParaRPr sz="900">
              <a:solidFill>
                <a:schemeClr val="dk1"/>
              </a:solidFill>
              <a:latin typeface="Calibri"/>
              <a:ea typeface="Calibri"/>
              <a:cs typeface="Calibri"/>
              <a:sym typeface="Calibri"/>
            </a:endParaRPr>
          </a:p>
        </p:txBody>
      </p:sp>
      <p:sp>
        <p:nvSpPr>
          <p:cNvPr id="456" name="Google Shape;456;p28"/>
          <p:cNvSpPr/>
          <p:nvPr/>
        </p:nvSpPr>
        <p:spPr>
          <a:xfrm>
            <a:off x="6217920" y="1600200"/>
            <a:ext cx="5394960" cy="2057400"/>
          </a:xfrm>
          <a:prstGeom prst="roundRect">
            <a:avLst>
              <a:gd fmla="val 3556" name="adj"/>
            </a:avLst>
          </a:prstGeom>
          <a:solidFill>
            <a:srgbClr val="F7EEEA"/>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8"/>
          <p:cNvSpPr txBox="1"/>
          <p:nvPr/>
        </p:nvSpPr>
        <p:spPr>
          <a:xfrm>
            <a:off x="6446520" y="1737360"/>
            <a:ext cx="49377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A6B"/>
              </a:buClr>
              <a:buSzPts val="1600"/>
              <a:buFont typeface="Cambria"/>
              <a:buNone/>
            </a:pPr>
            <a:r>
              <a:rPr b="1" lang="en-US" sz="1600">
                <a:solidFill>
                  <a:srgbClr val="1B7A6B"/>
                </a:solidFill>
                <a:latin typeface="Cambria"/>
                <a:ea typeface="Cambria"/>
                <a:cs typeface="Cambria"/>
                <a:sym typeface="Cambria"/>
              </a:rPr>
              <a:t>Group B — South Korea</a:t>
            </a:r>
            <a:endParaRPr sz="1600">
              <a:solidFill>
                <a:schemeClr val="dk1"/>
              </a:solidFill>
              <a:latin typeface="Calibri"/>
              <a:ea typeface="Calibri"/>
              <a:cs typeface="Calibri"/>
              <a:sym typeface="Calibri"/>
            </a:endParaRPr>
          </a:p>
        </p:txBody>
      </p:sp>
      <p:sp>
        <p:nvSpPr>
          <p:cNvPr id="458" name="Google Shape;458;p28"/>
          <p:cNvSpPr txBox="1"/>
          <p:nvPr/>
        </p:nvSpPr>
        <p:spPr>
          <a:xfrm>
            <a:off x="6446520" y="2103120"/>
            <a:ext cx="493776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00"/>
              <a:buFont typeface="Calibri"/>
              <a:buNone/>
            </a:pPr>
            <a:r>
              <a:rPr lang="en-US" sz="1200">
                <a:solidFill>
                  <a:srgbClr val="2D2A2C"/>
                </a:solidFill>
                <a:latin typeface="Calibri"/>
                <a:ea typeface="Calibri"/>
                <a:cs typeface="Calibri"/>
                <a:sym typeface="Calibri"/>
              </a:rPr>
              <a:t>TFR = 0.75 (2024, Statistics Korea, first uptick in a decade after a record-low 0.72 in 2023). Extreme housing and private-education costs; long working hours.</a:t>
            </a:r>
            <a:endParaRPr sz="1200">
              <a:solidFill>
                <a:schemeClr val="dk1"/>
              </a:solidFill>
              <a:latin typeface="Calibri"/>
              <a:ea typeface="Calibri"/>
              <a:cs typeface="Calibri"/>
              <a:sym typeface="Calibri"/>
            </a:endParaRPr>
          </a:p>
        </p:txBody>
      </p:sp>
      <p:sp>
        <p:nvSpPr>
          <p:cNvPr id="459" name="Google Shape;459;p28"/>
          <p:cNvSpPr txBox="1"/>
          <p:nvPr/>
        </p:nvSpPr>
        <p:spPr>
          <a:xfrm>
            <a:off x="6446520" y="3200400"/>
            <a:ext cx="49377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i="1" lang="en-US" sz="900">
                <a:solidFill>
                  <a:srgbClr val="6B6068"/>
                </a:solidFill>
                <a:latin typeface="Calibri"/>
                <a:ea typeface="Calibri"/>
                <a:cs typeface="Calibri"/>
                <a:sym typeface="Calibri"/>
              </a:rPr>
              <a:t>The Korea Herald (2025). Childbirths in Korea rebound for 1st time in nearly a decade in 2024.</a:t>
            </a:r>
            <a:endParaRPr sz="900">
              <a:solidFill>
                <a:schemeClr val="dk1"/>
              </a:solidFill>
              <a:latin typeface="Calibri"/>
              <a:ea typeface="Calibri"/>
              <a:cs typeface="Calibri"/>
              <a:sym typeface="Calibri"/>
            </a:endParaRPr>
          </a:p>
        </p:txBody>
      </p:sp>
      <p:sp>
        <p:nvSpPr>
          <p:cNvPr id="460" name="Google Shape;460;p28"/>
          <p:cNvSpPr/>
          <p:nvPr/>
        </p:nvSpPr>
        <p:spPr>
          <a:xfrm>
            <a:off x="548640" y="3840480"/>
            <a:ext cx="5394960" cy="2057400"/>
          </a:xfrm>
          <a:prstGeom prst="roundRect">
            <a:avLst>
              <a:gd fmla="val 3556" name="adj"/>
            </a:avLst>
          </a:prstGeom>
          <a:solidFill>
            <a:srgbClr val="F7EEEA"/>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8"/>
          <p:cNvSpPr txBox="1"/>
          <p:nvPr/>
        </p:nvSpPr>
        <p:spPr>
          <a:xfrm>
            <a:off x="777240" y="3977640"/>
            <a:ext cx="49377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A6B"/>
              </a:buClr>
              <a:buSzPts val="1600"/>
              <a:buFont typeface="Cambria"/>
              <a:buNone/>
            </a:pPr>
            <a:r>
              <a:rPr b="1" lang="en-US" sz="1600">
                <a:solidFill>
                  <a:srgbClr val="1B7A6B"/>
                </a:solidFill>
                <a:latin typeface="Cambria"/>
                <a:ea typeface="Cambria"/>
                <a:cs typeface="Cambria"/>
                <a:sym typeface="Cambria"/>
              </a:rPr>
              <a:t>Group C — Philippines</a:t>
            </a:r>
            <a:endParaRPr sz="1600">
              <a:solidFill>
                <a:schemeClr val="dk1"/>
              </a:solidFill>
              <a:latin typeface="Calibri"/>
              <a:ea typeface="Calibri"/>
              <a:cs typeface="Calibri"/>
              <a:sym typeface="Calibri"/>
            </a:endParaRPr>
          </a:p>
        </p:txBody>
      </p:sp>
      <p:sp>
        <p:nvSpPr>
          <p:cNvPr id="462" name="Google Shape;462;p28"/>
          <p:cNvSpPr txBox="1"/>
          <p:nvPr/>
        </p:nvSpPr>
        <p:spPr>
          <a:xfrm>
            <a:off x="777240" y="4343400"/>
            <a:ext cx="493776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00"/>
              <a:buFont typeface="Calibri"/>
              <a:buNone/>
            </a:pPr>
            <a:r>
              <a:rPr lang="en-US" sz="1200">
                <a:solidFill>
                  <a:srgbClr val="2D2A2C"/>
                </a:solidFill>
                <a:latin typeface="Calibri"/>
                <a:ea typeface="Calibri"/>
                <a:cs typeface="Calibri"/>
                <a:sym typeface="Calibri"/>
              </a:rPr>
              <a:t>TFR = 1.9 (2022 NDHS), down from 2.7 in 2017 — a rapid decline, but still the highest of the four, and just below replacement.</a:t>
            </a:r>
            <a:endParaRPr sz="1200">
              <a:solidFill>
                <a:schemeClr val="dk1"/>
              </a:solidFill>
              <a:latin typeface="Calibri"/>
              <a:ea typeface="Calibri"/>
              <a:cs typeface="Calibri"/>
              <a:sym typeface="Calibri"/>
            </a:endParaRPr>
          </a:p>
        </p:txBody>
      </p:sp>
      <p:sp>
        <p:nvSpPr>
          <p:cNvPr id="463" name="Google Shape;463;p28"/>
          <p:cNvSpPr txBox="1"/>
          <p:nvPr/>
        </p:nvSpPr>
        <p:spPr>
          <a:xfrm>
            <a:off x="777240" y="5440680"/>
            <a:ext cx="49377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i="1" lang="en-US" sz="900">
                <a:solidFill>
                  <a:srgbClr val="6B6068"/>
                </a:solidFill>
                <a:latin typeface="Calibri"/>
                <a:ea typeface="Calibri"/>
                <a:cs typeface="Calibri"/>
                <a:sym typeface="Calibri"/>
              </a:rPr>
              <a:t>Philippine Statistics Authority (2022). Total fertility rate declined from 2.7 in 2017 to 1.9 in 2022.</a:t>
            </a:r>
            <a:endParaRPr sz="900">
              <a:solidFill>
                <a:schemeClr val="dk1"/>
              </a:solidFill>
              <a:latin typeface="Calibri"/>
              <a:ea typeface="Calibri"/>
              <a:cs typeface="Calibri"/>
              <a:sym typeface="Calibri"/>
            </a:endParaRPr>
          </a:p>
        </p:txBody>
      </p:sp>
      <p:sp>
        <p:nvSpPr>
          <p:cNvPr id="464" name="Google Shape;464;p28"/>
          <p:cNvSpPr/>
          <p:nvPr/>
        </p:nvSpPr>
        <p:spPr>
          <a:xfrm>
            <a:off x="6217920" y="3840480"/>
            <a:ext cx="5394960" cy="2057400"/>
          </a:xfrm>
          <a:prstGeom prst="roundRect">
            <a:avLst>
              <a:gd fmla="val 3556" name="adj"/>
            </a:avLst>
          </a:prstGeom>
          <a:solidFill>
            <a:srgbClr val="F7EEEA"/>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8"/>
          <p:cNvSpPr txBox="1"/>
          <p:nvPr/>
        </p:nvSpPr>
        <p:spPr>
          <a:xfrm>
            <a:off x="6446520" y="3977640"/>
            <a:ext cx="49377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A6B"/>
              </a:buClr>
              <a:buSzPts val="1600"/>
              <a:buFont typeface="Cambria"/>
              <a:buNone/>
            </a:pPr>
            <a:r>
              <a:rPr b="1" lang="en-US" sz="1600">
                <a:solidFill>
                  <a:srgbClr val="1B7A6B"/>
                </a:solidFill>
                <a:latin typeface="Cambria"/>
                <a:ea typeface="Cambria"/>
                <a:cs typeface="Cambria"/>
                <a:sym typeface="Cambria"/>
              </a:rPr>
              <a:t>Group D — Nigeria</a:t>
            </a:r>
            <a:endParaRPr sz="1600">
              <a:solidFill>
                <a:schemeClr val="dk1"/>
              </a:solidFill>
              <a:latin typeface="Calibri"/>
              <a:ea typeface="Calibri"/>
              <a:cs typeface="Calibri"/>
              <a:sym typeface="Calibri"/>
            </a:endParaRPr>
          </a:p>
        </p:txBody>
      </p:sp>
      <p:sp>
        <p:nvSpPr>
          <p:cNvPr id="466" name="Google Shape;466;p28"/>
          <p:cNvSpPr txBox="1"/>
          <p:nvPr/>
        </p:nvSpPr>
        <p:spPr>
          <a:xfrm>
            <a:off x="6446520" y="4343400"/>
            <a:ext cx="493776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00"/>
              <a:buFont typeface="Calibri"/>
              <a:buNone/>
            </a:pPr>
            <a:r>
              <a:rPr lang="en-US" sz="1200">
                <a:solidFill>
                  <a:srgbClr val="2D2A2C"/>
                </a:solidFill>
                <a:latin typeface="Calibri"/>
                <a:ea typeface="Calibri"/>
                <a:cs typeface="Calibri"/>
                <a:sym typeface="Calibri"/>
              </a:rPr>
              <a:t>TFR = 4.8 (2024 NDHS), down from 5.3 in 2018. Modern contraceptive prevalence only 15%; over half of demand for family planning remains unmet in most states.</a:t>
            </a:r>
            <a:endParaRPr sz="1200">
              <a:solidFill>
                <a:schemeClr val="dk1"/>
              </a:solidFill>
              <a:latin typeface="Calibri"/>
              <a:ea typeface="Calibri"/>
              <a:cs typeface="Calibri"/>
              <a:sym typeface="Calibri"/>
            </a:endParaRPr>
          </a:p>
        </p:txBody>
      </p:sp>
      <p:sp>
        <p:nvSpPr>
          <p:cNvPr id="467" name="Google Shape;467;p28"/>
          <p:cNvSpPr txBox="1"/>
          <p:nvPr/>
        </p:nvSpPr>
        <p:spPr>
          <a:xfrm>
            <a:off x="6446520" y="5440680"/>
            <a:ext cx="49377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i="1" lang="en-US" sz="900">
                <a:solidFill>
                  <a:srgbClr val="6B6068"/>
                </a:solidFill>
                <a:latin typeface="Calibri"/>
                <a:ea typeface="Calibri"/>
                <a:cs typeface="Calibri"/>
                <a:sym typeface="Calibri"/>
              </a:rPr>
              <a:t>National Population Commission &amp; ICF (2025). Nigeria Demographic and Health Survey 2024, key indicators report.</a:t>
            </a:r>
            <a:endParaRPr sz="900">
              <a:solidFill>
                <a:schemeClr val="dk1"/>
              </a:solidFill>
              <a:latin typeface="Calibri"/>
              <a:ea typeface="Calibri"/>
              <a:cs typeface="Calibri"/>
              <a:sym typeface="Calibri"/>
            </a:endParaRPr>
          </a:p>
        </p:txBody>
      </p:sp>
      <p:sp>
        <p:nvSpPr>
          <p:cNvPr id="468" name="Google Shape;468;p28"/>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1000"/>
              <a:buFont typeface="Calibri"/>
              <a:buNone/>
            </a:pPr>
            <a:r>
              <a:rPr lang="en-US" sz="1000">
                <a:solidFill>
                  <a:srgbClr val="6B6068"/>
                </a:solidFill>
                <a:latin typeface="Calibri"/>
                <a:ea typeface="Calibri"/>
                <a:cs typeface="Calibri"/>
                <a:sym typeface="Calibri"/>
              </a:rPr>
              <a:t>5140602 Fundamental Demographic Analysis – Session 6</a:t>
            </a:r>
            <a:endParaRPr sz="1000">
              <a:solidFill>
                <a:schemeClr val="dk1"/>
              </a:solidFill>
              <a:latin typeface="Calibri"/>
              <a:ea typeface="Calibri"/>
              <a:cs typeface="Calibri"/>
              <a:sym typeface="Calibri"/>
            </a:endParaRPr>
          </a:p>
        </p:txBody>
      </p:sp>
      <p:sp>
        <p:nvSpPr>
          <p:cNvPr id="469" name="Google Shape;469;p28"/>
          <p:cNvSpPr txBox="1"/>
          <p:nvPr/>
        </p:nvSpPr>
        <p:spPr>
          <a:xfrm>
            <a:off x="3157415" y="535740"/>
            <a:ext cx="84859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2D2A2C"/>
                </a:solidFill>
                <a:latin typeface="Calibri"/>
                <a:ea typeface="Calibri"/>
                <a:cs typeface="Calibri"/>
                <a:sym typeface="Calibri"/>
              </a:rPr>
              <a:t>Order of TFR, highest to lowest (Nigeria → Philippines → Thailand → South Korea)</a:t>
            </a:r>
            <a:endParaRPr sz="2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1420"/>
        </a:solidFill>
      </p:bgPr>
    </p:bg>
    <p:spTree>
      <p:nvGrpSpPr>
        <p:cNvPr id="474" name="Shape 474"/>
        <p:cNvGrpSpPr/>
        <p:nvPr/>
      </p:nvGrpSpPr>
      <p:grpSpPr>
        <a:xfrm>
          <a:off x="0" y="0"/>
          <a:ext cx="0" cy="0"/>
          <a:chOff x="0" y="0"/>
          <a:chExt cx="0" cy="0"/>
        </a:xfrm>
      </p:grpSpPr>
      <p:sp>
        <p:nvSpPr>
          <p:cNvPr id="475" name="Google Shape;475;p29"/>
          <p:cNvSpPr/>
          <p:nvPr/>
        </p:nvSpPr>
        <p:spPr>
          <a:xfrm>
            <a:off x="8778240" y="-2011680"/>
            <a:ext cx="5943600" cy="5943600"/>
          </a:xfrm>
          <a:prstGeom prst="ellipse">
            <a:avLst/>
          </a:prstGeom>
          <a:solidFill>
            <a:srgbClr val="6D2E46">
              <a:alpha val="5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9"/>
          <p:cNvSpPr/>
          <p:nvPr/>
        </p:nvSpPr>
        <p:spPr>
          <a:xfrm>
            <a:off x="-1554480" y="4297680"/>
            <a:ext cx="2194560" cy="2194560"/>
          </a:xfrm>
          <a:prstGeom prst="ellipse">
            <a:avLst/>
          </a:prstGeom>
          <a:solidFill>
            <a:srgbClr val="A26769">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9"/>
          <p:cNvSpPr txBox="1"/>
          <p:nvPr/>
        </p:nvSpPr>
        <p:spPr>
          <a:xfrm>
            <a:off x="822960" y="2331720"/>
            <a:ext cx="9144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A441"/>
              </a:buClr>
              <a:buSzPts val="1400"/>
              <a:buFont typeface="Calibri"/>
              <a:buNone/>
            </a:pPr>
            <a:r>
              <a:rPr b="1" lang="en-US" sz="1400">
                <a:solidFill>
                  <a:srgbClr val="D9A441"/>
                </a:solidFill>
                <a:latin typeface="Calibri"/>
                <a:ea typeface="Calibri"/>
                <a:cs typeface="Calibri"/>
                <a:sym typeface="Calibri"/>
              </a:rPr>
              <a:t>BLOCK 3</a:t>
            </a:r>
            <a:endParaRPr sz="1400">
              <a:solidFill>
                <a:schemeClr val="dk1"/>
              </a:solidFill>
              <a:latin typeface="Calibri"/>
              <a:ea typeface="Calibri"/>
              <a:cs typeface="Calibri"/>
              <a:sym typeface="Calibri"/>
            </a:endParaRPr>
          </a:p>
        </p:txBody>
      </p:sp>
      <p:sp>
        <p:nvSpPr>
          <p:cNvPr id="478" name="Google Shape;478;p29"/>
          <p:cNvSpPr txBox="1"/>
          <p:nvPr/>
        </p:nvSpPr>
        <p:spPr>
          <a:xfrm>
            <a:off x="822960" y="2743200"/>
            <a:ext cx="1024128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800"/>
              <a:buFont typeface="Cambria"/>
              <a:buNone/>
            </a:pPr>
            <a:r>
              <a:rPr b="1" lang="en-US" sz="3800">
                <a:solidFill>
                  <a:srgbClr val="FFFFFF"/>
                </a:solidFill>
                <a:latin typeface="Cambria"/>
                <a:ea typeface="Cambria"/>
                <a:cs typeface="Cambria"/>
                <a:sym typeface="Cambria"/>
              </a:rPr>
              <a:t>Proximate Determinants, Contraception &amp; Unmet Need</a:t>
            </a:r>
            <a:endParaRPr sz="3800">
              <a:solidFill>
                <a:schemeClr val="dk1"/>
              </a:solidFill>
              <a:latin typeface="Calibri"/>
              <a:ea typeface="Calibri"/>
              <a:cs typeface="Calibri"/>
              <a:sym typeface="Calibri"/>
            </a:endParaRPr>
          </a:p>
        </p:txBody>
      </p:sp>
      <p:sp>
        <p:nvSpPr>
          <p:cNvPr id="479" name="Google Shape;479;p29"/>
          <p:cNvSpPr txBox="1"/>
          <p:nvPr/>
        </p:nvSpPr>
        <p:spPr>
          <a:xfrm>
            <a:off x="822960" y="4160520"/>
            <a:ext cx="96012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C7C0"/>
              </a:buClr>
              <a:buSzPts val="1600"/>
              <a:buFont typeface="Calibri"/>
              <a:buNone/>
            </a:pPr>
            <a:r>
              <a:rPr i="1" lang="en-US" sz="1600">
                <a:solidFill>
                  <a:srgbClr val="D9C7C0"/>
                </a:solidFill>
                <a:latin typeface="Calibri"/>
                <a:ea typeface="Calibri"/>
                <a:cs typeface="Calibri"/>
                <a:sym typeface="Calibri"/>
              </a:rPr>
              <a:t>The Bongaarts framework linking fecundity to observed fertility, and the real state of family planning worldwide.</a:t>
            </a:r>
            <a:endParaRPr sz="1600">
              <a:solidFill>
                <a:schemeClr val="dk1"/>
              </a:solidFill>
              <a:latin typeface="Calibri"/>
              <a:ea typeface="Calibri"/>
              <a:cs typeface="Calibri"/>
              <a:sym typeface="Calibri"/>
            </a:endParaRPr>
          </a:p>
        </p:txBody>
      </p:sp>
      <p:sp>
        <p:nvSpPr>
          <p:cNvPr id="480" name="Google Shape;480;p29"/>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5" name="Shape 485"/>
        <p:cNvGrpSpPr/>
        <p:nvPr/>
      </p:nvGrpSpPr>
      <p:grpSpPr>
        <a:xfrm>
          <a:off x="0" y="0"/>
          <a:ext cx="0" cy="0"/>
          <a:chOff x="0" y="0"/>
          <a:chExt cx="0" cy="0"/>
        </a:xfrm>
      </p:grpSpPr>
      <p:sp>
        <p:nvSpPr>
          <p:cNvPr id="486" name="Google Shape;486;p30"/>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LINKING FECUNDITY TO OBSERVED FERTILITY</a:t>
            </a:r>
            <a:endParaRPr sz="1200">
              <a:solidFill>
                <a:schemeClr val="dk1"/>
              </a:solidFill>
              <a:latin typeface="Calibri"/>
              <a:ea typeface="Calibri"/>
              <a:cs typeface="Calibri"/>
              <a:sym typeface="Calibri"/>
            </a:endParaRPr>
          </a:p>
        </p:txBody>
      </p:sp>
      <p:sp>
        <p:nvSpPr>
          <p:cNvPr id="487" name="Google Shape;487;p30"/>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The Bongaarts Framework: The Big Idea First</a:t>
            </a:r>
            <a:endParaRPr sz="3000">
              <a:solidFill>
                <a:schemeClr val="dk1"/>
              </a:solidFill>
              <a:latin typeface="Calibri"/>
              <a:ea typeface="Calibri"/>
              <a:cs typeface="Calibri"/>
              <a:sym typeface="Calibri"/>
            </a:endParaRPr>
          </a:p>
        </p:txBody>
      </p:sp>
      <p:sp>
        <p:nvSpPr>
          <p:cNvPr id="488" name="Google Shape;488;p30"/>
          <p:cNvSpPr txBox="1"/>
          <p:nvPr/>
        </p:nvSpPr>
        <p:spPr>
          <a:xfrm>
            <a:off x="548640" y="1600200"/>
            <a:ext cx="110642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450"/>
              <a:buFont typeface="Calibri"/>
              <a:buNone/>
            </a:pPr>
            <a:r>
              <a:rPr lang="en-US" sz="1450">
                <a:solidFill>
                  <a:srgbClr val="2D2A2C"/>
                </a:solidFill>
                <a:latin typeface="Calibri"/>
                <a:ea typeface="Calibri"/>
                <a:cs typeface="Calibri"/>
                <a:sym typeface="Calibri"/>
              </a:rPr>
              <a:t>Every population has a biological ceiling on fertility — total fecundity (TF), roughly 15.3 children per woman if nothing at all inhibited childbearing. No real population gets anywhere near that number. Bongaarts (1978) asked a simple question:</a:t>
            </a:r>
            <a:endParaRPr sz="1450">
              <a:solidFill>
                <a:schemeClr val="dk1"/>
              </a:solidFill>
              <a:latin typeface="Calibri"/>
              <a:ea typeface="Calibri"/>
              <a:cs typeface="Calibri"/>
              <a:sym typeface="Calibri"/>
            </a:endParaRPr>
          </a:p>
        </p:txBody>
      </p:sp>
      <p:sp>
        <p:nvSpPr>
          <p:cNvPr id="489" name="Google Shape;489;p30"/>
          <p:cNvSpPr/>
          <p:nvPr/>
        </p:nvSpPr>
        <p:spPr>
          <a:xfrm>
            <a:off x="548640" y="2468880"/>
            <a:ext cx="11064240" cy="914400"/>
          </a:xfrm>
          <a:prstGeom prst="roundRect">
            <a:avLst>
              <a:gd fmla="val 8000" name="adj"/>
            </a:avLst>
          </a:prstGeom>
          <a:solidFill>
            <a:srgbClr val="2A1420"/>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30"/>
          <p:cNvSpPr txBox="1"/>
          <p:nvPr/>
        </p:nvSpPr>
        <p:spPr>
          <a:xfrm>
            <a:off x="822960" y="2606040"/>
            <a:ext cx="10515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A441"/>
              </a:buClr>
              <a:buSzPts val="1500"/>
              <a:buFont typeface="Cambria"/>
              <a:buNone/>
            </a:pPr>
            <a:r>
              <a:rPr i="1" lang="en-US" sz="1500">
                <a:solidFill>
                  <a:srgbClr val="D9A441"/>
                </a:solidFill>
                <a:latin typeface="Cambria"/>
                <a:ea typeface="Cambria"/>
                <a:cs typeface="Cambria"/>
                <a:sym typeface="Cambria"/>
              </a:rPr>
              <a:t>"What are the specific, measurable behaviors that stand between biological potential (TF ≈ 15.3) and observed fertility (TFR), and how much does each one subtract?"</a:t>
            </a:r>
            <a:endParaRPr sz="1500">
              <a:solidFill>
                <a:schemeClr val="dk1"/>
              </a:solidFill>
              <a:latin typeface="Calibri"/>
              <a:ea typeface="Calibri"/>
              <a:cs typeface="Calibri"/>
              <a:sym typeface="Calibri"/>
            </a:endParaRPr>
          </a:p>
        </p:txBody>
      </p:sp>
      <p:sp>
        <p:nvSpPr>
          <p:cNvPr id="491" name="Google Shape;491;p30"/>
          <p:cNvSpPr txBox="1"/>
          <p:nvPr/>
        </p:nvSpPr>
        <p:spPr>
          <a:xfrm>
            <a:off x="548640" y="3611880"/>
            <a:ext cx="110642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350"/>
              <a:buFont typeface="Calibri"/>
              <a:buNone/>
            </a:pPr>
            <a:r>
              <a:rPr lang="en-US" sz="1350">
                <a:solidFill>
                  <a:srgbClr val="2D2A2C"/>
                </a:solidFill>
                <a:latin typeface="Calibri"/>
                <a:ea typeface="Calibri"/>
                <a:cs typeface="Calibri"/>
                <a:sym typeface="Calibri"/>
              </a:rPr>
              <a:t>His answer: just four proximate determinants explain almost all cross-population variation in fertility. Each is measured as an INDEX from 0 (fully inhibiting — fertility driven to zero) to 1 (no inhibiting effect at all).</a:t>
            </a:r>
            <a:endParaRPr sz="1350">
              <a:solidFill>
                <a:schemeClr val="dk1"/>
              </a:solidFill>
              <a:latin typeface="Calibri"/>
              <a:ea typeface="Calibri"/>
              <a:cs typeface="Calibri"/>
              <a:sym typeface="Calibri"/>
            </a:endParaRPr>
          </a:p>
        </p:txBody>
      </p:sp>
      <p:sp>
        <p:nvSpPr>
          <p:cNvPr id="492" name="Google Shape;492;p30"/>
          <p:cNvSpPr/>
          <p:nvPr/>
        </p:nvSpPr>
        <p:spPr>
          <a:xfrm>
            <a:off x="548640" y="4343400"/>
            <a:ext cx="2606040" cy="1463040"/>
          </a:xfrm>
          <a:prstGeom prst="roundRect">
            <a:avLst>
              <a:gd fmla="val 5000" name="adj"/>
            </a:avLst>
          </a:prstGeom>
          <a:solidFill>
            <a:srgbClr val="F1E4DE"/>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30"/>
          <p:cNvSpPr txBox="1"/>
          <p:nvPr/>
        </p:nvSpPr>
        <p:spPr>
          <a:xfrm>
            <a:off x="548640" y="4480560"/>
            <a:ext cx="260604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D2E46"/>
              </a:buClr>
              <a:buSzPts val="2800"/>
              <a:buFont typeface="Cambria"/>
              <a:buNone/>
            </a:pPr>
            <a:r>
              <a:rPr b="1" lang="en-US" sz="2800">
                <a:solidFill>
                  <a:srgbClr val="6D2E46"/>
                </a:solidFill>
                <a:latin typeface="Cambria"/>
                <a:ea typeface="Cambria"/>
                <a:cs typeface="Cambria"/>
                <a:sym typeface="Cambria"/>
              </a:rPr>
              <a:t>Cm</a:t>
            </a:r>
            <a:endParaRPr sz="2800">
              <a:solidFill>
                <a:schemeClr val="dk1"/>
              </a:solidFill>
              <a:latin typeface="Calibri"/>
              <a:ea typeface="Calibri"/>
              <a:cs typeface="Calibri"/>
              <a:sym typeface="Calibri"/>
            </a:endParaRPr>
          </a:p>
        </p:txBody>
      </p:sp>
      <p:sp>
        <p:nvSpPr>
          <p:cNvPr id="494" name="Google Shape;494;p30"/>
          <p:cNvSpPr txBox="1"/>
          <p:nvPr/>
        </p:nvSpPr>
        <p:spPr>
          <a:xfrm>
            <a:off x="640080" y="5074920"/>
            <a:ext cx="242316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2A2C"/>
              </a:buClr>
              <a:buSzPts val="1150"/>
              <a:buFont typeface="Calibri"/>
              <a:buNone/>
            </a:pPr>
            <a:r>
              <a:rPr lang="en-US" sz="1150">
                <a:solidFill>
                  <a:srgbClr val="2D2A2C"/>
                </a:solidFill>
                <a:latin typeface="Calibri"/>
                <a:ea typeface="Calibri"/>
                <a:cs typeface="Calibri"/>
                <a:sym typeface="Calibri"/>
              </a:rPr>
              <a:t>Marriage / union</a:t>
            </a:r>
            <a:endParaRPr sz="1150">
              <a:solidFill>
                <a:schemeClr val="dk1"/>
              </a:solidFill>
              <a:latin typeface="Calibri"/>
              <a:ea typeface="Calibri"/>
              <a:cs typeface="Calibri"/>
              <a:sym typeface="Calibri"/>
            </a:endParaRPr>
          </a:p>
        </p:txBody>
      </p:sp>
      <p:sp>
        <p:nvSpPr>
          <p:cNvPr id="495" name="Google Shape;495;p30"/>
          <p:cNvSpPr/>
          <p:nvPr/>
        </p:nvSpPr>
        <p:spPr>
          <a:xfrm>
            <a:off x="3337560" y="4343400"/>
            <a:ext cx="2606040" cy="1463040"/>
          </a:xfrm>
          <a:prstGeom prst="roundRect">
            <a:avLst>
              <a:gd fmla="val 5000" name="adj"/>
            </a:avLst>
          </a:prstGeom>
          <a:solidFill>
            <a:srgbClr val="F1E4DE"/>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30"/>
          <p:cNvSpPr txBox="1"/>
          <p:nvPr/>
        </p:nvSpPr>
        <p:spPr>
          <a:xfrm>
            <a:off x="3337560" y="4480560"/>
            <a:ext cx="260604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D2E46"/>
              </a:buClr>
              <a:buSzPts val="2800"/>
              <a:buFont typeface="Cambria"/>
              <a:buNone/>
            </a:pPr>
            <a:r>
              <a:rPr b="1" lang="en-US" sz="2800">
                <a:solidFill>
                  <a:srgbClr val="6D2E46"/>
                </a:solidFill>
                <a:latin typeface="Cambria"/>
                <a:ea typeface="Cambria"/>
                <a:cs typeface="Cambria"/>
                <a:sym typeface="Cambria"/>
              </a:rPr>
              <a:t>Cc</a:t>
            </a:r>
            <a:endParaRPr sz="2800">
              <a:solidFill>
                <a:schemeClr val="dk1"/>
              </a:solidFill>
              <a:latin typeface="Calibri"/>
              <a:ea typeface="Calibri"/>
              <a:cs typeface="Calibri"/>
              <a:sym typeface="Calibri"/>
            </a:endParaRPr>
          </a:p>
        </p:txBody>
      </p:sp>
      <p:sp>
        <p:nvSpPr>
          <p:cNvPr id="497" name="Google Shape;497;p30"/>
          <p:cNvSpPr txBox="1"/>
          <p:nvPr/>
        </p:nvSpPr>
        <p:spPr>
          <a:xfrm>
            <a:off x="3429000" y="5074920"/>
            <a:ext cx="242316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2A2C"/>
              </a:buClr>
              <a:buSzPts val="1150"/>
              <a:buFont typeface="Calibri"/>
              <a:buNone/>
            </a:pPr>
            <a:r>
              <a:rPr lang="en-US" sz="1150">
                <a:solidFill>
                  <a:srgbClr val="2D2A2C"/>
                </a:solidFill>
                <a:latin typeface="Calibri"/>
                <a:ea typeface="Calibri"/>
                <a:cs typeface="Calibri"/>
                <a:sym typeface="Calibri"/>
              </a:rPr>
              <a:t>Contraception</a:t>
            </a:r>
            <a:endParaRPr sz="1150">
              <a:solidFill>
                <a:schemeClr val="dk1"/>
              </a:solidFill>
              <a:latin typeface="Calibri"/>
              <a:ea typeface="Calibri"/>
              <a:cs typeface="Calibri"/>
              <a:sym typeface="Calibri"/>
            </a:endParaRPr>
          </a:p>
        </p:txBody>
      </p:sp>
      <p:sp>
        <p:nvSpPr>
          <p:cNvPr id="498" name="Google Shape;498;p30"/>
          <p:cNvSpPr/>
          <p:nvPr/>
        </p:nvSpPr>
        <p:spPr>
          <a:xfrm>
            <a:off x="6126480" y="4343400"/>
            <a:ext cx="2606040" cy="1463040"/>
          </a:xfrm>
          <a:prstGeom prst="roundRect">
            <a:avLst>
              <a:gd fmla="val 5000" name="adj"/>
            </a:avLst>
          </a:prstGeom>
          <a:solidFill>
            <a:srgbClr val="F1E4DE"/>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30"/>
          <p:cNvSpPr txBox="1"/>
          <p:nvPr/>
        </p:nvSpPr>
        <p:spPr>
          <a:xfrm>
            <a:off x="6126480" y="4480560"/>
            <a:ext cx="260604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D2E46"/>
              </a:buClr>
              <a:buSzPts val="2800"/>
              <a:buFont typeface="Cambria"/>
              <a:buNone/>
            </a:pPr>
            <a:r>
              <a:rPr b="1" lang="en-US" sz="2800">
                <a:solidFill>
                  <a:srgbClr val="6D2E46"/>
                </a:solidFill>
                <a:latin typeface="Cambria"/>
                <a:ea typeface="Cambria"/>
                <a:cs typeface="Cambria"/>
                <a:sym typeface="Cambria"/>
              </a:rPr>
              <a:t>Ca</a:t>
            </a:r>
            <a:endParaRPr sz="2800">
              <a:solidFill>
                <a:schemeClr val="dk1"/>
              </a:solidFill>
              <a:latin typeface="Calibri"/>
              <a:ea typeface="Calibri"/>
              <a:cs typeface="Calibri"/>
              <a:sym typeface="Calibri"/>
            </a:endParaRPr>
          </a:p>
        </p:txBody>
      </p:sp>
      <p:sp>
        <p:nvSpPr>
          <p:cNvPr id="500" name="Google Shape;500;p30"/>
          <p:cNvSpPr txBox="1"/>
          <p:nvPr/>
        </p:nvSpPr>
        <p:spPr>
          <a:xfrm>
            <a:off x="6217920" y="5074920"/>
            <a:ext cx="242316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2A2C"/>
              </a:buClr>
              <a:buSzPts val="1150"/>
              <a:buFont typeface="Calibri"/>
              <a:buNone/>
            </a:pPr>
            <a:r>
              <a:rPr lang="en-US" sz="1150">
                <a:solidFill>
                  <a:srgbClr val="2D2A2C"/>
                </a:solidFill>
                <a:latin typeface="Calibri"/>
                <a:ea typeface="Calibri"/>
                <a:cs typeface="Calibri"/>
                <a:sym typeface="Calibri"/>
              </a:rPr>
              <a:t>Induced abortion</a:t>
            </a:r>
            <a:endParaRPr sz="1150">
              <a:solidFill>
                <a:schemeClr val="dk1"/>
              </a:solidFill>
              <a:latin typeface="Calibri"/>
              <a:ea typeface="Calibri"/>
              <a:cs typeface="Calibri"/>
              <a:sym typeface="Calibri"/>
            </a:endParaRPr>
          </a:p>
        </p:txBody>
      </p:sp>
      <p:sp>
        <p:nvSpPr>
          <p:cNvPr id="501" name="Google Shape;501;p30"/>
          <p:cNvSpPr/>
          <p:nvPr/>
        </p:nvSpPr>
        <p:spPr>
          <a:xfrm>
            <a:off x="8915400" y="4343400"/>
            <a:ext cx="2606040" cy="1463040"/>
          </a:xfrm>
          <a:prstGeom prst="roundRect">
            <a:avLst>
              <a:gd fmla="val 5000" name="adj"/>
            </a:avLst>
          </a:prstGeom>
          <a:solidFill>
            <a:srgbClr val="F1E4DE"/>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0"/>
          <p:cNvSpPr txBox="1"/>
          <p:nvPr/>
        </p:nvSpPr>
        <p:spPr>
          <a:xfrm>
            <a:off x="8915400" y="4480560"/>
            <a:ext cx="260604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D2E46"/>
              </a:buClr>
              <a:buSzPts val="2800"/>
              <a:buFont typeface="Cambria"/>
              <a:buNone/>
            </a:pPr>
            <a:r>
              <a:rPr b="1" lang="en-US" sz="2800">
                <a:solidFill>
                  <a:srgbClr val="6D2E46"/>
                </a:solidFill>
                <a:latin typeface="Cambria"/>
                <a:ea typeface="Cambria"/>
                <a:cs typeface="Cambria"/>
                <a:sym typeface="Cambria"/>
              </a:rPr>
              <a:t>Ci</a:t>
            </a:r>
            <a:endParaRPr sz="2800">
              <a:solidFill>
                <a:schemeClr val="dk1"/>
              </a:solidFill>
              <a:latin typeface="Calibri"/>
              <a:ea typeface="Calibri"/>
              <a:cs typeface="Calibri"/>
              <a:sym typeface="Calibri"/>
            </a:endParaRPr>
          </a:p>
        </p:txBody>
      </p:sp>
      <p:sp>
        <p:nvSpPr>
          <p:cNvPr id="503" name="Google Shape;503;p30"/>
          <p:cNvSpPr txBox="1"/>
          <p:nvPr/>
        </p:nvSpPr>
        <p:spPr>
          <a:xfrm>
            <a:off x="9006840" y="5074920"/>
            <a:ext cx="242316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2A2C"/>
              </a:buClr>
              <a:buSzPts val="1150"/>
              <a:buFont typeface="Calibri"/>
              <a:buNone/>
            </a:pPr>
            <a:r>
              <a:rPr lang="en-US" sz="1150">
                <a:solidFill>
                  <a:srgbClr val="2D2A2C"/>
                </a:solidFill>
                <a:latin typeface="Calibri"/>
                <a:ea typeface="Calibri"/>
                <a:cs typeface="Calibri"/>
                <a:sym typeface="Calibri"/>
              </a:rPr>
              <a:t>Postpartum infecundability</a:t>
            </a:r>
            <a:endParaRPr sz="1150">
              <a:solidFill>
                <a:schemeClr val="dk1"/>
              </a:solidFill>
              <a:latin typeface="Calibri"/>
              <a:ea typeface="Calibri"/>
              <a:cs typeface="Calibri"/>
              <a:sym typeface="Calibri"/>
            </a:endParaRPr>
          </a:p>
        </p:txBody>
      </p:sp>
      <p:sp>
        <p:nvSpPr>
          <p:cNvPr id="504" name="Google Shape;504;p30"/>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9" name="Shape 509"/>
        <p:cNvGrpSpPr/>
        <p:nvPr/>
      </p:nvGrpSpPr>
      <p:grpSpPr>
        <a:xfrm>
          <a:off x="0" y="0"/>
          <a:ext cx="0" cy="0"/>
          <a:chOff x="0" y="0"/>
          <a:chExt cx="0" cy="0"/>
        </a:xfrm>
      </p:grpSpPr>
      <p:sp>
        <p:nvSpPr>
          <p:cNvPr id="510" name="Google Shape;510;p31"/>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PROXIMATE DETERMINANT · CM</a:t>
            </a:r>
            <a:endParaRPr sz="1200">
              <a:solidFill>
                <a:schemeClr val="dk1"/>
              </a:solidFill>
              <a:latin typeface="Calibri"/>
              <a:ea typeface="Calibri"/>
              <a:cs typeface="Calibri"/>
              <a:sym typeface="Calibri"/>
            </a:endParaRPr>
          </a:p>
        </p:txBody>
      </p:sp>
      <p:sp>
        <p:nvSpPr>
          <p:cNvPr id="511" name="Google Shape;511;p31"/>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Index of Marriage / Union (Cm)</a:t>
            </a:r>
            <a:endParaRPr sz="3000">
              <a:solidFill>
                <a:schemeClr val="dk1"/>
              </a:solidFill>
              <a:latin typeface="Calibri"/>
              <a:ea typeface="Calibri"/>
              <a:cs typeface="Calibri"/>
              <a:sym typeface="Calibri"/>
            </a:endParaRPr>
          </a:p>
        </p:txBody>
      </p:sp>
      <p:sp>
        <p:nvSpPr>
          <p:cNvPr id="512" name="Google Shape;512;p31"/>
          <p:cNvSpPr/>
          <p:nvPr/>
        </p:nvSpPr>
        <p:spPr>
          <a:xfrm>
            <a:off x="548640" y="1645920"/>
            <a:ext cx="777240" cy="777240"/>
          </a:xfrm>
          <a:prstGeom prst="ellipse">
            <a:avLst/>
          </a:prstGeom>
          <a:solidFill>
            <a:srgbClr val="6D2E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31"/>
          <p:cNvSpPr txBox="1"/>
          <p:nvPr/>
        </p:nvSpPr>
        <p:spPr>
          <a:xfrm>
            <a:off x="548640" y="1645920"/>
            <a:ext cx="7772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lang="en-US" sz="2000">
                <a:solidFill>
                  <a:srgbClr val="FFFFFF"/>
                </a:solidFill>
                <a:latin typeface="Calibri"/>
                <a:ea typeface="Calibri"/>
                <a:cs typeface="Calibri"/>
                <a:sym typeface="Calibri"/>
              </a:rPr>
              <a:t>Cm</a:t>
            </a:r>
            <a:endParaRPr sz="2000">
              <a:solidFill>
                <a:schemeClr val="dk1"/>
              </a:solidFill>
              <a:latin typeface="Calibri"/>
              <a:ea typeface="Calibri"/>
              <a:cs typeface="Calibri"/>
              <a:sym typeface="Calibri"/>
            </a:endParaRPr>
          </a:p>
        </p:txBody>
      </p:sp>
      <p:sp>
        <p:nvSpPr>
          <p:cNvPr id="514" name="Google Shape;514;p31"/>
          <p:cNvSpPr txBox="1"/>
          <p:nvPr/>
        </p:nvSpPr>
        <p:spPr>
          <a:xfrm>
            <a:off x="1554480" y="1627632"/>
            <a:ext cx="100584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400"/>
              <a:buFont typeface="Calibri"/>
              <a:buNone/>
            </a:pPr>
            <a:r>
              <a:rPr lang="en-US" sz="1400">
                <a:solidFill>
                  <a:srgbClr val="2D2A2C"/>
                </a:solidFill>
                <a:latin typeface="Calibri"/>
                <a:ea typeface="Calibri"/>
                <a:cs typeface="Calibri"/>
                <a:sym typeface="Calibri"/>
              </a:rPr>
              <a:t>Cm falls as fewer women of reproductive age are married or in a sexual union — because in most societies, most childbearing occurs within union.</a:t>
            </a:r>
            <a:endParaRPr sz="1400">
              <a:solidFill>
                <a:schemeClr val="dk1"/>
              </a:solidFill>
              <a:latin typeface="Calibri"/>
              <a:ea typeface="Calibri"/>
              <a:cs typeface="Calibri"/>
              <a:sym typeface="Calibri"/>
            </a:endParaRPr>
          </a:p>
        </p:txBody>
      </p:sp>
      <p:sp>
        <p:nvSpPr>
          <p:cNvPr id="515" name="Google Shape;515;p31"/>
          <p:cNvSpPr/>
          <p:nvPr/>
        </p:nvSpPr>
        <p:spPr>
          <a:xfrm>
            <a:off x="548640" y="2697480"/>
            <a:ext cx="11064240" cy="1417320"/>
          </a:xfrm>
          <a:prstGeom prst="roundRect">
            <a:avLst>
              <a:gd fmla="val 5161" name="adj"/>
            </a:avLst>
          </a:prstGeom>
          <a:solidFill>
            <a:srgbClr val="F1E4DE"/>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31"/>
          <p:cNvSpPr txBox="1"/>
          <p:nvPr/>
        </p:nvSpPr>
        <p:spPr>
          <a:xfrm>
            <a:off x="777240" y="2834640"/>
            <a:ext cx="10607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350"/>
              <a:buFont typeface="Calibri"/>
              <a:buNone/>
            </a:pPr>
            <a:r>
              <a:rPr b="1" lang="en-US" sz="1350">
                <a:solidFill>
                  <a:srgbClr val="6D2E46"/>
                </a:solidFill>
                <a:latin typeface="Calibri"/>
                <a:ea typeface="Calibri"/>
                <a:cs typeface="Calibri"/>
                <a:sym typeface="Calibri"/>
              </a:rPr>
              <a:t>What drives Cm down</a:t>
            </a:r>
            <a:endParaRPr sz="1350">
              <a:solidFill>
                <a:schemeClr val="dk1"/>
              </a:solidFill>
              <a:latin typeface="Calibri"/>
              <a:ea typeface="Calibri"/>
              <a:cs typeface="Calibri"/>
              <a:sym typeface="Calibri"/>
            </a:endParaRPr>
          </a:p>
        </p:txBody>
      </p:sp>
      <p:sp>
        <p:nvSpPr>
          <p:cNvPr id="517" name="Google Shape;517;p31"/>
          <p:cNvSpPr txBox="1"/>
          <p:nvPr/>
        </p:nvSpPr>
        <p:spPr>
          <a:xfrm>
            <a:off x="777240" y="3154680"/>
            <a:ext cx="1060704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50"/>
              <a:buFont typeface="Calibri"/>
              <a:buNone/>
            </a:pPr>
            <a:r>
              <a:rPr lang="en-US" sz="1250">
                <a:solidFill>
                  <a:srgbClr val="2D2A2C"/>
                </a:solidFill>
                <a:latin typeface="Calibri"/>
                <a:ea typeface="Calibri"/>
                <a:cs typeface="Calibri"/>
                <a:sym typeface="Calibri"/>
              </a:rPr>
              <a:t>Later average age at first marriage, rising proportions never-married, and rising divorce/separation all reduce the time women spend exposed to the risk of pregnancy within union.</a:t>
            </a:r>
            <a:endParaRPr sz="1250">
              <a:solidFill>
                <a:schemeClr val="dk1"/>
              </a:solidFill>
              <a:latin typeface="Calibri"/>
              <a:ea typeface="Calibri"/>
              <a:cs typeface="Calibri"/>
              <a:sym typeface="Calibri"/>
            </a:endParaRPr>
          </a:p>
        </p:txBody>
      </p:sp>
      <p:sp>
        <p:nvSpPr>
          <p:cNvPr id="518" name="Google Shape;518;p31"/>
          <p:cNvSpPr/>
          <p:nvPr/>
        </p:nvSpPr>
        <p:spPr>
          <a:xfrm>
            <a:off x="548640" y="4297680"/>
            <a:ext cx="11064240" cy="1508760"/>
          </a:xfrm>
          <a:prstGeom prst="roundRect">
            <a:avLst>
              <a:gd fmla="val 4848" name="adj"/>
            </a:avLst>
          </a:prstGeom>
          <a:solidFill>
            <a:srgbClr val="2A1420"/>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31"/>
          <p:cNvSpPr txBox="1"/>
          <p:nvPr/>
        </p:nvSpPr>
        <p:spPr>
          <a:xfrm>
            <a:off x="777240" y="4434840"/>
            <a:ext cx="10607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A441"/>
              </a:buClr>
              <a:buSzPts val="1250"/>
              <a:buFont typeface="Calibri"/>
              <a:buNone/>
            </a:pPr>
            <a:r>
              <a:rPr b="1" lang="en-US" sz="1250">
                <a:solidFill>
                  <a:srgbClr val="D9A441"/>
                </a:solidFill>
                <a:latin typeface="Calibri"/>
                <a:ea typeface="Calibri"/>
                <a:cs typeface="Calibri"/>
                <a:sym typeface="Calibri"/>
              </a:rPr>
              <a:t>Real-world driver</a:t>
            </a:r>
            <a:endParaRPr sz="1250">
              <a:solidFill>
                <a:schemeClr val="dk1"/>
              </a:solidFill>
              <a:latin typeface="Calibri"/>
              <a:ea typeface="Calibri"/>
              <a:cs typeface="Calibri"/>
              <a:sym typeface="Calibri"/>
            </a:endParaRPr>
          </a:p>
        </p:txBody>
      </p:sp>
      <p:sp>
        <p:nvSpPr>
          <p:cNvPr id="520" name="Google Shape;520;p31"/>
          <p:cNvSpPr txBox="1"/>
          <p:nvPr/>
        </p:nvSpPr>
        <p:spPr>
          <a:xfrm>
            <a:off x="777240" y="4709160"/>
            <a:ext cx="1060704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EDE8"/>
              </a:buClr>
              <a:buSzPts val="1200"/>
              <a:buFont typeface="Calibri"/>
              <a:buNone/>
            </a:pPr>
            <a:r>
              <a:rPr lang="en-US" sz="1200">
                <a:solidFill>
                  <a:srgbClr val="F5EDE8"/>
                </a:solidFill>
                <a:latin typeface="Calibri"/>
                <a:ea typeface="Calibri"/>
                <a:cs typeface="Calibri"/>
                <a:sym typeface="Calibri"/>
              </a:rPr>
              <a:t>In contemporary Thailand and South Korea, Cm — not contraception — is now the dominant driver of low fertility: marriage itself is being delayed or foregone, so very little childbearing opportunity exists in the first place, regardless of contraceptive access.</a:t>
            </a:r>
            <a:endParaRPr sz="1200">
              <a:solidFill>
                <a:schemeClr val="dk1"/>
              </a:solidFill>
              <a:latin typeface="Calibri"/>
              <a:ea typeface="Calibri"/>
              <a:cs typeface="Calibri"/>
              <a:sym typeface="Calibri"/>
            </a:endParaRPr>
          </a:p>
        </p:txBody>
      </p:sp>
      <p:sp>
        <p:nvSpPr>
          <p:cNvPr id="521" name="Google Shape;521;p31"/>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6" name="Shape 526"/>
        <p:cNvGrpSpPr/>
        <p:nvPr/>
      </p:nvGrpSpPr>
      <p:grpSpPr>
        <a:xfrm>
          <a:off x="0" y="0"/>
          <a:ext cx="0" cy="0"/>
          <a:chOff x="0" y="0"/>
          <a:chExt cx="0" cy="0"/>
        </a:xfrm>
      </p:grpSpPr>
      <p:sp>
        <p:nvSpPr>
          <p:cNvPr id="527" name="Google Shape;527;p32"/>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PROXIMATE DETERMINANT · CC</a:t>
            </a:r>
            <a:endParaRPr sz="1200">
              <a:solidFill>
                <a:schemeClr val="dk1"/>
              </a:solidFill>
              <a:latin typeface="Calibri"/>
              <a:ea typeface="Calibri"/>
              <a:cs typeface="Calibri"/>
              <a:sym typeface="Calibri"/>
            </a:endParaRPr>
          </a:p>
        </p:txBody>
      </p:sp>
      <p:sp>
        <p:nvSpPr>
          <p:cNvPr id="528" name="Google Shape;528;p32"/>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Index of Contraception (Cc)</a:t>
            </a:r>
            <a:endParaRPr sz="3000">
              <a:solidFill>
                <a:schemeClr val="dk1"/>
              </a:solidFill>
              <a:latin typeface="Calibri"/>
              <a:ea typeface="Calibri"/>
              <a:cs typeface="Calibri"/>
              <a:sym typeface="Calibri"/>
            </a:endParaRPr>
          </a:p>
        </p:txBody>
      </p:sp>
      <p:sp>
        <p:nvSpPr>
          <p:cNvPr id="529" name="Google Shape;529;p32"/>
          <p:cNvSpPr/>
          <p:nvPr/>
        </p:nvSpPr>
        <p:spPr>
          <a:xfrm>
            <a:off x="548640" y="1645920"/>
            <a:ext cx="777240" cy="777240"/>
          </a:xfrm>
          <a:prstGeom prst="ellipse">
            <a:avLst/>
          </a:prstGeom>
          <a:solidFill>
            <a:srgbClr val="6D2E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32"/>
          <p:cNvSpPr txBox="1"/>
          <p:nvPr/>
        </p:nvSpPr>
        <p:spPr>
          <a:xfrm>
            <a:off x="548640" y="1645920"/>
            <a:ext cx="7772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lang="en-US" sz="2000">
                <a:solidFill>
                  <a:srgbClr val="FFFFFF"/>
                </a:solidFill>
                <a:latin typeface="Calibri"/>
                <a:ea typeface="Calibri"/>
                <a:cs typeface="Calibri"/>
                <a:sym typeface="Calibri"/>
              </a:rPr>
              <a:t>Cc</a:t>
            </a:r>
            <a:endParaRPr sz="2000">
              <a:solidFill>
                <a:schemeClr val="dk1"/>
              </a:solidFill>
              <a:latin typeface="Calibri"/>
              <a:ea typeface="Calibri"/>
              <a:cs typeface="Calibri"/>
              <a:sym typeface="Calibri"/>
            </a:endParaRPr>
          </a:p>
        </p:txBody>
      </p:sp>
      <p:sp>
        <p:nvSpPr>
          <p:cNvPr id="531" name="Google Shape;531;p32"/>
          <p:cNvSpPr txBox="1"/>
          <p:nvPr/>
        </p:nvSpPr>
        <p:spPr>
          <a:xfrm>
            <a:off x="1554480" y="1627632"/>
            <a:ext cx="100584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400"/>
              <a:buFont typeface="Calibri"/>
              <a:buNone/>
            </a:pPr>
            <a:r>
              <a:rPr lang="en-US" sz="1400">
                <a:solidFill>
                  <a:srgbClr val="2D2A2C"/>
                </a:solidFill>
                <a:latin typeface="Calibri"/>
                <a:ea typeface="Calibri"/>
                <a:cs typeface="Calibri"/>
                <a:sym typeface="Calibri"/>
              </a:rPr>
              <a:t>Cc falls as contraceptive prevalence rises and as the methods used become more effective (e.g., sterilization and IUDs inhibit fertility far more than periodic abstinence).</a:t>
            </a:r>
            <a:endParaRPr sz="1400">
              <a:solidFill>
                <a:schemeClr val="dk1"/>
              </a:solidFill>
              <a:latin typeface="Calibri"/>
              <a:ea typeface="Calibri"/>
              <a:cs typeface="Calibri"/>
              <a:sym typeface="Calibri"/>
            </a:endParaRPr>
          </a:p>
        </p:txBody>
      </p:sp>
      <p:sp>
        <p:nvSpPr>
          <p:cNvPr id="532" name="Google Shape;532;p32"/>
          <p:cNvSpPr/>
          <p:nvPr/>
        </p:nvSpPr>
        <p:spPr>
          <a:xfrm>
            <a:off x="548640" y="2697480"/>
            <a:ext cx="11064240" cy="1417320"/>
          </a:xfrm>
          <a:prstGeom prst="roundRect">
            <a:avLst>
              <a:gd fmla="val 5161" name="adj"/>
            </a:avLst>
          </a:prstGeom>
          <a:solidFill>
            <a:srgbClr val="F1E4DE"/>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32"/>
          <p:cNvSpPr txBox="1"/>
          <p:nvPr/>
        </p:nvSpPr>
        <p:spPr>
          <a:xfrm>
            <a:off x="777240" y="2834640"/>
            <a:ext cx="10607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350"/>
              <a:buFont typeface="Calibri"/>
              <a:buNone/>
            </a:pPr>
            <a:r>
              <a:rPr b="1" lang="en-US" sz="1350">
                <a:solidFill>
                  <a:srgbClr val="6D2E46"/>
                </a:solidFill>
                <a:latin typeface="Calibri"/>
                <a:ea typeface="Calibri"/>
                <a:cs typeface="Calibri"/>
                <a:sym typeface="Calibri"/>
              </a:rPr>
              <a:t>What drives Cc down</a:t>
            </a:r>
            <a:endParaRPr sz="1350">
              <a:solidFill>
                <a:schemeClr val="dk1"/>
              </a:solidFill>
              <a:latin typeface="Calibri"/>
              <a:ea typeface="Calibri"/>
              <a:cs typeface="Calibri"/>
              <a:sym typeface="Calibri"/>
            </a:endParaRPr>
          </a:p>
        </p:txBody>
      </p:sp>
      <p:sp>
        <p:nvSpPr>
          <p:cNvPr id="534" name="Google Shape;534;p32"/>
          <p:cNvSpPr txBox="1"/>
          <p:nvPr/>
        </p:nvSpPr>
        <p:spPr>
          <a:xfrm>
            <a:off x="777240" y="3154680"/>
            <a:ext cx="1060704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50"/>
              <a:buFont typeface="Calibri"/>
              <a:buNone/>
            </a:pPr>
            <a:r>
              <a:rPr lang="en-US" sz="1250">
                <a:solidFill>
                  <a:srgbClr val="2D2A2C"/>
                </a:solidFill>
                <a:latin typeface="Calibri"/>
                <a:ea typeface="Calibri"/>
                <a:cs typeface="Calibri"/>
                <a:sym typeface="Calibri"/>
              </a:rPr>
              <a:t>Expanding family-planning programs, health-system integration of contraceptive services, and a shift in method mix toward long-acting, highly effective modern methods.</a:t>
            </a:r>
            <a:endParaRPr sz="1250">
              <a:solidFill>
                <a:schemeClr val="dk1"/>
              </a:solidFill>
              <a:latin typeface="Calibri"/>
              <a:ea typeface="Calibri"/>
              <a:cs typeface="Calibri"/>
              <a:sym typeface="Calibri"/>
            </a:endParaRPr>
          </a:p>
        </p:txBody>
      </p:sp>
      <p:sp>
        <p:nvSpPr>
          <p:cNvPr id="535" name="Google Shape;535;p32"/>
          <p:cNvSpPr/>
          <p:nvPr/>
        </p:nvSpPr>
        <p:spPr>
          <a:xfrm>
            <a:off x="548640" y="4297680"/>
            <a:ext cx="11064240" cy="1508760"/>
          </a:xfrm>
          <a:prstGeom prst="roundRect">
            <a:avLst>
              <a:gd fmla="val 4848" name="adj"/>
            </a:avLst>
          </a:prstGeom>
          <a:solidFill>
            <a:srgbClr val="2A1420"/>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32"/>
          <p:cNvSpPr txBox="1"/>
          <p:nvPr/>
        </p:nvSpPr>
        <p:spPr>
          <a:xfrm>
            <a:off x="777240" y="4434840"/>
            <a:ext cx="10607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A441"/>
              </a:buClr>
              <a:buSzPts val="1250"/>
              <a:buFont typeface="Calibri"/>
              <a:buNone/>
            </a:pPr>
            <a:r>
              <a:rPr b="1" lang="en-US" sz="1250">
                <a:solidFill>
                  <a:srgbClr val="D9A441"/>
                </a:solidFill>
                <a:latin typeface="Calibri"/>
                <a:ea typeface="Calibri"/>
                <a:cs typeface="Calibri"/>
                <a:sym typeface="Calibri"/>
              </a:rPr>
              <a:t>Real-world driver</a:t>
            </a:r>
            <a:endParaRPr sz="1250">
              <a:solidFill>
                <a:schemeClr val="dk1"/>
              </a:solidFill>
              <a:latin typeface="Calibri"/>
              <a:ea typeface="Calibri"/>
              <a:cs typeface="Calibri"/>
              <a:sym typeface="Calibri"/>
            </a:endParaRPr>
          </a:p>
        </p:txBody>
      </p:sp>
      <p:sp>
        <p:nvSpPr>
          <p:cNvPr id="537" name="Google Shape;537;p32"/>
          <p:cNvSpPr txBox="1"/>
          <p:nvPr/>
        </p:nvSpPr>
        <p:spPr>
          <a:xfrm>
            <a:off x="777240" y="4709160"/>
            <a:ext cx="1060704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EDE8"/>
              </a:buClr>
              <a:buSzPts val="1200"/>
              <a:buFont typeface="Calibri"/>
              <a:buNone/>
            </a:pPr>
            <a:r>
              <a:rPr lang="en-US" sz="1200">
                <a:solidFill>
                  <a:srgbClr val="F5EDE8"/>
                </a:solidFill>
                <a:latin typeface="Calibri"/>
                <a:ea typeface="Calibri"/>
                <a:cs typeface="Calibri"/>
                <a:sym typeface="Calibri"/>
              </a:rPr>
              <a:t>Thailand's own history is the textbook case: contraceptive prevalence rose from 14.8% (1970) to roughly 79% by the early 2010s — one of Asia's fastest family-planning transitions, driven initially by a strong national program.</a:t>
            </a:r>
            <a:endParaRPr sz="1200">
              <a:solidFill>
                <a:schemeClr val="dk1"/>
              </a:solidFill>
              <a:latin typeface="Calibri"/>
              <a:ea typeface="Calibri"/>
              <a:cs typeface="Calibri"/>
              <a:sym typeface="Calibri"/>
            </a:endParaRPr>
          </a:p>
        </p:txBody>
      </p:sp>
      <p:sp>
        <p:nvSpPr>
          <p:cNvPr id="538" name="Google Shape;538;p32"/>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3" name="Shape 543"/>
        <p:cNvGrpSpPr/>
        <p:nvPr/>
      </p:nvGrpSpPr>
      <p:grpSpPr>
        <a:xfrm>
          <a:off x="0" y="0"/>
          <a:ext cx="0" cy="0"/>
          <a:chOff x="0" y="0"/>
          <a:chExt cx="0" cy="0"/>
        </a:xfrm>
      </p:grpSpPr>
      <p:sp>
        <p:nvSpPr>
          <p:cNvPr id="544" name="Google Shape;544;p33"/>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PROXIMATE DETERMINANT · CA</a:t>
            </a:r>
            <a:endParaRPr sz="1200">
              <a:solidFill>
                <a:schemeClr val="dk1"/>
              </a:solidFill>
              <a:latin typeface="Calibri"/>
              <a:ea typeface="Calibri"/>
              <a:cs typeface="Calibri"/>
              <a:sym typeface="Calibri"/>
            </a:endParaRPr>
          </a:p>
        </p:txBody>
      </p:sp>
      <p:sp>
        <p:nvSpPr>
          <p:cNvPr id="545" name="Google Shape;545;p33"/>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Index of Induced Abortion (Ca)</a:t>
            </a:r>
            <a:endParaRPr sz="3000">
              <a:solidFill>
                <a:schemeClr val="dk1"/>
              </a:solidFill>
              <a:latin typeface="Calibri"/>
              <a:ea typeface="Calibri"/>
              <a:cs typeface="Calibri"/>
              <a:sym typeface="Calibri"/>
            </a:endParaRPr>
          </a:p>
        </p:txBody>
      </p:sp>
      <p:sp>
        <p:nvSpPr>
          <p:cNvPr id="546" name="Google Shape;546;p33"/>
          <p:cNvSpPr/>
          <p:nvPr/>
        </p:nvSpPr>
        <p:spPr>
          <a:xfrm>
            <a:off x="548640" y="1645920"/>
            <a:ext cx="777240" cy="777240"/>
          </a:xfrm>
          <a:prstGeom prst="ellipse">
            <a:avLst/>
          </a:prstGeom>
          <a:solidFill>
            <a:srgbClr val="6D2E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33"/>
          <p:cNvSpPr txBox="1"/>
          <p:nvPr/>
        </p:nvSpPr>
        <p:spPr>
          <a:xfrm>
            <a:off x="548640" y="1645920"/>
            <a:ext cx="7772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lang="en-US" sz="2000">
                <a:solidFill>
                  <a:srgbClr val="FFFFFF"/>
                </a:solidFill>
                <a:latin typeface="Calibri"/>
                <a:ea typeface="Calibri"/>
                <a:cs typeface="Calibri"/>
                <a:sym typeface="Calibri"/>
              </a:rPr>
              <a:t>Ca</a:t>
            </a:r>
            <a:endParaRPr sz="2000">
              <a:solidFill>
                <a:schemeClr val="dk1"/>
              </a:solidFill>
              <a:latin typeface="Calibri"/>
              <a:ea typeface="Calibri"/>
              <a:cs typeface="Calibri"/>
              <a:sym typeface="Calibri"/>
            </a:endParaRPr>
          </a:p>
        </p:txBody>
      </p:sp>
      <p:sp>
        <p:nvSpPr>
          <p:cNvPr id="548" name="Google Shape;548;p33"/>
          <p:cNvSpPr txBox="1"/>
          <p:nvPr/>
        </p:nvSpPr>
        <p:spPr>
          <a:xfrm>
            <a:off x="1554480" y="1627632"/>
            <a:ext cx="100584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400"/>
              <a:buFont typeface="Calibri"/>
              <a:buNone/>
            </a:pPr>
            <a:r>
              <a:rPr lang="en-US" sz="1400">
                <a:solidFill>
                  <a:srgbClr val="2D2A2C"/>
                </a:solidFill>
                <a:latin typeface="Calibri"/>
                <a:ea typeface="Calibri"/>
                <a:cs typeface="Calibri"/>
                <a:sym typeface="Calibri"/>
              </a:rPr>
              <a:t>Ca falls as the rate of induced abortion rises, since each induced abortion removes a pregnancy that would otherwise have resulted in a live birth.</a:t>
            </a:r>
            <a:endParaRPr sz="1400">
              <a:solidFill>
                <a:schemeClr val="dk1"/>
              </a:solidFill>
              <a:latin typeface="Calibri"/>
              <a:ea typeface="Calibri"/>
              <a:cs typeface="Calibri"/>
              <a:sym typeface="Calibri"/>
            </a:endParaRPr>
          </a:p>
        </p:txBody>
      </p:sp>
      <p:sp>
        <p:nvSpPr>
          <p:cNvPr id="549" name="Google Shape;549;p33"/>
          <p:cNvSpPr/>
          <p:nvPr/>
        </p:nvSpPr>
        <p:spPr>
          <a:xfrm>
            <a:off x="548640" y="2697480"/>
            <a:ext cx="11064240" cy="1417320"/>
          </a:xfrm>
          <a:prstGeom prst="roundRect">
            <a:avLst>
              <a:gd fmla="val 5161" name="adj"/>
            </a:avLst>
          </a:prstGeom>
          <a:solidFill>
            <a:srgbClr val="F1E4DE"/>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33"/>
          <p:cNvSpPr txBox="1"/>
          <p:nvPr/>
        </p:nvSpPr>
        <p:spPr>
          <a:xfrm>
            <a:off x="777240" y="2834640"/>
            <a:ext cx="10607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350"/>
              <a:buFont typeface="Calibri"/>
              <a:buNone/>
            </a:pPr>
            <a:r>
              <a:rPr b="1" lang="en-US" sz="1350">
                <a:solidFill>
                  <a:srgbClr val="6D2E46"/>
                </a:solidFill>
                <a:latin typeface="Calibri"/>
                <a:ea typeface="Calibri"/>
                <a:cs typeface="Calibri"/>
                <a:sym typeface="Calibri"/>
              </a:rPr>
              <a:t>What drives Ca down</a:t>
            </a:r>
            <a:endParaRPr sz="1350">
              <a:solidFill>
                <a:schemeClr val="dk1"/>
              </a:solidFill>
              <a:latin typeface="Calibri"/>
              <a:ea typeface="Calibri"/>
              <a:cs typeface="Calibri"/>
              <a:sym typeface="Calibri"/>
            </a:endParaRPr>
          </a:p>
        </p:txBody>
      </p:sp>
      <p:sp>
        <p:nvSpPr>
          <p:cNvPr id="551" name="Google Shape;551;p33"/>
          <p:cNvSpPr txBox="1"/>
          <p:nvPr/>
        </p:nvSpPr>
        <p:spPr>
          <a:xfrm>
            <a:off x="777240" y="3154680"/>
            <a:ext cx="1060704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50"/>
              <a:buFont typeface="Calibri"/>
              <a:buNone/>
            </a:pPr>
            <a:r>
              <a:rPr lang="en-US" sz="1250">
                <a:solidFill>
                  <a:srgbClr val="2D2A2C"/>
                </a:solidFill>
                <a:latin typeface="Calibri"/>
                <a:ea typeface="Calibri"/>
                <a:cs typeface="Calibri"/>
                <a:sym typeface="Calibri"/>
              </a:rPr>
              <a:t>Legal access to safe abortion, but also high rates of induced abortion under restrictive legal regimes (unsafe, clandestine abortion still counts toward Ca in the demographic sense, even though it carries severe health risks.)</a:t>
            </a:r>
            <a:endParaRPr sz="1250">
              <a:solidFill>
                <a:schemeClr val="dk1"/>
              </a:solidFill>
              <a:latin typeface="Calibri"/>
              <a:ea typeface="Calibri"/>
              <a:cs typeface="Calibri"/>
              <a:sym typeface="Calibri"/>
            </a:endParaRPr>
          </a:p>
        </p:txBody>
      </p:sp>
      <p:sp>
        <p:nvSpPr>
          <p:cNvPr id="552" name="Google Shape;552;p33"/>
          <p:cNvSpPr/>
          <p:nvPr/>
        </p:nvSpPr>
        <p:spPr>
          <a:xfrm>
            <a:off x="548640" y="4297680"/>
            <a:ext cx="11064240" cy="1508760"/>
          </a:xfrm>
          <a:prstGeom prst="roundRect">
            <a:avLst>
              <a:gd fmla="val 4848" name="adj"/>
            </a:avLst>
          </a:prstGeom>
          <a:solidFill>
            <a:srgbClr val="2A1420"/>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33"/>
          <p:cNvSpPr txBox="1"/>
          <p:nvPr/>
        </p:nvSpPr>
        <p:spPr>
          <a:xfrm>
            <a:off x="777240" y="4434840"/>
            <a:ext cx="10607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A441"/>
              </a:buClr>
              <a:buSzPts val="1250"/>
              <a:buFont typeface="Calibri"/>
              <a:buNone/>
            </a:pPr>
            <a:r>
              <a:rPr b="1" lang="en-US" sz="1250">
                <a:solidFill>
                  <a:srgbClr val="D9A441"/>
                </a:solidFill>
                <a:latin typeface="Calibri"/>
                <a:ea typeface="Calibri"/>
                <a:cs typeface="Calibri"/>
                <a:sym typeface="Calibri"/>
              </a:rPr>
              <a:t>Real-world driver</a:t>
            </a:r>
            <a:endParaRPr sz="1250">
              <a:solidFill>
                <a:schemeClr val="dk1"/>
              </a:solidFill>
              <a:latin typeface="Calibri"/>
              <a:ea typeface="Calibri"/>
              <a:cs typeface="Calibri"/>
              <a:sym typeface="Calibri"/>
            </a:endParaRPr>
          </a:p>
        </p:txBody>
      </p:sp>
      <p:sp>
        <p:nvSpPr>
          <p:cNvPr id="554" name="Google Shape;554;p33"/>
          <p:cNvSpPr txBox="1"/>
          <p:nvPr/>
        </p:nvSpPr>
        <p:spPr>
          <a:xfrm>
            <a:off x="777240" y="4709160"/>
            <a:ext cx="1060704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EDE8"/>
              </a:buClr>
              <a:buSzPts val="1200"/>
              <a:buFont typeface="Calibri"/>
              <a:buNone/>
            </a:pPr>
            <a:r>
              <a:rPr lang="en-US" sz="1200">
                <a:solidFill>
                  <a:srgbClr val="F5EDE8"/>
                </a:solidFill>
                <a:latin typeface="Calibri"/>
                <a:ea typeface="Calibri"/>
                <a:cs typeface="Calibri"/>
                <a:sym typeface="Calibri"/>
              </a:rPr>
              <a:t>During East Asia's rapid fertility decline (1960s–1980s), several countries — South Korea among them — relied heavily on induced abortion alongside rising contraceptive use; Ca and Cc fell together rather than sequentially.</a:t>
            </a:r>
            <a:endParaRPr sz="1200">
              <a:solidFill>
                <a:schemeClr val="dk1"/>
              </a:solidFill>
              <a:latin typeface="Calibri"/>
              <a:ea typeface="Calibri"/>
              <a:cs typeface="Calibri"/>
              <a:sym typeface="Calibri"/>
            </a:endParaRPr>
          </a:p>
        </p:txBody>
      </p:sp>
      <p:sp>
        <p:nvSpPr>
          <p:cNvPr id="555" name="Google Shape;555;p33"/>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0" name="Shape 560"/>
        <p:cNvGrpSpPr/>
        <p:nvPr/>
      </p:nvGrpSpPr>
      <p:grpSpPr>
        <a:xfrm>
          <a:off x="0" y="0"/>
          <a:ext cx="0" cy="0"/>
          <a:chOff x="0" y="0"/>
          <a:chExt cx="0" cy="0"/>
        </a:xfrm>
      </p:grpSpPr>
      <p:sp>
        <p:nvSpPr>
          <p:cNvPr id="561" name="Google Shape;561;p34"/>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PROXIMATE DETERMINANT · CI</a:t>
            </a:r>
            <a:endParaRPr sz="1200">
              <a:solidFill>
                <a:schemeClr val="dk1"/>
              </a:solidFill>
              <a:latin typeface="Calibri"/>
              <a:ea typeface="Calibri"/>
              <a:cs typeface="Calibri"/>
              <a:sym typeface="Calibri"/>
            </a:endParaRPr>
          </a:p>
        </p:txBody>
      </p:sp>
      <p:sp>
        <p:nvSpPr>
          <p:cNvPr id="562" name="Google Shape;562;p34"/>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Index of Postpartum Infecundability (Ci)</a:t>
            </a:r>
            <a:endParaRPr sz="3000">
              <a:solidFill>
                <a:schemeClr val="dk1"/>
              </a:solidFill>
              <a:latin typeface="Calibri"/>
              <a:ea typeface="Calibri"/>
              <a:cs typeface="Calibri"/>
              <a:sym typeface="Calibri"/>
            </a:endParaRPr>
          </a:p>
        </p:txBody>
      </p:sp>
      <p:sp>
        <p:nvSpPr>
          <p:cNvPr id="563" name="Google Shape;563;p34"/>
          <p:cNvSpPr/>
          <p:nvPr/>
        </p:nvSpPr>
        <p:spPr>
          <a:xfrm>
            <a:off x="548640" y="1645920"/>
            <a:ext cx="777240" cy="777240"/>
          </a:xfrm>
          <a:prstGeom prst="ellipse">
            <a:avLst/>
          </a:prstGeom>
          <a:solidFill>
            <a:srgbClr val="6D2E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34"/>
          <p:cNvSpPr txBox="1"/>
          <p:nvPr/>
        </p:nvSpPr>
        <p:spPr>
          <a:xfrm>
            <a:off x="548640" y="1645920"/>
            <a:ext cx="7772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lang="en-US" sz="2000">
                <a:solidFill>
                  <a:srgbClr val="FFFFFF"/>
                </a:solidFill>
                <a:latin typeface="Calibri"/>
                <a:ea typeface="Calibri"/>
                <a:cs typeface="Calibri"/>
                <a:sym typeface="Calibri"/>
              </a:rPr>
              <a:t>Ci</a:t>
            </a:r>
            <a:endParaRPr sz="2000">
              <a:solidFill>
                <a:schemeClr val="dk1"/>
              </a:solidFill>
              <a:latin typeface="Calibri"/>
              <a:ea typeface="Calibri"/>
              <a:cs typeface="Calibri"/>
              <a:sym typeface="Calibri"/>
            </a:endParaRPr>
          </a:p>
        </p:txBody>
      </p:sp>
      <p:sp>
        <p:nvSpPr>
          <p:cNvPr id="565" name="Google Shape;565;p34"/>
          <p:cNvSpPr txBox="1"/>
          <p:nvPr/>
        </p:nvSpPr>
        <p:spPr>
          <a:xfrm>
            <a:off x="1554480" y="1627632"/>
            <a:ext cx="100584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400"/>
              <a:buFont typeface="Calibri"/>
              <a:buNone/>
            </a:pPr>
            <a:r>
              <a:rPr lang="en-US" sz="1400">
                <a:solidFill>
                  <a:srgbClr val="2D2A2C"/>
                </a:solidFill>
                <a:latin typeface="Calibri"/>
                <a:ea typeface="Calibri"/>
                <a:cs typeface="Calibri"/>
                <a:sym typeface="Calibri"/>
              </a:rPr>
              <a:t>Ci falls as the average duration of postpartum infecundability lengthens — mainly driven by longer, more intensive breastfeeding, which suppresses ovulation.</a:t>
            </a:r>
            <a:endParaRPr sz="1400">
              <a:solidFill>
                <a:schemeClr val="dk1"/>
              </a:solidFill>
              <a:latin typeface="Calibri"/>
              <a:ea typeface="Calibri"/>
              <a:cs typeface="Calibri"/>
              <a:sym typeface="Calibri"/>
            </a:endParaRPr>
          </a:p>
        </p:txBody>
      </p:sp>
      <p:sp>
        <p:nvSpPr>
          <p:cNvPr id="566" name="Google Shape;566;p34"/>
          <p:cNvSpPr/>
          <p:nvPr/>
        </p:nvSpPr>
        <p:spPr>
          <a:xfrm>
            <a:off x="548640" y="2697480"/>
            <a:ext cx="11064240" cy="1417320"/>
          </a:xfrm>
          <a:prstGeom prst="roundRect">
            <a:avLst>
              <a:gd fmla="val 5161" name="adj"/>
            </a:avLst>
          </a:prstGeom>
          <a:solidFill>
            <a:srgbClr val="F1E4DE"/>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34"/>
          <p:cNvSpPr txBox="1"/>
          <p:nvPr/>
        </p:nvSpPr>
        <p:spPr>
          <a:xfrm>
            <a:off x="777240" y="2834640"/>
            <a:ext cx="10607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350"/>
              <a:buFont typeface="Calibri"/>
              <a:buNone/>
            </a:pPr>
            <a:r>
              <a:rPr b="1" lang="en-US" sz="1350">
                <a:solidFill>
                  <a:srgbClr val="6D2E46"/>
                </a:solidFill>
                <a:latin typeface="Calibri"/>
                <a:ea typeface="Calibri"/>
                <a:cs typeface="Calibri"/>
                <a:sym typeface="Calibri"/>
              </a:rPr>
              <a:t>What drives Ci down (i.e., MORE inhibition)</a:t>
            </a:r>
            <a:endParaRPr sz="1350">
              <a:solidFill>
                <a:schemeClr val="dk1"/>
              </a:solidFill>
              <a:latin typeface="Calibri"/>
              <a:ea typeface="Calibri"/>
              <a:cs typeface="Calibri"/>
              <a:sym typeface="Calibri"/>
            </a:endParaRPr>
          </a:p>
        </p:txBody>
      </p:sp>
      <p:sp>
        <p:nvSpPr>
          <p:cNvPr id="568" name="Google Shape;568;p34"/>
          <p:cNvSpPr txBox="1"/>
          <p:nvPr/>
        </p:nvSpPr>
        <p:spPr>
          <a:xfrm>
            <a:off x="777240" y="3154680"/>
            <a:ext cx="1060704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50"/>
              <a:buFont typeface="Calibri"/>
              <a:buNone/>
            </a:pPr>
            <a:r>
              <a:rPr lang="en-US" sz="1250">
                <a:solidFill>
                  <a:srgbClr val="2D2A2C"/>
                </a:solidFill>
                <a:latin typeface="Calibri"/>
                <a:ea typeface="Calibri"/>
                <a:cs typeface="Calibri"/>
                <a:sym typeface="Calibri"/>
              </a:rPr>
              <a:t>Longer average breastfeeding duration and postpartum abstinence norms extend the biological "resting" period after each birth, naturally spacing births further apart even without any contraceptive use.</a:t>
            </a:r>
            <a:endParaRPr sz="1250">
              <a:solidFill>
                <a:schemeClr val="dk1"/>
              </a:solidFill>
              <a:latin typeface="Calibri"/>
              <a:ea typeface="Calibri"/>
              <a:cs typeface="Calibri"/>
              <a:sym typeface="Calibri"/>
            </a:endParaRPr>
          </a:p>
        </p:txBody>
      </p:sp>
      <p:sp>
        <p:nvSpPr>
          <p:cNvPr id="569" name="Google Shape;569;p34"/>
          <p:cNvSpPr/>
          <p:nvPr/>
        </p:nvSpPr>
        <p:spPr>
          <a:xfrm>
            <a:off x="548640" y="4297680"/>
            <a:ext cx="11064240" cy="1508760"/>
          </a:xfrm>
          <a:prstGeom prst="roundRect">
            <a:avLst>
              <a:gd fmla="val 4848" name="adj"/>
            </a:avLst>
          </a:prstGeom>
          <a:solidFill>
            <a:srgbClr val="2A1420"/>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34"/>
          <p:cNvSpPr txBox="1"/>
          <p:nvPr/>
        </p:nvSpPr>
        <p:spPr>
          <a:xfrm>
            <a:off x="777240" y="4434840"/>
            <a:ext cx="10607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A441"/>
              </a:buClr>
              <a:buSzPts val="1250"/>
              <a:buFont typeface="Calibri"/>
              <a:buNone/>
            </a:pPr>
            <a:r>
              <a:rPr b="1" lang="en-US" sz="1250">
                <a:solidFill>
                  <a:srgbClr val="D9A441"/>
                </a:solidFill>
                <a:latin typeface="Calibri"/>
                <a:ea typeface="Calibri"/>
                <a:cs typeface="Calibri"/>
                <a:sym typeface="Calibri"/>
              </a:rPr>
              <a:t>Real-world driver</a:t>
            </a:r>
            <a:endParaRPr sz="1250">
              <a:solidFill>
                <a:schemeClr val="dk1"/>
              </a:solidFill>
              <a:latin typeface="Calibri"/>
              <a:ea typeface="Calibri"/>
              <a:cs typeface="Calibri"/>
              <a:sym typeface="Calibri"/>
            </a:endParaRPr>
          </a:p>
        </p:txBody>
      </p:sp>
      <p:sp>
        <p:nvSpPr>
          <p:cNvPr id="571" name="Google Shape;571;p34"/>
          <p:cNvSpPr txBox="1"/>
          <p:nvPr/>
        </p:nvSpPr>
        <p:spPr>
          <a:xfrm>
            <a:off x="777240" y="4709160"/>
            <a:ext cx="1060704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EDE8"/>
              </a:buClr>
              <a:buSzPts val="1200"/>
              <a:buFont typeface="Calibri"/>
              <a:buNone/>
            </a:pPr>
            <a:r>
              <a:rPr lang="en-US" sz="1200">
                <a:solidFill>
                  <a:srgbClr val="F5EDE8"/>
                </a:solidFill>
                <a:latin typeface="Calibri"/>
                <a:ea typeface="Calibri"/>
                <a:cs typeface="Calibri"/>
                <a:sym typeface="Calibri"/>
              </a:rPr>
              <a:t>In historical high-fertility, pre-transition sub-Saharan Africa, long breastfeeding durations (low Ci) were often the single biggest natural brake on fertility — long before modern contraception was widely available.</a:t>
            </a:r>
            <a:endParaRPr sz="1200">
              <a:solidFill>
                <a:schemeClr val="dk1"/>
              </a:solidFill>
              <a:latin typeface="Calibri"/>
              <a:ea typeface="Calibri"/>
              <a:cs typeface="Calibri"/>
              <a:sym typeface="Calibri"/>
            </a:endParaRPr>
          </a:p>
        </p:txBody>
      </p:sp>
      <p:sp>
        <p:nvSpPr>
          <p:cNvPr id="572" name="Google Shape;572;p34"/>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7" name="Shape 577"/>
        <p:cNvGrpSpPr/>
        <p:nvPr/>
      </p:nvGrpSpPr>
      <p:grpSpPr>
        <a:xfrm>
          <a:off x="0" y="0"/>
          <a:ext cx="0" cy="0"/>
          <a:chOff x="0" y="0"/>
          <a:chExt cx="0" cy="0"/>
        </a:xfrm>
      </p:grpSpPr>
      <p:sp>
        <p:nvSpPr>
          <p:cNvPr id="578" name="Google Shape;578;p35"/>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THE CORE EQUATION</a:t>
            </a:r>
            <a:endParaRPr sz="1200">
              <a:solidFill>
                <a:schemeClr val="dk1"/>
              </a:solidFill>
              <a:latin typeface="Calibri"/>
              <a:ea typeface="Calibri"/>
              <a:cs typeface="Calibri"/>
              <a:sym typeface="Calibri"/>
            </a:endParaRPr>
          </a:p>
        </p:txBody>
      </p:sp>
      <p:sp>
        <p:nvSpPr>
          <p:cNvPr id="579" name="Google Shape;579;p35"/>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The Bongaarts Multiplicative Model</a:t>
            </a:r>
            <a:endParaRPr sz="3000">
              <a:solidFill>
                <a:schemeClr val="dk1"/>
              </a:solidFill>
              <a:latin typeface="Calibri"/>
              <a:ea typeface="Calibri"/>
              <a:cs typeface="Calibri"/>
              <a:sym typeface="Calibri"/>
            </a:endParaRPr>
          </a:p>
        </p:txBody>
      </p:sp>
      <p:sp>
        <p:nvSpPr>
          <p:cNvPr id="580" name="Google Shape;580;p35"/>
          <p:cNvSpPr/>
          <p:nvPr/>
        </p:nvSpPr>
        <p:spPr>
          <a:xfrm>
            <a:off x="548640" y="1177466"/>
            <a:ext cx="11064240" cy="868680"/>
          </a:xfrm>
          <a:prstGeom prst="roundRect">
            <a:avLst>
              <a:gd fmla="val 8421" name="adj"/>
            </a:avLst>
          </a:prstGeom>
          <a:solidFill>
            <a:srgbClr val="2A1420"/>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35"/>
          <p:cNvSpPr txBox="1"/>
          <p:nvPr/>
        </p:nvSpPr>
        <p:spPr>
          <a:xfrm>
            <a:off x="822960" y="1177466"/>
            <a:ext cx="1051560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A441"/>
              </a:buClr>
              <a:buSzPts val="2000"/>
              <a:buFont typeface="Courier New"/>
              <a:buNone/>
            </a:pPr>
            <a:r>
              <a:rPr b="1" lang="en-US" sz="2000">
                <a:solidFill>
                  <a:srgbClr val="D9A441"/>
                </a:solidFill>
                <a:latin typeface="Courier New"/>
                <a:ea typeface="Courier New"/>
                <a:cs typeface="Courier New"/>
                <a:sym typeface="Courier New"/>
              </a:rPr>
              <a:t>TFR = Cm × Cc × Ca × Ci × TF</a:t>
            </a:r>
            <a:endParaRPr sz="2000">
              <a:solidFill>
                <a:schemeClr val="dk1"/>
              </a:solidFill>
              <a:latin typeface="Calibri"/>
              <a:ea typeface="Calibri"/>
              <a:cs typeface="Calibri"/>
              <a:sym typeface="Calibri"/>
            </a:endParaRPr>
          </a:p>
        </p:txBody>
      </p:sp>
      <p:sp>
        <p:nvSpPr>
          <p:cNvPr id="582" name="Google Shape;582;p35"/>
          <p:cNvSpPr txBox="1"/>
          <p:nvPr/>
        </p:nvSpPr>
        <p:spPr>
          <a:xfrm>
            <a:off x="548640" y="1982138"/>
            <a:ext cx="11064240" cy="173017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00"/>
              <a:buFont typeface="Calibri"/>
              <a:buNone/>
            </a:pPr>
            <a:r>
              <a:rPr i="1" lang="en-US" sz="1100">
                <a:solidFill>
                  <a:schemeClr val="dk1"/>
                </a:solidFill>
                <a:latin typeface="Calibri"/>
                <a:ea typeface="Calibri"/>
                <a:cs typeface="Calibri"/>
                <a:sym typeface="Calibri"/>
              </a:rPr>
              <a:t>Each index ranges from 0 (maximum inhibition) to 1 (no inhibiting effect). Multiplying all four together against total fecundity (TF ≈ 15.3) reconstructs the observed TFR.   </a:t>
            </a:r>
            <a:endParaRPr/>
          </a:p>
          <a:p>
            <a:pPr indent="-171450" lvl="0" marL="171450" marR="0" rtl="0" algn="l">
              <a:spcBef>
                <a:spcPts val="0"/>
              </a:spcBef>
              <a:spcAft>
                <a:spcPts val="0"/>
              </a:spcAft>
              <a:buClr>
                <a:schemeClr val="dk1"/>
              </a:buClr>
              <a:buSzPts val="1100"/>
              <a:buFont typeface="Arial"/>
              <a:buChar char="•"/>
            </a:pPr>
            <a:r>
              <a:rPr i="1" lang="en-US" sz="1100">
                <a:solidFill>
                  <a:schemeClr val="dk1"/>
                </a:solidFill>
                <a:latin typeface="Calibri"/>
                <a:ea typeface="Calibri"/>
                <a:cs typeface="Calibri"/>
                <a:sym typeface="Calibri"/>
              </a:rPr>
              <a:t>Total fecundity in biology is the total physiological reproductive capacity or potential output of an individual organism (typically a female) expressed as the number of eggs, seeds, or offspring produced during a lifetime or a single reproductive cycle. </a:t>
            </a:r>
            <a:endParaRPr/>
          </a:p>
          <a:p>
            <a:pPr indent="-171450" lvl="0" marL="171450" marR="0" rtl="0" algn="l">
              <a:spcBef>
                <a:spcPts val="0"/>
              </a:spcBef>
              <a:spcAft>
                <a:spcPts val="0"/>
              </a:spcAft>
              <a:buClr>
                <a:schemeClr val="dk1"/>
              </a:buClr>
              <a:buSzPts val="1100"/>
              <a:buFont typeface="Arial"/>
              <a:buChar char="•"/>
            </a:pPr>
            <a:r>
              <a:rPr i="1" lang="en-US" sz="1100">
                <a:solidFill>
                  <a:schemeClr val="dk1"/>
                </a:solidFill>
                <a:latin typeface="Calibri"/>
                <a:ea typeface="Calibri"/>
                <a:cs typeface="Calibri"/>
                <a:sym typeface="Calibri"/>
              </a:rPr>
              <a:t>Often confused with total fertility rate (TFR)—which in demography measures the average number of children born per woman in a population—fecundity strictly addresses biological potential rather than actual social or demographic output</a:t>
            </a:r>
            <a:endParaRPr sz="1100">
              <a:solidFill>
                <a:schemeClr val="dk1"/>
              </a:solidFill>
              <a:latin typeface="Calibri"/>
              <a:ea typeface="Calibri"/>
              <a:cs typeface="Calibri"/>
              <a:sym typeface="Calibri"/>
            </a:endParaRPr>
          </a:p>
        </p:txBody>
      </p:sp>
      <p:graphicFrame>
        <p:nvGraphicFramePr>
          <p:cNvPr id="583" name="Google Shape;583;p35"/>
          <p:cNvGraphicFramePr/>
          <p:nvPr/>
        </p:nvGraphicFramePr>
        <p:xfrm>
          <a:off x="579120" y="3500198"/>
          <a:ext cx="3000000" cy="3000000"/>
        </p:xfrm>
        <a:graphic>
          <a:graphicData uri="http://schemas.openxmlformats.org/drawingml/2006/table">
            <a:tbl>
              <a:tblPr>
                <a:noFill/>
                <a:tableStyleId>{1998C3F9-B6B7-4C79-884C-0743C8849AFD}</a:tableStyleId>
              </a:tblPr>
              <a:tblGrid>
                <a:gridCol w="1463050"/>
                <a:gridCol w="4846325"/>
                <a:gridCol w="4754875"/>
              </a:tblGrid>
              <a:tr h="530350">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Index</a:t>
                      </a:r>
                      <a:endParaRPr sz="11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6D2E46"/>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Falls (toward 0) when...</a:t>
                      </a:r>
                      <a:endParaRPr sz="11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6D2E46"/>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Typically the dominant lever when...</a:t>
                      </a:r>
                      <a:endParaRPr sz="11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6D2E46"/>
                    </a:solidFill>
                  </a:tcPr>
                </a:tc>
              </a:tr>
              <a:tr h="530350">
                <a:tc>
                  <a:txBody>
                    <a:bodyPr/>
                    <a:lstStyle/>
                    <a:p>
                      <a:pPr indent="0" lvl="0" marL="0" marR="0" rtl="0" algn="l">
                        <a:spcBef>
                          <a:spcPts val="0"/>
                        </a:spcBef>
                        <a:spcAft>
                          <a:spcPts val="0"/>
                        </a:spcAft>
                        <a:buClr>
                          <a:srgbClr val="2D2A2C"/>
                        </a:buClr>
                        <a:buSzPts val="1100"/>
                        <a:buFont typeface="Calibri"/>
                        <a:buNone/>
                      </a:pPr>
                      <a:r>
                        <a:rPr lang="en-US" sz="1100" u="none" cap="none" strike="noStrike">
                          <a:solidFill>
                            <a:srgbClr val="2D2A2C"/>
                          </a:solidFill>
                          <a:latin typeface="Calibri"/>
                          <a:ea typeface="Calibri"/>
                          <a:cs typeface="Calibri"/>
                          <a:sym typeface="Calibri"/>
                        </a:rPr>
                        <a:t>Cm</a:t>
                      </a:r>
                      <a:endParaRPr sz="11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100"/>
                        <a:buFont typeface="Calibri"/>
                        <a:buNone/>
                      </a:pPr>
                      <a:r>
                        <a:rPr lang="en-US" sz="1100" u="none" cap="none" strike="noStrike">
                          <a:solidFill>
                            <a:srgbClr val="2D2A2C"/>
                          </a:solidFill>
                          <a:latin typeface="Calibri"/>
                          <a:ea typeface="Calibri"/>
                          <a:cs typeface="Calibri"/>
                          <a:sym typeface="Calibri"/>
                        </a:rPr>
                        <a:t>Fewer women are married/in union during reproductive ages</a:t>
                      </a:r>
                      <a:endParaRPr sz="11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100"/>
                        <a:buFont typeface="Calibri"/>
                        <a:buNone/>
                      </a:pPr>
                      <a:r>
                        <a:rPr lang="en-US" sz="1100" u="none" cap="none" strike="noStrike">
                          <a:solidFill>
                            <a:srgbClr val="2D2A2C"/>
                          </a:solidFill>
                          <a:latin typeface="Calibri"/>
                          <a:ea typeface="Calibri"/>
                          <a:cs typeface="Calibri"/>
                          <a:sym typeface="Calibri"/>
                        </a:rPr>
                        <a:t>Marriage is being delayed or foregone (contemporary East/SE Asia)</a:t>
                      </a:r>
                      <a:endParaRPr sz="11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r>
              <a:tr h="530350">
                <a:tc>
                  <a:txBody>
                    <a:bodyPr/>
                    <a:lstStyle/>
                    <a:p>
                      <a:pPr indent="0" lvl="0" marL="0" marR="0" rtl="0" algn="l">
                        <a:spcBef>
                          <a:spcPts val="0"/>
                        </a:spcBef>
                        <a:spcAft>
                          <a:spcPts val="0"/>
                        </a:spcAft>
                        <a:buClr>
                          <a:srgbClr val="2D2A2C"/>
                        </a:buClr>
                        <a:buSzPts val="1100"/>
                        <a:buFont typeface="Calibri"/>
                        <a:buNone/>
                      </a:pPr>
                      <a:r>
                        <a:rPr lang="en-US" sz="1100" u="none" cap="none" strike="noStrike">
                          <a:solidFill>
                            <a:srgbClr val="2D2A2C"/>
                          </a:solidFill>
                          <a:latin typeface="Calibri"/>
                          <a:ea typeface="Calibri"/>
                          <a:cs typeface="Calibri"/>
                          <a:sym typeface="Calibri"/>
                        </a:rPr>
                        <a:t>Cc</a:t>
                      </a:r>
                      <a:endParaRPr sz="11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100"/>
                        <a:buFont typeface="Calibri"/>
                        <a:buNone/>
                      </a:pPr>
                      <a:r>
                        <a:rPr lang="en-US" sz="1100" u="none" cap="none" strike="noStrike">
                          <a:solidFill>
                            <a:srgbClr val="2D2A2C"/>
                          </a:solidFill>
                          <a:latin typeface="Calibri"/>
                          <a:ea typeface="Calibri"/>
                          <a:cs typeface="Calibri"/>
                          <a:sym typeface="Calibri"/>
                        </a:rPr>
                        <a:t>Contraceptive prevalence and effectiveness rise</a:t>
                      </a:r>
                      <a:endParaRPr sz="11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100"/>
                        <a:buFont typeface="Calibri"/>
                        <a:buNone/>
                      </a:pPr>
                      <a:r>
                        <a:rPr lang="en-US" sz="1100" u="none" cap="none" strike="noStrike">
                          <a:solidFill>
                            <a:srgbClr val="2D2A2C"/>
                          </a:solidFill>
                          <a:latin typeface="Calibri"/>
                          <a:ea typeface="Calibri"/>
                          <a:cs typeface="Calibri"/>
                          <a:sym typeface="Calibri"/>
                        </a:rPr>
                        <a:t>A country is mid-transition with rising family-planning access</a:t>
                      </a:r>
                      <a:endParaRPr sz="11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r>
              <a:tr h="530350">
                <a:tc>
                  <a:txBody>
                    <a:bodyPr/>
                    <a:lstStyle/>
                    <a:p>
                      <a:pPr indent="0" lvl="0" marL="0" marR="0" rtl="0" algn="l">
                        <a:spcBef>
                          <a:spcPts val="0"/>
                        </a:spcBef>
                        <a:spcAft>
                          <a:spcPts val="0"/>
                        </a:spcAft>
                        <a:buClr>
                          <a:srgbClr val="2D2A2C"/>
                        </a:buClr>
                        <a:buSzPts val="1100"/>
                        <a:buFont typeface="Calibri"/>
                        <a:buNone/>
                      </a:pPr>
                      <a:r>
                        <a:rPr lang="en-US" sz="1100" u="none" cap="none" strike="noStrike">
                          <a:solidFill>
                            <a:srgbClr val="2D2A2C"/>
                          </a:solidFill>
                          <a:latin typeface="Calibri"/>
                          <a:ea typeface="Calibri"/>
                          <a:cs typeface="Calibri"/>
                          <a:sym typeface="Calibri"/>
                        </a:rPr>
                        <a:t>Ca</a:t>
                      </a:r>
                      <a:endParaRPr sz="11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100"/>
                        <a:buFont typeface="Calibri"/>
                        <a:buNone/>
                      </a:pPr>
                      <a:r>
                        <a:rPr lang="en-US" sz="1100" u="none" cap="none" strike="noStrike">
                          <a:solidFill>
                            <a:srgbClr val="2D2A2C"/>
                          </a:solidFill>
                          <a:latin typeface="Calibri"/>
                          <a:ea typeface="Calibri"/>
                          <a:cs typeface="Calibri"/>
                          <a:sym typeface="Calibri"/>
                        </a:rPr>
                        <a:t>Induced abortion rates rise</a:t>
                      </a:r>
                      <a:endParaRPr sz="11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100"/>
                        <a:buFont typeface="Calibri"/>
                        <a:buNone/>
                      </a:pPr>
                      <a:r>
                        <a:rPr lang="en-US" sz="1100" u="none" cap="none" strike="noStrike">
                          <a:solidFill>
                            <a:srgbClr val="2D2A2C"/>
                          </a:solidFill>
                          <a:latin typeface="Calibri"/>
                          <a:ea typeface="Calibri"/>
                          <a:cs typeface="Calibri"/>
                          <a:sym typeface="Calibri"/>
                        </a:rPr>
                        <a:t>Legal/clandestine abortion substitutes for contraception</a:t>
                      </a:r>
                      <a:endParaRPr sz="11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r>
              <a:tr h="530350">
                <a:tc>
                  <a:txBody>
                    <a:bodyPr/>
                    <a:lstStyle/>
                    <a:p>
                      <a:pPr indent="0" lvl="0" marL="0" marR="0" rtl="0" algn="l">
                        <a:spcBef>
                          <a:spcPts val="0"/>
                        </a:spcBef>
                        <a:spcAft>
                          <a:spcPts val="0"/>
                        </a:spcAft>
                        <a:buClr>
                          <a:srgbClr val="2D2A2C"/>
                        </a:buClr>
                        <a:buSzPts val="1100"/>
                        <a:buFont typeface="Calibri"/>
                        <a:buNone/>
                      </a:pPr>
                      <a:r>
                        <a:rPr lang="en-US" sz="1100" u="none" cap="none" strike="noStrike">
                          <a:solidFill>
                            <a:srgbClr val="2D2A2C"/>
                          </a:solidFill>
                          <a:latin typeface="Calibri"/>
                          <a:ea typeface="Calibri"/>
                          <a:cs typeface="Calibri"/>
                          <a:sym typeface="Calibri"/>
                        </a:rPr>
                        <a:t>Ci</a:t>
                      </a:r>
                      <a:endParaRPr sz="11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100"/>
                        <a:buFont typeface="Calibri"/>
                        <a:buNone/>
                      </a:pPr>
                      <a:r>
                        <a:rPr lang="en-US" sz="1100" u="none" cap="none" strike="noStrike">
                          <a:solidFill>
                            <a:srgbClr val="2D2A2C"/>
                          </a:solidFill>
                          <a:latin typeface="Calibri"/>
                          <a:ea typeface="Calibri"/>
                          <a:cs typeface="Calibri"/>
                          <a:sym typeface="Calibri"/>
                        </a:rPr>
                        <a:t>Breastfeeding/postpartum abstinence durations lengthen</a:t>
                      </a:r>
                      <a:endParaRPr sz="11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100"/>
                        <a:buFont typeface="Calibri"/>
                        <a:buNone/>
                      </a:pPr>
                      <a:r>
                        <a:rPr lang="en-US" sz="1100" u="none" cap="none" strike="noStrike">
                          <a:solidFill>
                            <a:srgbClr val="2D2A2C"/>
                          </a:solidFill>
                          <a:latin typeface="Calibri"/>
                          <a:ea typeface="Calibri"/>
                          <a:cs typeface="Calibri"/>
                          <a:sym typeface="Calibri"/>
                        </a:rPr>
                        <a:t>Pre-transition, high-fertility, low-contraception settings</a:t>
                      </a:r>
                      <a:endParaRPr sz="11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r>
            </a:tbl>
          </a:graphicData>
        </a:graphic>
      </p:graphicFrame>
      <p:sp>
        <p:nvSpPr>
          <p:cNvPr id="584" name="Google Shape;584;p35"/>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9" name="Shape 589"/>
        <p:cNvGrpSpPr/>
        <p:nvPr/>
      </p:nvGrpSpPr>
      <p:grpSpPr>
        <a:xfrm>
          <a:off x="0" y="0"/>
          <a:ext cx="0" cy="0"/>
          <a:chOff x="0" y="0"/>
          <a:chExt cx="0" cy="0"/>
        </a:xfrm>
      </p:grpSpPr>
      <p:sp>
        <p:nvSpPr>
          <p:cNvPr id="590" name="Google Shape;590;p36"/>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APPLYING THE FRAMEWORK</a:t>
            </a:r>
            <a:endParaRPr sz="1200">
              <a:solidFill>
                <a:schemeClr val="dk1"/>
              </a:solidFill>
              <a:latin typeface="Calibri"/>
              <a:ea typeface="Calibri"/>
              <a:cs typeface="Calibri"/>
              <a:sym typeface="Calibri"/>
            </a:endParaRPr>
          </a:p>
        </p:txBody>
      </p:sp>
      <p:sp>
        <p:nvSpPr>
          <p:cNvPr id="591" name="Google Shape;591;p36"/>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In-Class Discussion: Which Determinant Dominates?</a:t>
            </a:r>
            <a:endParaRPr sz="3000">
              <a:solidFill>
                <a:schemeClr val="dk1"/>
              </a:solidFill>
              <a:latin typeface="Calibri"/>
              <a:ea typeface="Calibri"/>
              <a:cs typeface="Calibri"/>
              <a:sym typeface="Calibri"/>
            </a:endParaRPr>
          </a:p>
        </p:txBody>
      </p:sp>
      <p:sp>
        <p:nvSpPr>
          <p:cNvPr id="592" name="Google Shape;592;p36"/>
          <p:cNvSpPr/>
          <p:nvPr/>
        </p:nvSpPr>
        <p:spPr>
          <a:xfrm>
            <a:off x="548640" y="1600200"/>
            <a:ext cx="11064240" cy="1051560"/>
          </a:xfrm>
          <a:prstGeom prst="roundRect">
            <a:avLst>
              <a:gd fmla="val 6957" name="adj"/>
            </a:avLst>
          </a:prstGeom>
          <a:solidFill>
            <a:srgbClr val="F1E4DE"/>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36"/>
          <p:cNvSpPr txBox="1"/>
          <p:nvPr/>
        </p:nvSpPr>
        <p:spPr>
          <a:xfrm>
            <a:off x="777240" y="1691640"/>
            <a:ext cx="10607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350"/>
              <a:buFont typeface="Calibri"/>
              <a:buNone/>
            </a:pPr>
            <a:r>
              <a:rPr b="1" lang="en-US" sz="1350">
                <a:solidFill>
                  <a:srgbClr val="6D2E46"/>
                </a:solidFill>
                <a:latin typeface="Calibri"/>
                <a:ea typeface="Calibri"/>
                <a:cs typeface="Calibri"/>
                <a:sym typeface="Calibri"/>
              </a:rPr>
              <a:t>Historical sub-Saharan Africa (pre-transition)</a:t>
            </a:r>
            <a:endParaRPr sz="1350">
              <a:solidFill>
                <a:schemeClr val="dk1"/>
              </a:solidFill>
              <a:latin typeface="Calibri"/>
              <a:ea typeface="Calibri"/>
              <a:cs typeface="Calibri"/>
              <a:sym typeface="Calibri"/>
            </a:endParaRPr>
          </a:p>
        </p:txBody>
      </p:sp>
      <p:sp>
        <p:nvSpPr>
          <p:cNvPr id="594" name="Google Shape;594;p36"/>
          <p:cNvSpPr txBox="1"/>
          <p:nvPr/>
        </p:nvSpPr>
        <p:spPr>
          <a:xfrm>
            <a:off x="777240" y="2039112"/>
            <a:ext cx="106070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180"/>
              <a:buFont typeface="Calibri"/>
              <a:buNone/>
            </a:pPr>
            <a:r>
              <a:rPr lang="en-US" sz="1180">
                <a:solidFill>
                  <a:srgbClr val="2D2A2C"/>
                </a:solidFill>
                <a:latin typeface="Calibri"/>
                <a:ea typeface="Calibri"/>
                <a:cs typeface="Calibri"/>
                <a:sym typeface="Calibri"/>
              </a:rPr>
              <a:t>High fertility sustained mainly by near-universal early marriage (high Cm) and very low contraceptive use (high Cc) — discuss which index would be closest to 1.</a:t>
            </a:r>
            <a:endParaRPr sz="1180">
              <a:solidFill>
                <a:schemeClr val="dk1"/>
              </a:solidFill>
              <a:latin typeface="Calibri"/>
              <a:ea typeface="Calibri"/>
              <a:cs typeface="Calibri"/>
              <a:sym typeface="Calibri"/>
            </a:endParaRPr>
          </a:p>
        </p:txBody>
      </p:sp>
      <p:sp>
        <p:nvSpPr>
          <p:cNvPr id="595" name="Google Shape;595;p36"/>
          <p:cNvSpPr/>
          <p:nvPr/>
        </p:nvSpPr>
        <p:spPr>
          <a:xfrm>
            <a:off x="548640" y="2834640"/>
            <a:ext cx="11064240" cy="1051560"/>
          </a:xfrm>
          <a:prstGeom prst="roundRect">
            <a:avLst>
              <a:gd fmla="val 6957" name="adj"/>
            </a:avLst>
          </a:prstGeom>
          <a:solidFill>
            <a:srgbClr val="F1E4DE"/>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36"/>
          <p:cNvSpPr txBox="1"/>
          <p:nvPr/>
        </p:nvSpPr>
        <p:spPr>
          <a:xfrm>
            <a:off x="777240" y="2926080"/>
            <a:ext cx="10607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350"/>
              <a:buFont typeface="Calibri"/>
              <a:buNone/>
            </a:pPr>
            <a:r>
              <a:rPr b="1" lang="en-US" sz="1350">
                <a:solidFill>
                  <a:srgbClr val="6D2E46"/>
                </a:solidFill>
                <a:latin typeface="Calibri"/>
                <a:ea typeface="Calibri"/>
                <a:cs typeface="Calibri"/>
                <a:sym typeface="Calibri"/>
              </a:rPr>
              <a:t>East Asia during rapid fertility decline (1960s–1980s)</a:t>
            </a:r>
            <a:endParaRPr sz="1350">
              <a:solidFill>
                <a:schemeClr val="dk1"/>
              </a:solidFill>
              <a:latin typeface="Calibri"/>
              <a:ea typeface="Calibri"/>
              <a:cs typeface="Calibri"/>
              <a:sym typeface="Calibri"/>
            </a:endParaRPr>
          </a:p>
        </p:txBody>
      </p:sp>
      <p:sp>
        <p:nvSpPr>
          <p:cNvPr id="597" name="Google Shape;597;p36"/>
          <p:cNvSpPr txBox="1"/>
          <p:nvPr/>
        </p:nvSpPr>
        <p:spPr>
          <a:xfrm>
            <a:off x="777240" y="3273552"/>
            <a:ext cx="106070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180"/>
              <a:buFont typeface="Calibri"/>
              <a:buNone/>
            </a:pPr>
            <a:r>
              <a:rPr lang="en-US" sz="1180">
                <a:solidFill>
                  <a:srgbClr val="2D2A2C"/>
                </a:solidFill>
                <a:latin typeface="Calibri"/>
                <a:ea typeface="Calibri"/>
                <a:cs typeface="Calibri"/>
                <a:sym typeface="Calibri"/>
              </a:rPr>
              <a:t>Fertility fell rapidly through rising contraceptive prevalence AND, in several countries, high induced-abortion rates — discuss the relative roles of Cc and Ca.</a:t>
            </a:r>
            <a:endParaRPr sz="1180">
              <a:solidFill>
                <a:schemeClr val="dk1"/>
              </a:solidFill>
              <a:latin typeface="Calibri"/>
              <a:ea typeface="Calibri"/>
              <a:cs typeface="Calibri"/>
              <a:sym typeface="Calibri"/>
            </a:endParaRPr>
          </a:p>
        </p:txBody>
      </p:sp>
      <p:sp>
        <p:nvSpPr>
          <p:cNvPr id="598" name="Google Shape;598;p36"/>
          <p:cNvSpPr/>
          <p:nvPr/>
        </p:nvSpPr>
        <p:spPr>
          <a:xfrm>
            <a:off x="548640" y="4069080"/>
            <a:ext cx="11064240" cy="1051560"/>
          </a:xfrm>
          <a:prstGeom prst="roundRect">
            <a:avLst>
              <a:gd fmla="val 6957" name="adj"/>
            </a:avLst>
          </a:prstGeom>
          <a:solidFill>
            <a:srgbClr val="F1E4DE"/>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36"/>
          <p:cNvSpPr txBox="1"/>
          <p:nvPr/>
        </p:nvSpPr>
        <p:spPr>
          <a:xfrm>
            <a:off x="777240" y="4160520"/>
            <a:ext cx="10607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350"/>
              <a:buFont typeface="Calibri"/>
              <a:buNone/>
            </a:pPr>
            <a:r>
              <a:rPr b="1" lang="en-US" sz="1350">
                <a:solidFill>
                  <a:srgbClr val="6D2E46"/>
                </a:solidFill>
                <a:latin typeface="Calibri"/>
                <a:ea typeface="Calibri"/>
                <a:cs typeface="Calibri"/>
                <a:sym typeface="Calibri"/>
              </a:rPr>
              <a:t>Contemporary Thailand and South Korea (today)</a:t>
            </a:r>
            <a:endParaRPr sz="1350">
              <a:solidFill>
                <a:schemeClr val="dk1"/>
              </a:solidFill>
              <a:latin typeface="Calibri"/>
              <a:ea typeface="Calibri"/>
              <a:cs typeface="Calibri"/>
              <a:sym typeface="Calibri"/>
            </a:endParaRPr>
          </a:p>
        </p:txBody>
      </p:sp>
      <p:sp>
        <p:nvSpPr>
          <p:cNvPr id="600" name="Google Shape;600;p36"/>
          <p:cNvSpPr txBox="1"/>
          <p:nvPr/>
        </p:nvSpPr>
        <p:spPr>
          <a:xfrm>
            <a:off x="777240" y="4507992"/>
            <a:ext cx="106070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180"/>
              <a:buFont typeface="Calibri"/>
              <a:buNone/>
            </a:pPr>
            <a:r>
              <a:rPr lang="en-US" sz="1180">
                <a:solidFill>
                  <a:srgbClr val="2D2A2C"/>
                </a:solidFill>
                <a:latin typeface="Calibri"/>
                <a:ea typeface="Calibri"/>
                <a:cs typeface="Calibri"/>
                <a:sym typeface="Calibri"/>
              </a:rPr>
              <a:t>Very low Cm (late/declining marriage) is now the dominant factor — discuss why this differs from the classic "contraception-driven" transition narrative.</a:t>
            </a:r>
            <a:endParaRPr sz="1180">
              <a:solidFill>
                <a:schemeClr val="dk1"/>
              </a:solidFill>
              <a:latin typeface="Calibri"/>
              <a:ea typeface="Calibri"/>
              <a:cs typeface="Calibri"/>
              <a:sym typeface="Calibri"/>
            </a:endParaRPr>
          </a:p>
        </p:txBody>
      </p:sp>
      <p:sp>
        <p:nvSpPr>
          <p:cNvPr id="601" name="Google Shape;601;p36"/>
          <p:cNvSpPr txBox="1"/>
          <p:nvPr/>
        </p:nvSpPr>
        <p:spPr>
          <a:xfrm>
            <a:off x="548640" y="5623560"/>
            <a:ext cx="11064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200"/>
              <a:buFont typeface="Calibri"/>
              <a:buNone/>
            </a:pPr>
            <a:r>
              <a:rPr b="1" i="1" lang="en-US" sz="1200">
                <a:solidFill>
                  <a:srgbClr val="6D2E46"/>
                </a:solidFill>
                <a:latin typeface="Calibri"/>
                <a:ea typeface="Calibri"/>
                <a:cs typeface="Calibri"/>
                <a:sym typeface="Calibri"/>
              </a:rPr>
              <a:t>Your task: for each scenario, identify which index (Cm, Cc, Ca, Ci) is likely closest to 0 (most inhibiting) and justify your answer using the definitions above.</a:t>
            </a:r>
            <a:endParaRPr sz="1200">
              <a:solidFill>
                <a:schemeClr val="dk1"/>
              </a:solidFill>
              <a:latin typeface="Calibri"/>
              <a:ea typeface="Calibri"/>
              <a:cs typeface="Calibri"/>
              <a:sym typeface="Calibri"/>
            </a:endParaRPr>
          </a:p>
        </p:txBody>
      </p:sp>
      <p:sp>
        <p:nvSpPr>
          <p:cNvPr id="602" name="Google Shape;602;p36"/>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7" name="Shape 607"/>
        <p:cNvGrpSpPr/>
        <p:nvPr/>
      </p:nvGrpSpPr>
      <p:grpSpPr>
        <a:xfrm>
          <a:off x="0" y="0"/>
          <a:ext cx="0" cy="0"/>
          <a:chOff x="0" y="0"/>
          <a:chExt cx="0" cy="0"/>
        </a:xfrm>
      </p:grpSpPr>
      <p:sp>
        <p:nvSpPr>
          <p:cNvPr id="608" name="Google Shape;608;p37"/>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KEY INDICATORS</a:t>
            </a:r>
            <a:endParaRPr sz="1200">
              <a:solidFill>
                <a:schemeClr val="dk1"/>
              </a:solidFill>
              <a:latin typeface="Calibri"/>
              <a:ea typeface="Calibri"/>
              <a:cs typeface="Calibri"/>
              <a:sym typeface="Calibri"/>
            </a:endParaRPr>
          </a:p>
        </p:txBody>
      </p:sp>
      <p:sp>
        <p:nvSpPr>
          <p:cNvPr id="609" name="Google Shape;609;p37"/>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Contraceptive Prevalence and Unmet Need: Definitions</a:t>
            </a:r>
            <a:endParaRPr sz="3000">
              <a:solidFill>
                <a:schemeClr val="dk1"/>
              </a:solidFill>
              <a:latin typeface="Calibri"/>
              <a:ea typeface="Calibri"/>
              <a:cs typeface="Calibri"/>
              <a:sym typeface="Calibri"/>
            </a:endParaRPr>
          </a:p>
        </p:txBody>
      </p:sp>
      <p:sp>
        <p:nvSpPr>
          <p:cNvPr id="610" name="Google Shape;610;p37"/>
          <p:cNvSpPr txBox="1"/>
          <p:nvPr/>
        </p:nvSpPr>
        <p:spPr>
          <a:xfrm>
            <a:off x="548640" y="1600200"/>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400"/>
              <a:buFont typeface="Calibri"/>
              <a:buNone/>
            </a:pPr>
            <a:r>
              <a:rPr b="1" lang="en-US" sz="1400">
                <a:solidFill>
                  <a:srgbClr val="6D2E46"/>
                </a:solidFill>
                <a:latin typeface="Calibri"/>
                <a:ea typeface="Calibri"/>
                <a:cs typeface="Calibri"/>
                <a:sym typeface="Calibri"/>
              </a:rPr>
              <a:t>Contraceptive Prevalence Rate (CPR)</a:t>
            </a:r>
            <a:endParaRPr sz="1400">
              <a:solidFill>
                <a:schemeClr val="dk1"/>
              </a:solidFill>
              <a:latin typeface="Calibri"/>
              <a:ea typeface="Calibri"/>
              <a:cs typeface="Calibri"/>
              <a:sym typeface="Calibri"/>
            </a:endParaRPr>
          </a:p>
        </p:txBody>
      </p:sp>
      <p:sp>
        <p:nvSpPr>
          <p:cNvPr id="611" name="Google Shape;611;p37"/>
          <p:cNvSpPr txBox="1"/>
          <p:nvPr/>
        </p:nvSpPr>
        <p:spPr>
          <a:xfrm>
            <a:off x="548640" y="1911096"/>
            <a:ext cx="108813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50"/>
              <a:buFont typeface="Calibri"/>
              <a:buNone/>
            </a:pPr>
            <a:r>
              <a:rPr lang="en-US" sz="1250">
                <a:solidFill>
                  <a:srgbClr val="2D2A2C"/>
                </a:solidFill>
                <a:latin typeface="Calibri"/>
                <a:ea typeface="Calibri"/>
                <a:cs typeface="Calibri"/>
                <a:sym typeface="Calibri"/>
              </a:rPr>
              <a:t>The percentage of women of reproductive age (often married/in-union, 15–49) currently using any method of contraception, modern or traditional.</a:t>
            </a:r>
            <a:endParaRPr sz="1250">
              <a:solidFill>
                <a:schemeClr val="dk1"/>
              </a:solidFill>
              <a:latin typeface="Calibri"/>
              <a:ea typeface="Calibri"/>
              <a:cs typeface="Calibri"/>
              <a:sym typeface="Calibri"/>
            </a:endParaRPr>
          </a:p>
        </p:txBody>
      </p:sp>
      <p:sp>
        <p:nvSpPr>
          <p:cNvPr id="612" name="Google Shape;612;p37"/>
          <p:cNvSpPr txBox="1"/>
          <p:nvPr/>
        </p:nvSpPr>
        <p:spPr>
          <a:xfrm>
            <a:off x="548640" y="2587752"/>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400"/>
              <a:buFont typeface="Calibri"/>
              <a:buNone/>
            </a:pPr>
            <a:r>
              <a:rPr b="1" lang="en-US" sz="1400">
                <a:solidFill>
                  <a:srgbClr val="6D2E46"/>
                </a:solidFill>
                <a:latin typeface="Calibri"/>
                <a:ea typeface="Calibri"/>
                <a:cs typeface="Calibri"/>
                <a:sym typeface="Calibri"/>
              </a:rPr>
              <a:t>Modern CPR (mCPR)</a:t>
            </a:r>
            <a:endParaRPr sz="1400">
              <a:solidFill>
                <a:schemeClr val="dk1"/>
              </a:solidFill>
              <a:latin typeface="Calibri"/>
              <a:ea typeface="Calibri"/>
              <a:cs typeface="Calibri"/>
              <a:sym typeface="Calibri"/>
            </a:endParaRPr>
          </a:p>
        </p:txBody>
      </p:sp>
      <p:sp>
        <p:nvSpPr>
          <p:cNvPr id="613" name="Google Shape;613;p37"/>
          <p:cNvSpPr txBox="1"/>
          <p:nvPr/>
        </p:nvSpPr>
        <p:spPr>
          <a:xfrm>
            <a:off x="548640" y="2898648"/>
            <a:ext cx="108813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50"/>
              <a:buFont typeface="Calibri"/>
              <a:buNone/>
            </a:pPr>
            <a:r>
              <a:rPr lang="en-US" sz="1250">
                <a:solidFill>
                  <a:srgbClr val="2D2A2C"/>
                </a:solidFill>
                <a:latin typeface="Calibri"/>
                <a:ea typeface="Calibri"/>
                <a:cs typeface="Calibri"/>
                <a:sym typeface="Calibri"/>
              </a:rPr>
              <a:t>Restricts CPR to modern, clinically effective methods (pill, IUD, implant, injectable, sterilization, condom) — the indicator most used in international family-planning tracking (e.g., FP2030).</a:t>
            </a:r>
            <a:endParaRPr sz="1250">
              <a:solidFill>
                <a:schemeClr val="dk1"/>
              </a:solidFill>
              <a:latin typeface="Calibri"/>
              <a:ea typeface="Calibri"/>
              <a:cs typeface="Calibri"/>
              <a:sym typeface="Calibri"/>
            </a:endParaRPr>
          </a:p>
        </p:txBody>
      </p:sp>
      <p:sp>
        <p:nvSpPr>
          <p:cNvPr id="614" name="Google Shape;614;p37"/>
          <p:cNvSpPr txBox="1"/>
          <p:nvPr/>
        </p:nvSpPr>
        <p:spPr>
          <a:xfrm>
            <a:off x="548640" y="3575304"/>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400"/>
              <a:buFont typeface="Calibri"/>
              <a:buNone/>
            </a:pPr>
            <a:r>
              <a:rPr b="1" lang="en-US" sz="1400">
                <a:solidFill>
                  <a:srgbClr val="6D2E46"/>
                </a:solidFill>
                <a:latin typeface="Calibri"/>
                <a:ea typeface="Calibri"/>
                <a:cs typeface="Calibri"/>
                <a:sym typeface="Calibri"/>
              </a:rPr>
              <a:t>Unmet need for family planning</a:t>
            </a:r>
            <a:endParaRPr sz="1400">
              <a:solidFill>
                <a:schemeClr val="dk1"/>
              </a:solidFill>
              <a:latin typeface="Calibri"/>
              <a:ea typeface="Calibri"/>
              <a:cs typeface="Calibri"/>
              <a:sym typeface="Calibri"/>
            </a:endParaRPr>
          </a:p>
        </p:txBody>
      </p:sp>
      <p:sp>
        <p:nvSpPr>
          <p:cNvPr id="615" name="Google Shape;615;p37"/>
          <p:cNvSpPr txBox="1"/>
          <p:nvPr/>
        </p:nvSpPr>
        <p:spPr>
          <a:xfrm>
            <a:off x="548640" y="3886200"/>
            <a:ext cx="108813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50"/>
              <a:buFont typeface="Calibri"/>
              <a:buNone/>
            </a:pPr>
            <a:r>
              <a:rPr lang="en-US" sz="1250">
                <a:solidFill>
                  <a:srgbClr val="2D2A2C"/>
                </a:solidFill>
                <a:latin typeface="Calibri"/>
                <a:ea typeface="Calibri"/>
                <a:cs typeface="Calibri"/>
                <a:sym typeface="Calibri"/>
              </a:rPr>
              <a:t>Fecund, sexually active women who wish to stop or delay childbearing but are not using any method of contraception — the gap between reproductive intentions and contraceptive behavior.</a:t>
            </a:r>
            <a:endParaRPr sz="1250">
              <a:solidFill>
                <a:schemeClr val="dk1"/>
              </a:solidFill>
              <a:latin typeface="Calibri"/>
              <a:ea typeface="Calibri"/>
              <a:cs typeface="Calibri"/>
              <a:sym typeface="Calibri"/>
            </a:endParaRPr>
          </a:p>
        </p:txBody>
      </p:sp>
      <p:sp>
        <p:nvSpPr>
          <p:cNvPr id="616" name="Google Shape;616;p37"/>
          <p:cNvSpPr txBox="1"/>
          <p:nvPr/>
        </p:nvSpPr>
        <p:spPr>
          <a:xfrm>
            <a:off x="548640" y="4562856"/>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400"/>
              <a:buFont typeface="Calibri"/>
              <a:buNone/>
            </a:pPr>
            <a:r>
              <a:rPr b="1" lang="en-US" sz="1400">
                <a:solidFill>
                  <a:srgbClr val="6D2E46"/>
                </a:solidFill>
                <a:latin typeface="Calibri"/>
                <a:ea typeface="Calibri"/>
                <a:cs typeface="Calibri"/>
                <a:sym typeface="Calibri"/>
              </a:rPr>
              <a:t>Demand satisfied by modern methods</a:t>
            </a:r>
            <a:endParaRPr sz="1400">
              <a:solidFill>
                <a:schemeClr val="dk1"/>
              </a:solidFill>
              <a:latin typeface="Calibri"/>
              <a:ea typeface="Calibri"/>
              <a:cs typeface="Calibri"/>
              <a:sym typeface="Calibri"/>
            </a:endParaRPr>
          </a:p>
        </p:txBody>
      </p:sp>
      <p:sp>
        <p:nvSpPr>
          <p:cNvPr id="617" name="Google Shape;617;p37"/>
          <p:cNvSpPr txBox="1"/>
          <p:nvPr/>
        </p:nvSpPr>
        <p:spPr>
          <a:xfrm>
            <a:off x="548640" y="4873752"/>
            <a:ext cx="108813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50"/>
              <a:buFont typeface="Calibri"/>
              <a:buNone/>
            </a:pPr>
            <a:r>
              <a:rPr lang="en-US" sz="1250">
                <a:solidFill>
                  <a:srgbClr val="2D2A2C"/>
                </a:solidFill>
                <a:latin typeface="Calibri"/>
                <a:ea typeface="Calibri"/>
                <a:cs typeface="Calibri"/>
                <a:sym typeface="Calibri"/>
              </a:rPr>
              <a:t>The share of total demand for family planning (current modern users + unmet need) that is actually met with modern methods — a core SDG 3.7 indicator.</a:t>
            </a:r>
            <a:endParaRPr sz="1250">
              <a:solidFill>
                <a:schemeClr val="dk1"/>
              </a:solidFill>
              <a:latin typeface="Calibri"/>
              <a:ea typeface="Calibri"/>
              <a:cs typeface="Calibri"/>
              <a:sym typeface="Calibri"/>
            </a:endParaRPr>
          </a:p>
        </p:txBody>
      </p:sp>
      <p:sp>
        <p:nvSpPr>
          <p:cNvPr id="618" name="Google Shape;618;p37"/>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3" name="Shape 623"/>
        <p:cNvGrpSpPr/>
        <p:nvPr/>
      </p:nvGrpSpPr>
      <p:grpSpPr>
        <a:xfrm>
          <a:off x="0" y="0"/>
          <a:ext cx="0" cy="0"/>
          <a:chOff x="0" y="0"/>
          <a:chExt cx="0" cy="0"/>
        </a:xfrm>
      </p:grpSpPr>
      <p:sp>
        <p:nvSpPr>
          <p:cNvPr id="624" name="Google Shape;624;p38"/>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DEEPER DIVE</a:t>
            </a:r>
            <a:endParaRPr sz="1200">
              <a:solidFill>
                <a:schemeClr val="dk1"/>
              </a:solidFill>
              <a:latin typeface="Calibri"/>
              <a:ea typeface="Calibri"/>
              <a:cs typeface="Calibri"/>
              <a:sym typeface="Calibri"/>
            </a:endParaRPr>
          </a:p>
        </p:txBody>
      </p:sp>
      <p:sp>
        <p:nvSpPr>
          <p:cNvPr id="625" name="Google Shape;625;p38"/>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Method Mix Matters: Modern vs. Traditional Contraception</a:t>
            </a:r>
            <a:endParaRPr sz="3000">
              <a:solidFill>
                <a:schemeClr val="dk1"/>
              </a:solidFill>
              <a:latin typeface="Calibri"/>
              <a:ea typeface="Calibri"/>
              <a:cs typeface="Calibri"/>
              <a:sym typeface="Calibri"/>
            </a:endParaRPr>
          </a:p>
        </p:txBody>
      </p:sp>
      <p:sp>
        <p:nvSpPr>
          <p:cNvPr id="626" name="Google Shape;626;p38"/>
          <p:cNvSpPr txBox="1"/>
          <p:nvPr/>
        </p:nvSpPr>
        <p:spPr>
          <a:xfrm>
            <a:off x="548640" y="1600200"/>
            <a:ext cx="110642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350"/>
              <a:buFont typeface="Calibri"/>
              <a:buNone/>
            </a:pPr>
            <a:r>
              <a:rPr lang="en-US" sz="1350">
                <a:solidFill>
                  <a:srgbClr val="2D2A2C"/>
                </a:solidFill>
                <a:latin typeface="Calibri"/>
                <a:ea typeface="Calibri"/>
                <a:cs typeface="Calibri"/>
                <a:sym typeface="Calibri"/>
              </a:rPr>
              <a:t>A country's CPR can look similar on paper while its Bongaarts Cc index (and its effectiveness against unintended pregnancy) differs enormously — because the MIX of methods, not just the headline prevalence rate, determines how much protection is actually delivered.</a:t>
            </a:r>
            <a:endParaRPr sz="1350">
              <a:solidFill>
                <a:schemeClr val="dk1"/>
              </a:solidFill>
              <a:latin typeface="Calibri"/>
              <a:ea typeface="Calibri"/>
              <a:cs typeface="Calibri"/>
              <a:sym typeface="Calibri"/>
            </a:endParaRPr>
          </a:p>
        </p:txBody>
      </p:sp>
      <p:sp>
        <p:nvSpPr>
          <p:cNvPr id="627" name="Google Shape;627;p38"/>
          <p:cNvSpPr/>
          <p:nvPr/>
        </p:nvSpPr>
        <p:spPr>
          <a:xfrm>
            <a:off x="548640" y="2514600"/>
            <a:ext cx="5394960" cy="1874520"/>
          </a:xfrm>
          <a:prstGeom prst="roundRect">
            <a:avLst>
              <a:gd fmla="val 3902" name="adj"/>
            </a:avLst>
          </a:prstGeom>
          <a:solidFill>
            <a:srgbClr val="F7EEEA"/>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38"/>
          <p:cNvSpPr txBox="1"/>
          <p:nvPr/>
        </p:nvSpPr>
        <p:spPr>
          <a:xfrm>
            <a:off x="777240" y="2670048"/>
            <a:ext cx="49377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A6B"/>
              </a:buClr>
              <a:buSzPts val="1500"/>
              <a:buFont typeface="Cambria"/>
              <a:buNone/>
            </a:pPr>
            <a:r>
              <a:rPr b="1" lang="en-US" sz="1500">
                <a:solidFill>
                  <a:srgbClr val="1B7A6B"/>
                </a:solidFill>
                <a:latin typeface="Cambria"/>
                <a:ea typeface="Cambria"/>
                <a:cs typeface="Cambria"/>
                <a:sym typeface="Cambria"/>
              </a:rPr>
              <a:t>Modern methods</a:t>
            </a:r>
            <a:endParaRPr sz="1500">
              <a:solidFill>
                <a:schemeClr val="dk1"/>
              </a:solidFill>
              <a:latin typeface="Calibri"/>
              <a:ea typeface="Calibri"/>
              <a:cs typeface="Calibri"/>
              <a:sym typeface="Calibri"/>
            </a:endParaRPr>
          </a:p>
        </p:txBody>
      </p:sp>
      <p:sp>
        <p:nvSpPr>
          <p:cNvPr id="629" name="Google Shape;629;p38"/>
          <p:cNvSpPr txBox="1"/>
          <p:nvPr/>
        </p:nvSpPr>
        <p:spPr>
          <a:xfrm>
            <a:off x="777240" y="3035808"/>
            <a:ext cx="4937760" cy="1280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130"/>
              <a:buFont typeface="Calibri"/>
              <a:buNone/>
            </a:pPr>
            <a:r>
              <a:rPr lang="en-US" sz="1130">
                <a:solidFill>
                  <a:srgbClr val="2D2A2C"/>
                </a:solidFill>
                <a:latin typeface="Calibri"/>
                <a:ea typeface="Calibri"/>
                <a:cs typeface="Calibri"/>
                <a:sym typeface="Calibri"/>
              </a:rPr>
              <a:t>Pill, IUD, implant, injectable, male/female sterilization, condom. Typical use-failure rates range from under 1% (sterilization, IUD, implant) to about 7-13% (pill, condom) — still far more effective than traditional methods.</a:t>
            </a:r>
            <a:endParaRPr sz="1130">
              <a:solidFill>
                <a:schemeClr val="dk1"/>
              </a:solidFill>
              <a:latin typeface="Calibri"/>
              <a:ea typeface="Calibri"/>
              <a:cs typeface="Calibri"/>
              <a:sym typeface="Calibri"/>
            </a:endParaRPr>
          </a:p>
        </p:txBody>
      </p:sp>
      <p:sp>
        <p:nvSpPr>
          <p:cNvPr id="630" name="Google Shape;630;p38"/>
          <p:cNvSpPr/>
          <p:nvPr/>
        </p:nvSpPr>
        <p:spPr>
          <a:xfrm>
            <a:off x="6217920" y="2514600"/>
            <a:ext cx="5394960" cy="1874520"/>
          </a:xfrm>
          <a:prstGeom prst="roundRect">
            <a:avLst>
              <a:gd fmla="val 3902" name="adj"/>
            </a:avLst>
          </a:prstGeom>
          <a:solidFill>
            <a:srgbClr val="F7EEEA"/>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38"/>
          <p:cNvSpPr txBox="1"/>
          <p:nvPr/>
        </p:nvSpPr>
        <p:spPr>
          <a:xfrm>
            <a:off x="6446520" y="2670048"/>
            <a:ext cx="49377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500"/>
              <a:buFont typeface="Cambria"/>
              <a:buNone/>
            </a:pPr>
            <a:r>
              <a:rPr b="1" lang="en-US" sz="1500">
                <a:solidFill>
                  <a:srgbClr val="A26769"/>
                </a:solidFill>
                <a:latin typeface="Cambria"/>
                <a:ea typeface="Cambria"/>
                <a:cs typeface="Cambria"/>
                <a:sym typeface="Cambria"/>
              </a:rPr>
              <a:t>Traditional methods</a:t>
            </a:r>
            <a:endParaRPr sz="1500">
              <a:solidFill>
                <a:schemeClr val="dk1"/>
              </a:solidFill>
              <a:latin typeface="Calibri"/>
              <a:ea typeface="Calibri"/>
              <a:cs typeface="Calibri"/>
              <a:sym typeface="Calibri"/>
            </a:endParaRPr>
          </a:p>
        </p:txBody>
      </p:sp>
      <p:sp>
        <p:nvSpPr>
          <p:cNvPr id="632" name="Google Shape;632;p38"/>
          <p:cNvSpPr txBox="1"/>
          <p:nvPr/>
        </p:nvSpPr>
        <p:spPr>
          <a:xfrm>
            <a:off x="6446520" y="3035808"/>
            <a:ext cx="4937760" cy="1280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130"/>
              <a:buFont typeface="Calibri"/>
              <a:buNone/>
            </a:pPr>
            <a:r>
              <a:rPr lang="en-US" sz="1130">
                <a:solidFill>
                  <a:srgbClr val="2D2A2C"/>
                </a:solidFill>
                <a:latin typeface="Calibri"/>
                <a:ea typeface="Calibri"/>
                <a:cs typeface="Calibri"/>
                <a:sym typeface="Calibri"/>
              </a:rPr>
              <a:t>Periodic abstinence (rhythm/calendar method) and withdrawal. Typical use-failure rates are much higher — often 13-20%+ per year — meaning a given CPR built on traditional methods buys much less real fertility inhibition.</a:t>
            </a:r>
            <a:endParaRPr sz="1130">
              <a:solidFill>
                <a:schemeClr val="dk1"/>
              </a:solidFill>
              <a:latin typeface="Calibri"/>
              <a:ea typeface="Calibri"/>
              <a:cs typeface="Calibri"/>
              <a:sym typeface="Calibri"/>
            </a:endParaRPr>
          </a:p>
        </p:txBody>
      </p:sp>
      <p:sp>
        <p:nvSpPr>
          <p:cNvPr id="633" name="Google Shape;633;p38"/>
          <p:cNvSpPr/>
          <p:nvPr/>
        </p:nvSpPr>
        <p:spPr>
          <a:xfrm>
            <a:off x="548640" y="4526280"/>
            <a:ext cx="11064240" cy="1325880"/>
          </a:xfrm>
          <a:prstGeom prst="roundRect">
            <a:avLst>
              <a:gd fmla="val 5517" name="adj"/>
            </a:avLst>
          </a:prstGeom>
          <a:solidFill>
            <a:srgbClr val="2A1420"/>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38"/>
          <p:cNvSpPr txBox="1"/>
          <p:nvPr/>
        </p:nvSpPr>
        <p:spPr>
          <a:xfrm>
            <a:off x="777240" y="46634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A441"/>
              </a:buClr>
              <a:buSzPts val="1300"/>
              <a:buFont typeface="Calibri"/>
              <a:buNone/>
            </a:pPr>
            <a:r>
              <a:rPr b="1" lang="en-US" sz="1300">
                <a:solidFill>
                  <a:srgbClr val="D9A441"/>
                </a:solidFill>
                <a:latin typeface="Calibri"/>
                <a:ea typeface="Calibri"/>
                <a:cs typeface="Calibri"/>
                <a:sym typeface="Calibri"/>
              </a:rPr>
              <a:t>Thailand's method mix in practice</a:t>
            </a:r>
            <a:endParaRPr sz="1300">
              <a:solidFill>
                <a:schemeClr val="dk1"/>
              </a:solidFill>
              <a:latin typeface="Calibri"/>
              <a:ea typeface="Calibri"/>
              <a:cs typeface="Calibri"/>
              <a:sym typeface="Calibri"/>
            </a:endParaRPr>
          </a:p>
        </p:txBody>
      </p:sp>
      <p:sp>
        <p:nvSpPr>
          <p:cNvPr id="635" name="Google Shape;635;p38"/>
          <p:cNvSpPr txBox="1"/>
          <p:nvPr/>
        </p:nvSpPr>
        <p:spPr>
          <a:xfrm>
            <a:off x="777240" y="4956048"/>
            <a:ext cx="106070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EDE8"/>
              </a:buClr>
              <a:buSzPts val="1130"/>
              <a:buFont typeface="Calibri"/>
              <a:buNone/>
            </a:pPr>
            <a:r>
              <a:rPr lang="en-US" sz="1130">
                <a:solidFill>
                  <a:srgbClr val="F5EDE8"/>
                </a:solidFill>
                <a:latin typeface="Calibri"/>
                <a:ea typeface="Calibri"/>
                <a:cs typeface="Calibri"/>
                <a:sym typeface="Calibri"/>
              </a:rPr>
              <a:t>Thailand's contraceptive method mix is overwhelmingly modern — female sterilization and the oral pill have historically dominated, with injectables and IUDs also widely used through the public health system; traditional methods account for only a small residual share. This is a key reason Thailand's Cc fell so far, so fast — high prevalence AND high effectiveness, both moving together.</a:t>
            </a:r>
            <a:endParaRPr sz="1130">
              <a:solidFill>
                <a:schemeClr val="dk1"/>
              </a:solidFill>
              <a:latin typeface="Calibri"/>
              <a:ea typeface="Calibri"/>
              <a:cs typeface="Calibri"/>
              <a:sym typeface="Calibri"/>
            </a:endParaRPr>
          </a:p>
        </p:txBody>
      </p:sp>
      <p:sp>
        <p:nvSpPr>
          <p:cNvPr id="636" name="Google Shape;636;p38"/>
          <p:cNvSpPr txBox="1"/>
          <p:nvPr/>
        </p:nvSpPr>
        <p:spPr>
          <a:xfrm>
            <a:off x="548640" y="6053328"/>
            <a:ext cx="110642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850"/>
              <a:buFont typeface="Calibri"/>
              <a:buNone/>
            </a:pPr>
            <a:r>
              <a:rPr i="1" lang="en-US" sz="850">
                <a:solidFill>
                  <a:srgbClr val="6B6068"/>
                </a:solidFill>
                <a:latin typeface="Calibri"/>
                <a:ea typeface="Calibri"/>
                <a:cs typeface="Calibri"/>
                <a:sym typeface="Calibri"/>
              </a:rPr>
              <a:t>Sources: Panichkriangkrai et al. (2020). Universal access to sexual and reproductive health services in Thailand. Sexual and Reproductive Health Matters, 28(2); Multiple Indicator Cluster Survey (MICS) 2022, Thailand, NSO &amp; UNICEF.</a:t>
            </a:r>
            <a:endParaRPr sz="850">
              <a:solidFill>
                <a:schemeClr val="dk1"/>
              </a:solidFill>
              <a:latin typeface="Calibri"/>
              <a:ea typeface="Calibri"/>
              <a:cs typeface="Calibri"/>
              <a:sym typeface="Calibri"/>
            </a:endParaRPr>
          </a:p>
        </p:txBody>
      </p:sp>
      <p:sp>
        <p:nvSpPr>
          <p:cNvPr id="637" name="Google Shape;637;p38"/>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2" name="Shape 642"/>
        <p:cNvGrpSpPr/>
        <p:nvPr/>
      </p:nvGrpSpPr>
      <p:grpSpPr>
        <a:xfrm>
          <a:off x="0" y="0"/>
          <a:ext cx="0" cy="0"/>
          <a:chOff x="0" y="0"/>
          <a:chExt cx="0" cy="0"/>
        </a:xfrm>
      </p:grpSpPr>
      <p:sp>
        <p:nvSpPr>
          <p:cNvPr id="643" name="Google Shape;643;p39"/>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WORKED / REAL-WORLD EXAMPLE</a:t>
            </a:r>
            <a:endParaRPr sz="1200">
              <a:solidFill>
                <a:schemeClr val="dk1"/>
              </a:solidFill>
              <a:latin typeface="Calibri"/>
              <a:ea typeface="Calibri"/>
              <a:cs typeface="Calibri"/>
              <a:sym typeface="Calibri"/>
            </a:endParaRPr>
          </a:p>
        </p:txBody>
      </p:sp>
      <p:sp>
        <p:nvSpPr>
          <p:cNvPr id="644" name="Google Shape;644;p39"/>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Thailand: A Family-Planning Success Story, With Room Left to Close</a:t>
            </a:r>
            <a:endParaRPr sz="3000">
              <a:solidFill>
                <a:schemeClr val="dk1"/>
              </a:solidFill>
              <a:latin typeface="Calibri"/>
              <a:ea typeface="Calibri"/>
              <a:cs typeface="Calibri"/>
              <a:sym typeface="Calibri"/>
            </a:endParaRPr>
          </a:p>
        </p:txBody>
      </p:sp>
      <p:sp>
        <p:nvSpPr>
          <p:cNvPr id="645" name="Google Shape;645;p39"/>
          <p:cNvSpPr txBox="1"/>
          <p:nvPr/>
        </p:nvSpPr>
        <p:spPr>
          <a:xfrm>
            <a:off x="548640" y="1600200"/>
            <a:ext cx="6949440" cy="3291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300"/>
              <a:buFont typeface="Calibri"/>
              <a:buNone/>
            </a:pPr>
            <a:r>
              <a:rPr b="1" lang="en-US" sz="1300">
                <a:solidFill>
                  <a:srgbClr val="6D2E46"/>
                </a:solidFill>
                <a:latin typeface="Calibri"/>
                <a:ea typeface="Calibri"/>
                <a:cs typeface="Calibri"/>
                <a:sym typeface="Calibri"/>
              </a:rPr>
              <a:t>Dramatic long-run rise in contraceptive use</a:t>
            </a:r>
            <a:br>
              <a:rPr b="1" lang="en-US" sz="1300">
                <a:solidFill>
                  <a:srgbClr val="6D2E46"/>
                </a:solidFill>
                <a:latin typeface="Calibri"/>
                <a:ea typeface="Calibri"/>
                <a:cs typeface="Calibri"/>
                <a:sym typeface="Calibri"/>
              </a:rPr>
            </a:b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2D2A2C"/>
              </a:buClr>
              <a:buSzPts val="1200"/>
              <a:buFont typeface="Calibri"/>
              <a:buNone/>
            </a:pPr>
            <a:r>
              <a:rPr lang="en-US" sz="1200">
                <a:solidFill>
                  <a:srgbClr val="2D2A2C"/>
                </a:solidFill>
                <a:latin typeface="Calibri"/>
                <a:ea typeface="Calibri"/>
                <a:cs typeface="Calibri"/>
                <a:sym typeface="Calibri"/>
              </a:rPr>
              <a:t>CPR rose from just 14.8% in 1970 to roughly 79% by the early 2010s, one of the fastest and most complete family-planning transitions in Asia, underpinned by Thailand's universal health coverage since 2002.</a:t>
            </a:r>
            <a:br>
              <a:rPr lang="en-US" sz="1200">
                <a:solidFill>
                  <a:srgbClr val="2D2A2C"/>
                </a:solidFill>
                <a:latin typeface="Calibri"/>
                <a:ea typeface="Calibri"/>
                <a:cs typeface="Calibri"/>
                <a:sym typeface="Calibri"/>
              </a:rPr>
            </a:br>
            <a:br>
              <a:rPr lang="en-US" sz="1200">
                <a:solidFill>
                  <a:srgbClr val="2D2A2C"/>
                </a:solidFill>
                <a:latin typeface="Calibri"/>
                <a:ea typeface="Calibri"/>
                <a:cs typeface="Calibri"/>
                <a:sym typeface="Calibri"/>
              </a:rPr>
            </a:b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6D2E46"/>
              </a:buClr>
              <a:buSzPts val="1300"/>
              <a:buFont typeface="Calibri"/>
              <a:buNone/>
            </a:pPr>
            <a:r>
              <a:rPr b="1" lang="en-US" sz="1300">
                <a:solidFill>
                  <a:srgbClr val="6D2E46"/>
                </a:solidFill>
                <a:latin typeface="Calibri"/>
                <a:ea typeface="Calibri"/>
                <a:cs typeface="Calibri"/>
                <a:sym typeface="Calibri"/>
              </a:rPr>
              <a:t>Unmet need has fallen but not disappeared</a:t>
            </a:r>
            <a:br>
              <a:rPr b="1" lang="en-US" sz="1300">
                <a:solidFill>
                  <a:srgbClr val="6D2E46"/>
                </a:solidFill>
                <a:latin typeface="Calibri"/>
                <a:ea typeface="Calibri"/>
                <a:cs typeface="Calibri"/>
                <a:sym typeface="Calibri"/>
              </a:rPr>
            </a:b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2D2A2C"/>
              </a:buClr>
              <a:buSzPts val="1200"/>
              <a:buFont typeface="Calibri"/>
              <a:buNone/>
            </a:pPr>
            <a:r>
              <a:rPr lang="en-US" sz="1200">
                <a:solidFill>
                  <a:srgbClr val="2D2A2C"/>
                </a:solidFill>
                <a:latin typeface="Calibri"/>
                <a:ea typeface="Calibri"/>
                <a:cs typeface="Calibri"/>
                <a:sym typeface="Calibri"/>
              </a:rPr>
              <a:t>Unmet need among women aged 15-49 fell from 11.7% in 1987 to about 6.2% in 2016 — real progress, but not yet zero, particularly among adolescents and some rural populations.</a:t>
            </a:r>
            <a:endParaRPr sz="1300">
              <a:solidFill>
                <a:schemeClr val="dk1"/>
              </a:solidFill>
              <a:latin typeface="Calibri"/>
              <a:ea typeface="Calibri"/>
              <a:cs typeface="Calibri"/>
              <a:sym typeface="Calibri"/>
            </a:endParaRPr>
          </a:p>
        </p:txBody>
      </p:sp>
      <p:sp>
        <p:nvSpPr>
          <p:cNvPr id="646" name="Google Shape;646;p39"/>
          <p:cNvSpPr/>
          <p:nvPr/>
        </p:nvSpPr>
        <p:spPr>
          <a:xfrm>
            <a:off x="7772400" y="1874520"/>
            <a:ext cx="3749040" cy="2148840"/>
          </a:xfrm>
          <a:prstGeom prst="roundRect">
            <a:avLst>
              <a:gd fmla="val 3404" name="adj"/>
            </a:avLst>
          </a:prstGeom>
          <a:solidFill>
            <a:srgbClr val="F1E4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39"/>
          <p:cNvSpPr txBox="1"/>
          <p:nvPr/>
        </p:nvSpPr>
        <p:spPr>
          <a:xfrm>
            <a:off x="7772400" y="2103120"/>
            <a:ext cx="374904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D2E46"/>
              </a:buClr>
              <a:buSzPts val="4600"/>
              <a:buFont typeface="Cambria"/>
              <a:buNone/>
            </a:pPr>
            <a:r>
              <a:rPr b="1" lang="en-US" sz="4600">
                <a:solidFill>
                  <a:srgbClr val="6D2E46"/>
                </a:solidFill>
                <a:latin typeface="Cambria"/>
                <a:ea typeface="Cambria"/>
                <a:cs typeface="Cambria"/>
                <a:sym typeface="Cambria"/>
              </a:rPr>
              <a:t>79%</a:t>
            </a:r>
            <a:endParaRPr sz="4600">
              <a:solidFill>
                <a:schemeClr val="dk1"/>
              </a:solidFill>
              <a:latin typeface="Calibri"/>
              <a:ea typeface="Calibri"/>
              <a:cs typeface="Calibri"/>
              <a:sym typeface="Calibri"/>
            </a:endParaRPr>
          </a:p>
        </p:txBody>
      </p:sp>
      <p:sp>
        <p:nvSpPr>
          <p:cNvPr id="648" name="Google Shape;648;p39"/>
          <p:cNvSpPr txBox="1"/>
          <p:nvPr/>
        </p:nvSpPr>
        <p:spPr>
          <a:xfrm>
            <a:off x="7955280" y="3017520"/>
            <a:ext cx="338328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068"/>
              </a:buClr>
              <a:buSzPts val="1100"/>
              <a:buFont typeface="Calibri"/>
              <a:buNone/>
            </a:pPr>
            <a:r>
              <a:rPr lang="en-US" sz="1100">
                <a:solidFill>
                  <a:srgbClr val="6B6068"/>
                </a:solidFill>
                <a:latin typeface="Calibri"/>
                <a:ea typeface="Calibri"/>
                <a:cs typeface="Calibri"/>
                <a:sym typeface="Calibri"/>
              </a:rPr>
              <a:t>Contraceptive prevalence rate, Thailand, all methods (women 15-49)</a:t>
            </a:r>
            <a:endParaRPr sz="1100">
              <a:solidFill>
                <a:schemeClr val="dk1"/>
              </a:solidFill>
              <a:latin typeface="Calibri"/>
              <a:ea typeface="Calibri"/>
              <a:cs typeface="Calibri"/>
              <a:sym typeface="Calibri"/>
            </a:endParaRPr>
          </a:p>
        </p:txBody>
      </p:sp>
      <p:sp>
        <p:nvSpPr>
          <p:cNvPr id="649" name="Google Shape;649;p39"/>
          <p:cNvSpPr/>
          <p:nvPr/>
        </p:nvSpPr>
        <p:spPr>
          <a:xfrm>
            <a:off x="548640" y="4892040"/>
            <a:ext cx="11064240" cy="960120"/>
          </a:xfrm>
          <a:prstGeom prst="roundRect">
            <a:avLst>
              <a:gd fmla="val 7619" name="adj"/>
            </a:avLst>
          </a:prstGeom>
          <a:solidFill>
            <a:srgbClr val="F1E4DE"/>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39"/>
          <p:cNvSpPr txBox="1"/>
          <p:nvPr/>
        </p:nvSpPr>
        <p:spPr>
          <a:xfrm>
            <a:off x="777240" y="5010912"/>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250"/>
              <a:buFont typeface="Calibri"/>
              <a:buNone/>
            </a:pPr>
            <a:r>
              <a:rPr b="1" lang="en-US" sz="1250">
                <a:solidFill>
                  <a:srgbClr val="6D2E46"/>
                </a:solidFill>
                <a:latin typeface="Calibri"/>
                <a:ea typeface="Calibri"/>
                <a:cs typeface="Calibri"/>
                <a:sym typeface="Calibri"/>
              </a:rPr>
              <a:t>Link to the Bongaarts framework</a:t>
            </a:r>
            <a:endParaRPr sz="1250">
              <a:solidFill>
                <a:schemeClr val="dk1"/>
              </a:solidFill>
              <a:latin typeface="Calibri"/>
              <a:ea typeface="Calibri"/>
              <a:cs typeface="Calibri"/>
              <a:sym typeface="Calibri"/>
            </a:endParaRPr>
          </a:p>
        </p:txBody>
      </p:sp>
      <p:sp>
        <p:nvSpPr>
          <p:cNvPr id="651" name="Google Shape;651;p39"/>
          <p:cNvSpPr txBox="1"/>
          <p:nvPr/>
        </p:nvSpPr>
        <p:spPr>
          <a:xfrm>
            <a:off x="777240" y="5285232"/>
            <a:ext cx="10607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100"/>
              <a:buFont typeface="Calibri"/>
              <a:buNone/>
            </a:pPr>
            <a:r>
              <a:rPr lang="en-US" sz="1100">
                <a:solidFill>
                  <a:srgbClr val="2D2A2C"/>
                </a:solidFill>
                <a:latin typeface="Calibri"/>
                <a:ea typeface="Calibri"/>
                <a:cs typeface="Calibri"/>
                <a:sym typeface="Calibri"/>
              </a:rPr>
              <a:t>This is a textbook case of Cc falling sharply over five decades, becoming the dominant proximate determinant behind Thailand's fertility decline to today's sub-replacement level.</a:t>
            </a:r>
            <a:endParaRPr sz="1100">
              <a:solidFill>
                <a:schemeClr val="dk1"/>
              </a:solidFill>
              <a:latin typeface="Calibri"/>
              <a:ea typeface="Calibri"/>
              <a:cs typeface="Calibri"/>
              <a:sym typeface="Calibri"/>
            </a:endParaRPr>
          </a:p>
        </p:txBody>
      </p:sp>
      <p:sp>
        <p:nvSpPr>
          <p:cNvPr id="652" name="Google Shape;652;p39"/>
          <p:cNvSpPr txBox="1"/>
          <p:nvPr/>
        </p:nvSpPr>
        <p:spPr>
          <a:xfrm>
            <a:off x="548640" y="6053328"/>
            <a:ext cx="110642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50"/>
              <a:buFont typeface="Calibri"/>
              <a:buNone/>
            </a:pPr>
            <a:r>
              <a:rPr i="1" lang="en-US" sz="950">
                <a:solidFill>
                  <a:srgbClr val="6B6068"/>
                </a:solidFill>
                <a:latin typeface="Calibri"/>
                <a:ea typeface="Calibri"/>
                <a:cs typeface="Calibri"/>
                <a:sym typeface="Calibri"/>
              </a:rPr>
              <a:t>Source: Panichkriangkrai, W. et al. (2020). Universal access to sexual and reproductive health services in Thailand. Sexual and Reproductive Health Matters, 28(2). https://doi.org/10.1080/26410397.2020.1805842</a:t>
            </a:r>
            <a:endParaRPr sz="950">
              <a:solidFill>
                <a:schemeClr val="dk1"/>
              </a:solidFill>
              <a:latin typeface="Calibri"/>
              <a:ea typeface="Calibri"/>
              <a:cs typeface="Calibri"/>
              <a:sym typeface="Calibri"/>
            </a:endParaRPr>
          </a:p>
        </p:txBody>
      </p:sp>
      <p:sp>
        <p:nvSpPr>
          <p:cNvPr id="653" name="Google Shape;653;p39"/>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8" name="Shape 658"/>
        <p:cNvGrpSpPr/>
        <p:nvPr/>
      </p:nvGrpSpPr>
      <p:grpSpPr>
        <a:xfrm>
          <a:off x="0" y="0"/>
          <a:ext cx="0" cy="0"/>
          <a:chOff x="0" y="0"/>
          <a:chExt cx="0" cy="0"/>
        </a:xfrm>
      </p:grpSpPr>
      <p:sp>
        <p:nvSpPr>
          <p:cNvPr id="659" name="Google Shape;659;p40"/>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WORKED / REAL-WORLD EXAMPLE</a:t>
            </a:r>
            <a:endParaRPr sz="1200">
              <a:solidFill>
                <a:schemeClr val="dk1"/>
              </a:solidFill>
              <a:latin typeface="Calibri"/>
              <a:ea typeface="Calibri"/>
              <a:cs typeface="Calibri"/>
              <a:sym typeface="Calibri"/>
            </a:endParaRPr>
          </a:p>
        </p:txBody>
      </p:sp>
      <p:sp>
        <p:nvSpPr>
          <p:cNvPr id="660" name="Google Shape;660;p40"/>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Unmet Need Remains a Global Reality, Not Just a Low-Income-Country Problem</a:t>
            </a:r>
            <a:endParaRPr sz="3000">
              <a:solidFill>
                <a:schemeClr val="dk1"/>
              </a:solidFill>
              <a:latin typeface="Calibri"/>
              <a:ea typeface="Calibri"/>
              <a:cs typeface="Calibri"/>
              <a:sym typeface="Calibri"/>
            </a:endParaRPr>
          </a:p>
        </p:txBody>
      </p:sp>
      <p:sp>
        <p:nvSpPr>
          <p:cNvPr id="661" name="Google Shape;661;p40"/>
          <p:cNvSpPr txBox="1"/>
          <p:nvPr/>
        </p:nvSpPr>
        <p:spPr>
          <a:xfrm>
            <a:off x="548640" y="1600200"/>
            <a:ext cx="6949440" cy="4023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300"/>
              <a:buFont typeface="Calibri"/>
              <a:buNone/>
            </a:pPr>
            <a:r>
              <a:rPr b="1" lang="en-US" sz="1300">
                <a:solidFill>
                  <a:srgbClr val="6D2E46"/>
                </a:solidFill>
                <a:latin typeface="Calibri"/>
                <a:ea typeface="Calibri"/>
                <a:cs typeface="Calibri"/>
                <a:sym typeface="Calibri"/>
              </a:rPr>
              <a:t>A persistent, worldwide gap</a:t>
            </a:r>
            <a:br>
              <a:rPr b="1" lang="en-US" sz="1300">
                <a:solidFill>
                  <a:srgbClr val="6D2E46"/>
                </a:solidFill>
                <a:latin typeface="Calibri"/>
                <a:ea typeface="Calibri"/>
                <a:cs typeface="Calibri"/>
                <a:sym typeface="Calibri"/>
              </a:rPr>
            </a:b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2D2A2C"/>
              </a:buClr>
              <a:buSzPts val="1200"/>
              <a:buFont typeface="Calibri"/>
              <a:buNone/>
            </a:pPr>
            <a:r>
              <a:rPr lang="en-US" sz="1200">
                <a:solidFill>
                  <a:srgbClr val="2D2A2C"/>
                </a:solidFill>
                <a:latin typeface="Calibri"/>
                <a:ea typeface="Calibri"/>
                <a:cs typeface="Calibri"/>
                <a:sym typeface="Calibri"/>
              </a:rPr>
              <a:t>Globally, roughly one in ten married or in-union women of reproductive age has an unmet need for family planning.</a:t>
            </a:r>
            <a:br>
              <a:rPr lang="en-US" sz="1200">
                <a:solidFill>
                  <a:srgbClr val="2D2A2C"/>
                </a:solidFill>
                <a:latin typeface="Calibri"/>
                <a:ea typeface="Calibri"/>
                <a:cs typeface="Calibri"/>
                <a:sym typeface="Calibri"/>
              </a:rPr>
            </a:br>
            <a:br>
              <a:rPr lang="en-US" sz="1200">
                <a:solidFill>
                  <a:srgbClr val="2D2A2C"/>
                </a:solidFill>
                <a:latin typeface="Calibri"/>
                <a:ea typeface="Calibri"/>
                <a:cs typeface="Calibri"/>
                <a:sym typeface="Calibri"/>
              </a:rPr>
            </a:b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6D2E46"/>
              </a:buClr>
              <a:buSzPts val="1300"/>
              <a:buFont typeface="Calibri"/>
              <a:buNone/>
            </a:pPr>
            <a:r>
              <a:rPr b="1" lang="en-US" sz="1300">
                <a:solidFill>
                  <a:srgbClr val="6D2E46"/>
                </a:solidFill>
                <a:latin typeface="Calibri"/>
                <a:ea typeface="Calibri"/>
                <a:cs typeface="Calibri"/>
                <a:sym typeface="Calibri"/>
              </a:rPr>
              <a:t>Highly uneven across regions</a:t>
            </a:r>
            <a:br>
              <a:rPr b="1" lang="en-US" sz="1300">
                <a:solidFill>
                  <a:srgbClr val="6D2E46"/>
                </a:solidFill>
                <a:latin typeface="Calibri"/>
                <a:ea typeface="Calibri"/>
                <a:cs typeface="Calibri"/>
                <a:sym typeface="Calibri"/>
              </a:rPr>
            </a:b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2D2A2C"/>
              </a:buClr>
              <a:buSzPts val="1200"/>
              <a:buFont typeface="Calibri"/>
              <a:buNone/>
            </a:pPr>
            <a:r>
              <a:rPr lang="en-US" sz="1200">
                <a:solidFill>
                  <a:srgbClr val="2D2A2C"/>
                </a:solidFill>
                <a:latin typeface="Calibri"/>
                <a:ea typeface="Calibri"/>
                <a:cs typeface="Calibri"/>
                <a:sym typeface="Calibri"/>
              </a:rPr>
              <a:t>As of 2019, 42 countries — 23 of them in sub-Saharan Africa — still had less than half of demand for family planning satisfied by modern methods. Nigeria's 2024 NDHS shows the same pattern still holding: modern CPR only 15%, and no state has yet met the 10% unmet-need target.</a:t>
            </a:r>
            <a:endParaRPr sz="1300">
              <a:solidFill>
                <a:schemeClr val="dk1"/>
              </a:solidFill>
              <a:latin typeface="Calibri"/>
              <a:ea typeface="Calibri"/>
              <a:cs typeface="Calibri"/>
              <a:sym typeface="Calibri"/>
            </a:endParaRPr>
          </a:p>
        </p:txBody>
      </p:sp>
      <p:sp>
        <p:nvSpPr>
          <p:cNvPr id="662" name="Google Shape;662;p40"/>
          <p:cNvSpPr/>
          <p:nvPr/>
        </p:nvSpPr>
        <p:spPr>
          <a:xfrm>
            <a:off x="7772400" y="1874520"/>
            <a:ext cx="3749040" cy="2148840"/>
          </a:xfrm>
          <a:prstGeom prst="roundRect">
            <a:avLst>
              <a:gd fmla="val 3404" name="adj"/>
            </a:avLst>
          </a:prstGeom>
          <a:solidFill>
            <a:srgbClr val="F1E4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40"/>
          <p:cNvSpPr txBox="1"/>
          <p:nvPr/>
        </p:nvSpPr>
        <p:spPr>
          <a:xfrm>
            <a:off x="7772400" y="2148840"/>
            <a:ext cx="374904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D2E46"/>
              </a:buClr>
              <a:buSzPts val="4000"/>
              <a:buFont typeface="Cambria"/>
              <a:buNone/>
            </a:pPr>
            <a:r>
              <a:rPr b="1" lang="en-US" sz="4000">
                <a:solidFill>
                  <a:srgbClr val="6D2E46"/>
                </a:solidFill>
                <a:latin typeface="Cambria"/>
                <a:ea typeface="Cambria"/>
                <a:cs typeface="Cambria"/>
                <a:sym typeface="Cambria"/>
              </a:rPr>
              <a:t>~1 in 10</a:t>
            </a:r>
            <a:endParaRPr sz="4000">
              <a:solidFill>
                <a:schemeClr val="dk1"/>
              </a:solidFill>
              <a:latin typeface="Calibri"/>
              <a:ea typeface="Calibri"/>
              <a:cs typeface="Calibri"/>
              <a:sym typeface="Calibri"/>
            </a:endParaRPr>
          </a:p>
        </p:txBody>
      </p:sp>
      <p:sp>
        <p:nvSpPr>
          <p:cNvPr id="664" name="Google Shape;664;p40"/>
          <p:cNvSpPr txBox="1"/>
          <p:nvPr/>
        </p:nvSpPr>
        <p:spPr>
          <a:xfrm>
            <a:off x="7955280" y="2971800"/>
            <a:ext cx="338328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068"/>
              </a:buClr>
              <a:buSzPts val="1100"/>
              <a:buFont typeface="Calibri"/>
              <a:buNone/>
            </a:pPr>
            <a:r>
              <a:rPr lang="en-US" sz="1100">
                <a:solidFill>
                  <a:srgbClr val="6B6068"/>
                </a:solidFill>
                <a:latin typeface="Calibri"/>
                <a:ea typeface="Calibri"/>
                <a:cs typeface="Calibri"/>
                <a:sym typeface="Calibri"/>
              </a:rPr>
              <a:t>Married/in-union women worldwide with unmet need for family planning</a:t>
            </a:r>
            <a:endParaRPr sz="1100">
              <a:solidFill>
                <a:schemeClr val="dk1"/>
              </a:solidFill>
              <a:latin typeface="Calibri"/>
              <a:ea typeface="Calibri"/>
              <a:cs typeface="Calibri"/>
              <a:sym typeface="Calibri"/>
            </a:endParaRPr>
          </a:p>
        </p:txBody>
      </p:sp>
      <p:sp>
        <p:nvSpPr>
          <p:cNvPr id="665" name="Google Shape;665;p40"/>
          <p:cNvSpPr txBox="1"/>
          <p:nvPr/>
        </p:nvSpPr>
        <p:spPr>
          <a:xfrm>
            <a:off x="548640" y="6053328"/>
            <a:ext cx="110642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850"/>
              <a:buFont typeface="Calibri"/>
              <a:buNone/>
            </a:pPr>
            <a:r>
              <a:rPr i="1" lang="en-US" sz="850">
                <a:solidFill>
                  <a:srgbClr val="6B6068"/>
                </a:solidFill>
                <a:latin typeface="Calibri"/>
                <a:ea typeface="Calibri"/>
                <a:cs typeface="Calibri"/>
                <a:sym typeface="Calibri"/>
              </a:rPr>
              <a:t>Sources: UN DESA Population Division (2020). World fertility and family planning 2020: Highlights; National Population Commission [Nigeria] &amp; ICF (2025). Nigeria DHS 2024 key indicators report.</a:t>
            </a:r>
            <a:endParaRPr sz="850">
              <a:solidFill>
                <a:schemeClr val="dk1"/>
              </a:solidFill>
              <a:latin typeface="Calibri"/>
              <a:ea typeface="Calibri"/>
              <a:cs typeface="Calibri"/>
              <a:sym typeface="Calibri"/>
            </a:endParaRPr>
          </a:p>
        </p:txBody>
      </p:sp>
      <p:sp>
        <p:nvSpPr>
          <p:cNvPr id="666" name="Google Shape;666;p40"/>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1420"/>
        </a:solidFill>
      </p:bgPr>
    </p:bg>
    <p:spTree>
      <p:nvGrpSpPr>
        <p:cNvPr id="671" name="Shape 671"/>
        <p:cNvGrpSpPr/>
        <p:nvPr/>
      </p:nvGrpSpPr>
      <p:grpSpPr>
        <a:xfrm>
          <a:off x="0" y="0"/>
          <a:ext cx="0" cy="0"/>
          <a:chOff x="0" y="0"/>
          <a:chExt cx="0" cy="0"/>
        </a:xfrm>
      </p:grpSpPr>
      <p:sp>
        <p:nvSpPr>
          <p:cNvPr id="672" name="Google Shape;672;p41"/>
          <p:cNvSpPr/>
          <p:nvPr/>
        </p:nvSpPr>
        <p:spPr>
          <a:xfrm>
            <a:off x="8778240" y="-2011680"/>
            <a:ext cx="5943600" cy="5943600"/>
          </a:xfrm>
          <a:prstGeom prst="ellipse">
            <a:avLst/>
          </a:prstGeom>
          <a:solidFill>
            <a:srgbClr val="6D2E46">
              <a:alpha val="5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41"/>
          <p:cNvSpPr/>
          <p:nvPr/>
        </p:nvSpPr>
        <p:spPr>
          <a:xfrm>
            <a:off x="-1554480" y="4297680"/>
            <a:ext cx="2194560" cy="2194560"/>
          </a:xfrm>
          <a:prstGeom prst="ellipse">
            <a:avLst/>
          </a:prstGeom>
          <a:solidFill>
            <a:srgbClr val="A26769">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41"/>
          <p:cNvSpPr txBox="1"/>
          <p:nvPr/>
        </p:nvSpPr>
        <p:spPr>
          <a:xfrm>
            <a:off x="822960" y="2331720"/>
            <a:ext cx="9144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A441"/>
              </a:buClr>
              <a:buSzPts val="1400"/>
              <a:buFont typeface="Calibri"/>
              <a:buNone/>
            </a:pPr>
            <a:r>
              <a:rPr b="1" lang="en-US" sz="1400">
                <a:solidFill>
                  <a:srgbClr val="D9A441"/>
                </a:solidFill>
                <a:latin typeface="Calibri"/>
                <a:ea typeface="Calibri"/>
                <a:cs typeface="Calibri"/>
                <a:sym typeface="Calibri"/>
              </a:rPr>
              <a:t>BLOCK 4</a:t>
            </a:r>
            <a:endParaRPr sz="1400">
              <a:solidFill>
                <a:schemeClr val="dk1"/>
              </a:solidFill>
              <a:latin typeface="Calibri"/>
              <a:ea typeface="Calibri"/>
              <a:cs typeface="Calibri"/>
              <a:sym typeface="Calibri"/>
            </a:endParaRPr>
          </a:p>
        </p:txBody>
      </p:sp>
      <p:sp>
        <p:nvSpPr>
          <p:cNvPr id="675" name="Google Shape;675;p41"/>
          <p:cNvSpPr txBox="1"/>
          <p:nvPr/>
        </p:nvSpPr>
        <p:spPr>
          <a:xfrm>
            <a:off x="822960" y="2743200"/>
            <a:ext cx="1024128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800"/>
              <a:buFont typeface="Cambria"/>
              <a:buNone/>
            </a:pPr>
            <a:r>
              <a:rPr b="1" lang="en-US" sz="3800">
                <a:solidFill>
                  <a:srgbClr val="FFFFFF"/>
                </a:solidFill>
                <a:latin typeface="Cambria"/>
                <a:ea typeface="Cambria"/>
                <a:cs typeface="Cambria"/>
                <a:sym typeface="Cambria"/>
              </a:rPr>
              <a:t>Below-Replacement Fertility: Global Patterns</a:t>
            </a:r>
            <a:endParaRPr sz="3800">
              <a:solidFill>
                <a:schemeClr val="dk1"/>
              </a:solidFill>
              <a:latin typeface="Calibri"/>
              <a:ea typeface="Calibri"/>
              <a:cs typeface="Calibri"/>
              <a:sym typeface="Calibri"/>
            </a:endParaRPr>
          </a:p>
        </p:txBody>
      </p:sp>
      <p:sp>
        <p:nvSpPr>
          <p:cNvPr id="676" name="Google Shape;676;p41"/>
          <p:cNvSpPr txBox="1"/>
          <p:nvPr/>
        </p:nvSpPr>
        <p:spPr>
          <a:xfrm>
            <a:off x="822960" y="4160520"/>
            <a:ext cx="96012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C7C0"/>
              </a:buClr>
              <a:buSzPts val="1600"/>
              <a:buFont typeface="Calibri"/>
              <a:buNone/>
            </a:pPr>
            <a:r>
              <a:rPr i="1" lang="en-US" sz="1600">
                <a:solidFill>
                  <a:srgbClr val="D9C7C0"/>
                </a:solidFill>
                <a:latin typeface="Calibri"/>
                <a:ea typeface="Calibri"/>
                <a:cs typeface="Calibri"/>
                <a:sym typeface="Calibri"/>
              </a:rPr>
              <a:t>From replacement level to the new demographic reality of very-low fertility across East and Southeast Asia — and beyond.</a:t>
            </a:r>
            <a:endParaRPr sz="1600">
              <a:solidFill>
                <a:schemeClr val="dk1"/>
              </a:solidFill>
              <a:latin typeface="Calibri"/>
              <a:ea typeface="Calibri"/>
              <a:cs typeface="Calibri"/>
              <a:sym typeface="Calibri"/>
            </a:endParaRPr>
          </a:p>
        </p:txBody>
      </p:sp>
      <p:sp>
        <p:nvSpPr>
          <p:cNvPr id="677" name="Google Shape;677;p41"/>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2" name="Shape 682"/>
        <p:cNvGrpSpPr/>
        <p:nvPr/>
      </p:nvGrpSpPr>
      <p:grpSpPr>
        <a:xfrm>
          <a:off x="0" y="0"/>
          <a:ext cx="0" cy="0"/>
          <a:chOff x="0" y="0"/>
          <a:chExt cx="0" cy="0"/>
        </a:xfrm>
      </p:grpSpPr>
      <p:sp>
        <p:nvSpPr>
          <p:cNvPr id="683" name="Google Shape;683;p42"/>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KEY BENCHMARK</a:t>
            </a:r>
            <a:endParaRPr sz="1200">
              <a:solidFill>
                <a:schemeClr val="dk1"/>
              </a:solidFill>
              <a:latin typeface="Calibri"/>
              <a:ea typeface="Calibri"/>
              <a:cs typeface="Calibri"/>
              <a:sym typeface="Calibri"/>
            </a:endParaRPr>
          </a:p>
        </p:txBody>
      </p:sp>
      <p:sp>
        <p:nvSpPr>
          <p:cNvPr id="684" name="Google Shape;684;p42"/>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Replacement-Level Fertility</a:t>
            </a:r>
            <a:endParaRPr sz="3000">
              <a:solidFill>
                <a:schemeClr val="dk1"/>
              </a:solidFill>
              <a:latin typeface="Calibri"/>
              <a:ea typeface="Calibri"/>
              <a:cs typeface="Calibri"/>
              <a:sym typeface="Calibri"/>
            </a:endParaRPr>
          </a:p>
        </p:txBody>
      </p:sp>
      <p:sp>
        <p:nvSpPr>
          <p:cNvPr id="685" name="Google Shape;685;p42"/>
          <p:cNvSpPr/>
          <p:nvPr/>
        </p:nvSpPr>
        <p:spPr>
          <a:xfrm>
            <a:off x="548640" y="1554480"/>
            <a:ext cx="11064240" cy="868680"/>
          </a:xfrm>
          <a:prstGeom prst="roundRect">
            <a:avLst>
              <a:gd fmla="val 8421" name="adj"/>
            </a:avLst>
          </a:prstGeom>
          <a:solidFill>
            <a:srgbClr val="2A1420"/>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42"/>
          <p:cNvSpPr txBox="1"/>
          <p:nvPr/>
        </p:nvSpPr>
        <p:spPr>
          <a:xfrm>
            <a:off x="822960" y="1554480"/>
            <a:ext cx="1051560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A441"/>
              </a:buClr>
              <a:buSzPts val="1700"/>
              <a:buFont typeface="Courier New"/>
              <a:buNone/>
            </a:pPr>
            <a:r>
              <a:rPr b="1" lang="en-US" sz="1700">
                <a:solidFill>
                  <a:srgbClr val="D9A441"/>
                </a:solidFill>
                <a:latin typeface="Courier New"/>
                <a:ea typeface="Courier New"/>
                <a:cs typeface="Courier New"/>
                <a:sym typeface="Courier New"/>
              </a:rPr>
              <a:t>Replacement-level TFR ≈ 2.1 children per woman (low-mortality settings; up to ~2.5-3.3 where child mortality remains substantial)</a:t>
            </a:r>
            <a:endParaRPr sz="1700">
              <a:solidFill>
                <a:schemeClr val="dk1"/>
              </a:solidFill>
              <a:latin typeface="Calibri"/>
              <a:ea typeface="Calibri"/>
              <a:cs typeface="Calibri"/>
              <a:sym typeface="Calibri"/>
            </a:endParaRPr>
          </a:p>
        </p:txBody>
      </p:sp>
      <p:sp>
        <p:nvSpPr>
          <p:cNvPr id="687" name="Google Shape;687;p42"/>
          <p:cNvSpPr txBox="1"/>
          <p:nvPr/>
        </p:nvSpPr>
        <p:spPr>
          <a:xfrm>
            <a:off x="548640" y="2697480"/>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350"/>
              <a:buFont typeface="Calibri"/>
              <a:buNone/>
            </a:pPr>
            <a:r>
              <a:rPr b="1" lang="en-US" sz="1350">
                <a:solidFill>
                  <a:srgbClr val="6D2E46"/>
                </a:solidFill>
                <a:latin typeface="Calibri"/>
                <a:ea typeface="Calibri"/>
                <a:cs typeface="Calibri"/>
                <a:sym typeface="Calibri"/>
              </a:rPr>
              <a:t>Why not exactly 2.0?</a:t>
            </a:r>
            <a:endParaRPr sz="1350">
              <a:solidFill>
                <a:schemeClr val="dk1"/>
              </a:solidFill>
              <a:latin typeface="Calibri"/>
              <a:ea typeface="Calibri"/>
              <a:cs typeface="Calibri"/>
              <a:sym typeface="Calibri"/>
            </a:endParaRPr>
          </a:p>
        </p:txBody>
      </p:sp>
      <p:sp>
        <p:nvSpPr>
          <p:cNvPr id="688" name="Google Shape;688;p42"/>
          <p:cNvSpPr txBox="1"/>
          <p:nvPr/>
        </p:nvSpPr>
        <p:spPr>
          <a:xfrm>
            <a:off x="548640" y="2999232"/>
            <a:ext cx="108813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30"/>
              <a:buFont typeface="Calibri"/>
              <a:buNone/>
            </a:pPr>
            <a:r>
              <a:rPr lang="en-US" sz="1230">
                <a:solidFill>
                  <a:srgbClr val="2D2A2C"/>
                </a:solidFill>
                <a:latin typeface="Calibri"/>
                <a:ea typeface="Calibri"/>
                <a:cs typeface="Calibri"/>
                <a:sym typeface="Calibri"/>
              </a:rPr>
              <a:t>The extra 0.1 accounts for the small proportion of girls who will not survive to, or through, their own reproductive years, and for a slightly higher number of male births per female birth (sex ratio at birth ≈ 105:100).</a:t>
            </a:r>
            <a:endParaRPr sz="1230">
              <a:solidFill>
                <a:schemeClr val="dk1"/>
              </a:solidFill>
              <a:latin typeface="Calibri"/>
              <a:ea typeface="Calibri"/>
              <a:cs typeface="Calibri"/>
              <a:sym typeface="Calibri"/>
            </a:endParaRPr>
          </a:p>
        </p:txBody>
      </p:sp>
      <p:sp>
        <p:nvSpPr>
          <p:cNvPr id="689" name="Google Shape;689;p42"/>
          <p:cNvSpPr txBox="1"/>
          <p:nvPr/>
        </p:nvSpPr>
        <p:spPr>
          <a:xfrm>
            <a:off x="548640" y="3721608"/>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350"/>
              <a:buFont typeface="Calibri"/>
              <a:buNone/>
            </a:pPr>
            <a:r>
              <a:rPr b="1" lang="en-US" sz="1350">
                <a:solidFill>
                  <a:srgbClr val="6D2E46"/>
                </a:solidFill>
                <a:latin typeface="Calibri"/>
                <a:ea typeface="Calibri"/>
                <a:cs typeface="Calibri"/>
                <a:sym typeface="Calibri"/>
              </a:rPr>
              <a:t>Below-replacement ≠ immediate population decline</a:t>
            </a:r>
            <a:endParaRPr sz="1350">
              <a:solidFill>
                <a:schemeClr val="dk1"/>
              </a:solidFill>
              <a:latin typeface="Calibri"/>
              <a:ea typeface="Calibri"/>
              <a:cs typeface="Calibri"/>
              <a:sym typeface="Calibri"/>
            </a:endParaRPr>
          </a:p>
        </p:txBody>
      </p:sp>
      <p:sp>
        <p:nvSpPr>
          <p:cNvPr id="690" name="Google Shape;690;p42"/>
          <p:cNvSpPr txBox="1"/>
          <p:nvPr/>
        </p:nvSpPr>
        <p:spPr>
          <a:xfrm>
            <a:off x="548640" y="4023360"/>
            <a:ext cx="108813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30"/>
              <a:buFont typeface="Calibri"/>
              <a:buNone/>
            </a:pPr>
            <a:r>
              <a:rPr lang="en-US" sz="1230">
                <a:solidFill>
                  <a:srgbClr val="2D2A2C"/>
                </a:solidFill>
                <a:latin typeface="Calibri"/>
                <a:ea typeface="Calibri"/>
                <a:cs typeface="Calibri"/>
                <a:sym typeface="Calibri"/>
              </a:rPr>
              <a:t>Population momentum (a young age structure inherited from past higher fertility) can sustain population growth for one to two more generations even after TFR falls below 2.1.</a:t>
            </a:r>
            <a:endParaRPr sz="1230">
              <a:solidFill>
                <a:schemeClr val="dk1"/>
              </a:solidFill>
              <a:latin typeface="Calibri"/>
              <a:ea typeface="Calibri"/>
              <a:cs typeface="Calibri"/>
              <a:sym typeface="Calibri"/>
            </a:endParaRPr>
          </a:p>
        </p:txBody>
      </p:sp>
      <p:sp>
        <p:nvSpPr>
          <p:cNvPr id="691" name="Google Shape;691;p42"/>
          <p:cNvSpPr txBox="1"/>
          <p:nvPr/>
        </p:nvSpPr>
        <p:spPr>
          <a:xfrm>
            <a:off x="548640" y="4745736"/>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350"/>
              <a:buFont typeface="Calibri"/>
              <a:buNone/>
            </a:pPr>
            <a:r>
              <a:rPr b="1" lang="en-US" sz="1350">
                <a:solidFill>
                  <a:srgbClr val="6D2E46"/>
                </a:solidFill>
                <a:latin typeface="Calibri"/>
                <a:ea typeface="Calibri"/>
                <a:cs typeface="Calibri"/>
                <a:sym typeface="Calibri"/>
              </a:rPr>
              <a:t>A growing share of humanity</a:t>
            </a:r>
            <a:endParaRPr sz="1350">
              <a:solidFill>
                <a:schemeClr val="dk1"/>
              </a:solidFill>
              <a:latin typeface="Calibri"/>
              <a:ea typeface="Calibri"/>
              <a:cs typeface="Calibri"/>
              <a:sym typeface="Calibri"/>
            </a:endParaRPr>
          </a:p>
        </p:txBody>
      </p:sp>
      <p:sp>
        <p:nvSpPr>
          <p:cNvPr id="692" name="Google Shape;692;p42"/>
          <p:cNvSpPr txBox="1"/>
          <p:nvPr/>
        </p:nvSpPr>
        <p:spPr>
          <a:xfrm>
            <a:off x="548640" y="5047488"/>
            <a:ext cx="108813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30"/>
              <a:buFont typeface="Calibri"/>
              <a:buNone/>
            </a:pPr>
            <a:r>
              <a:rPr lang="en-US" sz="1230">
                <a:solidFill>
                  <a:srgbClr val="2D2A2C"/>
                </a:solidFill>
                <a:latin typeface="Calibri"/>
                <a:ea typeface="Calibri"/>
                <a:cs typeface="Calibri"/>
                <a:sym typeface="Calibri"/>
              </a:rPr>
              <a:t>Over half of the world's population now lives in a country or area with below-replacement fertility — no longer a phenomenon confined to a handful of high-income countries.</a:t>
            </a:r>
            <a:endParaRPr sz="1230">
              <a:solidFill>
                <a:schemeClr val="dk1"/>
              </a:solidFill>
              <a:latin typeface="Calibri"/>
              <a:ea typeface="Calibri"/>
              <a:cs typeface="Calibri"/>
              <a:sym typeface="Calibri"/>
            </a:endParaRPr>
          </a:p>
        </p:txBody>
      </p:sp>
      <p:sp>
        <p:nvSpPr>
          <p:cNvPr id="693" name="Google Shape;693;p42"/>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8" name="Shape 698"/>
        <p:cNvGrpSpPr/>
        <p:nvPr/>
      </p:nvGrpSpPr>
      <p:grpSpPr>
        <a:xfrm>
          <a:off x="0" y="0"/>
          <a:ext cx="0" cy="0"/>
          <a:chOff x="0" y="0"/>
          <a:chExt cx="0" cy="0"/>
        </a:xfrm>
      </p:grpSpPr>
      <p:sp>
        <p:nvSpPr>
          <p:cNvPr id="699" name="Google Shape;699;p43"/>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REGIONAL PATTERNS</a:t>
            </a:r>
            <a:endParaRPr sz="1200">
              <a:solidFill>
                <a:schemeClr val="dk1"/>
              </a:solidFill>
              <a:latin typeface="Calibri"/>
              <a:ea typeface="Calibri"/>
              <a:cs typeface="Calibri"/>
              <a:sym typeface="Calibri"/>
            </a:endParaRPr>
          </a:p>
        </p:txBody>
      </p:sp>
      <p:sp>
        <p:nvSpPr>
          <p:cNvPr id="700" name="Google Shape;700;p43"/>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The New Global Fertility Landscape</a:t>
            </a:r>
            <a:endParaRPr sz="3000">
              <a:solidFill>
                <a:schemeClr val="dk1"/>
              </a:solidFill>
              <a:latin typeface="Calibri"/>
              <a:ea typeface="Calibri"/>
              <a:cs typeface="Calibri"/>
              <a:sym typeface="Calibri"/>
            </a:endParaRPr>
          </a:p>
        </p:txBody>
      </p:sp>
      <p:sp>
        <p:nvSpPr>
          <p:cNvPr id="701" name="Google Shape;701;p43"/>
          <p:cNvSpPr/>
          <p:nvPr/>
        </p:nvSpPr>
        <p:spPr>
          <a:xfrm>
            <a:off x="640080" y="1691640"/>
            <a:ext cx="3429000" cy="1600200"/>
          </a:xfrm>
          <a:prstGeom prst="roundRect">
            <a:avLst>
              <a:gd fmla="val 4571" name="adj"/>
            </a:avLst>
          </a:prstGeom>
          <a:solidFill>
            <a:srgbClr val="2A1420"/>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43"/>
          <p:cNvSpPr txBox="1"/>
          <p:nvPr/>
        </p:nvSpPr>
        <p:spPr>
          <a:xfrm>
            <a:off x="640080" y="1828800"/>
            <a:ext cx="34290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A441"/>
              </a:buClr>
              <a:buSzPts val="3400"/>
              <a:buFont typeface="Cambria"/>
              <a:buNone/>
            </a:pPr>
            <a:r>
              <a:rPr b="1" lang="en-US" sz="3400">
                <a:solidFill>
                  <a:srgbClr val="D9A441"/>
                </a:solidFill>
                <a:latin typeface="Cambria"/>
                <a:ea typeface="Cambria"/>
                <a:cs typeface="Cambria"/>
                <a:sym typeface="Cambria"/>
              </a:rPr>
              <a:t>2.1</a:t>
            </a:r>
            <a:endParaRPr sz="3400">
              <a:solidFill>
                <a:schemeClr val="dk1"/>
              </a:solidFill>
              <a:latin typeface="Calibri"/>
              <a:ea typeface="Calibri"/>
              <a:cs typeface="Calibri"/>
              <a:sym typeface="Calibri"/>
            </a:endParaRPr>
          </a:p>
        </p:txBody>
      </p:sp>
      <p:sp>
        <p:nvSpPr>
          <p:cNvPr id="703" name="Google Shape;703;p43"/>
          <p:cNvSpPr txBox="1"/>
          <p:nvPr/>
        </p:nvSpPr>
        <p:spPr>
          <a:xfrm>
            <a:off x="777240" y="2514600"/>
            <a:ext cx="315468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EDE8"/>
              </a:buClr>
              <a:buSzPts val="1050"/>
              <a:buFont typeface="Calibri"/>
              <a:buNone/>
            </a:pPr>
            <a:r>
              <a:rPr lang="en-US" sz="1050">
                <a:solidFill>
                  <a:srgbClr val="F5EDE8"/>
                </a:solidFill>
                <a:latin typeface="Calibri"/>
                <a:ea typeface="Calibri"/>
                <a:cs typeface="Calibri"/>
                <a:sym typeface="Calibri"/>
              </a:rPr>
              <a:t>Replacement-level TFR (benchmark)</a:t>
            </a:r>
            <a:endParaRPr sz="1050">
              <a:solidFill>
                <a:schemeClr val="dk1"/>
              </a:solidFill>
              <a:latin typeface="Calibri"/>
              <a:ea typeface="Calibri"/>
              <a:cs typeface="Calibri"/>
              <a:sym typeface="Calibri"/>
            </a:endParaRPr>
          </a:p>
        </p:txBody>
      </p:sp>
      <p:sp>
        <p:nvSpPr>
          <p:cNvPr id="704" name="Google Shape;704;p43"/>
          <p:cNvSpPr/>
          <p:nvPr/>
        </p:nvSpPr>
        <p:spPr>
          <a:xfrm>
            <a:off x="4480560" y="1691640"/>
            <a:ext cx="3429000" cy="1600200"/>
          </a:xfrm>
          <a:prstGeom prst="roundRect">
            <a:avLst>
              <a:gd fmla="val 4571" name="adj"/>
            </a:avLst>
          </a:prstGeom>
          <a:solidFill>
            <a:srgbClr val="2A1420"/>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43"/>
          <p:cNvSpPr txBox="1"/>
          <p:nvPr/>
        </p:nvSpPr>
        <p:spPr>
          <a:xfrm>
            <a:off x="4480560" y="1828800"/>
            <a:ext cx="34290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A441"/>
              </a:buClr>
              <a:buSzPts val="3400"/>
              <a:buFont typeface="Cambria"/>
              <a:buNone/>
            </a:pPr>
            <a:r>
              <a:rPr b="1" lang="en-US" sz="3400">
                <a:solidFill>
                  <a:srgbClr val="D9A441"/>
                </a:solidFill>
                <a:latin typeface="Cambria"/>
                <a:ea typeface="Cambria"/>
                <a:cs typeface="Cambria"/>
                <a:sym typeface="Cambria"/>
              </a:rPr>
              <a:t>2.3</a:t>
            </a:r>
            <a:endParaRPr sz="3400">
              <a:solidFill>
                <a:schemeClr val="dk1"/>
              </a:solidFill>
              <a:latin typeface="Calibri"/>
              <a:ea typeface="Calibri"/>
              <a:cs typeface="Calibri"/>
              <a:sym typeface="Calibri"/>
            </a:endParaRPr>
          </a:p>
        </p:txBody>
      </p:sp>
      <p:sp>
        <p:nvSpPr>
          <p:cNvPr id="706" name="Google Shape;706;p43"/>
          <p:cNvSpPr txBox="1"/>
          <p:nvPr/>
        </p:nvSpPr>
        <p:spPr>
          <a:xfrm>
            <a:off x="4617720" y="2514600"/>
            <a:ext cx="315468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EDE8"/>
              </a:buClr>
              <a:buSzPts val="1050"/>
              <a:buFont typeface="Calibri"/>
              <a:buNone/>
            </a:pPr>
            <a:r>
              <a:rPr lang="en-US" sz="1050">
                <a:solidFill>
                  <a:srgbClr val="F5EDE8"/>
                </a:solidFill>
                <a:latin typeface="Calibri"/>
                <a:ea typeface="Calibri"/>
                <a:cs typeface="Calibri"/>
                <a:sym typeface="Calibri"/>
              </a:rPr>
              <a:t>Sub-Saharan Africa, approx. regional TFR (still above replacement)</a:t>
            </a:r>
            <a:endParaRPr sz="1050">
              <a:solidFill>
                <a:schemeClr val="dk1"/>
              </a:solidFill>
              <a:latin typeface="Calibri"/>
              <a:ea typeface="Calibri"/>
              <a:cs typeface="Calibri"/>
              <a:sym typeface="Calibri"/>
            </a:endParaRPr>
          </a:p>
        </p:txBody>
      </p:sp>
      <p:sp>
        <p:nvSpPr>
          <p:cNvPr id="707" name="Google Shape;707;p43"/>
          <p:cNvSpPr/>
          <p:nvPr/>
        </p:nvSpPr>
        <p:spPr>
          <a:xfrm>
            <a:off x="8321040" y="1691640"/>
            <a:ext cx="3429000" cy="1600200"/>
          </a:xfrm>
          <a:prstGeom prst="roundRect">
            <a:avLst>
              <a:gd fmla="val 4571" name="adj"/>
            </a:avLst>
          </a:prstGeom>
          <a:solidFill>
            <a:srgbClr val="2A1420"/>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43"/>
          <p:cNvSpPr txBox="1"/>
          <p:nvPr/>
        </p:nvSpPr>
        <p:spPr>
          <a:xfrm>
            <a:off x="8321040" y="1828800"/>
            <a:ext cx="34290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A441"/>
              </a:buClr>
              <a:buSzPts val="3400"/>
              <a:buFont typeface="Cambria"/>
              <a:buNone/>
            </a:pPr>
            <a:r>
              <a:rPr b="1" lang="en-US" sz="3400">
                <a:solidFill>
                  <a:srgbClr val="D9A441"/>
                </a:solidFill>
                <a:latin typeface="Cambria"/>
                <a:ea typeface="Cambria"/>
                <a:cs typeface="Cambria"/>
                <a:sym typeface="Cambria"/>
              </a:rPr>
              <a:t>&lt;1.0</a:t>
            </a:r>
            <a:endParaRPr sz="3400">
              <a:solidFill>
                <a:schemeClr val="dk1"/>
              </a:solidFill>
              <a:latin typeface="Calibri"/>
              <a:ea typeface="Calibri"/>
              <a:cs typeface="Calibri"/>
              <a:sym typeface="Calibri"/>
            </a:endParaRPr>
          </a:p>
        </p:txBody>
      </p:sp>
      <p:sp>
        <p:nvSpPr>
          <p:cNvPr id="709" name="Google Shape;709;p43"/>
          <p:cNvSpPr txBox="1"/>
          <p:nvPr/>
        </p:nvSpPr>
        <p:spPr>
          <a:xfrm>
            <a:off x="8458200" y="2514600"/>
            <a:ext cx="315468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EDE8"/>
              </a:buClr>
              <a:buSzPts val="1050"/>
              <a:buFont typeface="Calibri"/>
              <a:buNone/>
            </a:pPr>
            <a:r>
              <a:rPr lang="en-US" sz="1050">
                <a:solidFill>
                  <a:srgbClr val="F5EDE8"/>
                </a:solidFill>
                <a:latin typeface="Calibri"/>
                <a:ea typeface="Calibri"/>
                <a:cs typeface="Calibri"/>
                <a:sym typeface="Calibri"/>
              </a:rPr>
              <a:t>Several East/SE Asian TFRs, 2024-2025 (South Korea, Singapore)</a:t>
            </a:r>
            <a:endParaRPr sz="1050">
              <a:solidFill>
                <a:schemeClr val="dk1"/>
              </a:solidFill>
              <a:latin typeface="Calibri"/>
              <a:ea typeface="Calibri"/>
              <a:cs typeface="Calibri"/>
              <a:sym typeface="Calibri"/>
            </a:endParaRPr>
          </a:p>
        </p:txBody>
      </p:sp>
      <p:sp>
        <p:nvSpPr>
          <p:cNvPr id="710" name="Google Shape;710;p43"/>
          <p:cNvSpPr txBox="1"/>
          <p:nvPr/>
        </p:nvSpPr>
        <p:spPr>
          <a:xfrm>
            <a:off x="640080" y="3566160"/>
            <a:ext cx="1088136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350"/>
              <a:buFont typeface="Calibri"/>
              <a:buNone/>
            </a:pPr>
            <a:r>
              <a:rPr lang="en-US" sz="1350">
                <a:solidFill>
                  <a:srgbClr val="2D2A2C"/>
                </a:solidFill>
                <a:latin typeface="Calibri"/>
                <a:ea typeface="Calibri"/>
                <a:cs typeface="Calibri"/>
                <a:sym typeface="Calibri"/>
              </a:rPr>
              <a:t>The global fertility picture is now sharply bimodal: sub-Saharan Africa remains the last region with fertility clearly above replacement, while an expanding cluster of East and Southeast Asian countries — and a growing number of European ones — now sit not just below replacement, but below 1.5, a level demographers term "lowest-low" fertility.</a:t>
            </a:r>
            <a:endParaRPr sz="1350">
              <a:solidFill>
                <a:schemeClr val="dk1"/>
              </a:solidFill>
              <a:latin typeface="Calibri"/>
              <a:ea typeface="Calibri"/>
              <a:cs typeface="Calibri"/>
              <a:sym typeface="Calibri"/>
            </a:endParaRPr>
          </a:p>
        </p:txBody>
      </p:sp>
      <p:sp>
        <p:nvSpPr>
          <p:cNvPr id="711" name="Google Shape;711;p43"/>
          <p:cNvSpPr txBox="1"/>
          <p:nvPr/>
        </p:nvSpPr>
        <p:spPr>
          <a:xfrm>
            <a:off x="548640" y="6053328"/>
            <a:ext cx="110642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50"/>
              <a:buFont typeface="Calibri"/>
              <a:buNone/>
            </a:pPr>
            <a:r>
              <a:rPr i="1" lang="en-US" sz="950">
                <a:solidFill>
                  <a:srgbClr val="6B6068"/>
                </a:solidFill>
                <a:latin typeface="Calibri"/>
                <a:ea typeface="Calibri"/>
                <a:cs typeface="Calibri"/>
                <a:sym typeface="Calibri"/>
              </a:rPr>
              <a:t>Source: United Nations, DESA, Population Division. (2024). World population prospects 2024: Summary of results. https://population.un.org/wpp/assets/Files/WPP2024_Summary-of-Results.pdf</a:t>
            </a:r>
            <a:endParaRPr sz="950">
              <a:solidFill>
                <a:schemeClr val="dk1"/>
              </a:solidFill>
              <a:latin typeface="Calibri"/>
              <a:ea typeface="Calibri"/>
              <a:cs typeface="Calibri"/>
              <a:sym typeface="Calibri"/>
            </a:endParaRPr>
          </a:p>
        </p:txBody>
      </p:sp>
      <p:sp>
        <p:nvSpPr>
          <p:cNvPr id="712" name="Google Shape;712;p43"/>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7" name="Shape 717"/>
        <p:cNvGrpSpPr/>
        <p:nvPr/>
      </p:nvGrpSpPr>
      <p:grpSpPr>
        <a:xfrm>
          <a:off x="0" y="0"/>
          <a:ext cx="0" cy="0"/>
          <a:chOff x="0" y="0"/>
          <a:chExt cx="0" cy="0"/>
        </a:xfrm>
      </p:grpSpPr>
      <p:sp>
        <p:nvSpPr>
          <p:cNvPr id="718" name="Google Shape;718;p44"/>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WHY DEMOGRAPHERS AND POLICYMAKERS CARE</a:t>
            </a:r>
            <a:endParaRPr sz="1200">
              <a:solidFill>
                <a:schemeClr val="dk1"/>
              </a:solidFill>
              <a:latin typeface="Calibri"/>
              <a:ea typeface="Calibri"/>
              <a:cs typeface="Calibri"/>
              <a:sym typeface="Calibri"/>
            </a:endParaRPr>
          </a:p>
        </p:txBody>
      </p:sp>
      <p:sp>
        <p:nvSpPr>
          <p:cNvPr id="719" name="Google Shape;719;p44"/>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Consequences of Sustained Below-Replacement Fertility</a:t>
            </a:r>
            <a:endParaRPr sz="3000">
              <a:solidFill>
                <a:schemeClr val="dk1"/>
              </a:solidFill>
              <a:latin typeface="Calibri"/>
              <a:ea typeface="Calibri"/>
              <a:cs typeface="Calibri"/>
              <a:sym typeface="Calibri"/>
            </a:endParaRPr>
          </a:p>
        </p:txBody>
      </p:sp>
      <p:sp>
        <p:nvSpPr>
          <p:cNvPr id="720" name="Google Shape;720;p44"/>
          <p:cNvSpPr txBox="1"/>
          <p:nvPr/>
        </p:nvSpPr>
        <p:spPr>
          <a:xfrm>
            <a:off x="548640" y="1600200"/>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400"/>
              <a:buFont typeface="Calibri"/>
              <a:buNone/>
            </a:pPr>
            <a:r>
              <a:rPr b="1" lang="en-US" sz="1400">
                <a:solidFill>
                  <a:srgbClr val="6D2E46"/>
                </a:solidFill>
                <a:latin typeface="Calibri"/>
                <a:ea typeface="Calibri"/>
                <a:cs typeface="Calibri"/>
                <a:sym typeface="Calibri"/>
              </a:rPr>
              <a:t>Accelerated population ageing</a:t>
            </a:r>
            <a:endParaRPr sz="1400">
              <a:solidFill>
                <a:schemeClr val="dk1"/>
              </a:solidFill>
              <a:latin typeface="Calibri"/>
              <a:ea typeface="Calibri"/>
              <a:cs typeface="Calibri"/>
              <a:sym typeface="Calibri"/>
            </a:endParaRPr>
          </a:p>
        </p:txBody>
      </p:sp>
      <p:sp>
        <p:nvSpPr>
          <p:cNvPr id="721" name="Google Shape;721;p44"/>
          <p:cNvSpPr txBox="1"/>
          <p:nvPr/>
        </p:nvSpPr>
        <p:spPr>
          <a:xfrm>
            <a:off x="548640" y="1911096"/>
            <a:ext cx="108813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30"/>
              <a:buFont typeface="Calibri"/>
              <a:buNone/>
            </a:pPr>
            <a:r>
              <a:rPr lang="en-US" sz="1230">
                <a:solidFill>
                  <a:srgbClr val="2D2A2C"/>
                </a:solidFill>
                <a:latin typeface="Calibri"/>
                <a:ea typeface="Calibri"/>
                <a:cs typeface="Calibri"/>
                <a:sym typeface="Calibri"/>
              </a:rPr>
              <a:t>Fewer births directly raises the old-age dependency ratio — connecting directly back to the prospective-ageing measures from Session 5.</a:t>
            </a:r>
            <a:endParaRPr sz="1230">
              <a:solidFill>
                <a:schemeClr val="dk1"/>
              </a:solidFill>
              <a:latin typeface="Calibri"/>
              <a:ea typeface="Calibri"/>
              <a:cs typeface="Calibri"/>
              <a:sym typeface="Calibri"/>
            </a:endParaRPr>
          </a:p>
        </p:txBody>
      </p:sp>
      <p:sp>
        <p:nvSpPr>
          <p:cNvPr id="722" name="Google Shape;722;p44"/>
          <p:cNvSpPr txBox="1"/>
          <p:nvPr/>
        </p:nvSpPr>
        <p:spPr>
          <a:xfrm>
            <a:off x="548640" y="2651760"/>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400"/>
              <a:buFont typeface="Calibri"/>
              <a:buNone/>
            </a:pPr>
            <a:r>
              <a:rPr b="1" lang="en-US" sz="1400">
                <a:solidFill>
                  <a:srgbClr val="6D2E46"/>
                </a:solidFill>
                <a:latin typeface="Calibri"/>
                <a:ea typeface="Calibri"/>
                <a:cs typeface="Calibri"/>
                <a:sym typeface="Calibri"/>
              </a:rPr>
              <a:t>Shrinking future labor force</a:t>
            </a:r>
            <a:endParaRPr sz="1400">
              <a:solidFill>
                <a:schemeClr val="dk1"/>
              </a:solidFill>
              <a:latin typeface="Calibri"/>
              <a:ea typeface="Calibri"/>
              <a:cs typeface="Calibri"/>
              <a:sym typeface="Calibri"/>
            </a:endParaRPr>
          </a:p>
        </p:txBody>
      </p:sp>
      <p:sp>
        <p:nvSpPr>
          <p:cNvPr id="723" name="Google Shape;723;p44"/>
          <p:cNvSpPr txBox="1"/>
          <p:nvPr/>
        </p:nvSpPr>
        <p:spPr>
          <a:xfrm>
            <a:off x="548640" y="2962656"/>
            <a:ext cx="108813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30"/>
              <a:buFont typeface="Calibri"/>
              <a:buNone/>
            </a:pPr>
            <a:r>
              <a:rPr lang="en-US" sz="1230">
                <a:solidFill>
                  <a:srgbClr val="2D2A2C"/>
                </a:solidFill>
                <a:latin typeface="Calibri"/>
                <a:ea typeface="Calibri"/>
                <a:cs typeface="Calibri"/>
                <a:sym typeface="Calibri"/>
              </a:rPr>
              <a:t>Smaller birth cohorts today become smaller working-age cohorts 15-64 years later, with direct implications for economic growth, pension systems, and healthcare financing.</a:t>
            </a:r>
            <a:endParaRPr sz="1230">
              <a:solidFill>
                <a:schemeClr val="dk1"/>
              </a:solidFill>
              <a:latin typeface="Calibri"/>
              <a:ea typeface="Calibri"/>
              <a:cs typeface="Calibri"/>
              <a:sym typeface="Calibri"/>
            </a:endParaRPr>
          </a:p>
        </p:txBody>
      </p:sp>
      <p:sp>
        <p:nvSpPr>
          <p:cNvPr id="724" name="Google Shape;724;p44"/>
          <p:cNvSpPr txBox="1"/>
          <p:nvPr/>
        </p:nvSpPr>
        <p:spPr>
          <a:xfrm>
            <a:off x="548640" y="3703320"/>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400"/>
              <a:buFont typeface="Calibri"/>
              <a:buNone/>
            </a:pPr>
            <a:r>
              <a:rPr b="1" lang="en-US" sz="1400">
                <a:solidFill>
                  <a:srgbClr val="6D2E46"/>
                </a:solidFill>
                <a:latin typeface="Calibri"/>
                <a:ea typeface="Calibri"/>
                <a:cs typeface="Calibri"/>
                <a:sym typeface="Calibri"/>
              </a:rPr>
              <a:t>Limits of pro-natalist policy</a:t>
            </a:r>
            <a:endParaRPr sz="1400">
              <a:solidFill>
                <a:schemeClr val="dk1"/>
              </a:solidFill>
              <a:latin typeface="Calibri"/>
              <a:ea typeface="Calibri"/>
              <a:cs typeface="Calibri"/>
              <a:sym typeface="Calibri"/>
            </a:endParaRPr>
          </a:p>
        </p:txBody>
      </p:sp>
      <p:sp>
        <p:nvSpPr>
          <p:cNvPr id="725" name="Google Shape;725;p44"/>
          <p:cNvSpPr txBox="1"/>
          <p:nvPr/>
        </p:nvSpPr>
        <p:spPr>
          <a:xfrm>
            <a:off x="548640" y="4014216"/>
            <a:ext cx="108813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30"/>
              <a:buFont typeface="Calibri"/>
              <a:buNone/>
            </a:pPr>
            <a:r>
              <a:rPr lang="en-US" sz="1230">
                <a:solidFill>
                  <a:srgbClr val="2D2A2C"/>
                </a:solidFill>
                <a:latin typeface="Calibri"/>
                <a:ea typeface="Calibri"/>
                <a:cs typeface="Calibri"/>
                <a:sym typeface="Calibri"/>
              </a:rPr>
              <a:t>Cash incentives, parental leave, and childcare subsidies (tried extensively in Hungary, South Korea, Japan, and Singapore) have so far produced only modest, often temporary, effects on TFR.</a:t>
            </a:r>
            <a:endParaRPr sz="1230">
              <a:solidFill>
                <a:schemeClr val="dk1"/>
              </a:solidFill>
              <a:latin typeface="Calibri"/>
              <a:ea typeface="Calibri"/>
              <a:cs typeface="Calibri"/>
              <a:sym typeface="Calibri"/>
            </a:endParaRPr>
          </a:p>
        </p:txBody>
      </p:sp>
      <p:sp>
        <p:nvSpPr>
          <p:cNvPr id="726" name="Google Shape;726;p44"/>
          <p:cNvSpPr txBox="1"/>
          <p:nvPr/>
        </p:nvSpPr>
        <p:spPr>
          <a:xfrm>
            <a:off x="548640" y="4754880"/>
            <a:ext cx="108813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400"/>
              <a:buFont typeface="Calibri"/>
              <a:buNone/>
            </a:pPr>
            <a:r>
              <a:rPr b="1" lang="en-US" sz="1400">
                <a:solidFill>
                  <a:srgbClr val="6D2E46"/>
                </a:solidFill>
                <a:latin typeface="Calibri"/>
                <a:ea typeface="Calibri"/>
                <a:cs typeface="Calibri"/>
                <a:sym typeface="Calibri"/>
              </a:rPr>
              <a:t>Migration as a partial offset</a:t>
            </a:r>
            <a:endParaRPr sz="1400">
              <a:solidFill>
                <a:schemeClr val="dk1"/>
              </a:solidFill>
              <a:latin typeface="Calibri"/>
              <a:ea typeface="Calibri"/>
              <a:cs typeface="Calibri"/>
              <a:sym typeface="Calibri"/>
            </a:endParaRPr>
          </a:p>
        </p:txBody>
      </p:sp>
      <p:sp>
        <p:nvSpPr>
          <p:cNvPr id="727" name="Google Shape;727;p44"/>
          <p:cNvSpPr txBox="1"/>
          <p:nvPr/>
        </p:nvSpPr>
        <p:spPr>
          <a:xfrm>
            <a:off x="548640" y="5065776"/>
            <a:ext cx="108813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30"/>
              <a:buFont typeface="Calibri"/>
              <a:buNone/>
            </a:pPr>
            <a:r>
              <a:rPr lang="en-US" sz="1230">
                <a:solidFill>
                  <a:srgbClr val="2D2A2C"/>
                </a:solidFill>
                <a:latin typeface="Calibri"/>
                <a:ea typeface="Calibri"/>
                <a:cs typeface="Calibri"/>
                <a:sym typeface="Calibri"/>
              </a:rPr>
              <a:t>Several very-low-fertility countries increasingly rely on immigration to stabilize the working-age population — a theme picked up in the next session on migration.</a:t>
            </a:r>
            <a:endParaRPr sz="1230">
              <a:solidFill>
                <a:schemeClr val="dk1"/>
              </a:solidFill>
              <a:latin typeface="Calibri"/>
              <a:ea typeface="Calibri"/>
              <a:cs typeface="Calibri"/>
              <a:sym typeface="Calibri"/>
            </a:endParaRPr>
          </a:p>
        </p:txBody>
      </p:sp>
      <p:sp>
        <p:nvSpPr>
          <p:cNvPr id="728" name="Google Shape;728;p44"/>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3" name="Shape 733"/>
        <p:cNvGrpSpPr/>
        <p:nvPr/>
      </p:nvGrpSpPr>
      <p:grpSpPr>
        <a:xfrm>
          <a:off x="0" y="0"/>
          <a:ext cx="0" cy="0"/>
          <a:chOff x="0" y="0"/>
          <a:chExt cx="0" cy="0"/>
        </a:xfrm>
      </p:grpSpPr>
      <p:sp>
        <p:nvSpPr>
          <p:cNvPr id="734" name="Google Shape;734;p45"/>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REAL-WORLD EXAMPLE · COMPARATIVE, 2024-2025</a:t>
            </a:r>
            <a:endParaRPr sz="1200">
              <a:solidFill>
                <a:schemeClr val="dk1"/>
              </a:solidFill>
              <a:latin typeface="Calibri"/>
              <a:ea typeface="Calibri"/>
              <a:cs typeface="Calibri"/>
              <a:sym typeface="Calibri"/>
            </a:endParaRPr>
          </a:p>
        </p:txBody>
      </p:sp>
      <p:sp>
        <p:nvSpPr>
          <p:cNvPr id="735" name="Google Shape;735;p45"/>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Four Countries, One Pattern: East/Southeast Asia's Fertility Collapse</a:t>
            </a:r>
            <a:endParaRPr sz="3000">
              <a:solidFill>
                <a:schemeClr val="dk1"/>
              </a:solidFill>
              <a:latin typeface="Calibri"/>
              <a:ea typeface="Calibri"/>
              <a:cs typeface="Calibri"/>
              <a:sym typeface="Calibri"/>
            </a:endParaRPr>
          </a:p>
        </p:txBody>
      </p:sp>
      <p:graphicFrame>
        <p:nvGraphicFramePr>
          <p:cNvPr id="736" name="Google Shape;736;p45"/>
          <p:cNvGraphicFramePr/>
          <p:nvPr/>
        </p:nvGraphicFramePr>
        <p:xfrm>
          <a:off x="548640" y="1645920"/>
          <a:ext cx="3000000" cy="3000000"/>
        </p:xfrm>
        <a:graphic>
          <a:graphicData uri="http://schemas.openxmlformats.org/drawingml/2006/table">
            <a:tbl>
              <a:tblPr>
                <a:noFill/>
                <a:tableStyleId>{1998C3F9-B6B7-4C79-884C-0743C8849AFD}</a:tableStyleId>
              </a:tblPr>
              <a:tblGrid>
                <a:gridCol w="2468875"/>
                <a:gridCol w="2651750"/>
                <a:gridCol w="2377450"/>
                <a:gridCol w="3566150"/>
              </a:tblGrid>
              <a:tr h="47550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Country</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6D2E46"/>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Most recent TFR</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6D2E46"/>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Year</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6D2E46"/>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Note</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6D2E46"/>
                    </a:solidFill>
                  </a:tcPr>
                </a:tc>
              </a:tr>
              <a:tr h="475500">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South Korea</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0.75</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2024</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World's lowest major-economy TFR; small rebound from 0.72 </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r>
              <a:tr h="475500">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Singapore</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0.97 (0.87 est.)</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2024 (2025 est.)</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First fell below 1.0 in 2023; continuing to decline</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r>
              <a:tr h="475500">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Japan</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1.15</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2024</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Ninth consecutive annual record low; births below 700,000</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EFE0DC"/>
                    </a:solidFill>
                  </a:tcPr>
                </a:tc>
              </a:tr>
              <a:tr h="475500">
                <a:tc>
                  <a:txBody>
                    <a:bodyPr/>
                    <a:lstStyle/>
                    <a:p>
                      <a:pPr indent="0" lvl="0" marL="0" marR="0" rtl="0" algn="l">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Thailand</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0.93</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2025</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D2A2C"/>
                        </a:buClr>
                        <a:buSzPts val="1200"/>
                        <a:buFont typeface="Calibri"/>
                        <a:buNone/>
                      </a:pPr>
                      <a:r>
                        <a:rPr lang="en-US" sz="1200" u="none" cap="none" strike="noStrike">
                          <a:solidFill>
                            <a:srgbClr val="2D2A2C"/>
                          </a:solidFill>
                          <a:latin typeface="Calibri"/>
                          <a:ea typeface="Calibri"/>
                          <a:cs typeface="Calibri"/>
                          <a:sym typeface="Calibri"/>
                        </a:rPr>
                        <a:t>Mahidol Population Gazette; births below 500,000 since 2024</a:t>
                      </a:r>
                      <a:endParaRPr sz="1200" u="none" cap="none" strike="noStrike">
                        <a:latin typeface="Calibri"/>
                        <a:ea typeface="Calibri"/>
                        <a:cs typeface="Calibri"/>
                        <a:sym typeface="Calibri"/>
                      </a:endParaRPr>
                    </a:p>
                  </a:txBody>
                  <a:tcPr marT="45725" marB="45725" marR="91450" marL="91450" anchor="ctr">
                    <a:lnL cap="flat" cmpd="sng" w="9525">
                      <a:solidFill>
                        <a:srgbClr val="E3D5CF"/>
                      </a:solidFill>
                      <a:prstDash val="solid"/>
                      <a:round/>
                      <a:headEnd len="sm" w="sm" type="none"/>
                      <a:tailEnd len="sm" w="sm" type="none"/>
                    </a:lnL>
                    <a:lnR cap="flat" cmpd="sng" w="9525">
                      <a:solidFill>
                        <a:srgbClr val="E3D5CF"/>
                      </a:solidFill>
                      <a:prstDash val="solid"/>
                      <a:round/>
                      <a:headEnd len="sm" w="sm" type="none"/>
                      <a:tailEnd len="sm" w="sm" type="none"/>
                    </a:lnR>
                    <a:lnT cap="flat" cmpd="sng" w="9525">
                      <a:solidFill>
                        <a:srgbClr val="E3D5CF"/>
                      </a:solidFill>
                      <a:prstDash val="solid"/>
                      <a:round/>
                      <a:headEnd len="sm" w="sm" type="none"/>
                      <a:tailEnd len="sm" w="sm" type="none"/>
                    </a:lnT>
                    <a:lnB cap="flat" cmpd="sng" w="9525">
                      <a:solidFill>
                        <a:srgbClr val="E3D5CF"/>
                      </a:solidFill>
                      <a:prstDash val="solid"/>
                      <a:round/>
                      <a:headEnd len="sm" w="sm" type="none"/>
                      <a:tailEnd len="sm" w="sm" type="none"/>
                    </a:lnB>
                    <a:solidFill>
                      <a:srgbClr val="FFFFFF"/>
                    </a:solidFill>
                  </a:tcPr>
                </a:tc>
              </a:tr>
            </a:tbl>
          </a:graphicData>
        </a:graphic>
      </p:graphicFrame>
      <p:sp>
        <p:nvSpPr>
          <p:cNvPr id="737" name="Google Shape;737;p45"/>
          <p:cNvSpPr/>
          <p:nvPr/>
        </p:nvSpPr>
        <p:spPr>
          <a:xfrm>
            <a:off x="548640" y="4251960"/>
            <a:ext cx="11064240" cy="1508760"/>
          </a:xfrm>
          <a:prstGeom prst="roundRect">
            <a:avLst>
              <a:gd fmla="val 4848" name="adj"/>
            </a:avLst>
          </a:prstGeom>
          <a:solidFill>
            <a:srgbClr val="F1E4DE"/>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45"/>
          <p:cNvSpPr txBox="1"/>
          <p:nvPr/>
        </p:nvSpPr>
        <p:spPr>
          <a:xfrm>
            <a:off x="777240" y="4407408"/>
            <a:ext cx="1060704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80"/>
              <a:buFont typeface="Calibri"/>
              <a:buNone/>
            </a:pPr>
            <a:r>
              <a:rPr lang="en-US" sz="1280">
                <a:solidFill>
                  <a:srgbClr val="2D2A2C"/>
                </a:solidFill>
                <a:latin typeface="Calibri"/>
                <a:ea typeface="Calibri"/>
                <a:cs typeface="Calibri"/>
                <a:sym typeface="Calibri"/>
              </a:rPr>
              <a:t>All four are members of the "lowest-low fertility" club (TFR &lt; 1.3), despite very different welfare-state models, housing markets, and pro-natalist policies — a strong signal that these theories (Blocks 2-3) must operate jointly, not singly.</a:t>
            </a:r>
            <a:endParaRPr sz="1280">
              <a:solidFill>
                <a:schemeClr val="dk1"/>
              </a:solidFill>
              <a:latin typeface="Calibri"/>
              <a:ea typeface="Calibri"/>
              <a:cs typeface="Calibri"/>
              <a:sym typeface="Calibri"/>
            </a:endParaRPr>
          </a:p>
        </p:txBody>
      </p:sp>
      <p:sp>
        <p:nvSpPr>
          <p:cNvPr id="739" name="Google Shape;739;p45"/>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4" name="Shape 744"/>
        <p:cNvGrpSpPr/>
        <p:nvPr/>
      </p:nvGrpSpPr>
      <p:grpSpPr>
        <a:xfrm>
          <a:off x="0" y="0"/>
          <a:ext cx="0" cy="0"/>
          <a:chOff x="0" y="0"/>
          <a:chExt cx="0" cy="0"/>
        </a:xfrm>
      </p:grpSpPr>
      <p:sp>
        <p:nvSpPr>
          <p:cNvPr id="745" name="Google Shape;745;p46"/>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A6B"/>
              </a:buClr>
              <a:buSzPts val="1200"/>
              <a:buFont typeface="Calibri"/>
              <a:buNone/>
            </a:pPr>
            <a:r>
              <a:rPr b="1" lang="en-US" sz="1200">
                <a:solidFill>
                  <a:srgbClr val="1B7A6B"/>
                </a:solidFill>
                <a:latin typeface="Calibri"/>
                <a:ea typeface="Calibri"/>
                <a:cs typeface="Calibri"/>
                <a:sym typeface="Calibri"/>
              </a:rPr>
              <a:t>GROUP WORK · ASSIGNED POLICY DATA</a:t>
            </a:r>
            <a:endParaRPr sz="1200">
              <a:solidFill>
                <a:schemeClr val="dk1"/>
              </a:solidFill>
              <a:latin typeface="Calibri"/>
              <a:ea typeface="Calibri"/>
              <a:cs typeface="Calibri"/>
              <a:sym typeface="Calibri"/>
            </a:endParaRPr>
          </a:p>
        </p:txBody>
      </p:sp>
      <p:sp>
        <p:nvSpPr>
          <p:cNvPr id="746" name="Google Shape;746;p46"/>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Three Real, Currently Active Fertility Policies</a:t>
            </a:r>
            <a:endParaRPr sz="3000">
              <a:solidFill>
                <a:schemeClr val="dk1"/>
              </a:solidFill>
              <a:latin typeface="Calibri"/>
              <a:ea typeface="Calibri"/>
              <a:cs typeface="Calibri"/>
              <a:sym typeface="Calibri"/>
            </a:endParaRPr>
          </a:p>
        </p:txBody>
      </p:sp>
      <p:sp>
        <p:nvSpPr>
          <p:cNvPr id="747" name="Google Shape;747;p46"/>
          <p:cNvSpPr/>
          <p:nvPr/>
        </p:nvSpPr>
        <p:spPr>
          <a:xfrm>
            <a:off x="457200" y="1906524"/>
            <a:ext cx="7725508" cy="1417320"/>
          </a:xfrm>
          <a:prstGeom prst="roundRect">
            <a:avLst>
              <a:gd fmla="val 5161" name="adj"/>
            </a:avLst>
          </a:prstGeom>
          <a:solidFill>
            <a:srgbClr val="F7EEEA"/>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46"/>
          <p:cNvSpPr txBox="1"/>
          <p:nvPr/>
        </p:nvSpPr>
        <p:spPr>
          <a:xfrm>
            <a:off x="685800" y="1997964"/>
            <a:ext cx="740627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A6B"/>
              </a:buClr>
              <a:buSzPts val="1450"/>
              <a:buFont typeface="Cambria"/>
              <a:buNone/>
            </a:pPr>
            <a:r>
              <a:rPr b="1" lang="en-US" sz="1450">
                <a:solidFill>
                  <a:srgbClr val="1B7A6B"/>
                </a:solidFill>
                <a:latin typeface="Cambria"/>
                <a:ea typeface="Cambria"/>
                <a:cs typeface="Cambria"/>
                <a:sym typeface="Cambria"/>
              </a:rPr>
              <a:t>Group 1 — Hungary's Pro-Natalist Tax &amp; Loan Package</a:t>
            </a:r>
            <a:endParaRPr sz="1450">
              <a:solidFill>
                <a:schemeClr val="dk1"/>
              </a:solidFill>
              <a:latin typeface="Calibri"/>
              <a:ea typeface="Calibri"/>
              <a:cs typeface="Calibri"/>
              <a:sym typeface="Calibri"/>
            </a:endParaRPr>
          </a:p>
        </p:txBody>
      </p:sp>
      <p:sp>
        <p:nvSpPr>
          <p:cNvPr id="749" name="Google Shape;749;p46"/>
          <p:cNvSpPr txBox="1"/>
          <p:nvPr/>
        </p:nvSpPr>
        <p:spPr>
          <a:xfrm>
            <a:off x="685800" y="2345436"/>
            <a:ext cx="7406272"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130"/>
              <a:buFont typeface="Calibri"/>
              <a:buNone/>
            </a:pPr>
            <a:r>
              <a:rPr lang="en-US" sz="1130">
                <a:solidFill>
                  <a:srgbClr val="2D2A2C"/>
                </a:solidFill>
                <a:latin typeface="Calibri"/>
                <a:ea typeface="Calibri"/>
                <a:cs typeface="Calibri"/>
                <a:sym typeface="Calibri"/>
              </a:rPr>
              <a:t>~5% of GDP/year since 2010: lifetime income-tax exemption for mothers of 4+ children, subsidized loans with per-child debt forgiveness, housing subsidies. Result: TFR fell to 1.39 in 2024 (from 1.51 in 2023); births down 9.1%.</a:t>
            </a:r>
            <a:endParaRPr sz="1130">
              <a:solidFill>
                <a:schemeClr val="dk1"/>
              </a:solidFill>
              <a:latin typeface="Calibri"/>
              <a:ea typeface="Calibri"/>
              <a:cs typeface="Calibri"/>
              <a:sym typeface="Calibri"/>
            </a:endParaRPr>
          </a:p>
        </p:txBody>
      </p:sp>
      <p:sp>
        <p:nvSpPr>
          <p:cNvPr id="750" name="Google Shape;750;p46"/>
          <p:cNvSpPr txBox="1"/>
          <p:nvPr/>
        </p:nvSpPr>
        <p:spPr>
          <a:xfrm>
            <a:off x="685800" y="3022092"/>
            <a:ext cx="740627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i="1" lang="en-US" sz="900">
                <a:solidFill>
                  <a:srgbClr val="6B6068"/>
                </a:solidFill>
                <a:latin typeface="Calibri"/>
                <a:ea typeface="Calibri"/>
                <a:cs typeface="Calibri"/>
                <a:sym typeface="Calibri"/>
              </a:rPr>
              <a:t>N-IUSSP (2024); KSH (Hungarian Central Statistical Office), 2024 data.</a:t>
            </a:r>
            <a:endParaRPr sz="900">
              <a:solidFill>
                <a:schemeClr val="dk1"/>
              </a:solidFill>
              <a:latin typeface="Calibri"/>
              <a:ea typeface="Calibri"/>
              <a:cs typeface="Calibri"/>
              <a:sym typeface="Calibri"/>
            </a:endParaRPr>
          </a:p>
        </p:txBody>
      </p:sp>
      <p:sp>
        <p:nvSpPr>
          <p:cNvPr id="751" name="Google Shape;751;p46"/>
          <p:cNvSpPr/>
          <p:nvPr/>
        </p:nvSpPr>
        <p:spPr>
          <a:xfrm>
            <a:off x="457200" y="3442716"/>
            <a:ext cx="7725508" cy="1417320"/>
          </a:xfrm>
          <a:prstGeom prst="roundRect">
            <a:avLst>
              <a:gd fmla="val 5161" name="adj"/>
            </a:avLst>
          </a:prstGeom>
          <a:solidFill>
            <a:srgbClr val="F7EEEA"/>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46"/>
          <p:cNvSpPr txBox="1"/>
          <p:nvPr/>
        </p:nvSpPr>
        <p:spPr>
          <a:xfrm>
            <a:off x="685800" y="3534156"/>
            <a:ext cx="740627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A6B"/>
              </a:buClr>
              <a:buSzPts val="1450"/>
              <a:buFont typeface="Cambria"/>
              <a:buNone/>
            </a:pPr>
            <a:r>
              <a:rPr b="1" lang="en-US" sz="1450">
                <a:solidFill>
                  <a:srgbClr val="1B7A6B"/>
                </a:solidFill>
                <a:latin typeface="Cambria"/>
                <a:ea typeface="Cambria"/>
                <a:cs typeface="Cambria"/>
                <a:sym typeface="Cambria"/>
              </a:rPr>
              <a:t>Group 2 — Singapore's Baby Bonus &amp; Marriage/Parenthood Package</a:t>
            </a:r>
            <a:endParaRPr sz="1450">
              <a:solidFill>
                <a:schemeClr val="dk1"/>
              </a:solidFill>
              <a:latin typeface="Calibri"/>
              <a:ea typeface="Calibri"/>
              <a:cs typeface="Calibri"/>
              <a:sym typeface="Calibri"/>
            </a:endParaRPr>
          </a:p>
        </p:txBody>
      </p:sp>
      <p:sp>
        <p:nvSpPr>
          <p:cNvPr id="753" name="Google Shape;753;p46"/>
          <p:cNvSpPr txBox="1"/>
          <p:nvPr/>
        </p:nvSpPr>
        <p:spPr>
          <a:xfrm>
            <a:off x="685800" y="3881628"/>
            <a:ext cx="7406272"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130"/>
              <a:buFont typeface="Calibri"/>
              <a:buNone/>
            </a:pPr>
            <a:r>
              <a:rPr lang="en-US" sz="1130">
                <a:solidFill>
                  <a:srgbClr val="2D2A2C"/>
                </a:solidFill>
                <a:latin typeface="Calibri"/>
                <a:ea typeface="Calibri"/>
                <a:cs typeface="Calibri"/>
                <a:sym typeface="Calibri"/>
              </a:rPr>
              <a:t>Cash gifts (up to S$11,000 per child), Child Development Co-Savings accounts, and paid parental leave, expanded repeatedly since 2001. Result: TFR still fell to a record low (0.97 in 2024, 0.87 est. 2025).</a:t>
            </a:r>
            <a:endParaRPr sz="1130">
              <a:solidFill>
                <a:schemeClr val="dk1"/>
              </a:solidFill>
              <a:latin typeface="Calibri"/>
              <a:ea typeface="Calibri"/>
              <a:cs typeface="Calibri"/>
              <a:sym typeface="Calibri"/>
            </a:endParaRPr>
          </a:p>
        </p:txBody>
      </p:sp>
      <p:sp>
        <p:nvSpPr>
          <p:cNvPr id="754" name="Google Shape;754;p46"/>
          <p:cNvSpPr txBox="1"/>
          <p:nvPr/>
        </p:nvSpPr>
        <p:spPr>
          <a:xfrm>
            <a:off x="685800" y="4558284"/>
            <a:ext cx="740627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i="1" lang="en-US" sz="900">
                <a:solidFill>
                  <a:srgbClr val="6B6068"/>
                </a:solidFill>
                <a:latin typeface="Calibri"/>
                <a:ea typeface="Calibri"/>
                <a:cs typeface="Calibri"/>
                <a:sym typeface="Calibri"/>
              </a:rPr>
              <a:t>Bloomberg (2026); Singapore Department of Statistics, Population in Brief.</a:t>
            </a:r>
            <a:endParaRPr sz="900">
              <a:solidFill>
                <a:schemeClr val="dk1"/>
              </a:solidFill>
              <a:latin typeface="Calibri"/>
              <a:ea typeface="Calibri"/>
              <a:cs typeface="Calibri"/>
              <a:sym typeface="Calibri"/>
            </a:endParaRPr>
          </a:p>
        </p:txBody>
      </p:sp>
      <p:sp>
        <p:nvSpPr>
          <p:cNvPr id="755" name="Google Shape;755;p46"/>
          <p:cNvSpPr/>
          <p:nvPr/>
        </p:nvSpPr>
        <p:spPr>
          <a:xfrm>
            <a:off x="457200" y="4978908"/>
            <a:ext cx="7725508" cy="1417320"/>
          </a:xfrm>
          <a:prstGeom prst="roundRect">
            <a:avLst>
              <a:gd fmla="val 5161" name="adj"/>
            </a:avLst>
          </a:prstGeom>
          <a:solidFill>
            <a:srgbClr val="F7EEEA"/>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46"/>
          <p:cNvSpPr txBox="1"/>
          <p:nvPr/>
        </p:nvSpPr>
        <p:spPr>
          <a:xfrm>
            <a:off x="685800" y="5070348"/>
            <a:ext cx="740627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A6B"/>
              </a:buClr>
              <a:buSzPts val="1450"/>
              <a:buFont typeface="Cambria"/>
              <a:buNone/>
            </a:pPr>
            <a:r>
              <a:rPr b="1" lang="en-US" sz="1450">
                <a:solidFill>
                  <a:srgbClr val="1B7A6B"/>
                </a:solidFill>
                <a:latin typeface="Cambria"/>
                <a:ea typeface="Cambria"/>
                <a:cs typeface="Cambria"/>
                <a:sym typeface="Cambria"/>
              </a:rPr>
              <a:t>Group 3 — Thailand's Integrated National Strategic Response</a:t>
            </a:r>
            <a:endParaRPr sz="1450">
              <a:solidFill>
                <a:schemeClr val="dk1"/>
              </a:solidFill>
              <a:latin typeface="Calibri"/>
              <a:ea typeface="Calibri"/>
              <a:cs typeface="Calibri"/>
              <a:sym typeface="Calibri"/>
            </a:endParaRPr>
          </a:p>
        </p:txBody>
      </p:sp>
      <p:sp>
        <p:nvSpPr>
          <p:cNvPr id="757" name="Google Shape;757;p46"/>
          <p:cNvSpPr txBox="1"/>
          <p:nvPr/>
        </p:nvSpPr>
        <p:spPr>
          <a:xfrm>
            <a:off x="685800" y="5417820"/>
            <a:ext cx="7406272"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130"/>
              <a:buFont typeface="Calibri"/>
              <a:buNone/>
            </a:pPr>
            <a:r>
              <a:rPr lang="en-US" sz="1130">
                <a:solidFill>
                  <a:srgbClr val="2D2A2C"/>
                </a:solidFill>
                <a:latin typeface="Calibri"/>
                <a:ea typeface="Calibri"/>
                <a:cs typeface="Calibri"/>
                <a:sym typeface="Calibri"/>
              </a:rPr>
              <a:t>Rather than cash incentives, Thailand's 2025 national strategy emphasizes active aging, human-capital investment, and skilled immigration — treating low fertility as structural, not solved by pro-natalist payments alone.</a:t>
            </a:r>
            <a:endParaRPr sz="1130">
              <a:solidFill>
                <a:schemeClr val="dk1"/>
              </a:solidFill>
              <a:latin typeface="Calibri"/>
              <a:ea typeface="Calibri"/>
              <a:cs typeface="Calibri"/>
              <a:sym typeface="Calibri"/>
            </a:endParaRPr>
          </a:p>
        </p:txBody>
      </p:sp>
      <p:sp>
        <p:nvSpPr>
          <p:cNvPr id="758" name="Google Shape;758;p46"/>
          <p:cNvSpPr txBox="1"/>
          <p:nvPr/>
        </p:nvSpPr>
        <p:spPr>
          <a:xfrm>
            <a:off x="685800" y="6094476"/>
            <a:ext cx="740627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i="1" lang="en-US" sz="900">
                <a:solidFill>
                  <a:srgbClr val="6B6068"/>
                </a:solidFill>
                <a:latin typeface="Calibri"/>
                <a:ea typeface="Calibri"/>
                <a:cs typeface="Calibri"/>
                <a:sym typeface="Calibri"/>
              </a:rPr>
              <a:t>Chulalongkorn University (2025). Integrated National Strategic Plan.</a:t>
            </a:r>
            <a:endParaRPr sz="900">
              <a:solidFill>
                <a:schemeClr val="dk1"/>
              </a:solidFill>
              <a:latin typeface="Calibri"/>
              <a:ea typeface="Calibri"/>
              <a:cs typeface="Calibri"/>
              <a:sym typeface="Calibri"/>
            </a:endParaRPr>
          </a:p>
        </p:txBody>
      </p:sp>
      <p:sp>
        <p:nvSpPr>
          <p:cNvPr id="759" name="Google Shape;759;p46"/>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
        <p:nvSpPr>
          <p:cNvPr id="760" name="Google Shape;760;p46"/>
          <p:cNvSpPr txBox="1"/>
          <p:nvPr/>
        </p:nvSpPr>
        <p:spPr>
          <a:xfrm>
            <a:off x="8320672" y="1067884"/>
            <a:ext cx="3292208" cy="56755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00"/>
              <a:buFont typeface="Calibri"/>
              <a:buNone/>
            </a:pPr>
            <a:r>
              <a:rPr b="1" lang="en-US" sz="1200">
                <a:solidFill>
                  <a:srgbClr val="2D2A2C"/>
                </a:solidFill>
                <a:latin typeface="Calibri"/>
                <a:ea typeface="Calibri"/>
                <a:cs typeface="Calibri"/>
                <a:sym typeface="Calibri"/>
              </a:rPr>
              <a:t>15 min prep + 3 groups × 5 min report-back + 5-10 min synthesis discussion</a:t>
            </a:r>
            <a:endParaRPr/>
          </a:p>
        </p:txBody>
      </p:sp>
      <p:sp>
        <p:nvSpPr>
          <p:cNvPr id="761" name="Google Shape;761;p46"/>
          <p:cNvSpPr txBox="1"/>
          <p:nvPr/>
        </p:nvSpPr>
        <p:spPr>
          <a:xfrm>
            <a:off x="6025661" y="154108"/>
            <a:ext cx="609600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2D2A2C"/>
                </a:solidFill>
                <a:latin typeface="Calibri"/>
                <a:ea typeface="Calibri"/>
                <a:cs typeface="Calibri"/>
                <a:sym typeface="Calibri"/>
              </a:rPr>
              <a:t>From cash-transfer approaches to a structural, non-cash approach.</a:t>
            </a:r>
            <a:endParaRPr sz="1200">
              <a:solidFill>
                <a:schemeClr val="dk1"/>
              </a:solidFill>
              <a:latin typeface="Calibri"/>
              <a:ea typeface="Calibri"/>
              <a:cs typeface="Calibri"/>
              <a:sym typeface="Calibri"/>
            </a:endParaRPr>
          </a:p>
        </p:txBody>
      </p:sp>
      <p:sp>
        <p:nvSpPr>
          <p:cNvPr id="762" name="Google Shape;762;p46"/>
          <p:cNvSpPr txBox="1"/>
          <p:nvPr/>
        </p:nvSpPr>
        <p:spPr>
          <a:xfrm>
            <a:off x="8320672" y="1655936"/>
            <a:ext cx="3510109" cy="5078313"/>
          </a:xfrm>
          <a:prstGeom prst="rect">
            <a:avLst/>
          </a:prstGeom>
          <a:solidFill>
            <a:srgbClr val="FBE4D4"/>
          </a:solid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Which proximate determinant(s) is this policy actually trying to shift (Bongaarts' Cm, Cc, Ca, Ci), and does the outcome data suggest it worked?</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Given the outcome, what does this case suggest about the limits (or conditions for success) of this policy approach — cash/tax incentives vs. structural investment — for raising fertility?</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If you were advising this government next year, what one change would you recommend to the policy design, and why?</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7" name="Shape 767"/>
        <p:cNvGrpSpPr/>
        <p:nvPr/>
      </p:nvGrpSpPr>
      <p:grpSpPr>
        <a:xfrm>
          <a:off x="0" y="0"/>
          <a:ext cx="0" cy="0"/>
          <a:chOff x="0" y="0"/>
          <a:chExt cx="0" cy="0"/>
        </a:xfrm>
      </p:grpSpPr>
      <p:sp>
        <p:nvSpPr>
          <p:cNvPr id="768" name="Google Shape;768;p47"/>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SUMMARY</a:t>
            </a:r>
            <a:endParaRPr sz="1200">
              <a:solidFill>
                <a:schemeClr val="dk1"/>
              </a:solidFill>
              <a:latin typeface="Calibri"/>
              <a:ea typeface="Calibri"/>
              <a:cs typeface="Calibri"/>
              <a:sym typeface="Calibri"/>
            </a:endParaRPr>
          </a:p>
        </p:txBody>
      </p:sp>
      <p:sp>
        <p:nvSpPr>
          <p:cNvPr id="769" name="Google Shape;769;p47"/>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Key Takeaways</a:t>
            </a:r>
            <a:endParaRPr sz="3000">
              <a:solidFill>
                <a:schemeClr val="dk1"/>
              </a:solidFill>
              <a:latin typeface="Calibri"/>
              <a:ea typeface="Calibri"/>
              <a:cs typeface="Calibri"/>
              <a:sym typeface="Calibri"/>
            </a:endParaRPr>
          </a:p>
        </p:txBody>
      </p:sp>
      <p:sp>
        <p:nvSpPr>
          <p:cNvPr id="770" name="Google Shape;770;p47"/>
          <p:cNvSpPr/>
          <p:nvPr/>
        </p:nvSpPr>
        <p:spPr>
          <a:xfrm>
            <a:off x="548640" y="1600200"/>
            <a:ext cx="502920" cy="502920"/>
          </a:xfrm>
          <a:prstGeom prst="ellipse">
            <a:avLst/>
          </a:prstGeom>
          <a:solidFill>
            <a:srgbClr val="6D2E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47"/>
          <p:cNvSpPr txBox="1"/>
          <p:nvPr/>
        </p:nvSpPr>
        <p:spPr>
          <a:xfrm>
            <a:off x="548640" y="160020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1</a:t>
            </a:r>
            <a:endParaRPr sz="1600">
              <a:solidFill>
                <a:schemeClr val="dk1"/>
              </a:solidFill>
              <a:latin typeface="Calibri"/>
              <a:ea typeface="Calibri"/>
              <a:cs typeface="Calibri"/>
              <a:sym typeface="Calibri"/>
            </a:endParaRPr>
          </a:p>
        </p:txBody>
      </p:sp>
      <p:sp>
        <p:nvSpPr>
          <p:cNvPr id="772" name="Google Shape;772;p47"/>
          <p:cNvSpPr txBox="1"/>
          <p:nvPr/>
        </p:nvSpPr>
        <p:spPr>
          <a:xfrm>
            <a:off x="1234440" y="1581912"/>
            <a:ext cx="103327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450"/>
              <a:buFont typeface="Calibri"/>
              <a:buNone/>
            </a:pPr>
            <a:r>
              <a:rPr b="1" lang="en-US" sz="1450">
                <a:solidFill>
                  <a:srgbClr val="6D2E46"/>
                </a:solidFill>
                <a:latin typeface="Calibri"/>
                <a:ea typeface="Calibri"/>
                <a:cs typeface="Calibri"/>
                <a:sym typeface="Calibri"/>
              </a:rPr>
              <a:t>Measure fertility with the right tool for the question</a:t>
            </a:r>
            <a:endParaRPr sz="1450">
              <a:solidFill>
                <a:schemeClr val="dk1"/>
              </a:solidFill>
              <a:latin typeface="Calibri"/>
              <a:ea typeface="Calibri"/>
              <a:cs typeface="Calibri"/>
              <a:sym typeface="Calibri"/>
            </a:endParaRPr>
          </a:p>
        </p:txBody>
      </p:sp>
      <p:sp>
        <p:nvSpPr>
          <p:cNvPr id="773" name="Google Shape;773;p47"/>
          <p:cNvSpPr txBox="1"/>
          <p:nvPr/>
        </p:nvSpPr>
        <p:spPr>
          <a:xfrm>
            <a:off x="1234440" y="1911096"/>
            <a:ext cx="103327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30"/>
              <a:buFont typeface="Calibri"/>
              <a:buNone/>
            </a:pPr>
            <a:r>
              <a:rPr lang="en-US" sz="1230">
                <a:solidFill>
                  <a:srgbClr val="2D2A2C"/>
                </a:solidFill>
                <a:latin typeface="Calibri"/>
                <a:ea typeface="Calibri"/>
                <a:cs typeface="Calibri"/>
                <a:sym typeface="Calibri"/>
              </a:rPr>
              <a:t>CBR for a quick aggregate figure, GFR to remove population-structure distortion, ASFR/TFR for rigorous, comparable, age-detailed analysis — and always check your arithmetic against a real published TFR, as in Worked Example 2.</a:t>
            </a:r>
            <a:endParaRPr sz="1230">
              <a:solidFill>
                <a:schemeClr val="dk1"/>
              </a:solidFill>
              <a:latin typeface="Calibri"/>
              <a:ea typeface="Calibri"/>
              <a:cs typeface="Calibri"/>
              <a:sym typeface="Calibri"/>
            </a:endParaRPr>
          </a:p>
        </p:txBody>
      </p:sp>
      <p:sp>
        <p:nvSpPr>
          <p:cNvPr id="774" name="Google Shape;774;p47"/>
          <p:cNvSpPr/>
          <p:nvPr/>
        </p:nvSpPr>
        <p:spPr>
          <a:xfrm>
            <a:off x="548640" y="2715768"/>
            <a:ext cx="502920" cy="502920"/>
          </a:xfrm>
          <a:prstGeom prst="ellipse">
            <a:avLst/>
          </a:prstGeom>
          <a:solidFill>
            <a:srgbClr val="6D2E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47"/>
          <p:cNvSpPr txBox="1"/>
          <p:nvPr/>
        </p:nvSpPr>
        <p:spPr>
          <a:xfrm>
            <a:off x="548640" y="2715768"/>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2</a:t>
            </a:r>
            <a:endParaRPr sz="1600">
              <a:solidFill>
                <a:schemeClr val="dk1"/>
              </a:solidFill>
              <a:latin typeface="Calibri"/>
              <a:ea typeface="Calibri"/>
              <a:cs typeface="Calibri"/>
              <a:sym typeface="Calibri"/>
            </a:endParaRPr>
          </a:p>
        </p:txBody>
      </p:sp>
      <p:sp>
        <p:nvSpPr>
          <p:cNvPr id="776" name="Google Shape;776;p47"/>
          <p:cNvSpPr txBox="1"/>
          <p:nvPr/>
        </p:nvSpPr>
        <p:spPr>
          <a:xfrm>
            <a:off x="1234440" y="2697480"/>
            <a:ext cx="103327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450"/>
              <a:buFont typeface="Calibri"/>
              <a:buNone/>
            </a:pPr>
            <a:r>
              <a:rPr b="1" lang="en-US" sz="1450">
                <a:solidFill>
                  <a:srgbClr val="6D2E46"/>
                </a:solidFill>
                <a:latin typeface="Calibri"/>
                <a:ea typeface="Calibri"/>
                <a:cs typeface="Calibri"/>
                <a:sym typeface="Calibri"/>
              </a:rPr>
              <a:t>No single theory fully explains fertility decline</a:t>
            </a:r>
            <a:endParaRPr sz="1450">
              <a:solidFill>
                <a:schemeClr val="dk1"/>
              </a:solidFill>
              <a:latin typeface="Calibri"/>
              <a:ea typeface="Calibri"/>
              <a:cs typeface="Calibri"/>
              <a:sym typeface="Calibri"/>
            </a:endParaRPr>
          </a:p>
        </p:txBody>
      </p:sp>
      <p:sp>
        <p:nvSpPr>
          <p:cNvPr id="777" name="Google Shape;777;p47"/>
          <p:cNvSpPr txBox="1"/>
          <p:nvPr/>
        </p:nvSpPr>
        <p:spPr>
          <a:xfrm>
            <a:off x="1234440" y="3026664"/>
            <a:ext cx="103327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30"/>
              <a:buFont typeface="Calibri"/>
              <a:buNone/>
            </a:pPr>
            <a:r>
              <a:rPr lang="en-US" sz="1230">
                <a:solidFill>
                  <a:srgbClr val="2D2A2C"/>
                </a:solidFill>
                <a:latin typeface="Calibri"/>
                <a:ea typeface="Calibri"/>
                <a:cs typeface="Calibri"/>
                <a:sym typeface="Calibri"/>
              </a:rPr>
              <a:t>Classic transition theory, Becker's quantity-quality model, and Easterlin's regulatory/aspirations framework are complementary lenses, not competitors.</a:t>
            </a:r>
            <a:endParaRPr sz="1230">
              <a:solidFill>
                <a:schemeClr val="dk1"/>
              </a:solidFill>
              <a:latin typeface="Calibri"/>
              <a:ea typeface="Calibri"/>
              <a:cs typeface="Calibri"/>
              <a:sym typeface="Calibri"/>
            </a:endParaRPr>
          </a:p>
        </p:txBody>
      </p:sp>
      <p:sp>
        <p:nvSpPr>
          <p:cNvPr id="778" name="Google Shape;778;p47"/>
          <p:cNvSpPr/>
          <p:nvPr/>
        </p:nvSpPr>
        <p:spPr>
          <a:xfrm>
            <a:off x="548640" y="3831336"/>
            <a:ext cx="502920" cy="502920"/>
          </a:xfrm>
          <a:prstGeom prst="ellipse">
            <a:avLst/>
          </a:prstGeom>
          <a:solidFill>
            <a:srgbClr val="6D2E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47"/>
          <p:cNvSpPr txBox="1"/>
          <p:nvPr/>
        </p:nvSpPr>
        <p:spPr>
          <a:xfrm>
            <a:off x="548640" y="3831336"/>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3</a:t>
            </a:r>
            <a:endParaRPr sz="1600">
              <a:solidFill>
                <a:schemeClr val="dk1"/>
              </a:solidFill>
              <a:latin typeface="Calibri"/>
              <a:ea typeface="Calibri"/>
              <a:cs typeface="Calibri"/>
              <a:sym typeface="Calibri"/>
            </a:endParaRPr>
          </a:p>
        </p:txBody>
      </p:sp>
      <p:sp>
        <p:nvSpPr>
          <p:cNvPr id="780" name="Google Shape;780;p47"/>
          <p:cNvSpPr txBox="1"/>
          <p:nvPr/>
        </p:nvSpPr>
        <p:spPr>
          <a:xfrm>
            <a:off x="1234440" y="3813048"/>
            <a:ext cx="103327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450"/>
              <a:buFont typeface="Calibri"/>
              <a:buNone/>
            </a:pPr>
            <a:r>
              <a:rPr b="1" lang="en-US" sz="1450">
                <a:solidFill>
                  <a:srgbClr val="6D2E46"/>
                </a:solidFill>
                <a:latin typeface="Calibri"/>
                <a:ea typeface="Calibri"/>
                <a:cs typeface="Calibri"/>
                <a:sym typeface="Calibri"/>
              </a:rPr>
              <a:t>The Bongaarts framework is the analytical bridge</a:t>
            </a:r>
            <a:endParaRPr sz="1450">
              <a:solidFill>
                <a:schemeClr val="dk1"/>
              </a:solidFill>
              <a:latin typeface="Calibri"/>
              <a:ea typeface="Calibri"/>
              <a:cs typeface="Calibri"/>
              <a:sym typeface="Calibri"/>
            </a:endParaRPr>
          </a:p>
        </p:txBody>
      </p:sp>
      <p:sp>
        <p:nvSpPr>
          <p:cNvPr id="781" name="Google Shape;781;p47"/>
          <p:cNvSpPr txBox="1"/>
          <p:nvPr/>
        </p:nvSpPr>
        <p:spPr>
          <a:xfrm>
            <a:off x="1234440" y="4142232"/>
            <a:ext cx="103327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30"/>
              <a:buFont typeface="Calibri"/>
              <a:buNone/>
            </a:pPr>
            <a:r>
              <a:rPr lang="en-US" sz="1230">
                <a:solidFill>
                  <a:srgbClr val="2D2A2C"/>
                </a:solidFill>
                <a:latin typeface="Calibri"/>
                <a:ea typeface="Calibri"/>
                <a:cs typeface="Calibri"/>
                <a:sym typeface="Calibri"/>
              </a:rPr>
              <a:t>It connects biological fecundity to observed fertility through four measurable, policy-relevant proximate determinants — marriage, contraception, abortion, postpartum infecundability.</a:t>
            </a:r>
            <a:endParaRPr sz="1230">
              <a:solidFill>
                <a:schemeClr val="dk1"/>
              </a:solidFill>
              <a:latin typeface="Calibri"/>
              <a:ea typeface="Calibri"/>
              <a:cs typeface="Calibri"/>
              <a:sym typeface="Calibri"/>
            </a:endParaRPr>
          </a:p>
        </p:txBody>
      </p:sp>
      <p:sp>
        <p:nvSpPr>
          <p:cNvPr id="782" name="Google Shape;782;p47"/>
          <p:cNvSpPr/>
          <p:nvPr/>
        </p:nvSpPr>
        <p:spPr>
          <a:xfrm>
            <a:off x="548640" y="4946904"/>
            <a:ext cx="502920" cy="502920"/>
          </a:xfrm>
          <a:prstGeom prst="ellipse">
            <a:avLst/>
          </a:prstGeom>
          <a:solidFill>
            <a:srgbClr val="6D2E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47"/>
          <p:cNvSpPr txBox="1"/>
          <p:nvPr/>
        </p:nvSpPr>
        <p:spPr>
          <a:xfrm>
            <a:off x="548640" y="4946904"/>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4</a:t>
            </a:r>
            <a:endParaRPr sz="1600">
              <a:solidFill>
                <a:schemeClr val="dk1"/>
              </a:solidFill>
              <a:latin typeface="Calibri"/>
              <a:ea typeface="Calibri"/>
              <a:cs typeface="Calibri"/>
              <a:sym typeface="Calibri"/>
            </a:endParaRPr>
          </a:p>
        </p:txBody>
      </p:sp>
      <p:sp>
        <p:nvSpPr>
          <p:cNvPr id="784" name="Google Shape;784;p47"/>
          <p:cNvSpPr txBox="1"/>
          <p:nvPr/>
        </p:nvSpPr>
        <p:spPr>
          <a:xfrm>
            <a:off x="1234440" y="4928616"/>
            <a:ext cx="103327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E46"/>
              </a:buClr>
              <a:buSzPts val="1450"/>
              <a:buFont typeface="Calibri"/>
              <a:buNone/>
            </a:pPr>
            <a:r>
              <a:rPr b="1" lang="en-US" sz="1450">
                <a:solidFill>
                  <a:srgbClr val="6D2E46"/>
                </a:solidFill>
                <a:latin typeface="Calibri"/>
                <a:ea typeface="Calibri"/>
                <a:cs typeface="Calibri"/>
                <a:sym typeface="Calibri"/>
              </a:rPr>
              <a:t>Below-replacement fertility is now a global-majority reality</a:t>
            </a:r>
            <a:endParaRPr sz="1450">
              <a:solidFill>
                <a:schemeClr val="dk1"/>
              </a:solidFill>
              <a:latin typeface="Calibri"/>
              <a:ea typeface="Calibri"/>
              <a:cs typeface="Calibri"/>
              <a:sym typeface="Calibri"/>
            </a:endParaRPr>
          </a:p>
        </p:txBody>
      </p:sp>
      <p:sp>
        <p:nvSpPr>
          <p:cNvPr id="785" name="Google Shape;785;p47"/>
          <p:cNvSpPr txBox="1"/>
          <p:nvPr/>
        </p:nvSpPr>
        <p:spPr>
          <a:xfrm>
            <a:off x="1234440" y="5257800"/>
            <a:ext cx="103327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230"/>
              <a:buFont typeface="Calibri"/>
              <a:buNone/>
            </a:pPr>
            <a:r>
              <a:rPr lang="en-US" sz="1230">
                <a:solidFill>
                  <a:srgbClr val="2D2A2C"/>
                </a:solidFill>
                <a:latin typeface="Calibri"/>
                <a:ea typeface="Calibri"/>
                <a:cs typeface="Calibri"/>
                <a:sym typeface="Calibri"/>
              </a:rPr>
              <a:t>From Thailand to Hungary to South Korea, pro-natalist policy has so far struggled to reverse it — reshaping population ageing, labor markets, and family-planning priorities worldwide.</a:t>
            </a:r>
            <a:endParaRPr sz="1230">
              <a:solidFill>
                <a:schemeClr val="dk1"/>
              </a:solidFill>
              <a:latin typeface="Calibri"/>
              <a:ea typeface="Calibri"/>
              <a:cs typeface="Calibri"/>
              <a:sym typeface="Calibri"/>
            </a:endParaRPr>
          </a:p>
        </p:txBody>
      </p:sp>
      <p:sp>
        <p:nvSpPr>
          <p:cNvPr id="786" name="Google Shape;786;p47"/>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1" name="Shape 791"/>
        <p:cNvGrpSpPr/>
        <p:nvPr/>
      </p:nvGrpSpPr>
      <p:grpSpPr>
        <a:xfrm>
          <a:off x="0" y="0"/>
          <a:ext cx="0" cy="0"/>
          <a:chOff x="0" y="0"/>
          <a:chExt cx="0" cy="0"/>
        </a:xfrm>
      </p:grpSpPr>
      <p:sp>
        <p:nvSpPr>
          <p:cNvPr id="792" name="Google Shape;792;p48"/>
          <p:cNvSpPr txBox="1"/>
          <p:nvPr/>
        </p:nvSpPr>
        <p:spPr>
          <a:xfrm>
            <a:off x="579120" y="91440"/>
            <a:ext cx="9346418"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Sources Cited in This Session</a:t>
            </a:r>
            <a:endParaRPr sz="3000">
              <a:solidFill>
                <a:schemeClr val="dk1"/>
              </a:solidFill>
              <a:latin typeface="Calibri"/>
              <a:ea typeface="Calibri"/>
              <a:cs typeface="Calibri"/>
              <a:sym typeface="Calibri"/>
            </a:endParaRPr>
          </a:p>
        </p:txBody>
      </p:sp>
      <p:sp>
        <p:nvSpPr>
          <p:cNvPr id="793" name="Google Shape;793;p48"/>
          <p:cNvSpPr txBox="1"/>
          <p:nvPr/>
        </p:nvSpPr>
        <p:spPr>
          <a:xfrm>
            <a:off x="548640" y="687363"/>
            <a:ext cx="11064240" cy="4846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2A2C"/>
              </a:buClr>
              <a:buSzPts val="1030"/>
              <a:buFont typeface="Calibri"/>
              <a:buNone/>
            </a:pPr>
            <a:r>
              <a:rPr lang="en-US" sz="1030">
                <a:solidFill>
                  <a:srgbClr val="2D2A2C"/>
                </a:solidFill>
                <a:latin typeface="Calibri"/>
                <a:ea typeface="Calibri"/>
                <a:cs typeface="Calibri"/>
                <a:sym typeface="Calibri"/>
              </a:rPr>
              <a:t>Becker, G. S. (1960). An economic analysis of fertility. In Demographic and economic change in developed countries (pp. 209-240). Princeton University Press for the National Bureau of Economic Research.</a:t>
            </a:r>
            <a:endParaRPr sz="1030">
              <a:solidFill>
                <a:schemeClr val="dk1"/>
              </a:solidFill>
              <a:latin typeface="Calibri"/>
              <a:ea typeface="Calibri"/>
              <a:cs typeface="Calibri"/>
              <a:sym typeface="Calibri"/>
            </a:endParaRPr>
          </a:p>
          <a:p>
            <a:pPr indent="0" lvl="0" marL="0" marR="0" rtl="0" algn="l">
              <a:spcBef>
                <a:spcPts val="900"/>
              </a:spcBef>
              <a:spcAft>
                <a:spcPts val="0"/>
              </a:spcAft>
              <a:buClr>
                <a:srgbClr val="2D2A2C"/>
              </a:buClr>
              <a:buSzPts val="1030"/>
              <a:buFont typeface="Calibri"/>
              <a:buNone/>
            </a:pPr>
            <a:r>
              <a:rPr lang="en-US" sz="1030">
                <a:solidFill>
                  <a:srgbClr val="2D2A2C"/>
                </a:solidFill>
                <a:latin typeface="Calibri"/>
                <a:ea typeface="Calibri"/>
                <a:cs typeface="Calibri"/>
                <a:sym typeface="Calibri"/>
              </a:rPr>
              <a:t>Bongaarts, J. (1978). A framework for analyzing the proximate determinants of fertility. Population and Development Review, 4(1), 105-132. https://www.jstor.org/stable/1972149</a:t>
            </a:r>
            <a:endParaRPr sz="1030">
              <a:solidFill>
                <a:schemeClr val="dk1"/>
              </a:solidFill>
              <a:latin typeface="Calibri"/>
              <a:ea typeface="Calibri"/>
              <a:cs typeface="Calibri"/>
              <a:sym typeface="Calibri"/>
            </a:endParaRPr>
          </a:p>
          <a:p>
            <a:pPr indent="0" lvl="0" marL="0" marR="0" rtl="0" algn="l">
              <a:spcBef>
                <a:spcPts val="900"/>
              </a:spcBef>
              <a:spcAft>
                <a:spcPts val="0"/>
              </a:spcAft>
              <a:buClr>
                <a:srgbClr val="2D2A2C"/>
              </a:buClr>
              <a:buSzPts val="1030"/>
              <a:buFont typeface="Calibri"/>
              <a:buNone/>
            </a:pPr>
            <a:r>
              <a:rPr lang="en-US" sz="1030">
                <a:solidFill>
                  <a:srgbClr val="2D2A2C"/>
                </a:solidFill>
                <a:latin typeface="Calibri"/>
                <a:ea typeface="Calibri"/>
                <a:cs typeface="Calibri"/>
                <a:sym typeface="Calibri"/>
              </a:rPr>
              <a:t>Chulalongkorn University. (2025, July 31). Integrated National Strategic Plan: Turning Thailand's demographic crisis into a future opportunity. https://www.chula.ac.th/en/news/251068/</a:t>
            </a:r>
            <a:endParaRPr sz="1030">
              <a:solidFill>
                <a:schemeClr val="dk1"/>
              </a:solidFill>
              <a:latin typeface="Calibri"/>
              <a:ea typeface="Calibri"/>
              <a:cs typeface="Calibri"/>
              <a:sym typeface="Calibri"/>
            </a:endParaRPr>
          </a:p>
          <a:p>
            <a:pPr indent="0" lvl="0" marL="0" marR="0" rtl="0" algn="l">
              <a:spcBef>
                <a:spcPts val="900"/>
              </a:spcBef>
              <a:spcAft>
                <a:spcPts val="0"/>
              </a:spcAft>
              <a:buClr>
                <a:srgbClr val="2D2A2C"/>
              </a:buClr>
              <a:buSzPts val="1030"/>
              <a:buFont typeface="Calibri"/>
              <a:buNone/>
            </a:pPr>
            <a:r>
              <a:rPr lang="en-US" sz="1030">
                <a:solidFill>
                  <a:srgbClr val="2D2A2C"/>
                </a:solidFill>
                <a:latin typeface="Calibri"/>
                <a:ea typeface="Calibri"/>
                <a:cs typeface="Calibri"/>
                <a:sym typeface="Calibri"/>
              </a:rPr>
              <a:t>Easterlin, R. A. (1975). An economic framework for fertility analysis. Studies in Family Planning, 6(3), 54-63. https://www.jstor.org/stable/1964934</a:t>
            </a:r>
            <a:endParaRPr sz="1030">
              <a:solidFill>
                <a:schemeClr val="dk1"/>
              </a:solidFill>
              <a:latin typeface="Calibri"/>
              <a:ea typeface="Calibri"/>
              <a:cs typeface="Calibri"/>
              <a:sym typeface="Calibri"/>
            </a:endParaRPr>
          </a:p>
          <a:p>
            <a:pPr indent="0" lvl="0" marL="0" marR="0" rtl="0" algn="l">
              <a:spcBef>
                <a:spcPts val="900"/>
              </a:spcBef>
              <a:spcAft>
                <a:spcPts val="0"/>
              </a:spcAft>
              <a:buClr>
                <a:srgbClr val="2D2A2C"/>
              </a:buClr>
              <a:buSzPts val="1030"/>
              <a:buFont typeface="Calibri"/>
              <a:buNone/>
            </a:pPr>
            <a:r>
              <a:rPr lang="en-US" sz="1030">
                <a:solidFill>
                  <a:srgbClr val="2D2A2C"/>
                </a:solidFill>
                <a:latin typeface="Calibri"/>
                <a:ea typeface="Calibri"/>
                <a:cs typeface="Calibri"/>
                <a:sym typeface="Calibri"/>
              </a:rPr>
              <a:t>Institute for Population and Social Research, Mahidol University. (2024). Mahidol population gazette (Vol. 33). https://ipsr.mahidol.ac.th/wp-content/uploads/2024/01/Gazette2024EN.pdf</a:t>
            </a:r>
            <a:endParaRPr sz="1030">
              <a:solidFill>
                <a:schemeClr val="dk1"/>
              </a:solidFill>
              <a:latin typeface="Calibri"/>
              <a:ea typeface="Calibri"/>
              <a:cs typeface="Calibri"/>
              <a:sym typeface="Calibri"/>
            </a:endParaRPr>
          </a:p>
          <a:p>
            <a:pPr indent="0" lvl="0" marL="0" marR="0" rtl="0" algn="l">
              <a:spcBef>
                <a:spcPts val="900"/>
              </a:spcBef>
              <a:spcAft>
                <a:spcPts val="0"/>
              </a:spcAft>
              <a:buClr>
                <a:srgbClr val="2D2A2C"/>
              </a:buClr>
              <a:buSzPts val="1030"/>
              <a:buFont typeface="Calibri"/>
              <a:buNone/>
            </a:pPr>
            <a:r>
              <a:rPr lang="en-US" sz="1030">
                <a:solidFill>
                  <a:srgbClr val="2D2A2C"/>
                </a:solidFill>
                <a:latin typeface="Calibri"/>
                <a:ea typeface="Calibri"/>
                <a:cs typeface="Calibri"/>
                <a:sym typeface="Calibri"/>
              </a:rPr>
              <a:t>Institute for Population and Social Research, Mahidol University. (2025). Mahidol population gazette (Vol. 34). https://ipsr.mahidol.ac.th/wp-content/uploads/2025/01/Gazette2025EN.pdf</a:t>
            </a:r>
            <a:endParaRPr sz="1030">
              <a:solidFill>
                <a:schemeClr val="dk1"/>
              </a:solidFill>
              <a:latin typeface="Calibri"/>
              <a:ea typeface="Calibri"/>
              <a:cs typeface="Calibri"/>
              <a:sym typeface="Calibri"/>
            </a:endParaRPr>
          </a:p>
          <a:p>
            <a:pPr indent="0" lvl="0" marL="0" marR="0" rtl="0" algn="l">
              <a:spcBef>
                <a:spcPts val="900"/>
              </a:spcBef>
              <a:spcAft>
                <a:spcPts val="0"/>
              </a:spcAft>
              <a:buClr>
                <a:srgbClr val="2D2A2C"/>
              </a:buClr>
              <a:buSzPts val="1030"/>
              <a:buFont typeface="Calibri"/>
              <a:buNone/>
            </a:pPr>
            <a:r>
              <a:rPr lang="en-US" sz="1030">
                <a:solidFill>
                  <a:srgbClr val="2D2A2C"/>
                </a:solidFill>
                <a:latin typeface="Calibri"/>
                <a:ea typeface="Calibri"/>
                <a:cs typeface="Calibri"/>
                <a:sym typeface="Calibri"/>
              </a:rPr>
              <a:t>Khaosod English. (2025, January 17). Thailand's population drops below 66 million as births hit 75-year low. https://www.khaosodenglish.com/featured/2025/01/17/thailands-population-drops-below-66-million-as-births-hit-75-year-low/</a:t>
            </a:r>
            <a:endParaRPr sz="1030">
              <a:solidFill>
                <a:schemeClr val="dk1"/>
              </a:solidFill>
              <a:latin typeface="Calibri"/>
              <a:ea typeface="Calibri"/>
              <a:cs typeface="Calibri"/>
              <a:sym typeface="Calibri"/>
            </a:endParaRPr>
          </a:p>
          <a:p>
            <a:pPr indent="0" lvl="0" marL="0" marR="0" rtl="0" algn="l">
              <a:spcBef>
                <a:spcPts val="900"/>
              </a:spcBef>
              <a:spcAft>
                <a:spcPts val="0"/>
              </a:spcAft>
              <a:buClr>
                <a:srgbClr val="2D2A2C"/>
              </a:buClr>
              <a:buSzPts val="1030"/>
              <a:buFont typeface="Calibri"/>
              <a:buNone/>
            </a:pPr>
            <a:r>
              <a:rPr lang="en-US" sz="1030">
                <a:solidFill>
                  <a:srgbClr val="2D2A2C"/>
                </a:solidFill>
                <a:latin typeface="Calibri"/>
                <a:ea typeface="Calibri"/>
                <a:cs typeface="Calibri"/>
                <a:sym typeface="Calibri"/>
              </a:rPr>
              <a:t>The Korea Herald. (2025). Childbirths in Korea rebound for 1st time in nearly a decade in 2024. https://www.koreaherald.com/article/10382593</a:t>
            </a:r>
            <a:endParaRPr sz="1030">
              <a:solidFill>
                <a:schemeClr val="dk1"/>
              </a:solidFill>
              <a:latin typeface="Calibri"/>
              <a:ea typeface="Calibri"/>
              <a:cs typeface="Calibri"/>
              <a:sym typeface="Calibri"/>
            </a:endParaRPr>
          </a:p>
        </p:txBody>
      </p:sp>
      <p:sp>
        <p:nvSpPr>
          <p:cNvPr id="794" name="Google Shape;794;p48"/>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
        <p:nvSpPr>
          <p:cNvPr id="795" name="Google Shape;795;p48"/>
          <p:cNvSpPr txBox="1"/>
          <p:nvPr/>
        </p:nvSpPr>
        <p:spPr>
          <a:xfrm>
            <a:off x="579120" y="2977662"/>
            <a:ext cx="11064240" cy="2743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2A2C"/>
              </a:buClr>
              <a:buSzPts val="1030"/>
              <a:buFont typeface="Calibri"/>
              <a:buNone/>
            </a:pPr>
            <a:r>
              <a:rPr lang="en-US" sz="1030">
                <a:solidFill>
                  <a:srgbClr val="2D2A2C"/>
                </a:solidFill>
                <a:latin typeface="Calibri"/>
                <a:ea typeface="Calibri"/>
                <a:cs typeface="Calibri"/>
                <a:sym typeface="Calibri"/>
              </a:rPr>
              <a:t>Macrotrends. (2025). South Korea fertility rate 1950-2025. https://www.macrotrends.net/global-metrics/countries/kor/south-korea/fertility-rate</a:t>
            </a:r>
            <a:endParaRPr sz="1030">
              <a:solidFill>
                <a:schemeClr val="dk1"/>
              </a:solidFill>
              <a:latin typeface="Calibri"/>
              <a:ea typeface="Calibri"/>
              <a:cs typeface="Calibri"/>
              <a:sym typeface="Calibri"/>
            </a:endParaRPr>
          </a:p>
          <a:p>
            <a:pPr indent="0" lvl="0" marL="0" marR="0" rtl="0" algn="l">
              <a:spcBef>
                <a:spcPts val="900"/>
              </a:spcBef>
              <a:spcAft>
                <a:spcPts val="0"/>
              </a:spcAft>
              <a:buClr>
                <a:srgbClr val="2D2A2C"/>
              </a:buClr>
              <a:buSzPts val="1030"/>
              <a:buFont typeface="Calibri"/>
              <a:buNone/>
            </a:pPr>
            <a:r>
              <a:rPr lang="en-US" sz="1030">
                <a:solidFill>
                  <a:srgbClr val="2D2A2C"/>
                </a:solidFill>
                <a:latin typeface="Calibri"/>
                <a:ea typeface="Calibri"/>
                <a:cs typeface="Calibri"/>
                <a:sym typeface="Calibri"/>
              </a:rPr>
              <a:t>N-IUSSP. (2024). Evaluating pronatalist policies with TFR brings misleading conclusions: Examples from Hungary. https://www.niussp.org/fertility-and-reproduction/evaluating-pronatalist-policies-with-tfr-brings-misleading-conclusions-examples-fromhungary/</a:t>
            </a:r>
            <a:endParaRPr sz="1030">
              <a:solidFill>
                <a:schemeClr val="dk1"/>
              </a:solidFill>
              <a:latin typeface="Calibri"/>
              <a:ea typeface="Calibri"/>
              <a:cs typeface="Calibri"/>
              <a:sym typeface="Calibri"/>
            </a:endParaRPr>
          </a:p>
          <a:p>
            <a:pPr indent="0" lvl="0" marL="0" marR="0" rtl="0" algn="l">
              <a:spcBef>
                <a:spcPts val="900"/>
              </a:spcBef>
              <a:spcAft>
                <a:spcPts val="0"/>
              </a:spcAft>
              <a:buClr>
                <a:srgbClr val="2D2A2C"/>
              </a:buClr>
              <a:buSzPts val="1030"/>
              <a:buFont typeface="Calibri"/>
              <a:buNone/>
            </a:pPr>
            <a:r>
              <a:rPr lang="en-US" sz="1030">
                <a:solidFill>
                  <a:srgbClr val="2D2A2C"/>
                </a:solidFill>
                <a:latin typeface="Calibri"/>
                <a:ea typeface="Calibri"/>
                <a:cs typeface="Calibri"/>
                <a:sym typeface="Calibri"/>
              </a:rPr>
              <a:t>National Population Commission [Nigeria], &amp; ICF. (2025). Nigeria Demographic and Health Survey 2024: Key indicators report. https://www.dhsprogram.com</a:t>
            </a:r>
            <a:endParaRPr sz="1030">
              <a:solidFill>
                <a:schemeClr val="dk1"/>
              </a:solidFill>
              <a:latin typeface="Calibri"/>
              <a:ea typeface="Calibri"/>
              <a:cs typeface="Calibri"/>
              <a:sym typeface="Calibri"/>
            </a:endParaRPr>
          </a:p>
          <a:p>
            <a:pPr indent="0" lvl="0" marL="0" marR="0" rtl="0" algn="l">
              <a:spcBef>
                <a:spcPts val="900"/>
              </a:spcBef>
              <a:spcAft>
                <a:spcPts val="0"/>
              </a:spcAft>
              <a:buClr>
                <a:srgbClr val="2D2A2C"/>
              </a:buClr>
              <a:buSzPts val="1030"/>
              <a:buFont typeface="Calibri"/>
              <a:buNone/>
            </a:pPr>
            <a:r>
              <a:rPr lang="en-US" sz="1030">
                <a:solidFill>
                  <a:srgbClr val="2D2A2C"/>
                </a:solidFill>
                <a:latin typeface="Calibri"/>
                <a:ea typeface="Calibri"/>
                <a:cs typeface="Calibri"/>
                <a:sym typeface="Calibri"/>
              </a:rPr>
              <a:t>Nippon.com. (2025). Japan's fertility rate drops to new record low. https://www.nippon.com/en/japan-data/h02015/</a:t>
            </a:r>
            <a:endParaRPr sz="1030">
              <a:solidFill>
                <a:schemeClr val="dk1"/>
              </a:solidFill>
              <a:latin typeface="Calibri"/>
              <a:ea typeface="Calibri"/>
              <a:cs typeface="Calibri"/>
              <a:sym typeface="Calibri"/>
            </a:endParaRPr>
          </a:p>
          <a:p>
            <a:pPr indent="0" lvl="0" marL="0" marR="0" rtl="0" algn="l">
              <a:spcBef>
                <a:spcPts val="900"/>
              </a:spcBef>
              <a:spcAft>
                <a:spcPts val="0"/>
              </a:spcAft>
              <a:buClr>
                <a:srgbClr val="2D2A2C"/>
              </a:buClr>
              <a:buSzPts val="1030"/>
              <a:buFont typeface="Calibri"/>
              <a:buNone/>
            </a:pPr>
            <a:r>
              <a:rPr lang="en-US" sz="1030">
                <a:solidFill>
                  <a:srgbClr val="2D2A2C"/>
                </a:solidFill>
                <a:latin typeface="Calibri"/>
                <a:ea typeface="Calibri"/>
                <a:cs typeface="Calibri"/>
                <a:sym typeface="Calibri"/>
              </a:rPr>
              <a:t>Bloomberg. (2026, February 26). Singapore fertility rate posts 'significant' drop to record low. https://www.bloomberg.com/news/articles/2026-02-26/singapore-s-fertility-rate-falls-to-fresh-low-as-population-ages</a:t>
            </a:r>
            <a:endParaRPr sz="1030">
              <a:solidFill>
                <a:schemeClr val="dk1"/>
              </a:solidFill>
              <a:latin typeface="Calibri"/>
              <a:ea typeface="Calibri"/>
              <a:cs typeface="Calibri"/>
              <a:sym typeface="Calibri"/>
            </a:endParaRPr>
          </a:p>
          <a:p>
            <a:pPr indent="0" lvl="0" marL="0" marR="0" rtl="0" algn="l">
              <a:spcBef>
                <a:spcPts val="900"/>
              </a:spcBef>
              <a:spcAft>
                <a:spcPts val="0"/>
              </a:spcAft>
              <a:buClr>
                <a:srgbClr val="2D2A2C"/>
              </a:buClr>
              <a:buSzPts val="1030"/>
              <a:buFont typeface="Calibri"/>
              <a:buNone/>
            </a:pPr>
            <a:r>
              <a:rPr lang="en-US" sz="1030">
                <a:solidFill>
                  <a:srgbClr val="2D2A2C"/>
                </a:solidFill>
                <a:latin typeface="Calibri"/>
                <a:ea typeface="Calibri"/>
                <a:cs typeface="Calibri"/>
                <a:sym typeface="Calibri"/>
              </a:rPr>
              <a:t>Panichkriangkrai, W., Topothai, C., Saengruang, N., Thammatach-Aree, J., &amp; Tangcharoensathien, V. (2020). Universal access to sexual and reproductive health services in Thailand: Achievements and challenges. Sexual and Reproductive Health Matters, 28(2). https://doi.org/10.1080/26410397.2020.1805842</a:t>
            </a:r>
            <a:endParaRPr sz="1030">
              <a:solidFill>
                <a:schemeClr val="dk1"/>
              </a:solidFill>
              <a:latin typeface="Calibri"/>
              <a:ea typeface="Calibri"/>
              <a:cs typeface="Calibri"/>
              <a:sym typeface="Calibri"/>
            </a:endParaRPr>
          </a:p>
          <a:p>
            <a:pPr indent="0" lvl="0" marL="0" marR="0" rtl="0" algn="l">
              <a:spcBef>
                <a:spcPts val="900"/>
              </a:spcBef>
              <a:spcAft>
                <a:spcPts val="0"/>
              </a:spcAft>
              <a:buClr>
                <a:srgbClr val="2D2A2C"/>
              </a:buClr>
              <a:buSzPts val="1030"/>
              <a:buFont typeface="Calibri"/>
              <a:buNone/>
            </a:pPr>
            <a:r>
              <a:rPr lang="en-US" sz="1030">
                <a:solidFill>
                  <a:srgbClr val="2D2A2C"/>
                </a:solidFill>
                <a:latin typeface="Calibri"/>
                <a:ea typeface="Calibri"/>
                <a:cs typeface="Calibri"/>
                <a:sym typeface="Calibri"/>
              </a:rPr>
              <a:t>Philippine Statistics Authority. (2022, November 13). Total fertility rate declined from 2.7 in 2017 to 1.9 in 2022 [Preliminary results, 2022 NDHS]. https://psa.gov.ph/content/total-fertility-rate-declined-27-2017-19-2022</a:t>
            </a:r>
            <a:endParaRPr sz="1030">
              <a:solidFill>
                <a:schemeClr val="dk1"/>
              </a:solidFill>
              <a:latin typeface="Calibri"/>
              <a:ea typeface="Calibri"/>
              <a:cs typeface="Calibri"/>
              <a:sym typeface="Calibri"/>
            </a:endParaRPr>
          </a:p>
        </p:txBody>
      </p:sp>
      <p:sp>
        <p:nvSpPr>
          <p:cNvPr id="796" name="Google Shape;796;p48"/>
          <p:cNvSpPr txBox="1"/>
          <p:nvPr/>
        </p:nvSpPr>
        <p:spPr>
          <a:xfrm>
            <a:off x="548640" y="5465885"/>
            <a:ext cx="11064240" cy="109415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2A2C"/>
              </a:buClr>
              <a:buSzPts val="1030"/>
              <a:buFont typeface="Calibri"/>
              <a:buNone/>
            </a:pPr>
            <a:r>
              <a:rPr lang="en-US" sz="1030">
                <a:solidFill>
                  <a:srgbClr val="2D2A2C"/>
                </a:solidFill>
                <a:latin typeface="Calibri"/>
                <a:ea typeface="Calibri"/>
                <a:cs typeface="Calibri"/>
                <a:sym typeface="Calibri"/>
              </a:rPr>
              <a:t>United Nations, Department of Economic and Social Affairs, Population Division. (2020). World fertility and family planning 2020: Highlights (ST/ESA/SER.A/440). https://www.un.org/en/development/desa/population/publications/pdf/family/World_Fertility_and_Family_Planning_2020_Highlights.pdf</a:t>
            </a:r>
            <a:endParaRPr sz="1030">
              <a:solidFill>
                <a:schemeClr val="dk1"/>
              </a:solidFill>
              <a:latin typeface="Calibri"/>
              <a:ea typeface="Calibri"/>
              <a:cs typeface="Calibri"/>
              <a:sym typeface="Calibri"/>
            </a:endParaRPr>
          </a:p>
          <a:p>
            <a:pPr indent="0" lvl="0" marL="0" marR="0" rtl="0" algn="l">
              <a:spcBef>
                <a:spcPts val="900"/>
              </a:spcBef>
              <a:spcAft>
                <a:spcPts val="0"/>
              </a:spcAft>
              <a:buClr>
                <a:srgbClr val="2D2A2C"/>
              </a:buClr>
              <a:buSzPts val="1030"/>
              <a:buFont typeface="Calibri"/>
              <a:buNone/>
            </a:pPr>
            <a:r>
              <a:rPr lang="en-US" sz="1030">
                <a:solidFill>
                  <a:srgbClr val="2D2A2C"/>
                </a:solidFill>
                <a:latin typeface="Calibri"/>
                <a:ea typeface="Calibri"/>
                <a:cs typeface="Calibri"/>
                <a:sym typeface="Calibri"/>
              </a:rPr>
              <a:t>United Nations, Department of Economic and Social Affairs, Population Division. (2024). World population prospects 2024: Summary of results (UN DESA/POP/2024/TR/NO. 9). https://population.un.org/wpp/assets/Files/WPP2024_Summary-of-Results.pdf</a:t>
            </a:r>
            <a:endParaRPr sz="1030">
              <a:solidFill>
                <a:schemeClr val="dk1"/>
              </a:solidFill>
              <a:latin typeface="Calibri"/>
              <a:ea typeface="Calibri"/>
              <a:cs typeface="Calibri"/>
              <a:sym typeface="Calibri"/>
            </a:endParaRPr>
          </a:p>
          <a:p>
            <a:pPr indent="0" lvl="0" marL="0" marR="0" rtl="0" algn="l">
              <a:spcBef>
                <a:spcPts val="900"/>
              </a:spcBef>
              <a:spcAft>
                <a:spcPts val="0"/>
              </a:spcAft>
              <a:buClr>
                <a:srgbClr val="2D2A2C"/>
              </a:buClr>
              <a:buSzPts val="1030"/>
              <a:buFont typeface="Calibri"/>
              <a:buNone/>
            </a:pPr>
            <a:r>
              <a:rPr lang="en-US" sz="1030">
                <a:solidFill>
                  <a:srgbClr val="2D2A2C"/>
                </a:solidFill>
                <a:latin typeface="Calibri"/>
                <a:ea typeface="Calibri"/>
                <a:cs typeface="Calibri"/>
                <a:sym typeface="Calibri"/>
              </a:rPr>
              <a:t>World Bank. (2024). Adolescent fertility rate (births per 1,000 women ages 15-19) — Thailand [Data set]. https://data.worldbank.org/indicator/SP.ADO.TFRT?locations=TH</a:t>
            </a:r>
            <a:endParaRPr sz="1030">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1" name="Shape 801"/>
        <p:cNvGrpSpPr/>
        <p:nvPr/>
      </p:nvGrpSpPr>
      <p:grpSpPr>
        <a:xfrm>
          <a:off x="0" y="0"/>
          <a:ext cx="0" cy="0"/>
          <a:chOff x="0" y="0"/>
          <a:chExt cx="0" cy="0"/>
        </a:xfrm>
      </p:grpSpPr>
      <p:sp>
        <p:nvSpPr>
          <p:cNvPr id="802" name="Google Shape;802;p49"/>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CONSOLIDATE TODAY'S LEARNING</a:t>
            </a:r>
            <a:endParaRPr sz="1200">
              <a:solidFill>
                <a:schemeClr val="dk1"/>
              </a:solidFill>
              <a:latin typeface="Calibri"/>
              <a:ea typeface="Calibri"/>
              <a:cs typeface="Calibri"/>
              <a:sym typeface="Calibri"/>
            </a:endParaRPr>
          </a:p>
        </p:txBody>
      </p:sp>
      <p:sp>
        <p:nvSpPr>
          <p:cNvPr id="803" name="Google Shape;803;p49"/>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Practice Exercises (1 of 3) · Conceptual</a:t>
            </a:r>
            <a:endParaRPr sz="3000">
              <a:solidFill>
                <a:schemeClr val="dk1"/>
              </a:solidFill>
              <a:latin typeface="Calibri"/>
              <a:ea typeface="Calibri"/>
              <a:cs typeface="Calibri"/>
              <a:sym typeface="Calibri"/>
            </a:endParaRPr>
          </a:p>
        </p:txBody>
      </p:sp>
      <p:sp>
        <p:nvSpPr>
          <p:cNvPr id="804" name="Google Shape;804;p49"/>
          <p:cNvSpPr/>
          <p:nvPr/>
        </p:nvSpPr>
        <p:spPr>
          <a:xfrm>
            <a:off x="548640" y="1554480"/>
            <a:ext cx="11064240" cy="566928"/>
          </a:xfrm>
          <a:prstGeom prst="roundRect">
            <a:avLst>
              <a:gd fmla="val 12903" name="adj"/>
            </a:avLst>
          </a:prstGeom>
          <a:solidFill>
            <a:srgbClr val="F1E4DE"/>
          </a:solidFill>
          <a:ln>
            <a:noFill/>
          </a:ln>
          <a:effectLst>
            <a:outerShdw blurRad="762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49"/>
          <p:cNvSpPr txBox="1"/>
          <p:nvPr/>
        </p:nvSpPr>
        <p:spPr>
          <a:xfrm>
            <a:off x="777240" y="1627632"/>
            <a:ext cx="106070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A2C"/>
              </a:buClr>
              <a:buSzPts val="1150"/>
              <a:buFont typeface="Calibri"/>
              <a:buNone/>
            </a:pPr>
            <a:r>
              <a:rPr i="1" lang="en-US" sz="1150">
                <a:solidFill>
                  <a:srgbClr val="2D2A2C"/>
                </a:solidFill>
                <a:latin typeface="Calibri"/>
                <a:ea typeface="Calibri"/>
                <a:cs typeface="Calibri"/>
                <a:sym typeface="Calibri"/>
              </a:rPr>
              <a:t>15 questions across the next three slides — a mix of conceptual, calculation, and applied questions. Bring your worked answers to the next session for discussion.</a:t>
            </a:r>
            <a:endParaRPr sz="1150">
              <a:solidFill>
                <a:schemeClr val="dk1"/>
              </a:solidFill>
              <a:latin typeface="Calibri"/>
              <a:ea typeface="Calibri"/>
              <a:cs typeface="Calibri"/>
              <a:sym typeface="Calibri"/>
            </a:endParaRPr>
          </a:p>
        </p:txBody>
      </p:sp>
      <p:sp>
        <p:nvSpPr>
          <p:cNvPr id="806" name="Google Shape;806;p49"/>
          <p:cNvSpPr txBox="1"/>
          <p:nvPr/>
        </p:nvSpPr>
        <p:spPr>
          <a:xfrm>
            <a:off x="548640" y="2331720"/>
            <a:ext cx="110642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D2E46"/>
              </a:buClr>
              <a:buSzPts val="1280"/>
              <a:buFont typeface="Calibri"/>
              <a:buNone/>
            </a:pPr>
            <a:r>
              <a:rPr b="1" lang="en-US" sz="1280">
                <a:solidFill>
                  <a:srgbClr val="6D2E46"/>
                </a:solidFill>
                <a:latin typeface="Calibri"/>
                <a:ea typeface="Calibri"/>
                <a:cs typeface="Calibri"/>
                <a:sym typeface="Calibri"/>
              </a:rPr>
              <a:t>Q1.  </a:t>
            </a:r>
            <a:r>
              <a:rPr lang="en-US" sz="1280">
                <a:solidFill>
                  <a:srgbClr val="2D2A2C"/>
                </a:solidFill>
                <a:latin typeface="Calibri"/>
                <a:ea typeface="Calibri"/>
                <a:cs typeface="Calibri"/>
                <a:sym typeface="Calibri"/>
              </a:rPr>
              <a:t>Explain the difference between fertility, fecundity, and natality, giving one example situation where a woman has high fecundity but zero fertility.</a:t>
            </a:r>
            <a:endParaRPr sz="1280">
              <a:solidFill>
                <a:schemeClr val="dk1"/>
              </a:solidFill>
              <a:latin typeface="Calibri"/>
              <a:ea typeface="Calibri"/>
              <a:cs typeface="Calibri"/>
              <a:sym typeface="Calibri"/>
            </a:endParaRPr>
          </a:p>
        </p:txBody>
      </p:sp>
      <p:sp>
        <p:nvSpPr>
          <p:cNvPr id="807" name="Google Shape;807;p49"/>
          <p:cNvSpPr txBox="1"/>
          <p:nvPr/>
        </p:nvSpPr>
        <p:spPr>
          <a:xfrm>
            <a:off x="548640" y="2944368"/>
            <a:ext cx="110642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D2E46"/>
              </a:buClr>
              <a:buSzPts val="1280"/>
              <a:buFont typeface="Calibri"/>
              <a:buNone/>
            </a:pPr>
            <a:r>
              <a:rPr b="1" lang="en-US" sz="1280">
                <a:solidFill>
                  <a:srgbClr val="6D2E46"/>
                </a:solidFill>
                <a:latin typeface="Calibri"/>
                <a:ea typeface="Calibri"/>
                <a:cs typeface="Calibri"/>
                <a:sym typeface="Calibri"/>
              </a:rPr>
              <a:t>Q2.  </a:t>
            </a:r>
            <a:r>
              <a:rPr lang="en-US" sz="1280">
                <a:solidFill>
                  <a:srgbClr val="2D2A2C"/>
                </a:solidFill>
                <a:latin typeface="Calibri"/>
                <a:ea typeface="Calibri"/>
                <a:cs typeface="Calibri"/>
                <a:sym typeface="Calibri"/>
              </a:rPr>
              <a:t>Why is the Crude Birth Rate considered a poor measure for comparing fertility across two countries with very different age-sex structures? Name the measure that best corrects for this.</a:t>
            </a:r>
            <a:endParaRPr sz="1280">
              <a:solidFill>
                <a:schemeClr val="dk1"/>
              </a:solidFill>
              <a:latin typeface="Calibri"/>
              <a:ea typeface="Calibri"/>
              <a:cs typeface="Calibri"/>
              <a:sym typeface="Calibri"/>
            </a:endParaRPr>
          </a:p>
        </p:txBody>
      </p:sp>
      <p:sp>
        <p:nvSpPr>
          <p:cNvPr id="808" name="Google Shape;808;p49"/>
          <p:cNvSpPr txBox="1"/>
          <p:nvPr/>
        </p:nvSpPr>
        <p:spPr>
          <a:xfrm>
            <a:off x="548640" y="3557016"/>
            <a:ext cx="110642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D2E46"/>
              </a:buClr>
              <a:buSzPts val="1280"/>
              <a:buFont typeface="Calibri"/>
              <a:buNone/>
            </a:pPr>
            <a:r>
              <a:rPr b="1" lang="en-US" sz="1280">
                <a:solidFill>
                  <a:srgbClr val="6D2E46"/>
                </a:solidFill>
                <a:latin typeface="Calibri"/>
                <a:ea typeface="Calibri"/>
                <a:cs typeface="Calibri"/>
                <a:sym typeface="Calibri"/>
              </a:rPr>
              <a:t>Q3.  </a:t>
            </a:r>
            <a:r>
              <a:rPr lang="en-US" sz="1280">
                <a:solidFill>
                  <a:srgbClr val="2D2A2C"/>
                </a:solidFill>
                <a:latin typeface="Calibri"/>
                <a:ea typeface="Calibri"/>
                <a:cs typeface="Calibri"/>
                <a:sym typeface="Calibri"/>
              </a:rPr>
              <a:t>Explain, using the Bongaarts framework, why a country could have a low unmet need for contraception (like Thailand) yet still have a very low TFR.</a:t>
            </a:r>
            <a:endParaRPr sz="1280">
              <a:solidFill>
                <a:schemeClr val="dk1"/>
              </a:solidFill>
              <a:latin typeface="Calibri"/>
              <a:ea typeface="Calibri"/>
              <a:cs typeface="Calibri"/>
              <a:sym typeface="Calibri"/>
            </a:endParaRPr>
          </a:p>
        </p:txBody>
      </p:sp>
      <p:sp>
        <p:nvSpPr>
          <p:cNvPr id="809" name="Google Shape;809;p49"/>
          <p:cNvSpPr txBox="1"/>
          <p:nvPr/>
        </p:nvSpPr>
        <p:spPr>
          <a:xfrm>
            <a:off x="548640" y="4169664"/>
            <a:ext cx="110642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D2E46"/>
              </a:buClr>
              <a:buSzPts val="1280"/>
              <a:buFont typeface="Calibri"/>
              <a:buNone/>
            </a:pPr>
            <a:r>
              <a:rPr b="1" lang="en-US" sz="1280">
                <a:solidFill>
                  <a:srgbClr val="6D2E46"/>
                </a:solidFill>
                <a:latin typeface="Calibri"/>
                <a:ea typeface="Calibri"/>
                <a:cs typeface="Calibri"/>
                <a:sym typeface="Calibri"/>
              </a:rPr>
              <a:t>Q4.  </a:t>
            </a:r>
            <a:r>
              <a:rPr lang="en-US" sz="1280">
                <a:solidFill>
                  <a:srgbClr val="2D2A2C"/>
                </a:solidFill>
                <a:latin typeface="Calibri"/>
                <a:ea typeface="Calibri"/>
                <a:cs typeface="Calibri"/>
                <a:sym typeface="Calibri"/>
              </a:rPr>
              <a:t>Compare the neoclassical (Becker) and regulatory (Easterlin) theories of fertility: what does each add that the other lacks?</a:t>
            </a:r>
            <a:endParaRPr sz="1280">
              <a:solidFill>
                <a:schemeClr val="dk1"/>
              </a:solidFill>
              <a:latin typeface="Calibri"/>
              <a:ea typeface="Calibri"/>
              <a:cs typeface="Calibri"/>
              <a:sym typeface="Calibri"/>
            </a:endParaRPr>
          </a:p>
        </p:txBody>
      </p:sp>
      <p:sp>
        <p:nvSpPr>
          <p:cNvPr id="810" name="Google Shape;810;p49"/>
          <p:cNvSpPr txBox="1"/>
          <p:nvPr/>
        </p:nvSpPr>
        <p:spPr>
          <a:xfrm>
            <a:off x="548640" y="4782312"/>
            <a:ext cx="110642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D2E46"/>
              </a:buClr>
              <a:buSzPts val="1280"/>
              <a:buFont typeface="Calibri"/>
              <a:buNone/>
            </a:pPr>
            <a:r>
              <a:rPr b="1" lang="en-US" sz="1280">
                <a:solidFill>
                  <a:srgbClr val="6D2E46"/>
                </a:solidFill>
                <a:latin typeface="Calibri"/>
                <a:ea typeface="Calibri"/>
                <a:cs typeface="Calibri"/>
                <a:sym typeface="Calibri"/>
              </a:rPr>
              <a:t>Q5.  </a:t>
            </a:r>
            <a:r>
              <a:rPr lang="en-US" sz="1280">
                <a:solidFill>
                  <a:srgbClr val="2D2A2C"/>
                </a:solidFill>
                <a:latin typeface="Calibri"/>
                <a:ea typeface="Calibri"/>
                <a:cs typeface="Calibri"/>
                <a:sym typeface="Calibri"/>
              </a:rPr>
              <a:t>What is a "tempo effect," and why can it cause period TFR to understate long-run cohort fertility? Use Hungary's 2024 experience (Slide 50) in your answer.</a:t>
            </a:r>
            <a:endParaRPr sz="1280">
              <a:solidFill>
                <a:schemeClr val="dk1"/>
              </a:solidFill>
              <a:latin typeface="Calibri"/>
              <a:ea typeface="Calibri"/>
              <a:cs typeface="Calibri"/>
              <a:sym typeface="Calibri"/>
            </a:endParaRPr>
          </a:p>
        </p:txBody>
      </p:sp>
      <p:sp>
        <p:nvSpPr>
          <p:cNvPr id="811" name="Google Shape;811;p49"/>
          <p:cNvSpPr txBox="1"/>
          <p:nvPr/>
        </p:nvSpPr>
        <p:spPr>
          <a:xfrm>
            <a:off x="548640" y="5440680"/>
            <a:ext cx="110642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D2E46"/>
              </a:buClr>
              <a:buSzPts val="1280"/>
              <a:buFont typeface="Calibri"/>
              <a:buNone/>
            </a:pPr>
            <a:r>
              <a:rPr b="1" lang="en-US" sz="1280">
                <a:solidFill>
                  <a:srgbClr val="6D2E46"/>
                </a:solidFill>
                <a:latin typeface="Calibri"/>
                <a:ea typeface="Calibri"/>
                <a:cs typeface="Calibri"/>
                <a:sym typeface="Calibri"/>
              </a:rPr>
              <a:t>Q6.  </a:t>
            </a:r>
            <a:r>
              <a:rPr lang="en-US" sz="1280">
                <a:solidFill>
                  <a:srgbClr val="2D2A2C"/>
                </a:solidFill>
                <a:latin typeface="Calibri"/>
                <a:ea typeface="Calibri"/>
                <a:cs typeface="Calibri"/>
                <a:sym typeface="Calibri"/>
              </a:rPr>
              <a:t>State one key misconception about fertility measurement (Slide 8) in your own words, and explain why it is incorrect.</a:t>
            </a:r>
            <a:endParaRPr sz="1280">
              <a:solidFill>
                <a:schemeClr val="dk1"/>
              </a:solidFill>
              <a:latin typeface="Calibri"/>
              <a:ea typeface="Calibri"/>
              <a:cs typeface="Calibri"/>
              <a:sym typeface="Calibri"/>
            </a:endParaRPr>
          </a:p>
        </p:txBody>
      </p:sp>
      <p:sp>
        <p:nvSpPr>
          <p:cNvPr id="812" name="Google Shape;812;p49"/>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7" name="Shape 817"/>
        <p:cNvGrpSpPr/>
        <p:nvPr/>
      </p:nvGrpSpPr>
      <p:grpSpPr>
        <a:xfrm>
          <a:off x="0" y="0"/>
          <a:ext cx="0" cy="0"/>
          <a:chOff x="0" y="0"/>
          <a:chExt cx="0" cy="0"/>
        </a:xfrm>
      </p:grpSpPr>
      <p:sp>
        <p:nvSpPr>
          <p:cNvPr id="818" name="Google Shape;818;p50"/>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CONSOLIDATE TODAY'S LEARNING</a:t>
            </a:r>
            <a:endParaRPr sz="1200">
              <a:solidFill>
                <a:schemeClr val="dk1"/>
              </a:solidFill>
              <a:latin typeface="Calibri"/>
              <a:ea typeface="Calibri"/>
              <a:cs typeface="Calibri"/>
              <a:sym typeface="Calibri"/>
            </a:endParaRPr>
          </a:p>
        </p:txBody>
      </p:sp>
      <p:sp>
        <p:nvSpPr>
          <p:cNvPr id="819" name="Google Shape;819;p50"/>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Practice Exercises (2 of 3) · Calculation</a:t>
            </a:r>
            <a:endParaRPr sz="3000">
              <a:solidFill>
                <a:schemeClr val="dk1"/>
              </a:solidFill>
              <a:latin typeface="Calibri"/>
              <a:ea typeface="Calibri"/>
              <a:cs typeface="Calibri"/>
              <a:sym typeface="Calibri"/>
            </a:endParaRPr>
          </a:p>
        </p:txBody>
      </p:sp>
      <p:sp>
        <p:nvSpPr>
          <p:cNvPr id="820" name="Google Shape;820;p50"/>
          <p:cNvSpPr txBox="1"/>
          <p:nvPr/>
        </p:nvSpPr>
        <p:spPr>
          <a:xfrm>
            <a:off x="548640" y="1554480"/>
            <a:ext cx="110642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D2E46"/>
              </a:buClr>
              <a:buSzPts val="1280"/>
              <a:buFont typeface="Calibri"/>
              <a:buNone/>
            </a:pPr>
            <a:r>
              <a:rPr b="1" lang="en-US" sz="1280">
                <a:solidFill>
                  <a:srgbClr val="6D2E46"/>
                </a:solidFill>
                <a:latin typeface="Calibri"/>
                <a:ea typeface="Calibri"/>
                <a:cs typeface="Calibri"/>
                <a:sym typeface="Calibri"/>
              </a:rPr>
              <a:t>Q7.  </a:t>
            </a:r>
            <a:r>
              <a:rPr lang="en-US" sz="1280">
                <a:solidFill>
                  <a:srgbClr val="2D2A2C"/>
                </a:solidFill>
                <a:latin typeface="Calibri"/>
                <a:ea typeface="Calibri"/>
                <a:cs typeface="Calibri"/>
                <a:sym typeface="Calibri"/>
              </a:rPr>
              <a:t>A population of 2,400,000 records 32,000 births in a year, of which the population of women aged 15-49 is 650,000. Compute the CBR and the GFR.</a:t>
            </a:r>
            <a:endParaRPr sz="1280">
              <a:solidFill>
                <a:schemeClr val="dk1"/>
              </a:solidFill>
              <a:latin typeface="Calibri"/>
              <a:ea typeface="Calibri"/>
              <a:cs typeface="Calibri"/>
              <a:sym typeface="Calibri"/>
            </a:endParaRPr>
          </a:p>
        </p:txBody>
      </p:sp>
      <p:sp>
        <p:nvSpPr>
          <p:cNvPr id="821" name="Google Shape;821;p50"/>
          <p:cNvSpPr txBox="1"/>
          <p:nvPr/>
        </p:nvSpPr>
        <p:spPr>
          <a:xfrm>
            <a:off x="548640" y="2212848"/>
            <a:ext cx="110642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D2E46"/>
              </a:buClr>
              <a:buSzPts val="1280"/>
              <a:buFont typeface="Calibri"/>
              <a:buNone/>
            </a:pPr>
            <a:r>
              <a:rPr b="1" lang="en-US" sz="1280">
                <a:solidFill>
                  <a:srgbClr val="6D2E46"/>
                </a:solidFill>
                <a:latin typeface="Calibri"/>
                <a:ea typeface="Calibri"/>
                <a:cs typeface="Calibri"/>
                <a:sym typeface="Calibri"/>
              </a:rPr>
              <a:t>Q8.  </a:t>
            </a:r>
            <a:r>
              <a:rPr lang="en-US" sz="1280">
                <a:solidFill>
                  <a:srgbClr val="2D2A2C"/>
                </a:solidFill>
                <a:latin typeface="Calibri"/>
                <a:ea typeface="Calibri"/>
                <a:cs typeface="Calibri"/>
                <a:sym typeface="Calibri"/>
              </a:rPr>
              <a:t>Given the following ASFRs (per 1,000 women): 15-19: 12; 20-24: 60; 25-29: 95; 30-34: 70; 35-39: 30; 40-44: 6; 45-49: 0.3 — compute the TFR.</a:t>
            </a:r>
            <a:endParaRPr sz="1280">
              <a:solidFill>
                <a:schemeClr val="dk1"/>
              </a:solidFill>
              <a:latin typeface="Calibri"/>
              <a:ea typeface="Calibri"/>
              <a:cs typeface="Calibri"/>
              <a:sym typeface="Calibri"/>
            </a:endParaRPr>
          </a:p>
        </p:txBody>
      </p:sp>
      <p:sp>
        <p:nvSpPr>
          <p:cNvPr id="822" name="Google Shape;822;p50"/>
          <p:cNvSpPr txBox="1"/>
          <p:nvPr/>
        </p:nvSpPr>
        <p:spPr>
          <a:xfrm>
            <a:off x="548640" y="2871216"/>
            <a:ext cx="110642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D2E46"/>
              </a:buClr>
              <a:buSzPts val="1280"/>
              <a:buFont typeface="Calibri"/>
              <a:buNone/>
            </a:pPr>
            <a:r>
              <a:rPr b="1" lang="en-US" sz="1280">
                <a:solidFill>
                  <a:srgbClr val="6D2E46"/>
                </a:solidFill>
                <a:latin typeface="Calibri"/>
                <a:ea typeface="Calibri"/>
                <a:cs typeface="Calibri"/>
                <a:sym typeface="Calibri"/>
              </a:rPr>
              <a:t>Q9.  </a:t>
            </a:r>
            <a:r>
              <a:rPr lang="en-US" sz="1280">
                <a:solidFill>
                  <a:srgbClr val="2D2A2C"/>
                </a:solidFill>
                <a:latin typeface="Calibri"/>
                <a:ea typeface="Calibri"/>
                <a:cs typeface="Calibri"/>
                <a:sym typeface="Calibri"/>
              </a:rPr>
              <a:t>A census records 18,000 children aged 0-4 and 95,000 women aged 15-49 in a district. Compute the Child-Woman Ratio. State one reason this might understate true fertility.</a:t>
            </a:r>
            <a:endParaRPr sz="1280">
              <a:solidFill>
                <a:schemeClr val="dk1"/>
              </a:solidFill>
              <a:latin typeface="Calibri"/>
              <a:ea typeface="Calibri"/>
              <a:cs typeface="Calibri"/>
              <a:sym typeface="Calibri"/>
            </a:endParaRPr>
          </a:p>
        </p:txBody>
      </p:sp>
      <p:sp>
        <p:nvSpPr>
          <p:cNvPr id="823" name="Google Shape;823;p50"/>
          <p:cNvSpPr txBox="1"/>
          <p:nvPr/>
        </p:nvSpPr>
        <p:spPr>
          <a:xfrm>
            <a:off x="548640" y="3529584"/>
            <a:ext cx="110642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D2E46"/>
              </a:buClr>
              <a:buSzPts val="1280"/>
              <a:buFont typeface="Calibri"/>
              <a:buNone/>
            </a:pPr>
            <a:r>
              <a:rPr b="1" lang="en-US" sz="1280">
                <a:solidFill>
                  <a:srgbClr val="6D2E46"/>
                </a:solidFill>
                <a:latin typeface="Calibri"/>
                <a:ea typeface="Calibri"/>
                <a:cs typeface="Calibri"/>
                <a:sym typeface="Calibri"/>
              </a:rPr>
              <a:t>Q10.  </a:t>
            </a:r>
            <a:r>
              <a:rPr lang="en-US" sz="1280">
                <a:solidFill>
                  <a:srgbClr val="2D2A2C"/>
                </a:solidFill>
                <a:latin typeface="Calibri"/>
                <a:ea typeface="Calibri"/>
                <a:cs typeface="Calibri"/>
                <a:sym typeface="Calibri"/>
              </a:rPr>
              <a:t>If Cm = 0.65, Cc = 0.55, Ca = 0.98, Ci = 0.85, and total fecundity TF = 15.3, use the Bongaarts model to estimate the implied TFR.</a:t>
            </a:r>
            <a:endParaRPr sz="1280">
              <a:solidFill>
                <a:schemeClr val="dk1"/>
              </a:solidFill>
              <a:latin typeface="Calibri"/>
              <a:ea typeface="Calibri"/>
              <a:cs typeface="Calibri"/>
              <a:sym typeface="Calibri"/>
            </a:endParaRPr>
          </a:p>
        </p:txBody>
      </p:sp>
      <p:sp>
        <p:nvSpPr>
          <p:cNvPr id="824" name="Google Shape;824;p50"/>
          <p:cNvSpPr txBox="1"/>
          <p:nvPr/>
        </p:nvSpPr>
        <p:spPr>
          <a:xfrm>
            <a:off x="548640" y="4142232"/>
            <a:ext cx="110642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D2E46"/>
              </a:buClr>
              <a:buSzPts val="1280"/>
              <a:buFont typeface="Calibri"/>
              <a:buNone/>
            </a:pPr>
            <a:r>
              <a:rPr b="1" lang="en-US" sz="1280">
                <a:solidFill>
                  <a:srgbClr val="6D2E46"/>
                </a:solidFill>
                <a:latin typeface="Calibri"/>
                <a:ea typeface="Calibri"/>
                <a:cs typeface="Calibri"/>
                <a:sym typeface="Calibri"/>
              </a:rPr>
              <a:t>Q11.  </a:t>
            </a:r>
            <a:r>
              <a:rPr lang="en-US" sz="1280">
                <a:solidFill>
                  <a:srgbClr val="2D2A2C"/>
                </a:solidFill>
                <a:latin typeface="Calibri"/>
                <a:ea typeface="Calibri"/>
                <a:cs typeface="Calibri"/>
                <a:sym typeface="Calibri"/>
              </a:rPr>
              <a:t>Using the Philippines ASFR schedule from Worked Example 2 (Slide 18), compute the Mean Age at Childbearing (MAC). Use age-group midpoints (17, 22, 27, 32, 37, 42, 47).</a:t>
            </a:r>
            <a:endParaRPr sz="1280">
              <a:solidFill>
                <a:schemeClr val="dk1"/>
              </a:solidFill>
              <a:latin typeface="Calibri"/>
              <a:ea typeface="Calibri"/>
              <a:cs typeface="Calibri"/>
              <a:sym typeface="Calibri"/>
            </a:endParaRPr>
          </a:p>
        </p:txBody>
      </p:sp>
      <p:sp>
        <p:nvSpPr>
          <p:cNvPr id="825" name="Google Shape;825;p50"/>
          <p:cNvSpPr txBox="1"/>
          <p:nvPr/>
        </p:nvSpPr>
        <p:spPr>
          <a:xfrm>
            <a:off x="548640" y="4800600"/>
            <a:ext cx="1106424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D2E46"/>
              </a:buClr>
              <a:buSzPts val="1280"/>
              <a:buFont typeface="Calibri"/>
              <a:buNone/>
            </a:pPr>
            <a:r>
              <a:rPr b="1" lang="en-US" sz="1280">
                <a:solidFill>
                  <a:srgbClr val="6D2E46"/>
                </a:solidFill>
                <a:latin typeface="Calibri"/>
                <a:ea typeface="Calibri"/>
                <a:cs typeface="Calibri"/>
                <a:sym typeface="Calibri"/>
              </a:rPr>
              <a:t>Q12.  </a:t>
            </a:r>
            <a:r>
              <a:rPr lang="en-US" sz="1280">
                <a:solidFill>
                  <a:srgbClr val="2D2A2C"/>
                </a:solidFill>
                <a:latin typeface="Calibri"/>
                <a:ea typeface="Calibri"/>
                <a:cs typeface="Calibri"/>
                <a:sym typeface="Calibri"/>
              </a:rPr>
              <a:t>Thailand's CPR is roughly 73% and unmet need is low. Using the definitions from Slide 41, calculate the approximate percentage of total demand for family planning that is satisfied if unmet need is 5%. (Hint: total demand = current use + unmet need.)</a:t>
            </a:r>
            <a:endParaRPr sz="1280">
              <a:solidFill>
                <a:schemeClr val="dk1"/>
              </a:solidFill>
              <a:latin typeface="Calibri"/>
              <a:ea typeface="Calibri"/>
              <a:cs typeface="Calibri"/>
              <a:sym typeface="Calibri"/>
            </a:endParaRPr>
          </a:p>
        </p:txBody>
      </p:sp>
      <p:sp>
        <p:nvSpPr>
          <p:cNvPr id="826" name="Google Shape;826;p50"/>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1" name="Shape 831"/>
        <p:cNvGrpSpPr/>
        <p:nvPr/>
      </p:nvGrpSpPr>
      <p:grpSpPr>
        <a:xfrm>
          <a:off x="0" y="0"/>
          <a:ext cx="0" cy="0"/>
          <a:chOff x="0" y="0"/>
          <a:chExt cx="0" cy="0"/>
        </a:xfrm>
      </p:grpSpPr>
      <p:sp>
        <p:nvSpPr>
          <p:cNvPr id="832" name="Google Shape;832;p51"/>
          <p:cNvSpPr txBox="1"/>
          <p:nvPr/>
        </p:nvSpPr>
        <p:spPr>
          <a:xfrm>
            <a:off x="548640" y="320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26769"/>
              </a:buClr>
              <a:buSzPts val="1200"/>
              <a:buFont typeface="Calibri"/>
              <a:buNone/>
            </a:pPr>
            <a:r>
              <a:rPr b="1" lang="en-US" sz="1200">
                <a:solidFill>
                  <a:srgbClr val="A26769"/>
                </a:solidFill>
                <a:latin typeface="Calibri"/>
                <a:ea typeface="Calibri"/>
                <a:cs typeface="Calibri"/>
                <a:sym typeface="Calibri"/>
              </a:rPr>
              <a:t>CONSOLIDATE TODAY'S LEARNING</a:t>
            </a:r>
            <a:endParaRPr sz="1200">
              <a:solidFill>
                <a:schemeClr val="dk1"/>
              </a:solidFill>
              <a:latin typeface="Calibri"/>
              <a:ea typeface="Calibri"/>
              <a:cs typeface="Calibri"/>
              <a:sym typeface="Calibri"/>
            </a:endParaRPr>
          </a:p>
        </p:txBody>
      </p:sp>
      <p:sp>
        <p:nvSpPr>
          <p:cNvPr id="833" name="Google Shape;833;p51"/>
          <p:cNvSpPr txBox="1"/>
          <p:nvPr/>
        </p:nvSpPr>
        <p:spPr>
          <a:xfrm>
            <a:off x="548640" y="621792"/>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1420"/>
              </a:buClr>
              <a:buSzPts val="3000"/>
              <a:buFont typeface="Cambria"/>
              <a:buNone/>
            </a:pPr>
            <a:r>
              <a:rPr b="1" lang="en-US" sz="3000">
                <a:solidFill>
                  <a:srgbClr val="2A1420"/>
                </a:solidFill>
                <a:latin typeface="Cambria"/>
                <a:ea typeface="Cambria"/>
                <a:cs typeface="Cambria"/>
                <a:sym typeface="Cambria"/>
              </a:rPr>
              <a:t>Practice Exercises (3 of 3) · Applied</a:t>
            </a:r>
            <a:endParaRPr sz="3000">
              <a:solidFill>
                <a:schemeClr val="dk1"/>
              </a:solidFill>
              <a:latin typeface="Calibri"/>
              <a:ea typeface="Calibri"/>
              <a:cs typeface="Calibri"/>
              <a:sym typeface="Calibri"/>
            </a:endParaRPr>
          </a:p>
        </p:txBody>
      </p:sp>
      <p:sp>
        <p:nvSpPr>
          <p:cNvPr id="834" name="Google Shape;834;p51"/>
          <p:cNvSpPr txBox="1"/>
          <p:nvPr/>
        </p:nvSpPr>
        <p:spPr>
          <a:xfrm>
            <a:off x="548640" y="1554480"/>
            <a:ext cx="1106424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D2E46"/>
              </a:buClr>
              <a:buSzPts val="1280"/>
              <a:buFont typeface="Calibri"/>
              <a:buNone/>
            </a:pPr>
            <a:r>
              <a:rPr b="1" lang="en-US" sz="1280">
                <a:solidFill>
                  <a:srgbClr val="6D2E46"/>
                </a:solidFill>
                <a:latin typeface="Calibri"/>
                <a:ea typeface="Calibri"/>
                <a:cs typeface="Calibri"/>
                <a:sym typeface="Calibri"/>
              </a:rPr>
              <a:t>Q13.  </a:t>
            </a:r>
            <a:r>
              <a:rPr lang="en-US" sz="1280">
                <a:solidFill>
                  <a:srgbClr val="2D2A2C"/>
                </a:solidFill>
                <a:latin typeface="Calibri"/>
                <a:ea typeface="Calibri"/>
                <a:cs typeface="Calibri"/>
                <a:sym typeface="Calibri"/>
              </a:rPr>
              <a:t>Using the comparative table on Slide 49, rank Thailand, Japan, South Korea, and Singapore by TFR and propose one policy lever each government has tried (or could try) to raise fertility.</a:t>
            </a:r>
            <a:endParaRPr sz="1280">
              <a:solidFill>
                <a:schemeClr val="dk1"/>
              </a:solidFill>
              <a:latin typeface="Calibri"/>
              <a:ea typeface="Calibri"/>
              <a:cs typeface="Calibri"/>
              <a:sym typeface="Calibri"/>
            </a:endParaRPr>
          </a:p>
        </p:txBody>
      </p:sp>
      <p:sp>
        <p:nvSpPr>
          <p:cNvPr id="835" name="Google Shape;835;p51"/>
          <p:cNvSpPr txBox="1"/>
          <p:nvPr/>
        </p:nvSpPr>
        <p:spPr>
          <a:xfrm>
            <a:off x="548640" y="2350008"/>
            <a:ext cx="1106424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D2E46"/>
              </a:buClr>
              <a:buSzPts val="1280"/>
              <a:buFont typeface="Calibri"/>
              <a:buNone/>
            </a:pPr>
            <a:r>
              <a:rPr b="1" lang="en-US" sz="1280">
                <a:solidFill>
                  <a:srgbClr val="6D2E46"/>
                </a:solidFill>
                <a:latin typeface="Calibri"/>
                <a:ea typeface="Calibri"/>
                <a:cs typeface="Calibri"/>
                <a:sym typeface="Calibri"/>
              </a:rPr>
              <a:t>Q14.  </a:t>
            </a:r>
            <a:r>
              <a:rPr lang="en-US" sz="1280">
                <a:solidFill>
                  <a:srgbClr val="2D2A2C"/>
                </a:solidFill>
                <a:latin typeface="Calibri"/>
                <a:ea typeface="Calibri"/>
                <a:cs typeface="Calibri"/>
                <a:sym typeface="Calibri"/>
              </a:rPr>
              <a:t>Choose one of the three fertility-transition theories (Block 2) and explain, in 3-4 sentences, which one you find most convincing for explaining South Korea's current TFR, and why.</a:t>
            </a:r>
            <a:endParaRPr sz="1280">
              <a:solidFill>
                <a:schemeClr val="dk1"/>
              </a:solidFill>
              <a:latin typeface="Calibri"/>
              <a:ea typeface="Calibri"/>
              <a:cs typeface="Calibri"/>
              <a:sym typeface="Calibri"/>
            </a:endParaRPr>
          </a:p>
        </p:txBody>
      </p:sp>
      <p:sp>
        <p:nvSpPr>
          <p:cNvPr id="836" name="Google Shape;836;p51"/>
          <p:cNvSpPr txBox="1"/>
          <p:nvPr/>
        </p:nvSpPr>
        <p:spPr>
          <a:xfrm>
            <a:off x="548640" y="3145536"/>
            <a:ext cx="1106424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D2E46"/>
              </a:buClr>
              <a:buSzPts val="1280"/>
              <a:buFont typeface="Calibri"/>
              <a:buNone/>
            </a:pPr>
            <a:r>
              <a:rPr b="1" lang="en-US" sz="1280">
                <a:solidFill>
                  <a:srgbClr val="6D2E46"/>
                </a:solidFill>
                <a:latin typeface="Calibri"/>
                <a:ea typeface="Calibri"/>
                <a:cs typeface="Calibri"/>
                <a:sym typeface="Calibri"/>
              </a:rPr>
              <a:t>Q15.  </a:t>
            </a:r>
            <a:r>
              <a:rPr lang="en-US" sz="1280">
                <a:solidFill>
                  <a:srgbClr val="2D2A2C"/>
                </a:solidFill>
                <a:latin typeface="Calibri"/>
                <a:ea typeface="Calibri"/>
                <a:cs typeface="Calibri"/>
                <a:sym typeface="Calibri"/>
              </a:rPr>
              <a:t>Design one additional survey question you would add to a Demographic and Health Survey to better distinguish whether low fertility in a given country is driven by Cm (marriage) or Cc (contraception) in the Bongaarts framework.</a:t>
            </a:r>
            <a:endParaRPr sz="1280">
              <a:solidFill>
                <a:schemeClr val="dk1"/>
              </a:solidFill>
              <a:latin typeface="Calibri"/>
              <a:ea typeface="Calibri"/>
              <a:cs typeface="Calibri"/>
              <a:sym typeface="Calibri"/>
            </a:endParaRPr>
          </a:p>
        </p:txBody>
      </p:sp>
      <p:sp>
        <p:nvSpPr>
          <p:cNvPr id="837" name="Google Shape;837;p51"/>
          <p:cNvSpPr txBox="1"/>
          <p:nvPr/>
        </p:nvSpPr>
        <p:spPr>
          <a:xfrm>
            <a:off x="548640" y="4032504"/>
            <a:ext cx="11064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D2E46"/>
              </a:buClr>
              <a:buSzPts val="1280"/>
              <a:buFont typeface="Calibri"/>
              <a:buNone/>
            </a:pPr>
            <a:r>
              <a:rPr b="1" lang="en-US" sz="1280">
                <a:solidFill>
                  <a:srgbClr val="6D2E46"/>
                </a:solidFill>
                <a:latin typeface="Calibri"/>
                <a:ea typeface="Calibri"/>
                <a:cs typeface="Calibri"/>
                <a:sym typeface="Calibri"/>
              </a:rPr>
              <a:t>Q16.  </a:t>
            </a:r>
            <a:r>
              <a:rPr lang="en-US" sz="1280">
                <a:solidFill>
                  <a:srgbClr val="2D2A2C"/>
                </a:solidFill>
                <a:latin typeface="Calibri"/>
                <a:ea typeface="Calibri"/>
                <a:cs typeface="Calibri"/>
                <a:sym typeface="Calibri"/>
              </a:rPr>
              <a:t>Drawing on Group Work 2 (Slides 51-53), explain why Hungary's and Singapore's pro-natalist spending has not restored replacement-level fertility, using at least one concept each from Becker and Easterlin.</a:t>
            </a:r>
            <a:endParaRPr sz="1280">
              <a:solidFill>
                <a:schemeClr val="dk1"/>
              </a:solidFill>
              <a:latin typeface="Calibri"/>
              <a:ea typeface="Calibri"/>
              <a:cs typeface="Calibri"/>
              <a:sym typeface="Calibri"/>
            </a:endParaRPr>
          </a:p>
        </p:txBody>
      </p:sp>
      <p:sp>
        <p:nvSpPr>
          <p:cNvPr id="838" name="Google Shape;838;p51"/>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1420"/>
        </a:solidFill>
      </p:bgPr>
    </p:bg>
    <p:spTree>
      <p:nvGrpSpPr>
        <p:cNvPr id="843" name="Shape 843"/>
        <p:cNvGrpSpPr/>
        <p:nvPr/>
      </p:nvGrpSpPr>
      <p:grpSpPr>
        <a:xfrm>
          <a:off x="0" y="0"/>
          <a:ext cx="0" cy="0"/>
          <a:chOff x="0" y="0"/>
          <a:chExt cx="0" cy="0"/>
        </a:xfrm>
      </p:grpSpPr>
      <p:sp>
        <p:nvSpPr>
          <p:cNvPr id="844" name="Google Shape;844;p52"/>
          <p:cNvSpPr/>
          <p:nvPr/>
        </p:nvSpPr>
        <p:spPr>
          <a:xfrm>
            <a:off x="8961120" y="-1828800"/>
            <a:ext cx="5669280" cy="5669280"/>
          </a:xfrm>
          <a:prstGeom prst="ellipse">
            <a:avLst/>
          </a:prstGeom>
          <a:solidFill>
            <a:srgbClr val="6D2E46">
              <a:alpha val="5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52"/>
          <p:cNvSpPr/>
          <p:nvPr/>
        </p:nvSpPr>
        <p:spPr>
          <a:xfrm>
            <a:off x="-1554480" y="4389120"/>
            <a:ext cx="2194560" cy="2194560"/>
          </a:xfrm>
          <a:prstGeom prst="ellipse">
            <a:avLst/>
          </a:prstGeom>
          <a:solidFill>
            <a:srgbClr val="A26769">
              <a:alpha val="4196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52"/>
          <p:cNvSpPr txBox="1"/>
          <p:nvPr/>
        </p:nvSpPr>
        <p:spPr>
          <a:xfrm>
            <a:off x="822960" y="2468880"/>
            <a:ext cx="100584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200"/>
              <a:buFont typeface="Cambria"/>
              <a:buNone/>
            </a:pPr>
            <a:r>
              <a:rPr b="1" lang="en-US" sz="4200">
                <a:solidFill>
                  <a:srgbClr val="FFFFFF"/>
                </a:solidFill>
                <a:latin typeface="Cambria"/>
                <a:ea typeface="Cambria"/>
                <a:cs typeface="Cambria"/>
                <a:sym typeface="Cambria"/>
              </a:rPr>
              <a:t>Questions &amp; Discussion</a:t>
            </a:r>
            <a:endParaRPr sz="4200">
              <a:solidFill>
                <a:schemeClr val="dk1"/>
              </a:solidFill>
              <a:latin typeface="Calibri"/>
              <a:ea typeface="Calibri"/>
              <a:cs typeface="Calibri"/>
              <a:sym typeface="Calibri"/>
            </a:endParaRPr>
          </a:p>
        </p:txBody>
      </p:sp>
      <p:sp>
        <p:nvSpPr>
          <p:cNvPr id="847" name="Google Shape;847;p52"/>
          <p:cNvSpPr txBox="1"/>
          <p:nvPr/>
        </p:nvSpPr>
        <p:spPr>
          <a:xfrm>
            <a:off x="822960" y="6035040"/>
            <a:ext cx="10515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C7C0"/>
              </a:buClr>
              <a:buSzPts val="1200"/>
              <a:buFont typeface="Calibri"/>
              <a:buNone/>
            </a:pPr>
            <a:r>
              <a:rPr lang="en-US" sz="1200">
                <a:solidFill>
                  <a:srgbClr val="D9C7C0"/>
                </a:solidFill>
                <a:latin typeface="Calibri"/>
                <a:ea typeface="Calibri"/>
                <a:cs typeface="Calibri"/>
                <a:sym typeface="Calibri"/>
              </a:rPr>
              <a:t>ruttiya.bhula-or@chula.ac.th   |   College of Population Studies, Chulalongkorn University</a:t>
            </a:r>
            <a:endParaRPr sz="1200">
              <a:solidFill>
                <a:schemeClr val="dk1"/>
              </a:solidFill>
              <a:latin typeface="Calibri"/>
              <a:ea typeface="Calibri"/>
              <a:cs typeface="Calibri"/>
              <a:sym typeface="Calibri"/>
            </a:endParaRPr>
          </a:p>
        </p:txBody>
      </p:sp>
      <p:sp>
        <p:nvSpPr>
          <p:cNvPr id="848" name="Google Shape;848;p52"/>
          <p:cNvSpPr txBox="1"/>
          <p:nvPr/>
        </p:nvSpPr>
        <p:spPr>
          <a:xfrm>
            <a:off x="45720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5140602 Fundamental Demographic Analysis – Session 6</a:t>
            </a:r>
            <a:endParaRPr sz="900">
              <a:solidFill>
                <a:schemeClr val="dk1"/>
              </a:solidFill>
              <a:latin typeface="Calibri"/>
              <a:ea typeface="Calibri"/>
              <a:cs typeface="Calibri"/>
              <a:sym typeface="Calibri"/>
            </a:endParaRPr>
          </a:p>
        </p:txBody>
      </p:sp>
      <p:sp>
        <p:nvSpPr>
          <p:cNvPr id="849" name="Google Shape;849;p52"/>
          <p:cNvSpPr txBox="1"/>
          <p:nvPr/>
        </p:nvSpPr>
        <p:spPr>
          <a:xfrm>
            <a:off x="10728655" y="6492240"/>
            <a:ext cx="10058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068"/>
              </a:buClr>
              <a:buSzPts val="900"/>
              <a:buFont typeface="Calibri"/>
              <a:buNone/>
            </a:pPr>
            <a:r>
              <a:rPr lang="en-US" sz="900">
                <a:solidFill>
                  <a:srgbClr val="6B6068"/>
                </a:solidFill>
                <a:latin typeface="Calibri"/>
                <a:ea typeface="Calibri"/>
                <a:cs typeface="Calibri"/>
                <a:sym typeface="Calibri"/>
              </a:rPr>
              <a:t>62 / 62</a:t>
            </a:r>
            <a:endParaRPr sz="9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2026-09-07T01:52:05Z</dcterms:created>
  <dc:creator>PptxGenJS</dc:creator>
</cp:coreProperties>
</file>