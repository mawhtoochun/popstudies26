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.xml" ContentType="application/vnd.openxmlformats-officedocument.drawingml.chart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2.xml" ContentType="application/vnd.openxmlformats-officedocument.drawingml.chart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89" r:id="rId7"/>
    <p:sldId id="290" r:id="rId8"/>
    <p:sldId id="291" r:id="rId9"/>
    <p:sldId id="261" r:id="rId10"/>
    <p:sldId id="262" r:id="rId11"/>
    <p:sldId id="263" r:id="rId12"/>
    <p:sldId id="298" r:id="rId13"/>
    <p:sldId id="264" r:id="rId14"/>
    <p:sldId id="265" r:id="rId15"/>
    <p:sldId id="266" r:id="rId16"/>
    <p:sldId id="267" r:id="rId17"/>
    <p:sldId id="297" r:id="rId18"/>
    <p:sldId id="268" r:id="rId19"/>
    <p:sldId id="269" r:id="rId20"/>
    <p:sldId id="270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99" r:id="rId33"/>
    <p:sldId id="283" r:id="rId34"/>
    <p:sldId id="284" r:id="rId35"/>
    <p:sldId id="285" r:id="rId36"/>
    <p:sldId id="286" r:id="rId37"/>
    <p:sldId id="287" r:id="rId38"/>
    <p:sldId id="288" r:id="rId39"/>
    <p:sldId id="300" r:id="rId40"/>
    <p:sldId id="292" r:id="rId41"/>
    <p:sldId id="293" r:id="rId42"/>
    <p:sldId id="294" r:id="rId43"/>
    <p:sldId id="295" r:id="rId44"/>
    <p:sldId id="296" r:id="rId45"/>
    <p:sldId id="301" r:id="rId4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56" autoAdjust="0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Crude Birth Rate</c:v>
                </c:pt>
              </c:strCache>
            </c:strRef>
          </c:tx>
          <c:spPr>
            <a:ln w="31750" cap="flat">
              <a:solidFill>
                <a:srgbClr val="2E7D8C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2E7D8C"/>
              </a:solidFill>
              <a:ln w="9525" cap="flat">
                <a:solidFill>
                  <a:srgbClr val="2E7D8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  <c:pt idx="3">
                  <c:v>Stage 4</c:v>
                </c:pt>
                <c:pt idx="4">
                  <c:v>Stage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38</c:v>
                </c:pt>
                <c:pt idx="2">
                  <c:v>25</c:v>
                </c:pt>
                <c:pt idx="3">
                  <c:v>14</c:v>
                </c:pt>
                <c:pt idx="4">
                  <c:v>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F8-4863-BB01-7AD3A768DA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Crude Death Rate</c:v>
                </c:pt>
              </c:strCache>
            </c:strRef>
          </c:tx>
          <c:spPr>
            <a:ln w="31750" cap="flat">
              <a:solidFill>
                <a:srgbClr val="E8A33D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8A33D"/>
              </a:solidFill>
              <a:ln w="9525" cap="flat">
                <a:solidFill>
                  <a:srgbClr val="E8A33D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Stage 1</c:v>
                </c:pt>
                <c:pt idx="1">
                  <c:v>Stage 2</c:v>
                </c:pt>
                <c:pt idx="2">
                  <c:v>Stage 3</c:v>
                </c:pt>
                <c:pt idx="3">
                  <c:v>Stage 4</c:v>
                </c:pt>
                <c:pt idx="4">
                  <c:v>Stage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38</c:v>
                </c:pt>
                <c:pt idx="1">
                  <c:v>20</c:v>
                </c:pt>
                <c:pt idx="2">
                  <c:v>10</c:v>
                </c:pt>
                <c:pt idx="3">
                  <c:v>9</c:v>
                </c:pt>
                <c:pt idx="4">
                  <c:v>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0F8-4863-BB01-7AD3A768DA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472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B6472"/>
                    </a:solidFill>
                    <a:latin typeface="Arial"/>
                  </a:rPr>
                  <a:t>Rate per 1,000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13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TFR (children/woman)</c:v>
                </c:pt>
              </c:strCache>
            </c:strRef>
          </c:tx>
          <c:spPr>
            <a:solidFill>
              <a:srgbClr val="2E7D8C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1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Sub-Saharan Africa</c:v>
                </c:pt>
                <c:pt idx="1">
                  <c:v>South Asia</c:v>
                </c:pt>
                <c:pt idx="2">
                  <c:v>Latin America</c:v>
                </c:pt>
                <c:pt idx="3">
                  <c:v>Southeast Asia</c:v>
                </c:pt>
                <c:pt idx="4">
                  <c:v>East Asia</c:v>
                </c:pt>
                <c:pt idx="5">
                  <c:v>Europe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4.0999999999999996</c:v>
                </c:pt>
                <c:pt idx="1">
                  <c:v>2</c:v>
                </c:pt>
                <c:pt idx="2">
                  <c:v>1.8</c:v>
                </c:pt>
                <c:pt idx="3">
                  <c:v>1.9</c:v>
                </c:pt>
                <c:pt idx="4">
                  <c:v>1.1000000000000001</c:v>
                </c:pt>
                <c:pt idx="5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E-4D26-B51D-FEFD89B2CD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CE1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569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629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7514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649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97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19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Relationship Id="rId9" Type="http://schemas.openxmlformats.org/officeDocument/2006/relationships/image" Target="../media/image48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11/j.1728-4457.2010.00328.x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Shape 1"/>
          <p:cNvSpPr/>
          <p:nvPr/>
        </p:nvSpPr>
        <p:spPr>
          <a:xfrm>
            <a:off x="10469880" y="548640"/>
            <a:ext cx="128016" cy="128016"/>
          </a:xfrm>
          <a:prstGeom prst="ellipse">
            <a:avLst/>
          </a:prstGeom>
          <a:solidFill>
            <a:srgbClr val="E8A33D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548640"/>
            <a:ext cx="128016" cy="128016"/>
          </a:xfrm>
          <a:prstGeom prst="ellipse">
            <a:avLst/>
          </a:prstGeom>
          <a:solidFill>
            <a:srgbClr val="E8A33D">
              <a:alpha val="8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1325880"/>
            <a:ext cx="128016" cy="128016"/>
          </a:xfrm>
          <a:prstGeom prst="ellipse">
            <a:avLst/>
          </a:prstGeom>
          <a:solidFill>
            <a:srgbClr val="E8A33D">
              <a:alpha val="7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469880" y="1325880"/>
            <a:ext cx="128016" cy="128016"/>
          </a:xfrm>
          <a:prstGeom prst="ellipse">
            <a:avLst/>
          </a:prstGeom>
          <a:solidFill>
            <a:srgbClr val="E8A33D">
              <a:alpha val="6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247120" y="1325880"/>
            <a:ext cx="128016" cy="128016"/>
          </a:xfrm>
          <a:prstGeom prst="ellipse">
            <a:avLst/>
          </a:prstGeom>
          <a:solidFill>
            <a:srgbClr val="E8A33D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POPULATION STUDIES · CHULALONGKORN UNIVERSITY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8288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Demography</a:t>
            </a:r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the Data and AI Era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Introduction to Fundamental Demographic Analysis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B8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5140602 · Fundamental Demographic Analysis (Revised 2026 Syllabus)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B8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Dr. Ruttiya Bhula-or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B8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Population Studies, Chulalongkorn University</a:t>
            </a:r>
            <a:endParaRPr lang="en-US" dirty="0"/>
          </a:p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B8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session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Your Instructor &amp; This Course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Asst. Prof. Dr. Ruttiya Bhula-or, College of Population Studies, Chulalongkorn University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interests: population</a:t>
            </a:r>
            <a:r>
              <a:rPr lang="th-TH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</a:t>
            </a:r>
            <a:r>
              <a:rPr lang="en-US" sz="2400" dirty="0" err="1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</a:t>
            </a: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ageing, demographic methods, and applied data analysis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trains you to think like a demographer: to count, measure, and explain population change — and to critically evaluate the data behind every number you use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Master’s-level, methods-first course: expect worked calculations, real datasets, and applied research skills throughout the semester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Fundamental Demographic Analysis · College of Population Studies, Chulalongkorn University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ICEBREAKER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to Know Each Other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6949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pairs, take 3 minutes each to share:</a:t>
            </a:r>
            <a:endParaRPr lang="en-US" sz="1600" dirty="0"/>
          </a:p>
          <a:p>
            <a:pPr marL="685800" lvl="1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Your name, programme, and one country/region whose population trends fascinate you</a:t>
            </a:r>
            <a:endParaRPr lang="en-US" sz="1600" dirty="0"/>
          </a:p>
          <a:p>
            <a:pPr marL="685800" lvl="1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One number about population (any number!) that has stuck with you — and why</a:t>
            </a:r>
            <a:endParaRPr lang="en-US" sz="1600" dirty="0"/>
          </a:p>
          <a:p>
            <a:pPr marL="685800" lvl="1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One question you hope this course will answer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hear 4–5 pairs report back to the whole class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63840" y="1828800"/>
            <a:ext cx="3749040" cy="4206240"/>
          </a:xfrm>
          <a:prstGeom prst="roundRect">
            <a:avLst>
              <a:gd name="adj" fmla="val 2439"/>
            </a:avLst>
          </a:prstGeom>
          <a:solidFill>
            <a:srgbClr val="17213B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228600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3816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minutes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8138160" y="3749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activity time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Session, You Will Be Able To…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88366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673352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Define demography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389120" y="1673352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discipline’s scope and distinguish formal demography from population studies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48640" y="2633472"/>
            <a:ext cx="566928" cy="566928"/>
          </a:xfrm>
          <a:prstGeom prst="ellipse">
            <a:avLst/>
          </a:prstGeom>
          <a:solidFill>
            <a:srgbClr val="17213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2779776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569464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basic toolkit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4389120" y="2569464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compute and interpret counts, proportions, ratios, and rates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548640" y="3529584"/>
            <a:ext cx="566928" cy="566928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3675888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465576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the demographic transition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4389120" y="3465576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stages of the transition model and critique its universality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4425696"/>
            <a:ext cx="566928" cy="566928"/>
          </a:xfrm>
          <a:prstGeom prst="ellipse">
            <a:avLst/>
          </a:prstGeom>
          <a:solidFill>
            <a:srgbClr val="17213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457200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4361688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Situate demography in the data/AI era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4389120" y="4361688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how traditional and emerging data sources reshape demographic evidence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548640" y="5321808"/>
            <a:ext cx="566928" cy="566928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546811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325880" y="5257800"/>
            <a:ext cx="2926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academic integrity norms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4389120" y="5257800"/>
            <a:ext cx="72237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generative AI tools responsibly and transparently in coursework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Today’s 3-Hour Structure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51807" y="1755648"/>
            <a:ext cx="402336" cy="402336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391" y="18562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46167" y="170992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icebreaker &amp; learning objectives</a:t>
            </a:r>
            <a:endParaRPr lang="en-US" dirty="0"/>
          </a:p>
        </p:txBody>
      </p:sp>
      <p:sp>
        <p:nvSpPr>
          <p:cNvPr id="13" name="Shape 9"/>
          <p:cNvSpPr/>
          <p:nvPr/>
        </p:nvSpPr>
        <p:spPr>
          <a:xfrm>
            <a:off x="951807" y="2359152"/>
            <a:ext cx="402336" cy="402336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391" y="2459736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46167" y="2313432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— What is demography, and why study it?</a:t>
            </a:r>
            <a:endParaRPr lang="en-US" dirty="0"/>
          </a:p>
        </p:txBody>
      </p:sp>
      <p:sp>
        <p:nvSpPr>
          <p:cNvPr id="18" name="Shape 13"/>
          <p:cNvSpPr/>
          <p:nvPr/>
        </p:nvSpPr>
        <p:spPr>
          <a:xfrm>
            <a:off x="951807" y="2962656"/>
            <a:ext cx="402336" cy="402336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391" y="306324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546167" y="2916936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— The demographer’s core toolkit (counts, ratios, rates)</a:t>
            </a:r>
            <a:endParaRPr lang="en-US" dirty="0"/>
          </a:p>
        </p:txBody>
      </p:sp>
      <p:sp>
        <p:nvSpPr>
          <p:cNvPr id="23" name="Shape 17"/>
          <p:cNvSpPr/>
          <p:nvPr/>
        </p:nvSpPr>
        <p:spPr>
          <a:xfrm>
            <a:off x="951807" y="3566160"/>
            <a:ext cx="402336" cy="402336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391" y="3666744"/>
            <a:ext cx="201168" cy="20116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46167" y="352044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endParaRPr lang="en-US" dirty="0"/>
          </a:p>
        </p:txBody>
      </p:sp>
      <p:sp>
        <p:nvSpPr>
          <p:cNvPr id="28" name="Shape 21"/>
          <p:cNvSpPr/>
          <p:nvPr/>
        </p:nvSpPr>
        <p:spPr>
          <a:xfrm>
            <a:off x="951807" y="4169664"/>
            <a:ext cx="402336" cy="402336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391" y="4270248"/>
            <a:ext cx="201168" cy="20116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546167" y="4123944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— Demographic transition theory</a:t>
            </a:r>
            <a:endParaRPr lang="en-US" dirty="0"/>
          </a:p>
        </p:txBody>
      </p:sp>
      <p:sp>
        <p:nvSpPr>
          <p:cNvPr id="33" name="Shape 25"/>
          <p:cNvSpPr/>
          <p:nvPr/>
        </p:nvSpPr>
        <p:spPr>
          <a:xfrm>
            <a:off x="951807" y="4773168"/>
            <a:ext cx="402336" cy="402336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2391" y="4873752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546167" y="4727448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— Demography in the data/AI era + course logistics</a:t>
            </a:r>
            <a:endParaRPr lang="en-US" dirty="0"/>
          </a:p>
        </p:txBody>
      </p:sp>
      <p:sp>
        <p:nvSpPr>
          <p:cNvPr id="38" name="Shape 29"/>
          <p:cNvSpPr/>
          <p:nvPr/>
        </p:nvSpPr>
        <p:spPr>
          <a:xfrm>
            <a:off x="951807" y="5376672"/>
            <a:ext cx="402336" cy="402336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391" y="5477256"/>
            <a:ext cx="201168" cy="201168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1546167" y="5330952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Wrap-up, Q&amp;A, practice exercises</a:t>
            </a:r>
            <a:endParaRPr lang="en-US" dirty="0"/>
          </a:p>
        </p:txBody>
      </p:sp>
      <p:sp>
        <p:nvSpPr>
          <p:cNvPr id="41" name="Text 31"/>
          <p:cNvSpPr/>
          <p:nvPr/>
        </p:nvSpPr>
        <p:spPr>
          <a:xfrm>
            <a:off x="548640" y="59618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*3:35–4:00 relative to a 4:00 total (approx.); timings are indicative and may flex in class.</a:t>
            </a:r>
            <a:endParaRPr lang="en-US" sz="1050" dirty="0"/>
          </a:p>
        </p:txBody>
      </p:sp>
      <p:sp>
        <p:nvSpPr>
          <p:cNvPr id="42" name="Text 3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Syllabus at a Glance: 15 Sessions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5297859"/>
              </p:ext>
            </p:extLst>
          </p:nvPr>
        </p:nvGraphicFramePr>
        <p:xfrm>
          <a:off x="548640" y="1691640"/>
          <a:ext cx="11064240" cy="474472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Introduction; sources of demographic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Mortality &amp; morbidity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transitions; life tables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Fertility &amp; migration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Fertility measurement; migration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 structure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Age–sex structure, population pyramids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Midterm examination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Covers Sessions 1–7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classes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Household/union analysis; ageing measurement; AI &amp; digital-data methods (11–12); integration (13)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Synthesis &amp; review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research paper workshop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examination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Comprehensive, covers full semester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64456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Grade Is Assessed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6582" y="1828800"/>
            <a:ext cx="10952018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weights for 5140602 Fundamental Demographic Analysis (2026 revised syllabus):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Midterm examination — 30%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 examination — 40%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Computational labs / Assignment— 20%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Participation — 10%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labs and the applied research paper are your main venues for hands-on, disclosed use of demographic software and AI tools.</a:t>
            </a: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02036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LOGISTICS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Expectations &amp; How We’ll Work Together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having skimmed assigned readings — class time is for application, not first exposure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 laptop with spreadsheet software for in-class calculations and computational labs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by appointment — email to schedule, response within 2 business days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coursework must disclose any generative-AI assistance used, per the academic-integrity policy discussed today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about grading, accommodations, or wellbeing are always welcome — please reach out early, not after a deadline has passed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Fundamental Demographic Analysis · College of Population Studies, Chulalongkorn University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631840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Demography, and Why Study It?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Etymology, definitions, the boundary between formal demography and population studies, and why this evidence base matters for policy and society.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ORIGINS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Etymology of "Demography"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"Demography" derives from Greek: demos (δῆμος, "the people") + graphein (γράφειν, "to write/describe")</a:t>
            </a:r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Literally: "the writing/description of the people"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coined in this modern sense by Achille Guillard (1855), a Belgian statistician, in Éléments de statistique humaine ou démographie comparée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outset, demography combined description (counting, measuring) with comparison across populations and over time — a dual identity it retains today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Fundamental Demographic Analysis · College of Population Studies, Chulalongkorn University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Faces of the Discipline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74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(Pure) Demography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68680" y="2953512"/>
            <a:ext cx="4617720" cy="2740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Mathematical/statistical study of population size, structure, and change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the three direct drivers: fertility, mortality, migration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models: life tables, stable population theory, population projections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"What are the mechanics of population change?"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17213B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874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Studies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(Social Demography)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652260" y="2816352"/>
            <a:ext cx="4617720" cy="26534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Draws on economics, sociology, epidemiology, geography to explain causes and consequences of demographic patterns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why fertility declines, why migration happens, how ageing reshapes welfare systems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"Why does population change happen, and what does it mean for society?"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Computational Questions (6–9)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 country had 480,000 live births and a mid-year population of 60,000,000. Calculate the crude birth rate per 1,000.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If a population has 8,200,000 people aged 65+ and 42,000,000 people aged 15–64, calculate the old-age dependency ratio.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 district recorded 1,050 male births and 1,000 female births in one year. Calculate the sex ratio at birth (males per 100 females).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If the crude death rate is 8.5 per 1,000 and the mid-year population is 20,000,000, how many deaths occurred that year?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2737173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SCOPE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Demographic Perspective: Core Domains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Fertility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0467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Childbearing patterns, family formation, reproductive health and policy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7388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2991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16" y="209397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991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Mortality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62991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Death, survival, life expectancy, and health transitions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9912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515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1456" y="209397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515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845515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and international movement, displacement, urbanization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51713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structure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80467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Age–sex composition, dependency, population momentum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37388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2991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6216" y="451713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2991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Population change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462991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Growth, decline, distribution over time and space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19912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5515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1456" y="4517136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5515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&amp; society</a:t>
            </a: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845515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to health, economic, environmental, and social policy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· 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48235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Study Demography? </a:t>
            </a:r>
          </a:p>
          <a:p>
            <a:pPr marL="0" indent="0">
              <a:buNone/>
            </a:pPr>
            <a:endParaRPr lang="en-US" sz="27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For example:  Thailand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06829" y="2643447"/>
            <a:ext cx="3444240" cy="3108960"/>
          </a:xfrm>
          <a:prstGeom prst="roundRect">
            <a:avLst>
              <a:gd name="adj" fmla="val 2647"/>
            </a:avLst>
          </a:prstGeom>
          <a:solidFill>
            <a:srgbClr val="202C4C"/>
          </a:solidFill>
          <a:ln/>
        </p:spPr>
      </p:sp>
      <p:sp>
        <p:nvSpPr>
          <p:cNvPr id="5" name="Text 3"/>
          <p:cNvSpPr/>
          <p:nvPr/>
        </p:nvSpPr>
        <p:spPr>
          <a:xfrm>
            <a:off x="743989" y="3054927"/>
            <a:ext cx="316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35429" y="4426527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Thailand’s population is aged 60+ as of 2024 — Thailand is now a "complete aged society"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16829" y="2643447"/>
            <a:ext cx="3444240" cy="3108960"/>
          </a:xfrm>
          <a:prstGeom prst="roundRect">
            <a:avLst>
              <a:gd name="adj" fmla="val 2647"/>
            </a:avLst>
          </a:prstGeom>
          <a:solidFill>
            <a:srgbClr val="202C4C"/>
          </a:solidFill>
          <a:ln/>
        </p:spPr>
      </p:sp>
      <p:sp>
        <p:nvSpPr>
          <p:cNvPr id="8" name="Text 6"/>
          <p:cNvSpPr/>
          <p:nvPr/>
        </p:nvSpPr>
        <p:spPr>
          <a:xfrm>
            <a:off x="4553989" y="3054927"/>
            <a:ext cx="316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2035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645429" y="4426527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year Thailand becomes a "super-aged society" (≥20% aged 65+)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6829" y="2643447"/>
            <a:ext cx="3444240" cy="3108960"/>
          </a:xfrm>
          <a:prstGeom prst="roundRect">
            <a:avLst>
              <a:gd name="adj" fmla="val 2647"/>
            </a:avLst>
          </a:prstGeom>
          <a:solidFill>
            <a:srgbClr val="202C4C"/>
          </a:solidFill>
          <a:ln/>
        </p:spPr>
      </p:sp>
      <p:sp>
        <p:nvSpPr>
          <p:cNvPr id="11" name="Text 9"/>
          <p:cNvSpPr/>
          <p:nvPr/>
        </p:nvSpPr>
        <p:spPr>
          <a:xfrm>
            <a:off x="8363989" y="3054927"/>
            <a:ext cx="316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58:42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455429" y="4426527"/>
            <a:ext cx="298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dirty="0">
                <a:solidFill>
                  <a:srgbClr val="D7D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female-to-male ratio among Thai elderly — with major implications for care policy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Krungsri Research (2024). Aged society: Embracing challenges and unlocking opportunities. https://www.krungsri.com/en/research/research-intelligence/silver-economy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Thailand’s Aged Society, 2024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960120" cy="960120"/>
          </a:xfrm>
          <a:prstGeom prst="ellipse">
            <a:avLst/>
          </a:prstGeom>
          <a:solidFill>
            <a:srgbClr val="3A93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480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51960" y="777240"/>
            <a:ext cx="7406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Thailand’s share of population aged 60+ rose from 6.8% (1994) to 20% (2024) — one of the fastest ageing trajectories in Asia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14 million Thai seniors, only 4.76 million remain economically active; 63.7% of working seniors are self-employed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abstract numbers: they drive pension reform, long-term care policy, labour-market design, and health-system planning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kind of question formal demography (measuring the age structure) and population studies (explaining causes, designing policy) must answer together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51960" y="6263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Krungsri Research (2024). Aged society: Embracing challenges and unlocking opportunities. https://www.krungsri.com/en/research/research-intelligence/silver-economy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A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F2BE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1430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DISCUSS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Demography or Population Studies?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8778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2400" dirty="0">
                <a:solidFill>
                  <a:srgbClr val="2A2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statistical office projects that the working-age population will shrink 15% by 2040 using a cohort-component model. Which branch is this?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2400" dirty="0">
                <a:solidFill>
                  <a:srgbClr val="2A2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sociologist studies why young Thai adults are delaying marriage and childbearing. Which branch is this — and could it also use formal-demographic tools?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2400" dirty="0">
                <a:solidFill>
                  <a:srgbClr val="2A2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think of a real research question that requires BOTH branches working together?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Questions (1–5)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 your own words, define demography and explain the Greek roots of the term.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Distinguish formal demography from population studies using an example research question for each.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Explain the difference between a proportion and a ratio, giving one demographic example of each.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Why is a "rate" considered a measure of the pace of events, and what does the denominator represent?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Name two events in a person’s life course that formal demography treats as core measurable events.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Demographer’s Core Toolkit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foundational measurement concepts — count, proportion, ratio, and rate — that underlie every indicator you will compute this semester.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MEASUREMENT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Building Blocks of Measurement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785353"/>
              </p:ext>
            </p:extLst>
          </p:nvPr>
        </p:nvGraphicFramePr>
        <p:xfrm>
          <a:off x="548640" y="1691640"/>
          <a:ext cx="11064240" cy="4517136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9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simple enumeration — the raw number of events or persons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live births in Thailand in 2024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 relative to a whole that includes that part (numerator ⊂ denominator)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Proportion of the population aged 60+ (0.20)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quantity relative to a different, non-overlapping quantity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Sex ratio: males per 100 females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9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measure of the pace of an event per population "at risk," usually over time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1B21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Crude birth rate per 1,000 population per year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1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WORKED EXAMPLE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Crude Birth Rate (CBR)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97780" y="41148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516" y="214884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721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73736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CBR = (B / P) × 1,000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3794760"/>
            <a:ext cx="5253644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number of live births in a given year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mid-year total population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expressed as births per 1,000 population</a:t>
            </a:r>
            <a:endParaRPr lang="en-US" dirty="0"/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520,000 and </a:t>
            </a: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66,000,000 →  CBR = (520,000 / 66,000,000) × 1,000 ≈ 7.9 births per 1,000</a:t>
            </a: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D0E14FC5-4628-BF52-7CB5-84B08CA45EBA}"/>
              </a:ext>
            </a:extLst>
          </p:cNvPr>
          <p:cNvSpPr/>
          <p:nvPr/>
        </p:nvSpPr>
        <p:spPr>
          <a:xfrm>
            <a:off x="6519546" y="626364"/>
            <a:ext cx="51871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Old-Age Dependency Ratio (OADR)</a:t>
            </a:r>
            <a:endParaRPr lang="en-US" sz="2400" dirty="0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3C8C7A05-79D5-9061-096D-6BCCE2D05767}"/>
              </a:ext>
            </a:extLst>
          </p:cNvPr>
          <p:cNvSpPr/>
          <p:nvPr/>
        </p:nvSpPr>
        <p:spPr>
          <a:xfrm>
            <a:off x="6519546" y="1385316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7213B"/>
          </a:solidFill>
          <a:ln/>
        </p:spPr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B151EAA9-4000-A168-EB33-8ED83FA451EF}"/>
              </a:ext>
            </a:extLst>
          </p:cNvPr>
          <p:cNvSpPr/>
          <p:nvPr/>
        </p:nvSpPr>
        <p:spPr>
          <a:xfrm>
            <a:off x="6702426" y="1385316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OADR = </a:t>
            </a:r>
          </a:p>
          <a:p>
            <a:pPr marL="0" indent="0" algn="ctr">
              <a:buNone/>
            </a:pPr>
            <a:r>
              <a:rPr lang="en-US" sz="2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(Pop 65+ / Pop 15–64) × 100</a:t>
            </a:r>
            <a:endParaRPr lang="en-US" sz="2800" dirty="0"/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C2321BC3-7BE6-82D2-DBD9-F91092C59E90}"/>
              </a:ext>
            </a:extLst>
          </p:cNvPr>
          <p:cNvSpPr/>
          <p:nvPr/>
        </p:nvSpPr>
        <p:spPr>
          <a:xfrm>
            <a:off x="6519546" y="3442716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Numerator: population above conventional working age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Denominator: population of conventional working age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ratio, not a proportion — numerator and denominator are non-overlapping groups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OADR is central to Thailand’s pension and long-term-care policy debates</a:t>
            </a:r>
            <a:endParaRPr lang="en-US" sz="1600" dirty="0"/>
          </a:p>
        </p:txBody>
      </p:sp>
      <p:sp>
        <p:nvSpPr>
          <p:cNvPr id="27" name="Shape 2">
            <a:extLst>
              <a:ext uri="{FF2B5EF4-FFF2-40B4-BE49-F238E27FC236}">
                <a16:creationId xmlns:a16="http://schemas.microsoft.com/office/drawing/2014/main" id="{36278CE2-6F7D-96C0-3321-9CBC338262C2}"/>
              </a:ext>
            </a:extLst>
          </p:cNvPr>
          <p:cNvSpPr/>
          <p:nvPr/>
        </p:nvSpPr>
        <p:spPr>
          <a:xfrm>
            <a:off x="11155680" y="109728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69BC90F1-FB78-BED6-252B-F62007D0A6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9416" y="283464"/>
            <a:ext cx="429768" cy="42976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Thailand’s Elderly Support Ratio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960120" cy="960120"/>
          </a:xfrm>
          <a:prstGeom prst="ellipse">
            <a:avLst/>
          </a:prstGeom>
          <a:solidFill>
            <a:srgbClr val="3A93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480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51960" y="777240"/>
            <a:ext cx="7406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NSO surveys (conducted periodically since 1994) track the elderly population and their economic activity in detail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 of Thai elderly are aged 60–69 ("young-old"); 30% are in higher age brackets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16.2% of working seniors hold formal public/private-sector jobs — most (63.7%) are self-employed, with clear implications for social-security coverage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ratio (dependency ratio) hides this internal structure — good demographic analysis always asks "a ratio/rate of what, computed how?"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51960" y="6263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Krungsri Research (2024), citing National Statistical Office of Thailand elderly surveys. https://www.krungsri.com/en/research/research-intelligence/silver-economy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· TOOLKIT PREVIEW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Common Indicators You Will Master This Semester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CBR / TFR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467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birth rate; total fertility rate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437388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2991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16" y="209397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991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CDR / IMR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62991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Crude death rate; infant mortality rate 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19912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515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1456" y="209397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515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expectancy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845515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years of life from birth or age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54864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51713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rates</a:t>
            </a:r>
            <a:endParaRPr lang="en-US" sz="2000" dirty="0"/>
          </a:p>
        </p:txBody>
      </p:sp>
      <p:sp>
        <p:nvSpPr>
          <p:cNvPr id="25" name="Text 18"/>
          <p:cNvSpPr/>
          <p:nvPr/>
        </p:nvSpPr>
        <p:spPr>
          <a:xfrm>
            <a:off x="80467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In-, out-, and net-migration rates</a:t>
            </a:r>
            <a:endParaRPr lang="en-US" sz="1600" dirty="0"/>
          </a:p>
        </p:txBody>
      </p:sp>
      <p:sp>
        <p:nvSpPr>
          <p:cNvPr id="26" name="Shape 19"/>
          <p:cNvSpPr/>
          <p:nvPr/>
        </p:nvSpPr>
        <p:spPr>
          <a:xfrm>
            <a:off x="437388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2991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6216" y="451713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2991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Dependency ratios</a:t>
            </a:r>
            <a:endParaRPr lang="en-US" sz="2000" dirty="0"/>
          </a:p>
        </p:txBody>
      </p:sp>
      <p:sp>
        <p:nvSpPr>
          <p:cNvPr id="30" name="Text 22"/>
          <p:cNvSpPr/>
          <p:nvPr/>
        </p:nvSpPr>
        <p:spPr>
          <a:xfrm>
            <a:off x="462991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Youth, old-age, and total dependency</a:t>
            </a:r>
            <a:endParaRPr lang="en-US" sz="1600" dirty="0"/>
          </a:p>
        </p:txBody>
      </p:sp>
      <p:sp>
        <p:nvSpPr>
          <p:cNvPr id="31" name="Shape 23"/>
          <p:cNvSpPr/>
          <p:nvPr/>
        </p:nvSpPr>
        <p:spPr>
          <a:xfrm>
            <a:off x="819912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5515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1456" y="4517136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5515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rate</a:t>
            </a:r>
            <a:endParaRPr lang="en-US" sz="2000" dirty="0"/>
          </a:p>
        </p:txBody>
      </p:sp>
      <p:sp>
        <p:nvSpPr>
          <p:cNvPr id="35" name="Text 26"/>
          <p:cNvSpPr/>
          <p:nvPr/>
        </p:nvSpPr>
        <p:spPr>
          <a:xfrm>
            <a:off x="845515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Exponential/geometric growth, doubling time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Calculation: Count, Proportion, or Rate?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in pairs (5 minutes), classify each statistic below as a count, proportion, ratio, or rate — then justify your answer: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"Thailand recorded 502,107 live births in 2023."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"There are 96 males for every 100 females aged 60+."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"20% of Thailand’s population is aged 60 or above."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"The crude death rate was 8.2 per 1,000 population in 2023."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E7D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0" y="3520440"/>
            <a:ext cx="12188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FFE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286000" y="4297680"/>
            <a:ext cx="7616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E4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refill your coffee, and think of one demographic statistic you’ve seen in the news recently.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Transition Theory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model of how societies move from high to low birth and death rates — its stages, evidence, critiques, and extensions.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THE MODEL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Classic Demographic Transition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413505428"/>
              </p:ext>
            </p:extLst>
          </p:nvPr>
        </p:nvGraphicFramePr>
        <p:xfrm>
          <a:off x="548640" y="169164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595360" y="1737360"/>
            <a:ext cx="3063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Pre-transition: high births, high deaths, slow growth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Early transition: deaths fall (sanitation, medicine); births stay high → rapid growth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Late transition: births begin to fall (urbanization, education, contraception)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Post-transition: low births, low deaths, slow/stable growth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(proposed) — Sub-replacement fertility; population ageing and potential decline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ORIGINS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Origins and Core Claims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00200"/>
            <a:ext cx="1088136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b="1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articulated by Warren Thompson (1929) and formalized by Frank Notestein (1945)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a historical regularity observed first in Western Europe: mortality decline precedes fertility decline, producing a temporary period of rapid growth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 (1996) reviews the theory’s development and shows it evolved from a loose empirical generalization into a more formal — but still contested — theory of social change</a:t>
            </a:r>
            <a:endParaRPr lang="en-US" sz="2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"engine" of the transition is debated: modernization, education (especially of women), infant-mortality decline, and ideational change have all been proposed as drivers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· Fundamental Demographic Analysis · College of Population Studies, Chulalongkorn University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CRITIQUE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 and Limitations of the Model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74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Gets Right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 real, broad historical pattern across most world regions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heuristic for teaching and for very-long-run population projections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the "demographic dividend" concept used in economic-development planning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17213B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874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Misses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0" y="246888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single, universal pathway — but timing, speed, and sequencing vary enormously by country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France’s fertility fell before major mortality decline — violating the classic sequence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little about migration, and nothing about the "second demographic transition" (below-replacement fertility, new family forms) documented by Lesthaeghe &amp; van de Kaa from the 1980s onward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Thailand’s Rapid, Compressed Transition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960120" cy="960120"/>
          </a:xfrm>
          <a:prstGeom prst="ellipse">
            <a:avLst/>
          </a:prstGeom>
          <a:solidFill>
            <a:srgbClr val="3A93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480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51960" y="777240"/>
            <a:ext cx="7406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Thailand’s total fertility rate fell from roughly 6 children per woman in the 1960s to below replacement level (≈1.0) by the 2020s — one of the fastest fertility declines recorded globally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Mortality decline came first (public health investment from the 1960s–70s), followed swiftly by fertility decline driven by the National Family Planning Program (from 1970) and rising female education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Thailand compressed a transition that took ~150 years in parts of Europe into roughly 40–50 years — and is now moving straight into Stage 5 (ageing, below-replacement fertility)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"telescoped" pattern is now common across East and Southeast Asia — it challenges the idea of one universal transition timeline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51960" y="6263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United Nations Population Fund (2025). Thailand: World population dashboard. https://www.unfpa.org/data/world-population/TH ; Kirk, D. (1996). Demographic transition theory. Population Studies, 50(3), 361–387. https://doi.org/10.1080/0032472031000149536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· GLOBAL VARIATION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Are Different Regions Today?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987660677"/>
              </p:ext>
            </p:extLst>
          </p:nvPr>
        </p:nvGraphicFramePr>
        <p:xfrm>
          <a:off x="548640" y="1691640"/>
          <a:ext cx="78638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8595360" y="1737360"/>
            <a:ext cx="30632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total fertility rates (children per woman) by world region, mid-2020s.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 cluster at very different transition stages simultaneously — "the" demographic transition is really many transitions, on different clocks.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to frame the discussion prompt on the next slide.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8A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2011680" cy="2011680"/>
          </a:xfrm>
          <a:prstGeom prst="ellipse">
            <a:avLst/>
          </a:prstGeom>
          <a:solidFill>
            <a:srgbClr val="F2BE6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14300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548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17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DISCUSS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 Thailand — and Where Are You From?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2286000"/>
            <a:ext cx="8778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2400" dirty="0">
                <a:solidFill>
                  <a:srgbClr val="2A2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birth and death rates, which stage of the classic model best fits Thailand today? Justify with the numbers you’ve seen so far.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2400" dirty="0">
                <a:solidFill>
                  <a:srgbClr val="2A2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from another country, where does it sit? Does the "second demographic transition" idea apply there?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–"/>
            </a:pPr>
            <a:r>
              <a:rPr lang="en-US" sz="2400" dirty="0">
                <a:solidFill>
                  <a:srgbClr val="2A21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a Stage 6 look like, if population decline becomes the new normal in many countries?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 Transition (10–12)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List the five stages of the classic demographic transition model and describe the birth/death rate pattern in each.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Explain one historical case (other than Thailand) where the classic transition sequence did not hold, and why.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What is the "second demographic transition," and how does it differ from the classic model’s Stage 4–5?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Demography</a:t>
            </a:r>
            <a:endParaRPr lang="th-TH" sz="4800" b="1" dirty="0">
              <a:solidFill>
                <a:srgbClr val="FFFFFF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in the Data and AI Era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discipline’s evidence base is expanding beyond censuses and surveys — and how to use generative AI responsibly in this course.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EVOLVING TOOLKIT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Traditional to Augmented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459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6F9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874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Demographic Data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Censuses (every 5–10 years)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registration &amp; vital statistics (CRVS)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sample surveys (e.g., DHS, LFS)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registers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trust, official, but costly and slow to update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263640" y="164592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17213B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187452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/ Digital-Trace Data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6583680" y="2468880"/>
            <a:ext cx="4617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Mobile-phone call detail records (CDRs)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imagery-based population mapping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Social-media and internet-use data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models that fuse multiple sources</a:t>
            </a:r>
            <a:endParaRPr lang="en-US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–"/>
            </a:pPr>
            <a:r>
              <a:rPr lang="en-US" dirty="0">
                <a:solidFill>
                  <a:srgbClr val="E4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Near-real-time, high resolution, but coverage and representativeness need careful scrutiny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LOOKING AHEAD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Theme Returns in the Course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preview, not a deep dive — full methods come later in the semester: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Sources of demographic data, including non-traditional/digital data (mobile CDRs, satellite imagery, social media)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Class 11–12 — Hands-on work with AI-assisted and digital-trace demographic data methods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Class 13 — Integrating traditional and non-traditional data in an applied research context</a:t>
            </a:r>
            <a:endParaRPr lang="en-US" sz="20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— computational labs (15% of your grade) will build fluency with real demographic datasets and tools, including responsible use of AI assistants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1609344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 Is Now Widespread in Higher Education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960120" cy="960120"/>
          </a:xfrm>
          <a:prstGeom prst="ellipse">
            <a:avLst/>
          </a:prstGeom>
          <a:solidFill>
            <a:srgbClr val="3A93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480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51960" y="777240"/>
            <a:ext cx="7406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2025 systematic review of 41 studies (Jan 2021–Dec 2024) found generative AI substantially reshaping both learning and academic-integrity practice in higher education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related meta-analysis of 49 studies found positive average effects of GenAI use on academic achievement (effect size ≈0.86) and learning motivation (≈0.80) — but only under appropriate guidance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has shifted from a 2023 focus on "detection and prohibition" toward 2024–2025 emphasis on transparency, disclosure, and AI-literacy education</a:t>
            </a:r>
            <a:endParaRPr lang="en-US" sz="2000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sz="20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for this course: GenAI is a legitimate tool when used transparently — the norm we adopt is disclosure, not prohibition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251960" y="6263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Bittle, K., &amp; El-Gayar, O. (2025). Generative AI and academic integrity in higher education: A systematic review and research agenda. Information, 16(4), 296. https://doi.org/10.3390/info16040296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 · ACADEMIC INTEGRITY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Responsible, Disclosed Use of Generative AI in This Course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188366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25880" y="1673352"/>
            <a:ext cx="292608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Permitted with disclosure</a:t>
            </a: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4389120" y="1673352"/>
            <a:ext cx="72237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Brainstorming, drafting outlines, checking code syntax, or improving English clarity — cite the tool and describe your use in a short note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2857500"/>
            <a:ext cx="566928" cy="566928"/>
          </a:xfrm>
          <a:prstGeom prst="ellipse">
            <a:avLst/>
          </a:prstGeom>
          <a:solidFill>
            <a:srgbClr val="17213B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3003804"/>
            <a:ext cx="274320" cy="2743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793492"/>
            <a:ext cx="292608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own the analysis</a:t>
            </a:r>
            <a:endParaRPr lang="en-US" dirty="0"/>
          </a:p>
        </p:txBody>
      </p:sp>
      <p:sp>
        <p:nvSpPr>
          <p:cNvPr id="13" name="Text 8"/>
          <p:cNvSpPr/>
          <p:nvPr/>
        </p:nvSpPr>
        <p:spPr>
          <a:xfrm>
            <a:off x="4389120" y="2793492"/>
            <a:ext cx="72237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calculations, interpretation, and argument must be your own reasoning — AI output is a starting point, never a substitute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977640"/>
            <a:ext cx="566928" cy="566928"/>
          </a:xfrm>
          <a:prstGeom prst="ellipse">
            <a:avLst/>
          </a:prstGeom>
          <a:solidFill>
            <a:srgbClr val="2E7D8C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" y="4123944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25880" y="3913632"/>
            <a:ext cx="292608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everything</a:t>
            </a:r>
            <a:endParaRPr lang="en-US" dirty="0"/>
          </a:p>
        </p:txBody>
      </p:sp>
      <p:sp>
        <p:nvSpPr>
          <p:cNvPr id="17" name="Text 11"/>
          <p:cNvSpPr/>
          <p:nvPr/>
        </p:nvSpPr>
        <p:spPr>
          <a:xfrm>
            <a:off x="4389120" y="3913632"/>
            <a:ext cx="72237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can fabricate statistics and citations ("hallucinate") — every number and source you submit must be independently checked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548640" y="5097780"/>
            <a:ext cx="566928" cy="566928"/>
          </a:xfrm>
          <a:prstGeom prst="ellipse">
            <a:avLst/>
          </a:prstGeom>
          <a:solidFill>
            <a:srgbClr val="17213B"/>
          </a:solidFill>
          <a:ln/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" y="5244084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325880" y="5033772"/>
            <a:ext cx="292608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Undisclosed use = misconduct</a:t>
            </a: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389120" y="5033772"/>
            <a:ext cx="722376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Submitting AI-generated work as entirely your own, without disclosure, is treated as an academic-integrity violation under university policy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2E7D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02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9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Thailand’s 2025 Census Goes Digital-First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4892040"/>
            <a:ext cx="960120" cy="960120"/>
          </a:xfrm>
          <a:prstGeom prst="ellipse">
            <a:avLst/>
          </a:prstGeom>
          <a:solidFill>
            <a:srgbClr val="3A93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514807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251960" y="777240"/>
            <a:ext cx="74066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Thailand’s National Statistical Office ran its 2025 Population and Housing Census using a "Digital First Approach" — respondents were encouraged to self-report online via a web application and government portal before enumerators followed up</a:t>
            </a:r>
            <a:endParaRPr lang="en-US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follows earlier digital pilots in the 2020 census round, when online/mailed response rates were still low (around 5% and 4% respectively) — showing how quickly the data-collection landscape can change within one decade</a:t>
            </a:r>
            <a:endParaRPr lang="en-US" dirty="0"/>
          </a:p>
          <a:p>
            <a:pPr marL="342900" indent="-342900">
              <a:lnSpc>
                <a:spcPct val="118000"/>
              </a:lnSpc>
              <a:spcAft>
                <a:spcPts val="1100"/>
              </a:spcAft>
              <a:buSzPct val="100000"/>
              <a:buChar char="–"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collection previews a broader shift you will study in Session 2: official statistics increasingly blend traditional enumeration with digital tools, APIs, and administrative data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51960" y="6263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Statistical Office of Thailand, cited in UN ESCAP (2024). Thailand Population and Housing Census 2025 presentation. https://crvs.unescap.org/system/files/sites/default/files/Thailand_presentation.pdf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EXERCISES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AI &amp; Course Logistics (13–14)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91640"/>
            <a:ext cx="110642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Name two traditional and two non-traditional/digital sources of demographic data, and one limitation of each.</a:t>
            </a:r>
            <a:endParaRPr lang="en-US" sz="24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Describe what "responsible, disclosed use of generative AI" means in the context of this course’s academic-integrity policy.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 From Session 1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881360" y="411480"/>
            <a:ext cx="777240" cy="777240"/>
          </a:xfrm>
          <a:prstGeom prst="ellipse">
            <a:avLst/>
          </a:prstGeom>
          <a:solidFill>
            <a:srgbClr val="F4F6F9"/>
          </a:solidFill>
          <a:ln w="12700">
            <a:solidFill>
              <a:srgbClr val="DCE1E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585216"/>
            <a:ext cx="429768" cy="4297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0939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Demography defined</a:t>
            </a:r>
            <a:endParaRPr lang="en-US" dirty="0"/>
          </a:p>
        </p:txBody>
      </p:sp>
      <p:sp>
        <p:nvSpPr>
          <p:cNvPr id="10" name="Text 6"/>
          <p:cNvSpPr/>
          <p:nvPr/>
        </p:nvSpPr>
        <p:spPr>
          <a:xfrm>
            <a:off x="80467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description and analysis of population size, structure, and change — formal demography + population studies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37388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2991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216" y="209397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2991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core tools</a:t>
            </a: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462991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proportion, ratio, and rate underlie every demographic indicator you’ll compute this semester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199120" y="169164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455152" y="194767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1456" y="209397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5152" y="260604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model, many paths</a:t>
            </a: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8455152" y="304495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demographic transition is a useful heuristic, but real transitions vary widely in timing and sequence — Thailand’s was extremely compressed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54864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0467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451713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0467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is expanding</a:t>
            </a: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80467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Digital-trace data complements — not replaces — official statistics; more in Session 2</a:t>
            </a:r>
            <a:endParaRPr lang="en-US" sz="1400" dirty="0"/>
          </a:p>
        </p:txBody>
      </p:sp>
      <p:sp>
        <p:nvSpPr>
          <p:cNvPr id="26" name="Shape 19"/>
          <p:cNvSpPr/>
          <p:nvPr/>
        </p:nvSpPr>
        <p:spPr>
          <a:xfrm>
            <a:off x="437388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2991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6216" y="451713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2991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Integrity with disclosure</a:t>
            </a: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462991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generative AI transparently; the analysis and interpretation must remain your own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8199120" y="4114800"/>
            <a:ext cx="350520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/>
          <a:effectLst>
            <a:outerShdw blurRad="76200" dist="25400" dir="5400000" algn="bl" rotWithShape="0">
              <a:srgbClr val="9AA5B1">
                <a:alpha val="25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455152" y="4370832"/>
            <a:ext cx="566928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D8C"/>
            </a:solidFill>
            <a:prstDash val="solid"/>
          </a:ln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1456" y="4517136"/>
            <a:ext cx="292608" cy="29260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455152" y="5029200"/>
            <a:ext cx="2993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sessions ahead</a:t>
            </a:r>
            <a:endParaRPr lang="en-US" dirty="0"/>
          </a:p>
        </p:txBody>
      </p:sp>
      <p:sp>
        <p:nvSpPr>
          <p:cNvPr id="35" name="Text 26"/>
          <p:cNvSpPr/>
          <p:nvPr/>
        </p:nvSpPr>
        <p:spPr>
          <a:xfrm>
            <a:off x="8455152" y="5468112"/>
            <a:ext cx="29931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midterm, 30% final, 15% labs, 20% paper, 10% participation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0" y="36576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Sources of Demographic Data — from censuses to digital trace data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(1 of 2)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Bittle, K., &amp; El-Gayar, O. (2025). Generative AI and academic integrity in higher education: A systematic review and research agenda. Information, 16(4), 296. https://doi.org/10.3390/info16040296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Guillard, A. (1855). Éléments de statistique humaine ou démographie comparée. Guillaumin.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Kirk, D. (1996). Demographic transition theory. Population Studies, 50(3), 361–387. https://doi.org/10.1080/0032472031000149536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Krungsri Research. (2024). Aged society: Embracing challenges and unlocking opportunities. Bank of Ayudhya (Krungsri). https://www.krungsri.com/en/research/research-intelligence/silver-economy</a:t>
            </a:r>
            <a:endParaRPr lang="en-US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Statistical Office of Thailand. (2025). Statistical Yearbook Thailand 2025. https://www.nso.go.th/public/e-book/Statistical-Yearbook/SYB-2025/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2E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7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(2 of 2)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Notestein, F. W. (1945). Population — the long view. In T. W. Schultz (Ed.), Food for the world (pp. 36–57). University of Chicago Press.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Thompson, W. S. (1929). Population. American Journal of Sociology, 34(6), 959–975. https://doi.org/10.1086/214874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Economic and Social Commission for Asia and the Pacific. (2024). Thailand Population and Housing Census 2025 [Conference presentation]. Asia-Pacific Stats Café Series. https://crvs.unescap.org/system/files/sites/default/files/Thailand_presentation.pdf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Nations Population Fund. (2025). Thailand: World population dashboard. https://www.unfpa.org/data/world-population/TH</a:t>
            </a:r>
            <a:endParaRPr lang="en-US" sz="1600" dirty="0"/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Lesthaeghe, R. (2010). The unfolding story of the second demographic transition. Population and Development Review, 36(2), 211–251. </a:t>
            </a: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https://doi.org/10.1111/j.1728-4457.2010.00328.x</a:t>
            </a:r>
            <a:endParaRPr lang="en-US" sz="1600" dirty="0">
              <a:solidFill>
                <a:srgbClr val="1B21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endParaRPr lang="en-US" sz="1600" dirty="0">
              <a:solidFill>
                <a:srgbClr val="1B21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5000"/>
              </a:lnSpc>
              <a:spcAft>
                <a:spcPts val="1100"/>
              </a:spcAft>
              <a:buNone/>
            </a:pP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r>
              <a:rPr lang="en-US" sz="1600" dirty="0" err="1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Maltus’s</a:t>
            </a:r>
            <a:r>
              <a:rPr lang="en-US" sz="1600" dirty="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essay for the </a:t>
            </a:r>
            <a:r>
              <a:rPr lang="en-US" sz="1600">
                <a:solidFill>
                  <a:srgbClr val="1B21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E7D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EXERCISES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4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questions — conceptual &amp; computational — to consolidate Session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721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42900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— Sources of Demographic Data: From Censuses to Digital Trace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4805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5140602 Fundamental Demographic Analysis · College of Population Studies, Chulalongkorn University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4197</Words>
  <Application>Microsoft Office PowerPoint</Application>
  <PresentationFormat>Custom</PresentationFormat>
  <Paragraphs>463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RB</cp:lastModifiedBy>
  <cp:revision>43</cp:revision>
  <dcterms:created xsi:type="dcterms:W3CDTF">2026-08-03T15:43:41Z</dcterms:created>
  <dcterms:modified xsi:type="dcterms:W3CDTF">2026-08-04T04:27:00Z</dcterms:modified>
</cp:coreProperties>
</file>