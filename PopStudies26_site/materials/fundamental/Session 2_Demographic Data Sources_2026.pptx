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2" r:id="rId7"/>
    <p:sldId id="261" r:id="rId8"/>
    <p:sldId id="263" r:id="rId9"/>
    <p:sldId id="264" r:id="rId10"/>
    <p:sldId id="266" r:id="rId11"/>
    <p:sldId id="267" r:id="rId12"/>
    <p:sldId id="268" r:id="rId13"/>
    <p:sldId id="305" r:id="rId14"/>
    <p:sldId id="308" r:id="rId15"/>
    <p:sldId id="304" r:id="rId16"/>
    <p:sldId id="302" r:id="rId17"/>
    <p:sldId id="306" r:id="rId18"/>
    <p:sldId id="309" r:id="rId19"/>
    <p:sldId id="369" r:id="rId20"/>
    <p:sldId id="269" r:id="rId21"/>
    <p:sldId id="270" r:id="rId22"/>
    <p:sldId id="311" r:id="rId23"/>
    <p:sldId id="399" r:id="rId24"/>
    <p:sldId id="303" r:id="rId25"/>
    <p:sldId id="271" r:id="rId26"/>
    <p:sldId id="272" r:id="rId27"/>
    <p:sldId id="273" r:id="rId28"/>
    <p:sldId id="301" r:id="rId29"/>
    <p:sldId id="274" r:id="rId30"/>
    <p:sldId id="275" r:id="rId31"/>
    <p:sldId id="277"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5" r:id="rId48"/>
    <p:sldId id="296" r:id="rId49"/>
    <p:sldId id="298" r:id="rId50"/>
    <p:sldId id="300" r:id="rId5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09" autoAdjust="0"/>
    <p:restoredTop sz="94393" autoAdjust="0"/>
  </p:normalViewPr>
  <p:slideViewPr>
    <p:cSldViewPr snapToGrid="0" snapToObjects="1">
      <p:cViewPr varScale="1">
        <p:scale>
          <a:sx n="115" d="100"/>
          <a:sy n="115"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Annual population growth, 2024 (%)</c:v>
                </c:pt>
              </c:strCache>
            </c:strRef>
          </c:tx>
          <c:spPr>
            <a:solidFill>
              <a:srgbClr val="1C7293"/>
            </a:solidFill>
            <a:effectLst/>
          </c:spPr>
          <c:invertIfNegative val="0"/>
          <c:dLbls>
            <c:numFmt formatCode="0.00&quot;%&quot;" sourceLinked="0"/>
            <c:spPr>
              <a:noFill/>
              <a:ln>
                <a:noFill/>
              </a:ln>
              <a:effectLst/>
            </c:spPr>
            <c:txPr>
              <a:bodyPr/>
              <a:lstStyle/>
              <a:p>
                <a:pPr>
                  <a:defRPr sz="1200" b="0" i="0" u="none" strike="noStrike">
                    <a:solidFill>
                      <a:srgbClr val="1B21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United States</c:v>
                </c:pt>
                <c:pt idx="1">
                  <c:v>Mexico</c:v>
                </c:pt>
              </c:strCache>
            </c:strRef>
          </c:cat>
          <c:val>
            <c:numRef>
              <c:f>Sheet1!$B$2:$B$3</c:f>
              <c:numCache>
                <c:formatCode>General</c:formatCode>
                <c:ptCount val="2"/>
                <c:pt idx="0">
                  <c:v>0.98</c:v>
                </c:pt>
                <c:pt idx="1">
                  <c:v>0.86</c:v>
                </c:pt>
              </c:numCache>
            </c:numRef>
          </c:val>
          <c:extLst>
            <c:ext xmlns:c16="http://schemas.microsoft.com/office/drawing/2014/chart" uri="{C3380CC4-5D6E-409C-BE32-E72D297353CC}">
              <c16:uniqueId val="{00000000-4F27-486E-A21A-CDBEF681DB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1E8"/>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Illustrative update lag (years)</c:v>
                </c:pt>
              </c:strCache>
            </c:strRef>
          </c:tx>
          <c:spPr>
            <a:solidFill>
              <a:srgbClr val="E85C41"/>
            </a:solidFill>
            <a:effectLst/>
          </c:spPr>
          <c:invertIfNegative val="0"/>
          <c:dLbls>
            <c:numFmt formatCode="0" sourceLinked="0"/>
            <c:spPr>
              <a:noFill/>
              <a:ln>
                <a:noFill/>
              </a:ln>
              <a:effectLst/>
            </c:spPr>
            <c:txPr>
              <a:bodyPr/>
              <a:lstStyle/>
              <a:p>
                <a:pPr>
                  <a:defRPr sz="1000" b="0" i="0" u="none" strike="noStrike">
                    <a:solidFill>
                      <a:srgbClr val="1B21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Census</c:v>
                </c:pt>
                <c:pt idx="1">
                  <c:v>CRVS</c:v>
                </c:pt>
                <c:pt idx="2">
                  <c:v>Household survey</c:v>
                </c:pt>
                <c:pt idx="3">
                  <c:v>Mobile/satellite data</c:v>
                </c:pt>
              </c:strCache>
            </c:strRef>
          </c:cat>
          <c:val>
            <c:numRef>
              <c:f>Sheet1!$B$2:$B$5</c:f>
              <c:numCache>
                <c:formatCode>General</c:formatCode>
                <c:ptCount val="4"/>
                <c:pt idx="0">
                  <c:v>10</c:v>
                </c:pt>
                <c:pt idx="1">
                  <c:v>1</c:v>
                </c:pt>
                <c:pt idx="2">
                  <c:v>3</c:v>
                </c:pt>
                <c:pt idx="3">
                  <c:v>0</c:v>
                </c:pt>
              </c:numCache>
            </c:numRef>
          </c:val>
          <c:extLst>
            <c:ext xmlns:c16="http://schemas.microsoft.com/office/drawing/2014/chart" uri="{C3380CC4-5D6E-409C-BE32-E72D297353CC}">
              <c16:uniqueId val="{00000000-C494-4C59-9B08-80DF3A923D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1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A3A9B7-BCD0-4C80-9218-CB5FF55889C1}"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CA4AAD7D-5C3B-4F97-98E3-EE8BAB26C567}">
      <dgm:prSet/>
      <dgm:spPr/>
      <dgm:t>
        <a:bodyPr/>
        <a:lstStyle/>
        <a:p>
          <a:r>
            <a:rPr lang="en-US"/>
            <a:t>Egyptologists estimate that a large-scale census was taken around 2600 BCE (before Common Era) under the reign of Sneferu (Wilkinson, 2000).</a:t>
          </a:r>
        </a:p>
      </dgm:t>
    </dgm:pt>
    <dgm:pt modelId="{1D349CB9-50B3-4D21-A89E-47FA79036321}" type="parTrans" cxnId="{E3A57DD2-3DCA-4940-BF90-C33080EB39D5}">
      <dgm:prSet/>
      <dgm:spPr/>
      <dgm:t>
        <a:bodyPr/>
        <a:lstStyle/>
        <a:p>
          <a:endParaRPr lang="en-US"/>
        </a:p>
      </dgm:t>
    </dgm:pt>
    <dgm:pt modelId="{EF94A529-8365-441B-8FDF-915A2C578FAD}" type="sibTrans" cxnId="{E3A57DD2-3DCA-4940-BF90-C33080EB39D5}">
      <dgm:prSet/>
      <dgm:spPr/>
      <dgm:t>
        <a:bodyPr/>
        <a:lstStyle/>
        <a:p>
          <a:endParaRPr lang="en-US"/>
        </a:p>
      </dgm:t>
    </dgm:pt>
    <dgm:pt modelId="{61141FCF-D380-4870-AC8F-77D711AFE2DD}">
      <dgm:prSet/>
      <dgm:spPr/>
      <dgm:t>
        <a:bodyPr/>
        <a:lstStyle/>
        <a:p>
          <a:r>
            <a:rPr lang="en-US"/>
            <a:t>In the 1800s, the practice of taking population censuses spread through Western countries.</a:t>
          </a:r>
        </a:p>
      </dgm:t>
    </dgm:pt>
    <dgm:pt modelId="{AB8E2CB2-8FCC-44B4-A10D-B4807802D6A5}" type="parTrans" cxnId="{03036262-C214-4BB9-9F31-FBA85F27FA33}">
      <dgm:prSet/>
      <dgm:spPr/>
      <dgm:t>
        <a:bodyPr/>
        <a:lstStyle/>
        <a:p>
          <a:endParaRPr lang="en-US"/>
        </a:p>
      </dgm:t>
    </dgm:pt>
    <dgm:pt modelId="{87B97EF2-131A-4CD1-8AF0-274F21C9233A}" type="sibTrans" cxnId="{03036262-C214-4BB9-9F31-FBA85F27FA33}">
      <dgm:prSet/>
      <dgm:spPr/>
      <dgm:t>
        <a:bodyPr/>
        <a:lstStyle/>
        <a:p>
          <a:endParaRPr lang="en-US"/>
        </a:p>
      </dgm:t>
    </dgm:pt>
    <dgm:pt modelId="{7DC4300C-0DAB-45BE-A669-BC54BB162CCF}">
      <dgm:prSet/>
      <dgm:spPr/>
      <dgm:t>
        <a:bodyPr/>
        <a:lstStyle/>
        <a:p>
          <a:r>
            <a:rPr lang="en-US"/>
            <a:t>After a post–World War II phenomenon – population census has been promoted by the UN.</a:t>
          </a:r>
        </a:p>
      </dgm:t>
    </dgm:pt>
    <dgm:pt modelId="{A15B6879-D9D7-451F-ACF6-48B79053157A}" type="parTrans" cxnId="{2A229197-752D-4711-9526-4E3558205777}">
      <dgm:prSet/>
      <dgm:spPr/>
      <dgm:t>
        <a:bodyPr/>
        <a:lstStyle/>
        <a:p>
          <a:endParaRPr lang="en-US"/>
        </a:p>
      </dgm:t>
    </dgm:pt>
    <dgm:pt modelId="{426DC07A-84D0-4219-B246-E857A95DDAD8}" type="sibTrans" cxnId="{2A229197-752D-4711-9526-4E3558205777}">
      <dgm:prSet/>
      <dgm:spPr/>
      <dgm:t>
        <a:bodyPr/>
        <a:lstStyle/>
        <a:p>
          <a:endParaRPr lang="en-US"/>
        </a:p>
      </dgm:t>
    </dgm:pt>
    <dgm:pt modelId="{41F69DBE-F3B3-40C1-8D4E-D070D78DE8E3}" type="pres">
      <dgm:prSet presAssocID="{91A3A9B7-BCD0-4C80-9218-CB5FF55889C1}" presName="outerComposite" presStyleCnt="0">
        <dgm:presLayoutVars>
          <dgm:chMax val="5"/>
          <dgm:dir/>
          <dgm:resizeHandles val="exact"/>
        </dgm:presLayoutVars>
      </dgm:prSet>
      <dgm:spPr/>
    </dgm:pt>
    <dgm:pt modelId="{71B94D75-FD3C-4BAE-B753-10B90DEB581E}" type="pres">
      <dgm:prSet presAssocID="{91A3A9B7-BCD0-4C80-9218-CB5FF55889C1}" presName="dummyMaxCanvas" presStyleCnt="0">
        <dgm:presLayoutVars/>
      </dgm:prSet>
      <dgm:spPr/>
    </dgm:pt>
    <dgm:pt modelId="{40884B4D-F841-4719-A51A-4CD11CE747BA}" type="pres">
      <dgm:prSet presAssocID="{91A3A9B7-BCD0-4C80-9218-CB5FF55889C1}" presName="ThreeNodes_1" presStyleLbl="node1" presStyleIdx="0" presStyleCnt="3">
        <dgm:presLayoutVars>
          <dgm:bulletEnabled val="1"/>
        </dgm:presLayoutVars>
      </dgm:prSet>
      <dgm:spPr/>
    </dgm:pt>
    <dgm:pt modelId="{685589F6-6F7E-46B2-9231-5915C653B2E1}" type="pres">
      <dgm:prSet presAssocID="{91A3A9B7-BCD0-4C80-9218-CB5FF55889C1}" presName="ThreeNodes_2" presStyleLbl="node1" presStyleIdx="1" presStyleCnt="3">
        <dgm:presLayoutVars>
          <dgm:bulletEnabled val="1"/>
        </dgm:presLayoutVars>
      </dgm:prSet>
      <dgm:spPr/>
    </dgm:pt>
    <dgm:pt modelId="{6A322D50-5323-4140-BFA6-7ED8E551E67C}" type="pres">
      <dgm:prSet presAssocID="{91A3A9B7-BCD0-4C80-9218-CB5FF55889C1}" presName="ThreeNodes_3" presStyleLbl="node1" presStyleIdx="2" presStyleCnt="3">
        <dgm:presLayoutVars>
          <dgm:bulletEnabled val="1"/>
        </dgm:presLayoutVars>
      </dgm:prSet>
      <dgm:spPr/>
    </dgm:pt>
    <dgm:pt modelId="{E872AA54-46FC-4E05-92AC-C4CE28E27D52}" type="pres">
      <dgm:prSet presAssocID="{91A3A9B7-BCD0-4C80-9218-CB5FF55889C1}" presName="ThreeConn_1-2" presStyleLbl="fgAccFollowNode1" presStyleIdx="0" presStyleCnt="2">
        <dgm:presLayoutVars>
          <dgm:bulletEnabled val="1"/>
        </dgm:presLayoutVars>
      </dgm:prSet>
      <dgm:spPr/>
    </dgm:pt>
    <dgm:pt modelId="{295B414B-62A2-4034-B705-60DC6B83EFC8}" type="pres">
      <dgm:prSet presAssocID="{91A3A9B7-BCD0-4C80-9218-CB5FF55889C1}" presName="ThreeConn_2-3" presStyleLbl="fgAccFollowNode1" presStyleIdx="1" presStyleCnt="2">
        <dgm:presLayoutVars>
          <dgm:bulletEnabled val="1"/>
        </dgm:presLayoutVars>
      </dgm:prSet>
      <dgm:spPr/>
    </dgm:pt>
    <dgm:pt modelId="{FEAA2F4D-CB0D-4BC4-A8E9-7A4DEFB3B28C}" type="pres">
      <dgm:prSet presAssocID="{91A3A9B7-BCD0-4C80-9218-CB5FF55889C1}" presName="ThreeNodes_1_text" presStyleLbl="node1" presStyleIdx="2" presStyleCnt="3">
        <dgm:presLayoutVars>
          <dgm:bulletEnabled val="1"/>
        </dgm:presLayoutVars>
      </dgm:prSet>
      <dgm:spPr/>
    </dgm:pt>
    <dgm:pt modelId="{885C534D-6CF8-410A-99CF-D83FA89320BB}" type="pres">
      <dgm:prSet presAssocID="{91A3A9B7-BCD0-4C80-9218-CB5FF55889C1}" presName="ThreeNodes_2_text" presStyleLbl="node1" presStyleIdx="2" presStyleCnt="3">
        <dgm:presLayoutVars>
          <dgm:bulletEnabled val="1"/>
        </dgm:presLayoutVars>
      </dgm:prSet>
      <dgm:spPr/>
    </dgm:pt>
    <dgm:pt modelId="{49D88150-AA06-4AE2-AA8B-C3EF59B66666}" type="pres">
      <dgm:prSet presAssocID="{91A3A9B7-BCD0-4C80-9218-CB5FF55889C1}" presName="ThreeNodes_3_text" presStyleLbl="node1" presStyleIdx="2" presStyleCnt="3">
        <dgm:presLayoutVars>
          <dgm:bulletEnabled val="1"/>
        </dgm:presLayoutVars>
      </dgm:prSet>
      <dgm:spPr/>
    </dgm:pt>
  </dgm:ptLst>
  <dgm:cxnLst>
    <dgm:cxn modelId="{8D462906-EBCE-4A1C-AAC3-388530EB0505}" type="presOf" srcId="{EF94A529-8365-441B-8FDF-915A2C578FAD}" destId="{E872AA54-46FC-4E05-92AC-C4CE28E27D52}" srcOrd="0" destOrd="0" presId="urn:microsoft.com/office/officeart/2005/8/layout/vProcess5"/>
    <dgm:cxn modelId="{03036262-C214-4BB9-9F31-FBA85F27FA33}" srcId="{91A3A9B7-BCD0-4C80-9218-CB5FF55889C1}" destId="{61141FCF-D380-4870-AC8F-77D711AFE2DD}" srcOrd="1" destOrd="0" parTransId="{AB8E2CB2-8FCC-44B4-A10D-B4807802D6A5}" sibTransId="{87B97EF2-131A-4CD1-8AF0-274F21C9233A}"/>
    <dgm:cxn modelId="{C5880565-5117-40C5-A382-C4A874E23CD9}" type="presOf" srcId="{7DC4300C-0DAB-45BE-A669-BC54BB162CCF}" destId="{6A322D50-5323-4140-BFA6-7ED8E551E67C}" srcOrd="0" destOrd="0" presId="urn:microsoft.com/office/officeart/2005/8/layout/vProcess5"/>
    <dgm:cxn modelId="{5E6FA649-97AE-4637-A55D-6910730981AA}" type="presOf" srcId="{61141FCF-D380-4870-AC8F-77D711AFE2DD}" destId="{885C534D-6CF8-410A-99CF-D83FA89320BB}" srcOrd="1" destOrd="0" presId="urn:microsoft.com/office/officeart/2005/8/layout/vProcess5"/>
    <dgm:cxn modelId="{8B91A495-A317-4655-AC08-9EB4124D88C8}" type="presOf" srcId="{CA4AAD7D-5C3B-4F97-98E3-EE8BAB26C567}" destId="{40884B4D-F841-4719-A51A-4CD11CE747BA}" srcOrd="0" destOrd="0" presId="urn:microsoft.com/office/officeart/2005/8/layout/vProcess5"/>
    <dgm:cxn modelId="{2A229197-752D-4711-9526-4E3558205777}" srcId="{91A3A9B7-BCD0-4C80-9218-CB5FF55889C1}" destId="{7DC4300C-0DAB-45BE-A669-BC54BB162CCF}" srcOrd="2" destOrd="0" parTransId="{A15B6879-D9D7-451F-ACF6-48B79053157A}" sibTransId="{426DC07A-84D0-4219-B246-E857A95DDAD8}"/>
    <dgm:cxn modelId="{E3A57DD2-3DCA-4940-BF90-C33080EB39D5}" srcId="{91A3A9B7-BCD0-4C80-9218-CB5FF55889C1}" destId="{CA4AAD7D-5C3B-4F97-98E3-EE8BAB26C567}" srcOrd="0" destOrd="0" parTransId="{1D349CB9-50B3-4D21-A89E-47FA79036321}" sibTransId="{EF94A529-8365-441B-8FDF-915A2C578FAD}"/>
    <dgm:cxn modelId="{A30674D3-4D6F-48E7-839C-C1B481789B21}" type="presOf" srcId="{91A3A9B7-BCD0-4C80-9218-CB5FF55889C1}" destId="{41F69DBE-F3B3-40C1-8D4E-D070D78DE8E3}" srcOrd="0" destOrd="0" presId="urn:microsoft.com/office/officeart/2005/8/layout/vProcess5"/>
    <dgm:cxn modelId="{2AC4B4E3-FAB1-4208-AFCD-46E6694B9B8E}" type="presOf" srcId="{61141FCF-D380-4870-AC8F-77D711AFE2DD}" destId="{685589F6-6F7E-46B2-9231-5915C653B2E1}" srcOrd="0" destOrd="0" presId="urn:microsoft.com/office/officeart/2005/8/layout/vProcess5"/>
    <dgm:cxn modelId="{448034E7-AE36-4FC1-9538-906DB5574FEE}" type="presOf" srcId="{87B97EF2-131A-4CD1-8AF0-274F21C9233A}" destId="{295B414B-62A2-4034-B705-60DC6B83EFC8}" srcOrd="0" destOrd="0" presId="urn:microsoft.com/office/officeart/2005/8/layout/vProcess5"/>
    <dgm:cxn modelId="{058949F1-B1E3-47E0-AD9C-191A713C3E83}" type="presOf" srcId="{CA4AAD7D-5C3B-4F97-98E3-EE8BAB26C567}" destId="{FEAA2F4D-CB0D-4BC4-A8E9-7A4DEFB3B28C}" srcOrd="1" destOrd="0" presId="urn:microsoft.com/office/officeart/2005/8/layout/vProcess5"/>
    <dgm:cxn modelId="{03CB68F6-4EDF-4062-85D4-F1B13283A3AB}" type="presOf" srcId="{7DC4300C-0DAB-45BE-A669-BC54BB162CCF}" destId="{49D88150-AA06-4AE2-AA8B-C3EF59B66666}" srcOrd="1" destOrd="0" presId="urn:microsoft.com/office/officeart/2005/8/layout/vProcess5"/>
    <dgm:cxn modelId="{2BEBA2F2-883B-49CE-924D-7B38F1F85BE6}" type="presParOf" srcId="{41F69DBE-F3B3-40C1-8D4E-D070D78DE8E3}" destId="{71B94D75-FD3C-4BAE-B753-10B90DEB581E}" srcOrd="0" destOrd="0" presId="urn:microsoft.com/office/officeart/2005/8/layout/vProcess5"/>
    <dgm:cxn modelId="{38BF805E-223C-458F-A4EE-8002AE046141}" type="presParOf" srcId="{41F69DBE-F3B3-40C1-8D4E-D070D78DE8E3}" destId="{40884B4D-F841-4719-A51A-4CD11CE747BA}" srcOrd="1" destOrd="0" presId="urn:microsoft.com/office/officeart/2005/8/layout/vProcess5"/>
    <dgm:cxn modelId="{1D2C3F68-570B-4B66-9F11-F42F2EF0554F}" type="presParOf" srcId="{41F69DBE-F3B3-40C1-8D4E-D070D78DE8E3}" destId="{685589F6-6F7E-46B2-9231-5915C653B2E1}" srcOrd="2" destOrd="0" presId="urn:microsoft.com/office/officeart/2005/8/layout/vProcess5"/>
    <dgm:cxn modelId="{9A99E453-BCD4-4AE9-BEDE-4AB7BF0A78E9}" type="presParOf" srcId="{41F69DBE-F3B3-40C1-8D4E-D070D78DE8E3}" destId="{6A322D50-5323-4140-BFA6-7ED8E551E67C}" srcOrd="3" destOrd="0" presId="urn:microsoft.com/office/officeart/2005/8/layout/vProcess5"/>
    <dgm:cxn modelId="{18849E63-8617-40BB-ADA5-C8ADC33A2F04}" type="presParOf" srcId="{41F69DBE-F3B3-40C1-8D4E-D070D78DE8E3}" destId="{E872AA54-46FC-4E05-92AC-C4CE28E27D52}" srcOrd="4" destOrd="0" presId="urn:microsoft.com/office/officeart/2005/8/layout/vProcess5"/>
    <dgm:cxn modelId="{2F760DBD-29E7-45ED-9F7B-ABC3E730A944}" type="presParOf" srcId="{41F69DBE-F3B3-40C1-8D4E-D070D78DE8E3}" destId="{295B414B-62A2-4034-B705-60DC6B83EFC8}" srcOrd="5" destOrd="0" presId="urn:microsoft.com/office/officeart/2005/8/layout/vProcess5"/>
    <dgm:cxn modelId="{7C2C388E-9FE3-4CAC-BF1C-7E1F9EB71F8A}" type="presParOf" srcId="{41F69DBE-F3B3-40C1-8D4E-D070D78DE8E3}" destId="{FEAA2F4D-CB0D-4BC4-A8E9-7A4DEFB3B28C}" srcOrd="6" destOrd="0" presId="urn:microsoft.com/office/officeart/2005/8/layout/vProcess5"/>
    <dgm:cxn modelId="{D902A5FB-267C-477E-9FEE-BA714B1EE027}" type="presParOf" srcId="{41F69DBE-F3B3-40C1-8D4E-D070D78DE8E3}" destId="{885C534D-6CF8-410A-99CF-D83FA89320BB}" srcOrd="7" destOrd="0" presId="urn:microsoft.com/office/officeart/2005/8/layout/vProcess5"/>
    <dgm:cxn modelId="{DCCD9B6C-FA6C-4837-82FD-449F986067EB}" type="presParOf" srcId="{41F69DBE-F3B3-40C1-8D4E-D070D78DE8E3}" destId="{49D88150-AA06-4AE2-AA8B-C3EF59B66666}"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884B4D-F841-4719-A51A-4CD11CE747BA}">
      <dsp:nvSpPr>
        <dsp:cNvPr id="0" name=""/>
        <dsp:cNvSpPr/>
      </dsp:nvSpPr>
      <dsp:spPr>
        <a:xfrm>
          <a:off x="0" y="0"/>
          <a:ext cx="4472495" cy="12904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Egyptologists estimate that a large-scale census was taken around 2600 BCE (before Common Era) under the reign of Sneferu (Wilkinson, 2000).</a:t>
          </a:r>
        </a:p>
      </dsp:txBody>
      <dsp:txXfrm>
        <a:off x="37797" y="37797"/>
        <a:ext cx="3079963" cy="1214888"/>
      </dsp:txXfrm>
    </dsp:sp>
    <dsp:sp modelId="{685589F6-6F7E-46B2-9231-5915C653B2E1}">
      <dsp:nvSpPr>
        <dsp:cNvPr id="0" name=""/>
        <dsp:cNvSpPr/>
      </dsp:nvSpPr>
      <dsp:spPr>
        <a:xfrm>
          <a:off x="394631" y="1505562"/>
          <a:ext cx="4472495" cy="12904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In the 1800s, the practice of taking population censuses spread through Western countries.</a:t>
          </a:r>
        </a:p>
      </dsp:txBody>
      <dsp:txXfrm>
        <a:off x="432428" y="1543359"/>
        <a:ext cx="3163455" cy="1214888"/>
      </dsp:txXfrm>
    </dsp:sp>
    <dsp:sp modelId="{6A322D50-5323-4140-BFA6-7ED8E551E67C}">
      <dsp:nvSpPr>
        <dsp:cNvPr id="0" name=""/>
        <dsp:cNvSpPr/>
      </dsp:nvSpPr>
      <dsp:spPr>
        <a:xfrm>
          <a:off x="789263" y="3011125"/>
          <a:ext cx="4472495" cy="12904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After a post–World War II phenomenon – population census has been promoted by the UN.</a:t>
          </a:r>
        </a:p>
      </dsp:txBody>
      <dsp:txXfrm>
        <a:off x="827060" y="3048922"/>
        <a:ext cx="3163455" cy="1214888"/>
      </dsp:txXfrm>
    </dsp:sp>
    <dsp:sp modelId="{E872AA54-46FC-4E05-92AC-C4CE28E27D52}">
      <dsp:nvSpPr>
        <dsp:cNvPr id="0" name=""/>
        <dsp:cNvSpPr/>
      </dsp:nvSpPr>
      <dsp:spPr>
        <a:xfrm>
          <a:off x="3633681" y="978615"/>
          <a:ext cx="838813" cy="83881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22414" y="978615"/>
        <a:ext cx="461347" cy="631207"/>
      </dsp:txXfrm>
    </dsp:sp>
    <dsp:sp modelId="{295B414B-62A2-4034-B705-60DC6B83EFC8}">
      <dsp:nvSpPr>
        <dsp:cNvPr id="0" name=""/>
        <dsp:cNvSpPr/>
      </dsp:nvSpPr>
      <dsp:spPr>
        <a:xfrm>
          <a:off x="4028313" y="2475575"/>
          <a:ext cx="838813" cy="83881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17046" y="2475575"/>
        <a:ext cx="461347" cy="63120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05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Join Zoom Meetinghttps://chula.zoom.us/j/97199430458?pwd=MqWcROszPkaixVZDlTjBE99X9ettaY.1Meeting ID: 971 9943 0458Password: 715492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508,500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4,000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32,000</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P2​=P1​ern P2​=130e(0.0086)(10)=130e0.086≈130(1.0898)≈141.7 million</a:t>
            </a:r>
            <a:br>
              <a:rPr lang="en-US" dirty="0"/>
            </a:br>
            <a:br>
              <a:rPr lang="en-US" dirty="0"/>
            </a:br>
            <a:r>
              <a:rPr lang="en-US" dirty="0"/>
              <a:t>If Thailand’s annual population growth rate is changed to </a:t>
            </a:r>
            <a:r>
              <a:rPr lang="en-US" b="1" dirty="0"/>
              <a:t>−0.5%</a:t>
            </a:r>
            <a:r>
              <a:rPr lang="en-US" dirty="0"/>
              <a:t>, then r=−0.005:</a:t>
            </a:r>
          </a:p>
          <a:p>
            <a:r>
              <a:rPr lang="en-US" dirty="0"/>
              <a:t>0.5P1​=P1​e−0.005n n=−0.005ln(0.5)​≈138.6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13CFA5-ADAD-456F-8D39-1F8A798C7258}" type="slidenum">
              <a:rPr lang="en-US" smtClean="0"/>
              <a:t>19</a:t>
            </a:fld>
            <a:endParaRPr lang="en-US"/>
          </a:p>
        </p:txBody>
      </p:sp>
    </p:spTree>
    <p:extLst>
      <p:ext uri="{BB962C8B-B14F-4D97-AF65-F5344CB8AC3E}">
        <p14:creationId xmlns:p14="http://schemas.microsoft.com/office/powerpoint/2010/main" val="2177920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599"/>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25203-1996-4679-B77B-5226470C3866}"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649F4C-5D98-40BB-B0D2-22A9799930F0}" type="slidenum">
              <a:rPr lang="en-US" smtClean="0"/>
              <a:t>‹#›</a:t>
            </a:fld>
            <a:endParaRPr lang="en-US"/>
          </a:p>
        </p:txBody>
      </p:sp>
    </p:spTree>
    <p:extLst>
      <p:ext uri="{BB962C8B-B14F-4D97-AF65-F5344CB8AC3E}">
        <p14:creationId xmlns:p14="http://schemas.microsoft.com/office/powerpoint/2010/main" val="11819046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2.jpe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unstats.un.org/unsd/demographic/sources/census/quest/THA2010en.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nso.go.th/sites/2014en/Pages/popeng/2010/mainpop.aspx"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unstats.un.org/unsd/demographic-social/census/document-resources/" TargetMode="External"/><Relationship Id="rId2" Type="http://schemas.openxmlformats.org/officeDocument/2006/relationships/hyperlink" Target="https://unstats.un.org/unsd/demographic/sources/census/censusquest.htm#T"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census.gov/library/stories/2022/05/2020-census-undercount-overcount-rates-by-state.html#:~:text=If%20an%20estimated%20net%20coverage,error%20or%20more%20than%20once" TargetMode="External"/><Relationship Id="rId2" Type="http://schemas.openxmlformats.org/officeDocument/2006/relationships/hyperlink" Target="https://www.census.gov/newsroom/press-releases/2022/2020-census-estimates-of-undercount-and-overcount.html" TargetMode="Externa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doi.org/10.1186/s40878-018-0076-4"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3.png"/><Relationship Id="rId7"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C"/>
        </a:solidFill>
        <a:effectLst/>
      </p:bgPr>
    </p:bg>
    <p:spTree>
      <p:nvGrpSpPr>
        <p:cNvPr id="1" name=""/>
        <p:cNvGrpSpPr/>
        <p:nvPr/>
      </p:nvGrpSpPr>
      <p:grpSpPr>
        <a:xfrm>
          <a:off x="0" y="0"/>
          <a:ext cx="0" cy="0"/>
          <a:chOff x="0" y="0"/>
          <a:chExt cx="0" cy="0"/>
        </a:xfrm>
      </p:grpSpPr>
      <p:sp>
        <p:nvSpPr>
          <p:cNvPr id="2" name="Shape 0"/>
          <p:cNvSpPr/>
          <p:nvPr/>
        </p:nvSpPr>
        <p:spPr>
          <a:xfrm>
            <a:off x="9692640" y="548640"/>
            <a:ext cx="128016" cy="128016"/>
          </a:xfrm>
          <a:prstGeom prst="ellipse">
            <a:avLst/>
          </a:prstGeom>
          <a:solidFill>
            <a:srgbClr val="E85C41"/>
          </a:solidFill>
          <a:ln/>
        </p:spPr>
      </p:sp>
      <p:sp>
        <p:nvSpPr>
          <p:cNvPr id="3" name="Shape 1"/>
          <p:cNvSpPr/>
          <p:nvPr/>
        </p:nvSpPr>
        <p:spPr>
          <a:xfrm>
            <a:off x="10469880" y="548640"/>
            <a:ext cx="128016" cy="128016"/>
          </a:xfrm>
          <a:prstGeom prst="ellipse">
            <a:avLst/>
          </a:prstGeom>
          <a:solidFill>
            <a:srgbClr val="E85C41">
              <a:alpha val="92000"/>
            </a:srgbClr>
          </a:solidFill>
          <a:ln/>
        </p:spPr>
      </p:sp>
      <p:sp>
        <p:nvSpPr>
          <p:cNvPr id="4" name="Shape 2"/>
          <p:cNvSpPr/>
          <p:nvPr/>
        </p:nvSpPr>
        <p:spPr>
          <a:xfrm>
            <a:off x="11247120" y="548640"/>
            <a:ext cx="128016" cy="128016"/>
          </a:xfrm>
          <a:prstGeom prst="ellipse">
            <a:avLst/>
          </a:prstGeom>
          <a:solidFill>
            <a:srgbClr val="E85C41">
              <a:alpha val="84000"/>
            </a:srgbClr>
          </a:solidFill>
          <a:ln/>
        </p:spPr>
      </p:sp>
      <p:sp>
        <p:nvSpPr>
          <p:cNvPr id="5" name="Shape 3"/>
          <p:cNvSpPr/>
          <p:nvPr/>
        </p:nvSpPr>
        <p:spPr>
          <a:xfrm>
            <a:off x="9692640" y="1325880"/>
            <a:ext cx="128016" cy="128016"/>
          </a:xfrm>
          <a:prstGeom prst="ellipse">
            <a:avLst/>
          </a:prstGeom>
          <a:solidFill>
            <a:srgbClr val="E85C41">
              <a:alpha val="76000"/>
            </a:srgbClr>
          </a:solidFill>
          <a:ln/>
        </p:spPr>
      </p:sp>
      <p:sp>
        <p:nvSpPr>
          <p:cNvPr id="6" name="Shape 4"/>
          <p:cNvSpPr/>
          <p:nvPr/>
        </p:nvSpPr>
        <p:spPr>
          <a:xfrm>
            <a:off x="10469880" y="1325880"/>
            <a:ext cx="128016" cy="128016"/>
          </a:xfrm>
          <a:prstGeom prst="ellipse">
            <a:avLst/>
          </a:prstGeom>
          <a:solidFill>
            <a:srgbClr val="E85C41">
              <a:alpha val="68000"/>
            </a:srgbClr>
          </a:solidFill>
          <a:ln/>
        </p:spPr>
      </p:sp>
      <p:sp>
        <p:nvSpPr>
          <p:cNvPr id="7" name="Shape 5"/>
          <p:cNvSpPr/>
          <p:nvPr/>
        </p:nvSpPr>
        <p:spPr>
          <a:xfrm>
            <a:off x="11247120" y="1325880"/>
            <a:ext cx="128016" cy="128016"/>
          </a:xfrm>
          <a:prstGeom prst="ellipse">
            <a:avLst/>
          </a:prstGeom>
          <a:solidFill>
            <a:srgbClr val="E85C41">
              <a:alpha val="60000"/>
            </a:srgbClr>
          </a:solidFill>
          <a:ln/>
        </p:spPr>
      </p:sp>
      <p:sp>
        <p:nvSpPr>
          <p:cNvPr id="8" name="Text 6"/>
          <p:cNvSpPr/>
          <p:nvPr/>
        </p:nvSpPr>
        <p:spPr>
          <a:xfrm>
            <a:off x="731520" y="1371600"/>
            <a:ext cx="10058400" cy="365760"/>
          </a:xfrm>
          <a:prstGeom prst="rect">
            <a:avLst/>
          </a:prstGeom>
          <a:noFill/>
          <a:ln/>
        </p:spPr>
        <p:txBody>
          <a:bodyPr wrap="square" lIns="0" tIns="0" rIns="0" bIns="0" rtlCol="0" anchor="ctr"/>
          <a:lstStyle/>
          <a:p>
            <a:pPr marL="0" indent="0">
              <a:buNone/>
            </a:pPr>
            <a:r>
              <a:rPr lang="en-US" sz="1300" b="1" kern="0" spc="200" dirty="0">
                <a:solidFill>
                  <a:srgbClr val="E85C41"/>
                </a:solidFill>
                <a:latin typeface="Calibri" pitchFamily="34" charset="0"/>
                <a:ea typeface="Calibri" pitchFamily="34" charset="-122"/>
                <a:cs typeface="Calibri" pitchFamily="34" charset="-120"/>
              </a:rPr>
              <a:t>COLLEGE OF POPULATION STUDIES · CHULALONGKORN UNIVERSITY</a:t>
            </a:r>
            <a:endParaRPr lang="en-US" sz="1300" dirty="0"/>
          </a:p>
        </p:txBody>
      </p:sp>
      <p:sp>
        <p:nvSpPr>
          <p:cNvPr id="9" name="Text 7"/>
          <p:cNvSpPr/>
          <p:nvPr/>
        </p:nvSpPr>
        <p:spPr>
          <a:xfrm>
            <a:off x="731520" y="1828800"/>
            <a:ext cx="10515600" cy="164592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Population Growth and Sources of Demographic Data</a:t>
            </a:r>
            <a:endParaRPr lang="en-US" sz="4400" dirty="0"/>
          </a:p>
        </p:txBody>
      </p:sp>
      <p:sp>
        <p:nvSpPr>
          <p:cNvPr id="10" name="Text 8"/>
          <p:cNvSpPr/>
          <p:nvPr/>
        </p:nvSpPr>
        <p:spPr>
          <a:xfrm>
            <a:off x="731520" y="3429000"/>
            <a:ext cx="10058400" cy="82296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Session 2 · From Censuses to Digital Trace Data</a:t>
            </a:r>
            <a:endParaRPr lang="en-US" sz="2000" dirty="0"/>
          </a:p>
        </p:txBody>
      </p:sp>
      <p:sp>
        <p:nvSpPr>
          <p:cNvPr id="11" name="Text 9"/>
          <p:cNvSpPr/>
          <p:nvPr/>
        </p:nvSpPr>
        <p:spPr>
          <a:xfrm>
            <a:off x="731520" y="4663440"/>
            <a:ext cx="10058400" cy="1280160"/>
          </a:xfrm>
          <a:prstGeom prst="rect">
            <a:avLst/>
          </a:prstGeom>
          <a:noFill/>
          <a:ln/>
        </p:spPr>
        <p:txBody>
          <a:bodyPr wrap="square" lIns="0" tIns="0" rIns="0" bIns="0" rtlCol="0" anchor="ctr"/>
          <a:lstStyle/>
          <a:p>
            <a:pPr marL="0" indent="0">
              <a:lnSpc>
                <a:spcPct val="130000"/>
              </a:lnSpc>
              <a:buNone/>
            </a:pPr>
            <a:r>
              <a:rPr lang="en-US" sz="1400" dirty="0">
                <a:solidFill>
                  <a:srgbClr val="B8C2D4"/>
                </a:solidFill>
                <a:latin typeface="Calibri" pitchFamily="34" charset="0"/>
                <a:ea typeface="Calibri" pitchFamily="34" charset="-122"/>
                <a:cs typeface="Calibri" pitchFamily="34" charset="-120"/>
              </a:rPr>
              <a:t>Course 5140602 · Fundamental Demographic Analysis (Revised 2026 Syllabus)</a:t>
            </a:r>
            <a:endParaRPr lang="en-US" sz="1400" dirty="0"/>
          </a:p>
          <a:p>
            <a:pPr marL="0" indent="0">
              <a:lnSpc>
                <a:spcPct val="130000"/>
              </a:lnSpc>
              <a:buNone/>
            </a:pPr>
            <a:r>
              <a:rPr lang="en-US" sz="1400" dirty="0">
                <a:solidFill>
                  <a:srgbClr val="B8C2D4"/>
                </a:solidFill>
                <a:latin typeface="Calibri" pitchFamily="34" charset="0"/>
                <a:ea typeface="Calibri" pitchFamily="34" charset="-122"/>
                <a:cs typeface="Calibri" pitchFamily="34" charset="-120"/>
              </a:rPr>
              <a:t>Asst. Prof. Dr. Ruttiya Bhula-or</a:t>
            </a:r>
            <a:endParaRPr lang="en-US" sz="1400" dirty="0"/>
          </a:p>
          <a:p>
            <a:pPr marL="0" indent="0">
              <a:lnSpc>
                <a:spcPct val="130000"/>
              </a:lnSpc>
              <a:buNone/>
            </a:pPr>
            <a:r>
              <a:rPr lang="en-US" sz="1400" dirty="0">
                <a:solidFill>
                  <a:srgbClr val="B8C2D4"/>
                </a:solidFill>
                <a:latin typeface="Calibri" pitchFamily="34" charset="0"/>
                <a:ea typeface="Calibri" pitchFamily="34" charset="-122"/>
                <a:cs typeface="Calibri" pitchFamily="34" charset="-120"/>
              </a:rPr>
              <a:t>College of Population Studies, Chulalongkorn University</a:t>
            </a:r>
            <a:endParaRPr lang="en-US" sz="1400" dirty="0"/>
          </a:p>
          <a:p>
            <a:pPr marL="0" indent="0">
              <a:lnSpc>
                <a:spcPct val="130000"/>
              </a:lnSpc>
              <a:buNone/>
            </a:pPr>
            <a:r>
              <a:rPr lang="en-US" sz="1400" dirty="0">
                <a:solidFill>
                  <a:srgbClr val="B8C2D4"/>
                </a:solidFill>
                <a:latin typeface="Calibri" pitchFamily="34" charset="0"/>
                <a:ea typeface="Calibri" pitchFamily="34" charset="-122"/>
                <a:cs typeface="Calibri" pitchFamily="34" charset="-120"/>
              </a:rPr>
              <a:t>3-hour session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RECAP</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From Session 1: The Toolkit We Bring Today</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We defined demography and its two branches (formal demography and population studies)</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We practiced counts, proportions, ratios, and rates — the building blocks of every indicator</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We situated demography in a data landscape that spans official statistics and emerging digital sources</a:t>
            </a:r>
          </a:p>
          <a:p>
            <a:pPr marL="342900" indent="-342900">
              <a:lnSpc>
                <a:spcPct val="115000"/>
              </a:lnSpc>
              <a:spcAft>
                <a:spcPts val="1200"/>
              </a:spcAft>
              <a:buSzPct val="100000"/>
              <a:buChar char="–"/>
            </a:pPr>
            <a:r>
              <a:rPr lang="en-US" sz="2000" b="1" dirty="0">
                <a:solidFill>
                  <a:srgbClr val="1B2130"/>
                </a:solidFill>
                <a:latin typeface="Calibri" pitchFamily="34" charset="0"/>
                <a:ea typeface="Calibri" pitchFamily="34" charset="-122"/>
                <a:cs typeface="Calibri" pitchFamily="34" charset="-120"/>
              </a:rPr>
              <a:t>Today we ask: Population growth rate, where do all these numbers actually come from — and how much should we trust them?</a:t>
            </a:r>
            <a:endParaRPr lang="en-US" sz="20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105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105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LEARNING OBJECTIVES</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200" b="1" dirty="0">
                <a:solidFill>
                  <a:srgbClr val="0B3D4C"/>
                </a:solidFill>
                <a:latin typeface="Cambria" pitchFamily="34" charset="0"/>
                <a:ea typeface="Cambria" pitchFamily="34" charset="-122"/>
                <a:cs typeface="Cambria" pitchFamily="34" charset="-120"/>
              </a:rPr>
              <a:t>By the End of This Session, You Will Be Able To…</a:t>
            </a:r>
            <a:endParaRPr lang="en-US" sz="32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737360"/>
            <a:ext cx="566928" cy="566928"/>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694944" y="1883664"/>
            <a:ext cx="274320" cy="274320"/>
          </a:xfrm>
          <a:prstGeom prst="rect">
            <a:avLst/>
          </a:prstGeom>
        </p:spPr>
      </p:pic>
      <p:sp>
        <p:nvSpPr>
          <p:cNvPr id="8" name="Text 4"/>
          <p:cNvSpPr/>
          <p:nvPr/>
        </p:nvSpPr>
        <p:spPr>
          <a:xfrm>
            <a:off x="1325880" y="1673352"/>
            <a:ext cx="2926080" cy="896112"/>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Apply the balancing equation</a:t>
            </a:r>
            <a:endParaRPr lang="en-US" dirty="0"/>
          </a:p>
        </p:txBody>
      </p:sp>
      <p:sp>
        <p:nvSpPr>
          <p:cNvPr id="9" name="Text 5"/>
          <p:cNvSpPr/>
          <p:nvPr/>
        </p:nvSpPr>
        <p:spPr>
          <a:xfrm>
            <a:off x="4389120" y="1673352"/>
            <a:ext cx="7223760" cy="896112"/>
          </a:xfrm>
          <a:prstGeom prst="rect">
            <a:avLst/>
          </a:prstGeom>
          <a:noFill/>
          <a:ln/>
        </p:spPr>
        <p:txBody>
          <a:bodyPr wrap="square" lIns="0" tIns="0" rIns="0" bIns="0" rtlCol="0" anchor="ctr"/>
          <a:lstStyle/>
          <a:p>
            <a:pPr marL="0" indent="0">
              <a:lnSpc>
                <a:spcPct val="115000"/>
              </a:lnSpc>
              <a:buNone/>
            </a:pPr>
            <a:r>
              <a:rPr lang="en-US" sz="1600" dirty="0">
                <a:solidFill>
                  <a:srgbClr val="1B2130"/>
                </a:solidFill>
                <a:latin typeface="Calibri" pitchFamily="34" charset="0"/>
                <a:ea typeface="Calibri" pitchFamily="34" charset="-122"/>
                <a:cs typeface="Calibri" pitchFamily="34" charset="-120"/>
              </a:rPr>
              <a:t>Decompose population change into births, deaths, and migration</a:t>
            </a:r>
            <a:endParaRPr lang="en-US" sz="1600" dirty="0"/>
          </a:p>
        </p:txBody>
      </p:sp>
      <p:sp>
        <p:nvSpPr>
          <p:cNvPr id="10" name="Shape 6"/>
          <p:cNvSpPr/>
          <p:nvPr/>
        </p:nvSpPr>
        <p:spPr>
          <a:xfrm>
            <a:off x="548640" y="2633472"/>
            <a:ext cx="566928" cy="566928"/>
          </a:xfrm>
          <a:prstGeom prst="ellipse">
            <a:avLst/>
          </a:prstGeom>
          <a:solidFill>
            <a:srgbClr val="0B3D4C"/>
          </a:solidFill>
          <a:ln/>
        </p:spPr>
      </p:sp>
      <p:pic>
        <p:nvPicPr>
          <p:cNvPr id="11" name="Image 2" descr="preencoded.png"/>
          <p:cNvPicPr>
            <a:picLocks noChangeAspect="1"/>
          </p:cNvPicPr>
          <p:nvPr/>
        </p:nvPicPr>
        <p:blipFill>
          <a:blip r:embed="rId5"/>
          <a:stretch>
            <a:fillRect/>
          </a:stretch>
        </p:blipFill>
        <p:spPr>
          <a:xfrm>
            <a:off x="694944" y="2779776"/>
            <a:ext cx="274320" cy="274320"/>
          </a:xfrm>
          <a:prstGeom prst="rect">
            <a:avLst/>
          </a:prstGeom>
        </p:spPr>
      </p:pic>
      <p:sp>
        <p:nvSpPr>
          <p:cNvPr id="12" name="Text 7"/>
          <p:cNvSpPr/>
          <p:nvPr/>
        </p:nvSpPr>
        <p:spPr>
          <a:xfrm>
            <a:off x="1325880" y="2569464"/>
            <a:ext cx="2926080" cy="896112"/>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Compute growth &amp; doubling time</a:t>
            </a:r>
            <a:endParaRPr lang="en-US" dirty="0"/>
          </a:p>
        </p:txBody>
      </p:sp>
      <p:sp>
        <p:nvSpPr>
          <p:cNvPr id="13" name="Text 8"/>
          <p:cNvSpPr/>
          <p:nvPr/>
        </p:nvSpPr>
        <p:spPr>
          <a:xfrm>
            <a:off x="4389120" y="2569464"/>
            <a:ext cx="7223760" cy="896112"/>
          </a:xfrm>
          <a:prstGeom prst="rect">
            <a:avLst/>
          </a:prstGeom>
          <a:noFill/>
          <a:ln/>
        </p:spPr>
        <p:txBody>
          <a:bodyPr wrap="square" lIns="0" tIns="0" rIns="0" bIns="0" rtlCol="0" anchor="ctr"/>
          <a:lstStyle/>
          <a:p>
            <a:pPr marL="0" indent="0">
              <a:lnSpc>
                <a:spcPct val="115000"/>
              </a:lnSpc>
              <a:buNone/>
            </a:pPr>
            <a:r>
              <a:rPr lang="en-US" sz="1600" dirty="0">
                <a:solidFill>
                  <a:srgbClr val="1B2130"/>
                </a:solidFill>
                <a:latin typeface="Calibri" pitchFamily="34" charset="0"/>
                <a:ea typeface="Calibri" pitchFamily="34" charset="-122"/>
                <a:cs typeface="Calibri" pitchFamily="34" charset="-120"/>
              </a:rPr>
              <a:t>Use exponential growth models</a:t>
            </a:r>
            <a:endParaRPr lang="en-US" sz="1600" dirty="0"/>
          </a:p>
        </p:txBody>
      </p:sp>
      <p:sp>
        <p:nvSpPr>
          <p:cNvPr id="14" name="Shape 9"/>
          <p:cNvSpPr/>
          <p:nvPr/>
        </p:nvSpPr>
        <p:spPr>
          <a:xfrm>
            <a:off x="548640" y="3529584"/>
            <a:ext cx="566928" cy="566928"/>
          </a:xfrm>
          <a:prstGeom prst="ellipse">
            <a:avLst/>
          </a:prstGeom>
          <a:solidFill>
            <a:srgbClr val="1C7293"/>
          </a:solidFill>
          <a:ln/>
        </p:spPr>
      </p:sp>
      <p:pic>
        <p:nvPicPr>
          <p:cNvPr id="15" name="Image 3" descr="preencoded.png"/>
          <p:cNvPicPr>
            <a:picLocks noChangeAspect="1"/>
          </p:cNvPicPr>
          <p:nvPr/>
        </p:nvPicPr>
        <p:blipFill>
          <a:blip r:embed="rId6"/>
          <a:stretch>
            <a:fillRect/>
          </a:stretch>
        </p:blipFill>
        <p:spPr>
          <a:xfrm>
            <a:off x="694944" y="3675888"/>
            <a:ext cx="274320" cy="274320"/>
          </a:xfrm>
          <a:prstGeom prst="rect">
            <a:avLst/>
          </a:prstGeom>
        </p:spPr>
      </p:pic>
      <p:sp>
        <p:nvSpPr>
          <p:cNvPr id="16" name="Text 10"/>
          <p:cNvSpPr/>
          <p:nvPr/>
        </p:nvSpPr>
        <p:spPr>
          <a:xfrm>
            <a:off x="1325880" y="3465576"/>
            <a:ext cx="2926080" cy="896112"/>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Compare official data sources</a:t>
            </a:r>
            <a:endParaRPr lang="en-US" dirty="0"/>
          </a:p>
        </p:txBody>
      </p:sp>
      <p:sp>
        <p:nvSpPr>
          <p:cNvPr id="17" name="Text 11"/>
          <p:cNvSpPr/>
          <p:nvPr/>
        </p:nvSpPr>
        <p:spPr>
          <a:xfrm>
            <a:off x="4389120" y="3465576"/>
            <a:ext cx="7223760" cy="896112"/>
          </a:xfrm>
          <a:prstGeom prst="rect">
            <a:avLst/>
          </a:prstGeom>
          <a:noFill/>
          <a:ln/>
        </p:spPr>
        <p:txBody>
          <a:bodyPr wrap="square" lIns="0" tIns="0" rIns="0" bIns="0" rtlCol="0" anchor="ctr"/>
          <a:lstStyle/>
          <a:p>
            <a:pPr marL="0" indent="0">
              <a:lnSpc>
                <a:spcPct val="115000"/>
              </a:lnSpc>
              <a:buNone/>
            </a:pPr>
            <a:r>
              <a:rPr lang="en-US" sz="1600" dirty="0">
                <a:solidFill>
                  <a:srgbClr val="1B2130"/>
                </a:solidFill>
                <a:latin typeface="Calibri" pitchFamily="34" charset="0"/>
                <a:ea typeface="Calibri" pitchFamily="34" charset="-122"/>
                <a:cs typeface="Calibri" pitchFamily="34" charset="-120"/>
              </a:rPr>
              <a:t>Evaluate censuses, CRVS, surveys, and registers on coverage and quality</a:t>
            </a:r>
            <a:endParaRPr lang="en-US" sz="1600" dirty="0"/>
          </a:p>
        </p:txBody>
      </p:sp>
      <p:sp>
        <p:nvSpPr>
          <p:cNvPr id="18" name="Shape 12"/>
          <p:cNvSpPr/>
          <p:nvPr/>
        </p:nvSpPr>
        <p:spPr>
          <a:xfrm>
            <a:off x="548640" y="4425696"/>
            <a:ext cx="566928" cy="566928"/>
          </a:xfrm>
          <a:prstGeom prst="ellipse">
            <a:avLst/>
          </a:prstGeom>
          <a:solidFill>
            <a:srgbClr val="0B3D4C"/>
          </a:solidFill>
          <a:ln/>
        </p:spPr>
      </p:sp>
      <p:pic>
        <p:nvPicPr>
          <p:cNvPr id="19" name="Image 4" descr="preencoded.png"/>
          <p:cNvPicPr>
            <a:picLocks noChangeAspect="1"/>
          </p:cNvPicPr>
          <p:nvPr/>
        </p:nvPicPr>
        <p:blipFill>
          <a:blip r:embed="rId7"/>
          <a:stretch>
            <a:fillRect/>
          </a:stretch>
        </p:blipFill>
        <p:spPr>
          <a:xfrm>
            <a:off x="694944" y="4572000"/>
            <a:ext cx="274320" cy="274320"/>
          </a:xfrm>
          <a:prstGeom prst="rect">
            <a:avLst/>
          </a:prstGeom>
        </p:spPr>
      </p:pic>
      <p:sp>
        <p:nvSpPr>
          <p:cNvPr id="20" name="Text 13"/>
          <p:cNvSpPr/>
          <p:nvPr/>
        </p:nvSpPr>
        <p:spPr>
          <a:xfrm>
            <a:off x="1325880" y="4361688"/>
            <a:ext cx="2926080" cy="896112"/>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Assess data quality</a:t>
            </a:r>
            <a:endParaRPr lang="en-US" dirty="0"/>
          </a:p>
        </p:txBody>
      </p:sp>
      <p:sp>
        <p:nvSpPr>
          <p:cNvPr id="21" name="Text 14"/>
          <p:cNvSpPr/>
          <p:nvPr/>
        </p:nvSpPr>
        <p:spPr>
          <a:xfrm>
            <a:off x="4389120" y="4361688"/>
            <a:ext cx="7223760" cy="896112"/>
          </a:xfrm>
          <a:prstGeom prst="rect">
            <a:avLst/>
          </a:prstGeom>
          <a:noFill/>
          <a:ln/>
        </p:spPr>
        <p:txBody>
          <a:bodyPr wrap="square" lIns="0" tIns="0" rIns="0" bIns="0" rtlCol="0" anchor="ctr"/>
          <a:lstStyle/>
          <a:p>
            <a:pPr marL="0" indent="0">
              <a:lnSpc>
                <a:spcPct val="115000"/>
              </a:lnSpc>
              <a:buNone/>
            </a:pPr>
            <a:r>
              <a:rPr lang="en-US" sz="1600" dirty="0">
                <a:solidFill>
                  <a:srgbClr val="1B2130"/>
                </a:solidFill>
                <a:latin typeface="Calibri" pitchFamily="34" charset="0"/>
                <a:ea typeface="Calibri" pitchFamily="34" charset="-122"/>
                <a:cs typeface="Calibri" pitchFamily="34" charset="-120"/>
              </a:rPr>
              <a:t>Detect age heaping using Whipple’s Index</a:t>
            </a:r>
            <a:endParaRPr lang="en-US" sz="1600" dirty="0"/>
          </a:p>
        </p:txBody>
      </p:sp>
      <p:sp>
        <p:nvSpPr>
          <p:cNvPr id="22" name="Shape 15"/>
          <p:cNvSpPr/>
          <p:nvPr/>
        </p:nvSpPr>
        <p:spPr>
          <a:xfrm>
            <a:off x="548640" y="5321808"/>
            <a:ext cx="566928" cy="566928"/>
          </a:xfrm>
          <a:prstGeom prst="ellipse">
            <a:avLst/>
          </a:prstGeom>
          <a:solidFill>
            <a:srgbClr val="1C7293"/>
          </a:solidFill>
          <a:ln/>
        </p:spPr>
      </p:sp>
      <p:pic>
        <p:nvPicPr>
          <p:cNvPr id="23" name="Image 5" descr="preencoded.png"/>
          <p:cNvPicPr>
            <a:picLocks noChangeAspect="1"/>
          </p:cNvPicPr>
          <p:nvPr/>
        </p:nvPicPr>
        <p:blipFill>
          <a:blip r:embed="rId8"/>
          <a:stretch>
            <a:fillRect/>
          </a:stretch>
        </p:blipFill>
        <p:spPr>
          <a:xfrm>
            <a:off x="694944" y="5468112"/>
            <a:ext cx="274320" cy="274320"/>
          </a:xfrm>
          <a:prstGeom prst="rect">
            <a:avLst/>
          </a:prstGeom>
        </p:spPr>
      </p:pic>
      <p:sp>
        <p:nvSpPr>
          <p:cNvPr id="24" name="Text 16"/>
          <p:cNvSpPr/>
          <p:nvPr/>
        </p:nvSpPr>
        <p:spPr>
          <a:xfrm>
            <a:off x="1325880" y="5257800"/>
            <a:ext cx="2926080" cy="896112"/>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Evaluate digital-trace data</a:t>
            </a:r>
            <a:endParaRPr lang="en-US" dirty="0"/>
          </a:p>
        </p:txBody>
      </p:sp>
      <p:sp>
        <p:nvSpPr>
          <p:cNvPr id="25" name="Text 17"/>
          <p:cNvSpPr/>
          <p:nvPr/>
        </p:nvSpPr>
        <p:spPr>
          <a:xfrm>
            <a:off x="4389120" y="5257800"/>
            <a:ext cx="7223760" cy="896112"/>
          </a:xfrm>
          <a:prstGeom prst="rect">
            <a:avLst/>
          </a:prstGeom>
          <a:noFill/>
          <a:ln/>
        </p:spPr>
        <p:txBody>
          <a:bodyPr wrap="square" lIns="0" tIns="0" rIns="0" bIns="0" rtlCol="0" anchor="ctr"/>
          <a:lstStyle/>
          <a:p>
            <a:pPr marL="0" indent="0">
              <a:lnSpc>
                <a:spcPct val="115000"/>
              </a:lnSpc>
              <a:buNone/>
            </a:pPr>
            <a:r>
              <a:rPr lang="en-US" sz="1600" dirty="0">
                <a:solidFill>
                  <a:srgbClr val="1B2130"/>
                </a:solidFill>
                <a:latin typeface="Calibri" pitchFamily="34" charset="0"/>
                <a:ea typeface="Calibri" pitchFamily="34" charset="-122"/>
                <a:cs typeface="Calibri" pitchFamily="34" charset="-120"/>
              </a:rPr>
              <a:t>Weigh strengths and biases of mobile, satellite, and social-media data</a:t>
            </a:r>
            <a:endParaRPr lang="en-US" sz="1600" dirty="0"/>
          </a:p>
        </p:txBody>
      </p:sp>
      <p:sp>
        <p:nvSpPr>
          <p:cNvPr id="26" name="Text 18"/>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AGENDA</a:t>
            </a:r>
            <a:endParaRPr lang="en-US"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Today’s 3-Hour Structure</a:t>
            </a:r>
            <a:endParaRPr lang="en-US" sz="4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8" name="Shape 5"/>
          <p:cNvSpPr/>
          <p:nvPr/>
        </p:nvSpPr>
        <p:spPr>
          <a:xfrm>
            <a:off x="835429" y="1691640"/>
            <a:ext cx="402336" cy="402336"/>
          </a:xfrm>
          <a:prstGeom prst="ellipse">
            <a:avLst/>
          </a:prstGeom>
          <a:solidFill>
            <a:srgbClr val="1C7293"/>
          </a:solidFill>
          <a:ln/>
        </p:spPr>
      </p:sp>
      <p:pic>
        <p:nvPicPr>
          <p:cNvPr id="9" name="Image 1" descr="preencoded.png"/>
          <p:cNvPicPr>
            <a:picLocks noChangeAspect="1"/>
          </p:cNvPicPr>
          <p:nvPr/>
        </p:nvPicPr>
        <p:blipFill>
          <a:blip r:embed="rId4"/>
          <a:stretch>
            <a:fillRect/>
          </a:stretch>
        </p:blipFill>
        <p:spPr>
          <a:xfrm>
            <a:off x="936013" y="1792224"/>
            <a:ext cx="201168" cy="201168"/>
          </a:xfrm>
          <a:prstGeom prst="rect">
            <a:avLst/>
          </a:prstGeom>
        </p:spPr>
      </p:pic>
      <p:sp>
        <p:nvSpPr>
          <p:cNvPr id="10" name="Text 6"/>
          <p:cNvSpPr/>
          <p:nvPr/>
        </p:nvSpPr>
        <p:spPr>
          <a:xfrm>
            <a:off x="1429789" y="1645920"/>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Recap, objectives &amp; agenda</a:t>
            </a:r>
            <a:endParaRPr lang="en-US" sz="2000" dirty="0"/>
          </a:p>
        </p:txBody>
      </p:sp>
      <p:sp>
        <p:nvSpPr>
          <p:cNvPr id="13" name="Shape 9"/>
          <p:cNvSpPr/>
          <p:nvPr/>
        </p:nvSpPr>
        <p:spPr>
          <a:xfrm>
            <a:off x="835429" y="2295144"/>
            <a:ext cx="402336" cy="402336"/>
          </a:xfrm>
          <a:prstGeom prst="ellipse">
            <a:avLst/>
          </a:prstGeom>
          <a:solidFill>
            <a:srgbClr val="1C7293"/>
          </a:solidFill>
          <a:ln/>
        </p:spPr>
      </p:sp>
      <p:pic>
        <p:nvPicPr>
          <p:cNvPr id="14" name="Image 2" descr="preencoded.png"/>
          <p:cNvPicPr>
            <a:picLocks noChangeAspect="1"/>
          </p:cNvPicPr>
          <p:nvPr/>
        </p:nvPicPr>
        <p:blipFill>
          <a:blip r:embed="rId5"/>
          <a:stretch>
            <a:fillRect/>
          </a:stretch>
        </p:blipFill>
        <p:spPr>
          <a:xfrm>
            <a:off x="936013" y="2395728"/>
            <a:ext cx="201168" cy="201168"/>
          </a:xfrm>
          <a:prstGeom prst="rect">
            <a:avLst/>
          </a:prstGeom>
        </p:spPr>
      </p:pic>
      <p:sp>
        <p:nvSpPr>
          <p:cNvPr id="15" name="Text 10"/>
          <p:cNvSpPr/>
          <p:nvPr/>
        </p:nvSpPr>
        <p:spPr>
          <a:xfrm>
            <a:off x="1429789" y="2249424"/>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Block 1 — The balancing equation &amp; growth-rate math</a:t>
            </a:r>
            <a:endParaRPr lang="en-US" sz="2000" dirty="0"/>
          </a:p>
        </p:txBody>
      </p:sp>
      <p:sp>
        <p:nvSpPr>
          <p:cNvPr id="18" name="Shape 13"/>
          <p:cNvSpPr/>
          <p:nvPr/>
        </p:nvSpPr>
        <p:spPr>
          <a:xfrm>
            <a:off x="835429" y="2898648"/>
            <a:ext cx="402336" cy="402336"/>
          </a:xfrm>
          <a:prstGeom prst="ellipse">
            <a:avLst/>
          </a:prstGeom>
          <a:solidFill>
            <a:srgbClr val="1C7293"/>
          </a:solidFill>
          <a:ln/>
        </p:spPr>
      </p:sp>
      <p:pic>
        <p:nvPicPr>
          <p:cNvPr id="19" name="Image 3" descr="preencoded.png"/>
          <p:cNvPicPr>
            <a:picLocks noChangeAspect="1"/>
          </p:cNvPicPr>
          <p:nvPr/>
        </p:nvPicPr>
        <p:blipFill>
          <a:blip r:embed="rId6"/>
          <a:stretch>
            <a:fillRect/>
          </a:stretch>
        </p:blipFill>
        <p:spPr>
          <a:xfrm>
            <a:off x="936013" y="2999232"/>
            <a:ext cx="201168" cy="201168"/>
          </a:xfrm>
          <a:prstGeom prst="rect">
            <a:avLst/>
          </a:prstGeom>
        </p:spPr>
      </p:pic>
      <p:sp>
        <p:nvSpPr>
          <p:cNvPr id="20" name="Text 14"/>
          <p:cNvSpPr/>
          <p:nvPr/>
        </p:nvSpPr>
        <p:spPr>
          <a:xfrm>
            <a:off x="1429789" y="2852928"/>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Block 2 — Official/traditional data sources &amp; quality assessment</a:t>
            </a:r>
            <a:endParaRPr lang="en-US" sz="2000" dirty="0"/>
          </a:p>
        </p:txBody>
      </p:sp>
      <p:sp>
        <p:nvSpPr>
          <p:cNvPr id="23" name="Shape 17"/>
          <p:cNvSpPr/>
          <p:nvPr/>
        </p:nvSpPr>
        <p:spPr>
          <a:xfrm>
            <a:off x="835429" y="3502152"/>
            <a:ext cx="402336" cy="402336"/>
          </a:xfrm>
          <a:prstGeom prst="ellipse">
            <a:avLst/>
          </a:prstGeom>
          <a:solidFill>
            <a:srgbClr val="1C7293"/>
          </a:solidFill>
          <a:ln/>
        </p:spPr>
      </p:sp>
      <p:pic>
        <p:nvPicPr>
          <p:cNvPr id="24" name="Image 4" descr="preencoded.png"/>
          <p:cNvPicPr>
            <a:picLocks noChangeAspect="1"/>
          </p:cNvPicPr>
          <p:nvPr/>
        </p:nvPicPr>
        <p:blipFill>
          <a:blip r:embed="rId7"/>
          <a:stretch>
            <a:fillRect/>
          </a:stretch>
        </p:blipFill>
        <p:spPr>
          <a:xfrm>
            <a:off x="936013" y="3602736"/>
            <a:ext cx="201168" cy="201168"/>
          </a:xfrm>
          <a:prstGeom prst="rect">
            <a:avLst/>
          </a:prstGeom>
        </p:spPr>
      </p:pic>
      <p:sp>
        <p:nvSpPr>
          <p:cNvPr id="25" name="Text 18"/>
          <p:cNvSpPr/>
          <p:nvPr/>
        </p:nvSpPr>
        <p:spPr>
          <a:xfrm>
            <a:off x="1429789" y="3456432"/>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Break</a:t>
            </a:r>
            <a:endParaRPr lang="en-US" sz="2000" dirty="0"/>
          </a:p>
        </p:txBody>
      </p:sp>
      <p:sp>
        <p:nvSpPr>
          <p:cNvPr id="28" name="Shape 21"/>
          <p:cNvSpPr/>
          <p:nvPr/>
        </p:nvSpPr>
        <p:spPr>
          <a:xfrm>
            <a:off x="835429" y="4105656"/>
            <a:ext cx="402336" cy="402336"/>
          </a:xfrm>
          <a:prstGeom prst="ellipse">
            <a:avLst/>
          </a:prstGeom>
          <a:solidFill>
            <a:srgbClr val="1C7293"/>
          </a:solidFill>
          <a:ln/>
        </p:spPr>
      </p:sp>
      <p:pic>
        <p:nvPicPr>
          <p:cNvPr id="29" name="Image 5" descr="preencoded.png"/>
          <p:cNvPicPr>
            <a:picLocks noChangeAspect="1"/>
          </p:cNvPicPr>
          <p:nvPr/>
        </p:nvPicPr>
        <p:blipFill>
          <a:blip r:embed="rId8"/>
          <a:stretch>
            <a:fillRect/>
          </a:stretch>
        </p:blipFill>
        <p:spPr>
          <a:xfrm>
            <a:off x="936013" y="4206240"/>
            <a:ext cx="201168" cy="201168"/>
          </a:xfrm>
          <a:prstGeom prst="rect">
            <a:avLst/>
          </a:prstGeom>
        </p:spPr>
      </p:pic>
      <p:sp>
        <p:nvSpPr>
          <p:cNvPr id="30" name="Text 22"/>
          <p:cNvSpPr/>
          <p:nvPr/>
        </p:nvSpPr>
        <p:spPr>
          <a:xfrm>
            <a:off x="1429789" y="4059936"/>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Block 3 — Non-traditional &amp; digital-trace data</a:t>
            </a:r>
            <a:endParaRPr lang="en-US" sz="2000" dirty="0"/>
          </a:p>
        </p:txBody>
      </p:sp>
      <p:sp>
        <p:nvSpPr>
          <p:cNvPr id="33" name="Shape 25"/>
          <p:cNvSpPr/>
          <p:nvPr/>
        </p:nvSpPr>
        <p:spPr>
          <a:xfrm>
            <a:off x="835429" y="4709160"/>
            <a:ext cx="402336" cy="402336"/>
          </a:xfrm>
          <a:prstGeom prst="ellipse">
            <a:avLst/>
          </a:prstGeom>
          <a:solidFill>
            <a:srgbClr val="1C7293"/>
          </a:solidFill>
          <a:ln/>
        </p:spPr>
      </p:sp>
      <p:pic>
        <p:nvPicPr>
          <p:cNvPr id="34" name="Image 6" descr="preencoded.png"/>
          <p:cNvPicPr>
            <a:picLocks noChangeAspect="1"/>
          </p:cNvPicPr>
          <p:nvPr/>
        </p:nvPicPr>
        <p:blipFill>
          <a:blip r:embed="rId9"/>
          <a:stretch>
            <a:fillRect/>
          </a:stretch>
        </p:blipFill>
        <p:spPr>
          <a:xfrm>
            <a:off x="936013" y="4809744"/>
            <a:ext cx="201168" cy="201168"/>
          </a:xfrm>
          <a:prstGeom prst="rect">
            <a:avLst/>
          </a:prstGeom>
        </p:spPr>
      </p:pic>
      <p:sp>
        <p:nvSpPr>
          <p:cNvPr id="35" name="Text 26"/>
          <p:cNvSpPr/>
          <p:nvPr/>
        </p:nvSpPr>
        <p:spPr>
          <a:xfrm>
            <a:off x="1429789" y="4663440"/>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Synthesis: triangulating data sources</a:t>
            </a:r>
            <a:endParaRPr lang="en-US" sz="2000" dirty="0"/>
          </a:p>
        </p:txBody>
      </p:sp>
      <p:sp>
        <p:nvSpPr>
          <p:cNvPr id="38" name="Shape 29"/>
          <p:cNvSpPr/>
          <p:nvPr/>
        </p:nvSpPr>
        <p:spPr>
          <a:xfrm>
            <a:off x="835429" y="5312664"/>
            <a:ext cx="402336" cy="402336"/>
          </a:xfrm>
          <a:prstGeom prst="ellipse">
            <a:avLst/>
          </a:prstGeom>
          <a:solidFill>
            <a:srgbClr val="1C7293"/>
          </a:solidFill>
          <a:ln/>
        </p:spPr>
      </p:sp>
      <p:pic>
        <p:nvPicPr>
          <p:cNvPr id="39" name="Image 7" descr="preencoded.png"/>
          <p:cNvPicPr>
            <a:picLocks noChangeAspect="1"/>
          </p:cNvPicPr>
          <p:nvPr/>
        </p:nvPicPr>
        <p:blipFill>
          <a:blip r:embed="rId10"/>
          <a:stretch>
            <a:fillRect/>
          </a:stretch>
        </p:blipFill>
        <p:spPr>
          <a:xfrm>
            <a:off x="936013" y="5413248"/>
            <a:ext cx="201168" cy="201168"/>
          </a:xfrm>
          <a:prstGeom prst="rect">
            <a:avLst/>
          </a:prstGeom>
        </p:spPr>
      </p:pic>
      <p:sp>
        <p:nvSpPr>
          <p:cNvPr id="40" name="Text 30"/>
          <p:cNvSpPr/>
          <p:nvPr/>
        </p:nvSpPr>
        <p:spPr>
          <a:xfrm>
            <a:off x="1429789" y="5266944"/>
            <a:ext cx="8503920" cy="493776"/>
          </a:xfrm>
          <a:prstGeom prst="rect">
            <a:avLst/>
          </a:prstGeom>
          <a:noFill/>
          <a:ln/>
        </p:spPr>
        <p:txBody>
          <a:bodyPr wrap="square" lIns="0" tIns="0" rIns="0" bIns="0" rtlCol="0" anchor="ctr"/>
          <a:lstStyle/>
          <a:p>
            <a:pPr marL="0" indent="0">
              <a:buNone/>
            </a:pPr>
            <a:r>
              <a:rPr lang="en-US" sz="2000" dirty="0">
                <a:solidFill>
                  <a:srgbClr val="1B2130"/>
                </a:solidFill>
                <a:latin typeface="Calibri" pitchFamily="34" charset="0"/>
                <a:ea typeface="Calibri" pitchFamily="34" charset="-122"/>
                <a:cs typeface="Calibri" pitchFamily="34" charset="-120"/>
              </a:rPr>
              <a:t>Wrap-up, Q&amp;A, practice exercises</a:t>
            </a:r>
            <a:endParaRPr lang="en-US" sz="2000" dirty="0"/>
          </a:p>
        </p:txBody>
      </p:sp>
      <p:sp>
        <p:nvSpPr>
          <p:cNvPr id="41" name="Text 31"/>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D4C"/>
        </a:solidFill>
        <a:effectLst/>
      </p:bgPr>
    </p:bg>
    <p:spTree>
      <p:nvGrpSpPr>
        <p:cNvPr id="1" name=""/>
        <p:cNvGrpSpPr/>
        <p:nvPr/>
      </p:nvGrpSpPr>
      <p:grpSpPr>
        <a:xfrm>
          <a:off x="0" y="0"/>
          <a:ext cx="0" cy="0"/>
          <a:chOff x="0" y="0"/>
          <a:chExt cx="0" cy="0"/>
        </a:xfrm>
      </p:grpSpPr>
      <p:sp>
        <p:nvSpPr>
          <p:cNvPr id="2" name="Text 0"/>
          <p:cNvSpPr/>
          <p:nvPr/>
        </p:nvSpPr>
        <p:spPr>
          <a:xfrm>
            <a:off x="822960" y="1828800"/>
            <a:ext cx="5486400" cy="457200"/>
          </a:xfrm>
          <a:prstGeom prst="rect">
            <a:avLst/>
          </a:prstGeom>
          <a:noFill/>
          <a:ln/>
        </p:spPr>
        <p:txBody>
          <a:bodyPr wrap="square" lIns="0" tIns="0" rIns="0" bIns="0" rtlCol="0" anchor="ctr"/>
          <a:lstStyle/>
          <a:p>
            <a:pPr marL="0" indent="0">
              <a:buNone/>
            </a:pPr>
            <a:r>
              <a:rPr lang="en-US" b="1" kern="0" spc="300" dirty="0">
                <a:solidFill>
                  <a:srgbClr val="E85C41"/>
                </a:solidFill>
                <a:latin typeface="Calibri" pitchFamily="34" charset="0"/>
                <a:ea typeface="Calibri" pitchFamily="34" charset="-122"/>
                <a:cs typeface="Calibri" pitchFamily="34" charset="-120"/>
              </a:rPr>
              <a:t>BLOCK 1</a:t>
            </a:r>
            <a:endParaRPr lang="en-US" dirty="0"/>
          </a:p>
        </p:txBody>
      </p:sp>
      <p:sp>
        <p:nvSpPr>
          <p:cNvPr id="3" name="Text 1"/>
          <p:cNvSpPr/>
          <p:nvPr/>
        </p:nvSpPr>
        <p:spPr>
          <a:xfrm>
            <a:off x="822960" y="2286000"/>
            <a:ext cx="8686800" cy="14630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The Balancing Equation &amp; Growth-Rate Math</a:t>
            </a:r>
            <a:endParaRPr lang="en-US" sz="4400" dirty="0"/>
          </a:p>
        </p:txBody>
      </p:sp>
      <p:sp>
        <p:nvSpPr>
          <p:cNvPr id="4" name="Text 2"/>
          <p:cNvSpPr/>
          <p:nvPr/>
        </p:nvSpPr>
        <p:spPr>
          <a:xfrm>
            <a:off x="822960" y="3794760"/>
            <a:ext cx="7955280" cy="1005840"/>
          </a:xfrm>
          <a:prstGeom prst="rect">
            <a:avLst/>
          </a:prstGeom>
          <a:noFill/>
          <a:ln/>
        </p:spPr>
        <p:txBody>
          <a:bodyPr wrap="square" lIns="0" tIns="0" rIns="0" bIns="0" rtlCol="0" anchor="ctr"/>
          <a:lstStyle/>
          <a:p>
            <a:pPr marL="0" indent="0">
              <a:lnSpc>
                <a:spcPct val="130000"/>
              </a:lnSpc>
              <a:buNone/>
            </a:pPr>
            <a:r>
              <a:rPr lang="en-US" dirty="0">
                <a:solidFill>
                  <a:srgbClr val="CADCFC"/>
                </a:solidFill>
                <a:latin typeface="Calibri" pitchFamily="34" charset="0"/>
                <a:ea typeface="Calibri" pitchFamily="34" charset="-122"/>
                <a:cs typeface="Calibri" pitchFamily="34" charset="-120"/>
              </a:rPr>
              <a:t>Population change decomposed; exponential growth; doubling time — the arithmetic every demographer must be fluent in.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1 · COMPONENTS</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Four Components, One Accounting Identity</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691640"/>
            <a:ext cx="2548890" cy="2614353"/>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7" name="Shape 4"/>
          <p:cNvSpPr/>
          <p:nvPr/>
        </p:nvSpPr>
        <p:spPr>
          <a:xfrm>
            <a:off x="804672" y="1947672"/>
            <a:ext cx="566928" cy="566928"/>
          </a:xfrm>
          <a:prstGeom prst="ellipse">
            <a:avLst/>
          </a:prstGeom>
          <a:solidFill>
            <a:srgbClr val="FFFFFF"/>
          </a:solidFill>
          <a:ln w="15875">
            <a:solidFill>
              <a:srgbClr val="1C7293"/>
            </a:solidFill>
            <a:prstDash val="solid"/>
          </a:ln>
        </p:spPr>
      </p:sp>
      <p:pic>
        <p:nvPicPr>
          <p:cNvPr id="8" name="Image 1" descr="preencoded.png"/>
          <p:cNvPicPr>
            <a:picLocks noChangeAspect="1"/>
          </p:cNvPicPr>
          <p:nvPr/>
        </p:nvPicPr>
        <p:blipFill>
          <a:blip r:embed="rId4"/>
          <a:stretch>
            <a:fillRect/>
          </a:stretch>
        </p:blipFill>
        <p:spPr>
          <a:xfrm>
            <a:off x="950976" y="2093976"/>
            <a:ext cx="292608" cy="292608"/>
          </a:xfrm>
          <a:prstGeom prst="rect">
            <a:avLst/>
          </a:prstGeom>
        </p:spPr>
      </p:pic>
      <p:sp>
        <p:nvSpPr>
          <p:cNvPr id="9" name="Text 5"/>
          <p:cNvSpPr/>
          <p:nvPr/>
        </p:nvSpPr>
        <p:spPr>
          <a:xfrm>
            <a:off x="804672" y="2606040"/>
            <a:ext cx="2036826" cy="248815"/>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Births (B)</a:t>
            </a:r>
            <a:endParaRPr lang="en-US" dirty="0"/>
          </a:p>
        </p:txBody>
      </p:sp>
      <p:sp>
        <p:nvSpPr>
          <p:cNvPr id="10" name="Text 6"/>
          <p:cNvSpPr/>
          <p:nvPr/>
        </p:nvSpPr>
        <p:spPr>
          <a:xfrm>
            <a:off x="804672" y="3044952"/>
            <a:ext cx="2036826" cy="1094786"/>
          </a:xfrm>
          <a:prstGeom prst="rect">
            <a:avLst/>
          </a:prstGeom>
          <a:noFill/>
          <a:ln/>
        </p:spPr>
        <p:txBody>
          <a:bodyPr wrap="square" lIns="0" tIns="0" rIns="0" bIns="0" rtlCol="0" anchor="ctr"/>
          <a:lstStyle/>
          <a:p>
            <a:pPr marL="0" indent="0">
              <a:lnSpc>
                <a:spcPct val="115000"/>
              </a:lnSpc>
              <a:buNone/>
            </a:pPr>
            <a:r>
              <a:rPr lang="en-US" sz="1400" dirty="0">
                <a:solidFill>
                  <a:srgbClr val="5B6472"/>
                </a:solidFill>
                <a:latin typeface="Calibri" pitchFamily="34" charset="0"/>
                <a:ea typeface="Calibri" pitchFamily="34" charset="-122"/>
                <a:cs typeface="Calibri" pitchFamily="34" charset="-120"/>
              </a:rPr>
              <a:t>Additions from fertility — measured via CRVS or surveys</a:t>
            </a:r>
            <a:endParaRPr lang="en-US" sz="1400" dirty="0"/>
          </a:p>
        </p:txBody>
      </p:sp>
      <p:sp>
        <p:nvSpPr>
          <p:cNvPr id="11" name="Shape 7"/>
          <p:cNvSpPr/>
          <p:nvPr/>
        </p:nvSpPr>
        <p:spPr>
          <a:xfrm>
            <a:off x="3417570" y="1691640"/>
            <a:ext cx="2548890" cy="2614353"/>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12" name="Shape 8"/>
          <p:cNvSpPr/>
          <p:nvPr/>
        </p:nvSpPr>
        <p:spPr>
          <a:xfrm>
            <a:off x="3673602" y="1947672"/>
            <a:ext cx="566928" cy="566928"/>
          </a:xfrm>
          <a:prstGeom prst="ellipse">
            <a:avLst/>
          </a:prstGeom>
          <a:solidFill>
            <a:srgbClr val="FFFFFF"/>
          </a:solidFill>
          <a:ln w="15875">
            <a:solidFill>
              <a:srgbClr val="1C7293"/>
            </a:solidFill>
            <a:prstDash val="solid"/>
          </a:ln>
        </p:spPr>
      </p:sp>
      <p:pic>
        <p:nvPicPr>
          <p:cNvPr id="13" name="Image 2" descr="preencoded.png"/>
          <p:cNvPicPr>
            <a:picLocks noChangeAspect="1"/>
          </p:cNvPicPr>
          <p:nvPr/>
        </p:nvPicPr>
        <p:blipFill>
          <a:blip r:embed="rId5"/>
          <a:stretch>
            <a:fillRect/>
          </a:stretch>
        </p:blipFill>
        <p:spPr>
          <a:xfrm>
            <a:off x="3819906" y="2093976"/>
            <a:ext cx="292608" cy="292608"/>
          </a:xfrm>
          <a:prstGeom prst="rect">
            <a:avLst/>
          </a:prstGeom>
        </p:spPr>
      </p:pic>
      <p:sp>
        <p:nvSpPr>
          <p:cNvPr id="14" name="Text 9"/>
          <p:cNvSpPr/>
          <p:nvPr/>
        </p:nvSpPr>
        <p:spPr>
          <a:xfrm>
            <a:off x="3673602" y="2606040"/>
            <a:ext cx="2036826" cy="248815"/>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Deaths (D)</a:t>
            </a:r>
            <a:endParaRPr lang="en-US" dirty="0"/>
          </a:p>
        </p:txBody>
      </p:sp>
      <p:sp>
        <p:nvSpPr>
          <p:cNvPr id="15" name="Text 10"/>
          <p:cNvSpPr/>
          <p:nvPr/>
        </p:nvSpPr>
        <p:spPr>
          <a:xfrm>
            <a:off x="3673602" y="3044952"/>
            <a:ext cx="2036826" cy="1094786"/>
          </a:xfrm>
          <a:prstGeom prst="rect">
            <a:avLst/>
          </a:prstGeom>
          <a:noFill/>
          <a:ln/>
        </p:spPr>
        <p:txBody>
          <a:bodyPr wrap="square" lIns="0" tIns="0" rIns="0" bIns="0" rtlCol="0" anchor="ctr"/>
          <a:lstStyle/>
          <a:p>
            <a:pPr marL="0" indent="0">
              <a:lnSpc>
                <a:spcPct val="115000"/>
              </a:lnSpc>
              <a:buNone/>
            </a:pPr>
            <a:r>
              <a:rPr lang="en-US" sz="1400" dirty="0">
                <a:solidFill>
                  <a:srgbClr val="5B6472"/>
                </a:solidFill>
                <a:latin typeface="Calibri" pitchFamily="34" charset="0"/>
                <a:ea typeface="Calibri" pitchFamily="34" charset="-122"/>
                <a:cs typeface="Calibri" pitchFamily="34" charset="-120"/>
              </a:rPr>
              <a:t>Losses from mortality — measured via CRVS or verbal autopsy</a:t>
            </a:r>
            <a:endParaRPr lang="en-US" sz="1400" dirty="0"/>
          </a:p>
        </p:txBody>
      </p:sp>
      <p:sp>
        <p:nvSpPr>
          <p:cNvPr id="16" name="Shape 11"/>
          <p:cNvSpPr/>
          <p:nvPr/>
        </p:nvSpPr>
        <p:spPr>
          <a:xfrm>
            <a:off x="6286500" y="1691640"/>
            <a:ext cx="2548890" cy="2614353"/>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17" name="Shape 12"/>
          <p:cNvSpPr/>
          <p:nvPr/>
        </p:nvSpPr>
        <p:spPr>
          <a:xfrm>
            <a:off x="6542532" y="1947672"/>
            <a:ext cx="566928" cy="566928"/>
          </a:xfrm>
          <a:prstGeom prst="ellipse">
            <a:avLst/>
          </a:prstGeom>
          <a:solidFill>
            <a:srgbClr val="FFFFFF"/>
          </a:solidFill>
          <a:ln w="15875">
            <a:solidFill>
              <a:srgbClr val="1C7293"/>
            </a:solidFill>
            <a:prstDash val="solid"/>
          </a:ln>
        </p:spPr>
      </p:sp>
      <p:pic>
        <p:nvPicPr>
          <p:cNvPr id="18" name="Image 3" descr="preencoded.png"/>
          <p:cNvPicPr>
            <a:picLocks noChangeAspect="1"/>
          </p:cNvPicPr>
          <p:nvPr/>
        </p:nvPicPr>
        <p:blipFill>
          <a:blip r:embed="rId6"/>
          <a:stretch>
            <a:fillRect/>
          </a:stretch>
        </p:blipFill>
        <p:spPr>
          <a:xfrm>
            <a:off x="6688836" y="2093976"/>
            <a:ext cx="292608" cy="292608"/>
          </a:xfrm>
          <a:prstGeom prst="rect">
            <a:avLst/>
          </a:prstGeom>
        </p:spPr>
      </p:pic>
      <p:sp>
        <p:nvSpPr>
          <p:cNvPr id="19" name="Text 13"/>
          <p:cNvSpPr/>
          <p:nvPr/>
        </p:nvSpPr>
        <p:spPr>
          <a:xfrm>
            <a:off x="6542532" y="2606040"/>
            <a:ext cx="2036826" cy="248815"/>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In-migration (IM)</a:t>
            </a:r>
            <a:endParaRPr lang="en-US" dirty="0"/>
          </a:p>
        </p:txBody>
      </p:sp>
      <p:sp>
        <p:nvSpPr>
          <p:cNvPr id="20" name="Text 14"/>
          <p:cNvSpPr/>
          <p:nvPr/>
        </p:nvSpPr>
        <p:spPr>
          <a:xfrm>
            <a:off x="6542532" y="3044952"/>
            <a:ext cx="2036826" cy="1094786"/>
          </a:xfrm>
          <a:prstGeom prst="rect">
            <a:avLst/>
          </a:prstGeom>
          <a:noFill/>
          <a:ln/>
        </p:spPr>
        <p:txBody>
          <a:bodyPr wrap="square" lIns="0" tIns="0" rIns="0" bIns="0" rtlCol="0" anchor="ctr"/>
          <a:lstStyle/>
          <a:p>
            <a:pPr marL="0" indent="0">
              <a:lnSpc>
                <a:spcPct val="115000"/>
              </a:lnSpc>
              <a:buNone/>
            </a:pPr>
            <a:r>
              <a:rPr lang="en-US" sz="1400" dirty="0">
                <a:solidFill>
                  <a:srgbClr val="5B6472"/>
                </a:solidFill>
                <a:latin typeface="Calibri" pitchFamily="34" charset="0"/>
                <a:ea typeface="Calibri" pitchFamily="34" charset="-122"/>
                <a:cs typeface="Calibri" pitchFamily="34" charset="-120"/>
              </a:rPr>
              <a:t>Additions from people moving into the area</a:t>
            </a:r>
            <a:endParaRPr lang="en-US" sz="1400" dirty="0"/>
          </a:p>
        </p:txBody>
      </p:sp>
      <p:sp>
        <p:nvSpPr>
          <p:cNvPr id="21" name="Shape 15"/>
          <p:cNvSpPr/>
          <p:nvPr/>
        </p:nvSpPr>
        <p:spPr>
          <a:xfrm>
            <a:off x="9155430" y="1691640"/>
            <a:ext cx="2548890" cy="2614353"/>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22" name="Shape 16"/>
          <p:cNvSpPr/>
          <p:nvPr/>
        </p:nvSpPr>
        <p:spPr>
          <a:xfrm>
            <a:off x="9411462" y="1947672"/>
            <a:ext cx="566928" cy="566928"/>
          </a:xfrm>
          <a:prstGeom prst="ellipse">
            <a:avLst/>
          </a:prstGeom>
          <a:solidFill>
            <a:srgbClr val="FFFFFF"/>
          </a:solidFill>
          <a:ln w="15875">
            <a:solidFill>
              <a:srgbClr val="1C7293"/>
            </a:solidFill>
            <a:prstDash val="solid"/>
          </a:ln>
        </p:spPr>
      </p:sp>
      <p:pic>
        <p:nvPicPr>
          <p:cNvPr id="23" name="Image 4" descr="preencoded.png"/>
          <p:cNvPicPr>
            <a:picLocks noChangeAspect="1"/>
          </p:cNvPicPr>
          <p:nvPr/>
        </p:nvPicPr>
        <p:blipFill>
          <a:blip r:embed="rId7"/>
          <a:stretch>
            <a:fillRect/>
          </a:stretch>
        </p:blipFill>
        <p:spPr>
          <a:xfrm>
            <a:off x="9557766" y="2093976"/>
            <a:ext cx="292608" cy="292608"/>
          </a:xfrm>
          <a:prstGeom prst="rect">
            <a:avLst/>
          </a:prstGeom>
        </p:spPr>
      </p:pic>
      <p:sp>
        <p:nvSpPr>
          <p:cNvPr id="24" name="Text 17"/>
          <p:cNvSpPr/>
          <p:nvPr/>
        </p:nvSpPr>
        <p:spPr>
          <a:xfrm>
            <a:off x="9411462" y="2606040"/>
            <a:ext cx="2036826" cy="248815"/>
          </a:xfrm>
          <a:prstGeom prst="rect">
            <a:avLst/>
          </a:prstGeom>
          <a:noFill/>
          <a:ln/>
        </p:spPr>
        <p:txBody>
          <a:bodyPr wrap="square" lIns="0" tIns="0" rIns="0" bIns="0" rtlCol="0" anchor="ctr"/>
          <a:lstStyle/>
          <a:p>
            <a:pPr marL="0" indent="0">
              <a:buNone/>
            </a:pPr>
            <a:r>
              <a:rPr lang="en-US" b="1" dirty="0">
                <a:solidFill>
                  <a:srgbClr val="0B3D4C"/>
                </a:solidFill>
                <a:latin typeface="Cambria" pitchFamily="34" charset="0"/>
                <a:ea typeface="Cambria" pitchFamily="34" charset="-122"/>
                <a:cs typeface="Cambria" pitchFamily="34" charset="-120"/>
              </a:rPr>
              <a:t>Out-migration (OM)</a:t>
            </a:r>
            <a:endParaRPr lang="en-US" dirty="0"/>
          </a:p>
        </p:txBody>
      </p:sp>
      <p:sp>
        <p:nvSpPr>
          <p:cNvPr id="25" name="Text 18"/>
          <p:cNvSpPr/>
          <p:nvPr/>
        </p:nvSpPr>
        <p:spPr>
          <a:xfrm>
            <a:off x="9411462" y="3044952"/>
            <a:ext cx="2036826" cy="1094786"/>
          </a:xfrm>
          <a:prstGeom prst="rect">
            <a:avLst/>
          </a:prstGeom>
          <a:noFill/>
          <a:ln/>
        </p:spPr>
        <p:txBody>
          <a:bodyPr wrap="square" lIns="0" tIns="0" rIns="0" bIns="0" rtlCol="0" anchor="ctr"/>
          <a:lstStyle/>
          <a:p>
            <a:pPr marL="0" indent="0">
              <a:lnSpc>
                <a:spcPct val="115000"/>
              </a:lnSpc>
              <a:buNone/>
            </a:pPr>
            <a:r>
              <a:rPr lang="en-US" sz="1400" dirty="0">
                <a:solidFill>
                  <a:srgbClr val="5B6472"/>
                </a:solidFill>
                <a:latin typeface="Calibri" pitchFamily="34" charset="0"/>
                <a:ea typeface="Calibri" pitchFamily="34" charset="-122"/>
                <a:cs typeface="Calibri" pitchFamily="34" charset="-120"/>
              </a:rPr>
              <a:t>Losses from people moving out of the area</a:t>
            </a:r>
            <a:endParaRPr lang="en-US" sz="1400" dirty="0"/>
          </a:p>
        </p:txBody>
      </p:sp>
      <p:sp>
        <p:nvSpPr>
          <p:cNvPr id="26" name="Text 19"/>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1 · FOUNDATIONS</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The Demographic Balancing Equation</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266007" y="1600200"/>
            <a:ext cx="5120640" cy="1828800"/>
          </a:xfrm>
          <a:prstGeom prst="roundRect">
            <a:avLst>
              <a:gd name="adj" fmla="val 4000"/>
            </a:avLst>
          </a:prstGeom>
          <a:solidFill>
            <a:srgbClr val="0B3D4C"/>
          </a:solidFill>
          <a:ln/>
        </p:spPr>
      </p:sp>
      <p:sp>
        <p:nvSpPr>
          <p:cNvPr id="7" name="Text 4"/>
          <p:cNvSpPr/>
          <p:nvPr/>
        </p:nvSpPr>
        <p:spPr>
          <a:xfrm>
            <a:off x="448887" y="1600200"/>
            <a:ext cx="4754880" cy="1828800"/>
          </a:xfrm>
          <a:prstGeom prst="rect">
            <a:avLst/>
          </a:prstGeom>
          <a:noFill/>
          <a:ln/>
        </p:spPr>
        <p:txBody>
          <a:bodyPr wrap="square" lIns="0" tIns="0" rIns="0" bIns="0" rtlCol="0" anchor="ctr"/>
          <a:lstStyle/>
          <a:p>
            <a:pPr marL="0" indent="0" algn="ctr">
              <a:buNone/>
            </a:pPr>
            <a:r>
              <a:rPr lang="en-US" sz="2800" b="1" dirty="0">
                <a:solidFill>
                  <a:schemeClr val="bg1"/>
                </a:solidFill>
                <a:latin typeface="Cambria" pitchFamily="34" charset="0"/>
                <a:ea typeface="Cambria" pitchFamily="34" charset="-122"/>
                <a:cs typeface="Cambria" pitchFamily="34" charset="-120"/>
              </a:rPr>
              <a:t>P₂ = P₁ + B − D + IM − OM</a:t>
            </a:r>
            <a:endParaRPr lang="en-US" sz="2800" dirty="0">
              <a:solidFill>
                <a:schemeClr val="bg1"/>
              </a:solidFill>
            </a:endParaRPr>
          </a:p>
        </p:txBody>
      </p:sp>
      <p:sp>
        <p:nvSpPr>
          <p:cNvPr id="8" name="Text 5"/>
          <p:cNvSpPr/>
          <p:nvPr/>
        </p:nvSpPr>
        <p:spPr>
          <a:xfrm>
            <a:off x="266007" y="3657600"/>
            <a:ext cx="5120640" cy="2377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P₁, P₂ = population at times 1 and 2</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B = births, D = deaths (natural increase = B − D)</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IM = in-migration, OM = out-migration (net migration = IM − OM)</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This single identity underlies every population estimate, projection, and intercensal check you will ever perform</a:t>
            </a:r>
            <a:endParaRPr lang="en-US" sz="160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6</a:t>
            </a:r>
            <a:endParaRPr lang="en-US" sz="1050" dirty="0"/>
          </a:p>
        </p:txBody>
      </p:sp>
      <p:graphicFrame>
        <p:nvGraphicFramePr>
          <p:cNvPr id="10" name="Table 9">
            <a:extLst>
              <a:ext uri="{FF2B5EF4-FFF2-40B4-BE49-F238E27FC236}">
                <a16:creationId xmlns:a16="http://schemas.microsoft.com/office/drawing/2014/main" id="{538A4A65-6E5C-1AAB-5051-DB7FBB861A9F}"/>
              </a:ext>
            </a:extLst>
          </p:cNvPr>
          <p:cNvGraphicFramePr>
            <a:graphicFrameLocks noGrp="1"/>
          </p:cNvGraphicFramePr>
          <p:nvPr>
            <p:extLst>
              <p:ext uri="{D42A27DB-BD31-4B8C-83A1-F6EECF244321}">
                <p14:modId xmlns:p14="http://schemas.microsoft.com/office/powerpoint/2010/main" val="982164277"/>
              </p:ext>
            </p:extLst>
          </p:nvPr>
        </p:nvGraphicFramePr>
        <p:xfrm>
          <a:off x="5510153" y="2469642"/>
          <a:ext cx="6536173" cy="3565398"/>
        </p:xfrm>
        <a:graphic>
          <a:graphicData uri="http://schemas.openxmlformats.org/drawingml/2006/table">
            <a:tbl>
              <a:tblPr>
                <a:tableStyleId>{5940675A-B579-460E-94D1-54222C63F5DA}</a:tableStyleId>
              </a:tblPr>
              <a:tblGrid>
                <a:gridCol w="1182747">
                  <a:extLst>
                    <a:ext uri="{9D8B030D-6E8A-4147-A177-3AD203B41FA5}">
                      <a16:colId xmlns:a16="http://schemas.microsoft.com/office/drawing/2014/main" val="972050122"/>
                    </a:ext>
                  </a:extLst>
                </a:gridCol>
                <a:gridCol w="965200">
                  <a:extLst>
                    <a:ext uri="{9D8B030D-6E8A-4147-A177-3AD203B41FA5}">
                      <a16:colId xmlns:a16="http://schemas.microsoft.com/office/drawing/2014/main" val="2680967736"/>
                    </a:ext>
                  </a:extLst>
                </a:gridCol>
                <a:gridCol w="653270">
                  <a:extLst>
                    <a:ext uri="{9D8B030D-6E8A-4147-A177-3AD203B41FA5}">
                      <a16:colId xmlns:a16="http://schemas.microsoft.com/office/drawing/2014/main" val="4117955009"/>
                    </a:ext>
                  </a:extLst>
                </a:gridCol>
                <a:gridCol w="933739">
                  <a:extLst>
                    <a:ext uri="{9D8B030D-6E8A-4147-A177-3AD203B41FA5}">
                      <a16:colId xmlns:a16="http://schemas.microsoft.com/office/drawing/2014/main" val="1510115789"/>
                    </a:ext>
                  </a:extLst>
                </a:gridCol>
                <a:gridCol w="933739">
                  <a:extLst>
                    <a:ext uri="{9D8B030D-6E8A-4147-A177-3AD203B41FA5}">
                      <a16:colId xmlns:a16="http://schemas.microsoft.com/office/drawing/2014/main" val="2287476010"/>
                    </a:ext>
                  </a:extLst>
                </a:gridCol>
                <a:gridCol w="933739">
                  <a:extLst>
                    <a:ext uri="{9D8B030D-6E8A-4147-A177-3AD203B41FA5}">
                      <a16:colId xmlns:a16="http://schemas.microsoft.com/office/drawing/2014/main" val="372290944"/>
                    </a:ext>
                  </a:extLst>
                </a:gridCol>
                <a:gridCol w="933739">
                  <a:extLst>
                    <a:ext uri="{9D8B030D-6E8A-4147-A177-3AD203B41FA5}">
                      <a16:colId xmlns:a16="http://schemas.microsoft.com/office/drawing/2014/main" val="3510527688"/>
                    </a:ext>
                  </a:extLst>
                </a:gridCol>
              </a:tblGrid>
              <a:tr h="1018212">
                <a:tc>
                  <a:txBody>
                    <a:bodyPr/>
                    <a:lstStyle/>
                    <a:p>
                      <a:pPr algn="ctr">
                        <a:buNone/>
                      </a:pPr>
                      <a:r>
                        <a:rPr lang="en-US" sz="1600" b="1" dirty="0"/>
                        <a:t>Scenario</a:t>
                      </a:r>
                    </a:p>
                  </a:txBody>
                  <a:tcPr marL="36261" marR="36261" marT="18131" marB="18131" anchor="ctr"/>
                </a:tc>
                <a:tc>
                  <a:txBody>
                    <a:bodyPr/>
                    <a:lstStyle/>
                    <a:p>
                      <a:pPr algn="ctr">
                        <a:buNone/>
                      </a:pPr>
                      <a:r>
                        <a:rPr lang="en-US" sz="1600" b="1" dirty="0"/>
                        <a:t>(P_1)</a:t>
                      </a:r>
                    </a:p>
                  </a:txBody>
                  <a:tcPr marL="36261" marR="36261" marT="18131" marB="18131" anchor="ctr"/>
                </a:tc>
                <a:tc>
                  <a:txBody>
                    <a:bodyPr/>
                    <a:lstStyle/>
                    <a:p>
                      <a:pPr algn="ctr">
                        <a:buNone/>
                      </a:pPr>
                      <a:r>
                        <a:rPr lang="en-US" sz="1600" b="1"/>
                        <a:t>Births (B)</a:t>
                      </a:r>
                    </a:p>
                  </a:txBody>
                  <a:tcPr marL="36261" marR="36261" marT="18131" marB="18131" anchor="ctr"/>
                </a:tc>
                <a:tc>
                  <a:txBody>
                    <a:bodyPr/>
                    <a:lstStyle/>
                    <a:p>
                      <a:pPr algn="ctr">
                        <a:buNone/>
                      </a:pPr>
                      <a:r>
                        <a:rPr lang="en-US" sz="1600" b="1"/>
                        <a:t>Deaths (D)</a:t>
                      </a:r>
                    </a:p>
                  </a:txBody>
                  <a:tcPr marL="36261" marR="36261" marT="18131" marB="18131" anchor="ctr"/>
                </a:tc>
                <a:tc>
                  <a:txBody>
                    <a:bodyPr/>
                    <a:lstStyle/>
                    <a:p>
                      <a:pPr algn="ctr">
                        <a:buNone/>
                      </a:pPr>
                      <a:r>
                        <a:rPr lang="en-US" sz="1600" b="1"/>
                        <a:t>In-migration (IM)</a:t>
                      </a:r>
                    </a:p>
                  </a:txBody>
                  <a:tcPr marL="36261" marR="36261" marT="18131" marB="18131" anchor="ctr"/>
                </a:tc>
                <a:tc>
                  <a:txBody>
                    <a:bodyPr/>
                    <a:lstStyle/>
                    <a:p>
                      <a:pPr algn="ctr">
                        <a:buNone/>
                      </a:pPr>
                      <a:r>
                        <a:rPr lang="en-US" sz="1600" b="1"/>
                        <a:t>Out-migration (OM)</a:t>
                      </a:r>
                    </a:p>
                  </a:txBody>
                  <a:tcPr marL="36261" marR="36261" marT="18131" marB="18131" anchor="ctr"/>
                </a:tc>
                <a:tc>
                  <a:txBody>
                    <a:bodyPr/>
                    <a:lstStyle/>
                    <a:p>
                      <a:pPr algn="ctr">
                        <a:buNone/>
                      </a:pPr>
                      <a:r>
                        <a:rPr lang="en-US" sz="1600" b="1" dirty="0"/>
                        <a:t>(P_2)</a:t>
                      </a:r>
                    </a:p>
                  </a:txBody>
                  <a:tcPr marL="36261" marR="36261" marT="18131" marB="18131" anchor="ctr"/>
                </a:tc>
                <a:extLst>
                  <a:ext uri="{0D108BD9-81ED-4DB2-BD59-A6C34878D82A}">
                    <a16:rowId xmlns:a16="http://schemas.microsoft.com/office/drawing/2014/main" val="1203768569"/>
                  </a:ext>
                </a:extLst>
              </a:tr>
              <a:tr h="0">
                <a:tc>
                  <a:txBody>
                    <a:bodyPr/>
                    <a:lstStyle/>
                    <a:p>
                      <a:pPr>
                        <a:buNone/>
                      </a:pPr>
                      <a:r>
                        <a:rPr lang="en-US" sz="1600" dirty="0"/>
                        <a:t>1. Low fertility, migration-led growth</a:t>
                      </a:r>
                    </a:p>
                  </a:txBody>
                  <a:tcPr marL="36261" marR="36261" marT="18131" marB="18131" anchor="ctr"/>
                </a:tc>
                <a:tc>
                  <a:txBody>
                    <a:bodyPr/>
                    <a:lstStyle/>
                    <a:p>
                      <a:pPr algn="r">
                        <a:buNone/>
                      </a:pPr>
                      <a:r>
                        <a:rPr lang="en-US" sz="1600"/>
                        <a:t>500,000</a:t>
                      </a:r>
                    </a:p>
                  </a:txBody>
                  <a:tcPr marL="36261" marR="36261" marT="18131" marB="18131" anchor="ctr"/>
                </a:tc>
                <a:tc>
                  <a:txBody>
                    <a:bodyPr/>
                    <a:lstStyle/>
                    <a:p>
                      <a:pPr algn="r">
                        <a:buNone/>
                      </a:pPr>
                      <a:r>
                        <a:rPr lang="en-US" sz="1600"/>
                        <a:t>4,500</a:t>
                      </a:r>
                    </a:p>
                  </a:txBody>
                  <a:tcPr marL="36261" marR="36261" marT="18131" marB="18131" anchor="ctr"/>
                </a:tc>
                <a:tc>
                  <a:txBody>
                    <a:bodyPr/>
                    <a:lstStyle/>
                    <a:p>
                      <a:pPr algn="r">
                        <a:buNone/>
                      </a:pPr>
                      <a:r>
                        <a:rPr lang="en-US" sz="1600" dirty="0"/>
                        <a:t>5,000</a:t>
                      </a:r>
                    </a:p>
                  </a:txBody>
                  <a:tcPr marL="36261" marR="36261" marT="18131" marB="18131" anchor="ctr"/>
                </a:tc>
                <a:tc>
                  <a:txBody>
                    <a:bodyPr/>
                    <a:lstStyle/>
                    <a:p>
                      <a:pPr algn="r">
                        <a:buNone/>
                      </a:pPr>
                      <a:r>
                        <a:rPr lang="en-US" sz="1600" dirty="0"/>
                        <a:t>12,000</a:t>
                      </a:r>
                    </a:p>
                  </a:txBody>
                  <a:tcPr marL="36261" marR="36261" marT="18131" marB="18131" anchor="ctr"/>
                </a:tc>
                <a:tc>
                  <a:txBody>
                    <a:bodyPr/>
                    <a:lstStyle/>
                    <a:p>
                      <a:pPr algn="r">
                        <a:buNone/>
                      </a:pPr>
                      <a:r>
                        <a:rPr lang="en-US" sz="1600"/>
                        <a:t>3,000</a:t>
                      </a:r>
                    </a:p>
                  </a:txBody>
                  <a:tcPr marL="36261" marR="36261" marT="18131" marB="18131" anchor="ctr"/>
                </a:tc>
                <a:tc>
                  <a:txBody>
                    <a:bodyPr/>
                    <a:lstStyle/>
                    <a:p>
                      <a:pPr algn="r">
                        <a:buNone/>
                      </a:pPr>
                      <a:endParaRPr lang="en-US" sz="1600" dirty="0"/>
                    </a:p>
                  </a:txBody>
                  <a:tcPr marL="36261" marR="36261" marT="18131" marB="18131" anchor="ctr"/>
                </a:tc>
                <a:extLst>
                  <a:ext uri="{0D108BD9-81ED-4DB2-BD59-A6C34878D82A}">
                    <a16:rowId xmlns:a16="http://schemas.microsoft.com/office/drawing/2014/main" val="3613911997"/>
                  </a:ext>
                </a:extLst>
              </a:tr>
              <a:tr h="141866">
                <a:tc>
                  <a:txBody>
                    <a:bodyPr/>
                    <a:lstStyle/>
                    <a:p>
                      <a:pPr>
                        <a:buNone/>
                      </a:pPr>
                      <a:r>
                        <a:rPr lang="en-US" sz="1600" dirty="0"/>
                        <a:t>2. Population decline</a:t>
                      </a:r>
                    </a:p>
                  </a:txBody>
                  <a:tcPr marL="36261" marR="36261" marT="18131" marB="18131" anchor="ctr"/>
                </a:tc>
                <a:tc>
                  <a:txBody>
                    <a:bodyPr/>
                    <a:lstStyle/>
                    <a:p>
                      <a:pPr algn="r">
                        <a:buNone/>
                      </a:pPr>
                      <a:r>
                        <a:rPr lang="en-US" sz="1600"/>
                        <a:t>800,000</a:t>
                      </a:r>
                    </a:p>
                  </a:txBody>
                  <a:tcPr marL="36261" marR="36261" marT="18131" marB="18131" anchor="ctr"/>
                </a:tc>
                <a:tc>
                  <a:txBody>
                    <a:bodyPr/>
                    <a:lstStyle/>
                    <a:p>
                      <a:pPr algn="r">
                        <a:buNone/>
                      </a:pPr>
                      <a:r>
                        <a:rPr lang="en-US" sz="1600" dirty="0"/>
                        <a:t>6,000</a:t>
                      </a:r>
                    </a:p>
                  </a:txBody>
                  <a:tcPr marL="36261" marR="36261" marT="18131" marB="18131" anchor="ctr"/>
                </a:tc>
                <a:tc>
                  <a:txBody>
                    <a:bodyPr/>
                    <a:lstStyle/>
                    <a:p>
                      <a:pPr algn="r">
                        <a:buNone/>
                      </a:pPr>
                      <a:r>
                        <a:rPr lang="en-US" sz="1600" dirty="0"/>
                        <a:t>9,500</a:t>
                      </a:r>
                    </a:p>
                  </a:txBody>
                  <a:tcPr marL="36261" marR="36261" marT="18131" marB="18131" anchor="ctr"/>
                </a:tc>
                <a:tc>
                  <a:txBody>
                    <a:bodyPr/>
                    <a:lstStyle/>
                    <a:p>
                      <a:pPr algn="r">
                        <a:buNone/>
                      </a:pPr>
                      <a:endParaRPr lang="en-US" sz="1600" dirty="0"/>
                    </a:p>
                  </a:txBody>
                  <a:tcPr marL="36261" marR="36261" marT="18131" marB="18131" anchor="ctr"/>
                </a:tc>
                <a:tc>
                  <a:txBody>
                    <a:bodyPr/>
                    <a:lstStyle/>
                    <a:p>
                      <a:pPr algn="r">
                        <a:buNone/>
                      </a:pPr>
                      <a:r>
                        <a:rPr lang="en-US" sz="1600" dirty="0"/>
                        <a:t>7,000</a:t>
                      </a:r>
                    </a:p>
                  </a:txBody>
                  <a:tcPr marL="36261" marR="36261" marT="18131" marB="18131" anchor="ctr"/>
                </a:tc>
                <a:tc>
                  <a:txBody>
                    <a:bodyPr/>
                    <a:lstStyle/>
                    <a:p>
                      <a:pPr algn="r">
                        <a:buNone/>
                      </a:pPr>
                      <a:r>
                        <a:rPr lang="en-US" sz="1600" dirty="0"/>
                        <a:t>793,500</a:t>
                      </a:r>
                    </a:p>
                  </a:txBody>
                  <a:tcPr marL="36261" marR="36261" marT="18131" marB="18131" anchor="ctr"/>
                </a:tc>
                <a:extLst>
                  <a:ext uri="{0D108BD9-81ED-4DB2-BD59-A6C34878D82A}">
                    <a16:rowId xmlns:a16="http://schemas.microsoft.com/office/drawing/2014/main" val="3588439149"/>
                  </a:ext>
                </a:extLst>
              </a:tr>
              <a:tr h="303724">
                <a:tc>
                  <a:txBody>
                    <a:bodyPr/>
                    <a:lstStyle/>
                    <a:p>
                      <a:pPr>
                        <a:buNone/>
                      </a:pPr>
                      <a:r>
                        <a:rPr lang="en-US" sz="1600" dirty="0"/>
                        <a:t>3. Natural increase but net out-migration</a:t>
                      </a:r>
                    </a:p>
                  </a:txBody>
                  <a:tcPr marL="36261" marR="36261" marT="18131" marB="18131" anchor="ctr"/>
                </a:tc>
                <a:tc>
                  <a:txBody>
                    <a:bodyPr/>
                    <a:lstStyle/>
                    <a:p>
                      <a:pPr algn="r">
                        <a:buNone/>
                      </a:pPr>
                      <a:r>
                        <a:rPr lang="en-US" sz="1600" dirty="0"/>
                        <a:t>2,000,000</a:t>
                      </a:r>
                    </a:p>
                  </a:txBody>
                  <a:tcPr marL="36261" marR="36261" marT="18131" marB="18131" anchor="ctr"/>
                </a:tc>
                <a:tc>
                  <a:txBody>
                    <a:bodyPr/>
                    <a:lstStyle/>
                    <a:p>
                      <a:pPr algn="r">
                        <a:buNone/>
                      </a:pPr>
                      <a:endParaRPr lang="en-US" sz="1600" dirty="0"/>
                    </a:p>
                  </a:txBody>
                  <a:tcPr marL="36261" marR="36261" marT="18131" marB="18131" anchor="ctr"/>
                </a:tc>
                <a:tc>
                  <a:txBody>
                    <a:bodyPr/>
                    <a:lstStyle/>
                    <a:p>
                      <a:pPr algn="r">
                        <a:buNone/>
                      </a:pPr>
                      <a:r>
                        <a:rPr lang="en-US" sz="1600" dirty="0"/>
                        <a:t>20,000</a:t>
                      </a:r>
                    </a:p>
                  </a:txBody>
                  <a:tcPr marL="36261" marR="36261" marT="18131" marB="18131" anchor="ctr"/>
                </a:tc>
                <a:tc>
                  <a:txBody>
                    <a:bodyPr/>
                    <a:lstStyle/>
                    <a:p>
                      <a:pPr algn="r">
                        <a:buNone/>
                      </a:pPr>
                      <a:r>
                        <a:rPr lang="en-US" sz="1600"/>
                        <a:t>8,000</a:t>
                      </a:r>
                    </a:p>
                  </a:txBody>
                  <a:tcPr marL="36261" marR="36261" marT="18131" marB="18131" anchor="ctr"/>
                </a:tc>
                <a:tc>
                  <a:txBody>
                    <a:bodyPr/>
                    <a:lstStyle/>
                    <a:p>
                      <a:pPr algn="r">
                        <a:buNone/>
                      </a:pPr>
                      <a:r>
                        <a:rPr lang="en-US" sz="1600"/>
                        <a:t>25,000</a:t>
                      </a:r>
                    </a:p>
                  </a:txBody>
                  <a:tcPr marL="36261" marR="36261" marT="18131" marB="18131" anchor="ctr"/>
                </a:tc>
                <a:tc>
                  <a:txBody>
                    <a:bodyPr/>
                    <a:lstStyle/>
                    <a:p>
                      <a:pPr algn="r">
                        <a:buNone/>
                      </a:pPr>
                      <a:r>
                        <a:rPr lang="en-US" sz="1600" dirty="0"/>
                        <a:t>1,995,000</a:t>
                      </a:r>
                    </a:p>
                  </a:txBody>
                  <a:tcPr marL="36261" marR="36261" marT="18131" marB="18131" anchor="ctr"/>
                </a:tc>
                <a:extLst>
                  <a:ext uri="{0D108BD9-81ED-4DB2-BD59-A6C34878D82A}">
                    <a16:rowId xmlns:a16="http://schemas.microsoft.com/office/drawing/2014/main" val="3536942177"/>
                  </a:ext>
                </a:extLst>
              </a:tr>
            </a:tbl>
          </a:graphicData>
        </a:graphic>
      </p:graphicFrame>
      <p:sp>
        <p:nvSpPr>
          <p:cNvPr id="12" name="TextBox 11">
            <a:extLst>
              <a:ext uri="{FF2B5EF4-FFF2-40B4-BE49-F238E27FC236}">
                <a16:creationId xmlns:a16="http://schemas.microsoft.com/office/drawing/2014/main" id="{BFD3ECC4-7563-108E-7E66-2C5124158AE8}"/>
              </a:ext>
            </a:extLst>
          </p:cNvPr>
          <p:cNvSpPr txBox="1"/>
          <p:nvPr/>
        </p:nvSpPr>
        <p:spPr>
          <a:xfrm>
            <a:off x="5731312" y="1709928"/>
            <a:ext cx="6091880" cy="358816"/>
          </a:xfrm>
          <a:prstGeom prst="rect">
            <a:avLst/>
          </a:prstGeom>
          <a:noFill/>
        </p:spPr>
        <p:txBody>
          <a:bodyPr wrap="square">
            <a:spAutoFit/>
          </a:bodyPr>
          <a:lstStyle/>
          <a:p>
            <a:pPr>
              <a:lnSpc>
                <a:spcPct val="115000"/>
              </a:lnSpc>
              <a:spcAft>
                <a:spcPts val="1000"/>
              </a:spcAft>
              <a:buSzPct val="100000"/>
            </a:pPr>
            <a:r>
              <a:rPr lang="en-US" sz="1600" dirty="0">
                <a:solidFill>
                  <a:srgbClr val="1B2130"/>
                </a:solidFill>
                <a:latin typeface="Calibri" pitchFamily="34" charset="0"/>
                <a:ea typeface="Calibri" pitchFamily="34" charset="-122"/>
                <a:cs typeface="Calibri" pitchFamily="34" charset="-120"/>
              </a:rPr>
              <a:t>Fill the missing numbers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1 · GROWTH MODELS</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Exponential Growth &amp; the Rule of 70</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737360"/>
            <a:ext cx="5285033" cy="1828800"/>
          </a:xfrm>
          <a:prstGeom prst="roundRect">
            <a:avLst>
              <a:gd name="adj" fmla="val 4000"/>
            </a:avLst>
          </a:prstGeom>
          <a:solidFill>
            <a:srgbClr val="0B3D4C"/>
          </a:solidFill>
          <a:ln/>
        </p:spPr>
      </p:sp>
      <mc:AlternateContent xmlns:mc="http://schemas.openxmlformats.org/markup-compatibility/2006" xmlns:a14="http://schemas.microsoft.com/office/drawing/2010/main">
        <mc:Choice Requires="a14">
          <p:sp>
            <p:nvSpPr>
              <p:cNvPr id="8" name="Text 5"/>
              <p:cNvSpPr/>
              <p:nvPr/>
            </p:nvSpPr>
            <p:spPr>
              <a:xfrm>
                <a:off x="548640" y="3796020"/>
                <a:ext cx="5120640" cy="2377440"/>
              </a:xfrm>
              <a:prstGeom prst="rect">
                <a:avLst/>
              </a:prstGeom>
              <a:noFill/>
              <a:ln/>
            </p:spPr>
            <p:txBody>
              <a:bodyPr wrap="square" lIns="0" tIns="0" rIns="0" bIns="0" rtlCol="0" anchor="t"/>
              <a:lstStyle/>
              <a:p>
                <a:pPr marL="285750" lvl="0" indent="-285750">
                  <a:buFont typeface="Arial" panose="020B0604020202020204" pitchFamily="34" charset="0"/>
                  <a:buChar char="•"/>
                </a:pPr>
                <a14:m>
                  <m:oMath xmlns:m="http://schemas.openxmlformats.org/officeDocument/2006/math">
                    <m:r>
                      <a:rPr lang="en-US" i="1" smtClean="0">
                        <a:latin typeface="Cambria Math" panose="02040503050406030204" pitchFamily="18" charset="0"/>
                      </a:rPr>
                      <m:t>𝑟</m:t>
                    </m:r>
                  </m:oMath>
                </a14:m>
                <a:r>
                  <a:rPr lang="en-US" sz="1600" dirty="0"/>
                  <a:t>= annual population growth rate, expressed as a decimal. </a:t>
                </a:r>
              </a:p>
              <a:p>
                <a:pPr marL="285750" lvl="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𝑛</m:t>
                    </m:r>
                  </m:oMath>
                </a14:m>
                <a:r>
                  <a:rPr lang="en-US" sz="1600" dirty="0"/>
                  <a:t>= number of years. </a:t>
                </a:r>
              </a:p>
              <a:p>
                <a:pPr marL="285750" lvl="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𝑒</m:t>
                    </m:r>
                    <m:r>
                      <a:rPr lang="en-US">
                        <a:latin typeface="Cambria Math" panose="02040503050406030204" pitchFamily="18" charset="0"/>
                      </a:rPr>
                      <m:t>≈2.71828</m:t>
                    </m:r>
                  </m:oMath>
                </a14:m>
                <a:r>
                  <a:rPr lang="en-US" sz="1600" dirty="0"/>
                  <a:t>is the base of natural logarithms; this formula assumes continuous (exponential) compounding. </a:t>
                </a:r>
              </a:p>
              <a:p>
                <a:pPr lvl="0"/>
                <a:endParaRPr lang="en-US" sz="1600" dirty="0"/>
              </a:p>
              <a:p>
                <a:pPr lvl="0"/>
                <a:endParaRPr lang="en-US" sz="1600" dirty="0"/>
              </a:p>
              <a:p>
                <a:pPr lvl="0"/>
                <a:endParaRPr lang="en-US" sz="1600" dirty="0"/>
              </a:p>
              <a:p>
                <a:pPr lvl="0"/>
                <a:endParaRPr lang="en-US" sz="1600" dirty="0"/>
              </a:p>
              <a:p>
                <a:pPr marL="285750" lvl="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a:latin typeface="Cambria Math" panose="02040503050406030204" pitchFamily="18" charset="0"/>
                          </a:rPr>
                          <m:t>2</m:t>
                        </m:r>
                      </m:sub>
                    </m:sSub>
                  </m:oMath>
                </a14:m>
                <a:r>
                  <a:rPr lang="en-US" sz="1600" dirty="0"/>
                  <a:t>= approximate number of years required for a population to double, using the Rule of 70. </a:t>
                </a:r>
              </a:p>
              <a:p>
                <a:pPr marL="285750" lvl="0" indent="-285750">
                  <a:buFont typeface="Arial" panose="020B0604020202020204" pitchFamily="34" charset="0"/>
                  <a:buChar char="•"/>
                </a:pPr>
                <a:r>
                  <a:rPr lang="en-US" sz="1600" dirty="0"/>
                  <a:t>The Rule of 70 is derived from </a:t>
                </a:r>
                <a14:m>
                  <m:oMath xmlns:m="http://schemas.openxmlformats.org/officeDocument/2006/math">
                    <m:r>
                      <m:rPr>
                        <m:sty m:val="p"/>
                      </m:rPr>
                      <a:rPr lang="en-US">
                        <a:latin typeface="Cambria Math" panose="02040503050406030204" pitchFamily="18" charset="0"/>
                      </a:rPr>
                      <m:t>ln</m:t>
                    </m:r>
                    <m:r>
                      <a:rPr lang="en-US">
                        <a:latin typeface="Cambria Math" panose="02040503050406030204" pitchFamily="18" charset="0"/>
                      </a:rPr>
                      <m:t>⁡</m:t>
                    </m:r>
                    <m:d>
                      <m:dPr>
                        <m:ctrlPr>
                          <a:rPr lang="en-US">
                            <a:latin typeface="Cambria Math" panose="02040503050406030204" pitchFamily="18" charset="0"/>
                          </a:rPr>
                        </m:ctrlPr>
                      </m:dPr>
                      <m:e>
                        <m:r>
                          <a:rPr lang="en-US">
                            <a:latin typeface="Cambria Math" panose="02040503050406030204" pitchFamily="18" charset="0"/>
                          </a:rPr>
                          <m:t>2</m:t>
                        </m:r>
                      </m:e>
                    </m:d>
                    <m:r>
                      <a:rPr lang="en-US">
                        <a:latin typeface="Cambria Math" panose="02040503050406030204" pitchFamily="18" charset="0"/>
                      </a:rPr>
                      <m:t>≈0.693≈0.70</m:t>
                    </m:r>
                  </m:oMath>
                </a14:m>
                <a:r>
                  <a:rPr lang="en-US" sz="1600" dirty="0"/>
                  <a:t>.</a:t>
                </a:r>
              </a:p>
            </p:txBody>
          </p:sp>
        </mc:Choice>
        <mc:Fallback xmlns="">
          <p:sp>
            <p:nvSpPr>
              <p:cNvPr id="8" name="Text 5"/>
              <p:cNvSpPr>
                <a:spLocks noRot="1" noChangeAspect="1" noMove="1" noResize="1" noEditPoints="1" noAdjustHandles="1" noChangeArrowheads="1" noChangeShapeType="1" noTextEdit="1"/>
              </p:cNvSpPr>
              <p:nvPr/>
            </p:nvSpPr>
            <p:spPr>
              <a:xfrm>
                <a:off x="548640" y="3796020"/>
                <a:ext cx="5120640" cy="2377440"/>
              </a:xfrm>
              <a:prstGeom prst="rect">
                <a:avLst/>
              </a:prstGeom>
              <a:blipFill>
                <a:blip r:embed="rId4"/>
                <a:stretch>
                  <a:fillRect l="-2500" t="-2564" r="-2857" b="-23077"/>
                </a:stretch>
              </a:blipFill>
              <a:ln/>
            </p:spPr>
            <p:txBody>
              <a:bodyPr/>
              <a:lstStyle/>
              <a:p>
                <a:r>
                  <a:rPr lang="en-US">
                    <a:noFill/>
                  </a:rPr>
                  <a:t> </a:t>
                </a:r>
              </a:p>
            </p:txBody>
          </p:sp>
        </mc:Fallback>
      </mc:AlternateContent>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8</a:t>
            </a:r>
            <a:endParaRPr lang="en-US" sz="1050" dirty="0"/>
          </a:p>
        </p:txBody>
      </p:sp>
      <p:sp>
        <p:nvSpPr>
          <p:cNvPr id="15" name="Shape 3">
            <a:extLst>
              <a:ext uri="{FF2B5EF4-FFF2-40B4-BE49-F238E27FC236}">
                <a16:creationId xmlns:a16="http://schemas.microsoft.com/office/drawing/2014/main" id="{08DF8125-BE3E-13ED-DE0B-111031A4B07E}"/>
              </a:ext>
            </a:extLst>
          </p:cNvPr>
          <p:cNvSpPr/>
          <p:nvPr/>
        </p:nvSpPr>
        <p:spPr>
          <a:xfrm>
            <a:off x="6540500" y="1737360"/>
            <a:ext cx="5010626" cy="1828800"/>
          </a:xfrm>
          <a:prstGeom prst="roundRect">
            <a:avLst>
              <a:gd name="adj" fmla="val 4000"/>
            </a:avLst>
          </a:prstGeom>
          <a:solidFill>
            <a:srgbClr val="0B3D4C"/>
          </a:solidFill>
          <a:ln/>
        </p:spPr>
      </p:sp>
      <p:pic>
        <p:nvPicPr>
          <p:cNvPr id="17" name="Picture 16">
            <a:extLst>
              <a:ext uri="{FF2B5EF4-FFF2-40B4-BE49-F238E27FC236}">
                <a16:creationId xmlns:a16="http://schemas.microsoft.com/office/drawing/2014/main" id="{AD7F15D7-0723-D7EF-9C2E-434D2CCF11D2}"/>
              </a:ext>
            </a:extLst>
          </p:cNvPr>
          <p:cNvPicPr>
            <a:picLocks noChangeAspect="1"/>
          </p:cNvPicPr>
          <p:nvPr/>
        </p:nvPicPr>
        <p:blipFill>
          <a:blip r:embed="rId5"/>
          <a:stretch>
            <a:fillRect/>
          </a:stretch>
        </p:blipFill>
        <p:spPr>
          <a:xfrm>
            <a:off x="1703210" y="2310971"/>
            <a:ext cx="2534004" cy="609685"/>
          </a:xfrm>
          <a:prstGeom prst="rect">
            <a:avLst/>
          </a:prstGeom>
        </p:spPr>
      </p:pic>
      <p:pic>
        <p:nvPicPr>
          <p:cNvPr id="19" name="Picture 18">
            <a:extLst>
              <a:ext uri="{FF2B5EF4-FFF2-40B4-BE49-F238E27FC236}">
                <a16:creationId xmlns:a16="http://schemas.microsoft.com/office/drawing/2014/main" id="{739089B9-F3B8-6477-333A-0B279E18AD37}"/>
              </a:ext>
            </a:extLst>
          </p:cNvPr>
          <p:cNvPicPr>
            <a:picLocks noChangeAspect="1"/>
          </p:cNvPicPr>
          <p:nvPr/>
        </p:nvPicPr>
        <p:blipFill>
          <a:blip r:embed="rId6"/>
          <a:stretch>
            <a:fillRect/>
          </a:stretch>
        </p:blipFill>
        <p:spPr>
          <a:xfrm>
            <a:off x="1841958" y="5057032"/>
            <a:ext cx="1447342" cy="651817"/>
          </a:xfrm>
          <a:prstGeom prst="rect">
            <a:avLst/>
          </a:prstGeom>
        </p:spPr>
      </p:pic>
      <p:sp>
        <p:nvSpPr>
          <p:cNvPr id="21" name="TextBox 20">
            <a:extLst>
              <a:ext uri="{FF2B5EF4-FFF2-40B4-BE49-F238E27FC236}">
                <a16:creationId xmlns:a16="http://schemas.microsoft.com/office/drawing/2014/main" id="{CC0F57A8-44CF-1A67-9600-551035B034F3}"/>
              </a:ext>
            </a:extLst>
          </p:cNvPr>
          <p:cNvSpPr txBox="1"/>
          <p:nvPr/>
        </p:nvSpPr>
        <p:spPr>
          <a:xfrm>
            <a:off x="6667500" y="1799582"/>
            <a:ext cx="6096000" cy="338554"/>
          </a:xfrm>
          <a:prstGeom prst="rect">
            <a:avLst/>
          </a:prstGeom>
          <a:noFill/>
        </p:spPr>
        <p:txBody>
          <a:bodyPr wrap="square">
            <a:spAutoFit/>
          </a:bodyPr>
          <a:lstStyle/>
          <a:p>
            <a:r>
              <a:rPr lang="en-US" sz="1600" dirty="0">
                <a:solidFill>
                  <a:schemeClr val="bg1"/>
                </a:solidFill>
              </a:rPr>
              <a:t>A discrete-growth alternative is also commonly used</a:t>
            </a:r>
          </a:p>
        </p:txBody>
      </p:sp>
      <p:pic>
        <p:nvPicPr>
          <p:cNvPr id="23" name="Picture 22">
            <a:extLst>
              <a:ext uri="{FF2B5EF4-FFF2-40B4-BE49-F238E27FC236}">
                <a16:creationId xmlns:a16="http://schemas.microsoft.com/office/drawing/2014/main" id="{0377D2E7-368E-6AD3-C3D4-8006665FD629}"/>
              </a:ext>
            </a:extLst>
          </p:cNvPr>
          <p:cNvPicPr>
            <a:picLocks noChangeAspect="1"/>
          </p:cNvPicPr>
          <p:nvPr/>
        </p:nvPicPr>
        <p:blipFill>
          <a:blip r:embed="rId7"/>
          <a:stretch>
            <a:fillRect/>
          </a:stretch>
        </p:blipFill>
        <p:spPr>
          <a:xfrm>
            <a:off x="7901700" y="2424802"/>
            <a:ext cx="2400635" cy="523948"/>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2580513-B076-3FDD-0A3A-B899D379DAB6}"/>
                  </a:ext>
                </a:extLst>
              </p:cNvPr>
              <p:cNvSpPr txBox="1"/>
              <p:nvPr/>
            </p:nvSpPr>
            <p:spPr>
              <a:xfrm>
                <a:off x="6459982" y="3959780"/>
                <a:ext cx="5363210" cy="2049920"/>
              </a:xfrm>
              <a:prstGeom prst="rect">
                <a:avLst/>
              </a:prstGeom>
              <a:noFill/>
            </p:spPr>
            <p:txBody>
              <a:bodyPr wrap="square">
                <a:spAutoFit/>
              </a:bodyPr>
              <a:lstStyle/>
              <a:p>
                <a:pPr>
                  <a:buNone/>
                </a:pPr>
                <a:r>
                  <a:rPr lang="en-US" dirty="0"/>
                  <a:t>If a population is 10 million and grows continuously at 1% per year for 20 years:</a:t>
                </a:r>
              </a:p>
              <a:p>
                <a:pPr>
                  <a:buNone/>
                </a:pPr>
                <a:endParaRPr lang="en-US" dirty="0"/>
              </a:p>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2</m:t>
                          </m:r>
                        </m:sub>
                      </m:sSub>
                      <m:r>
                        <a:rPr lang="en-US" i="0">
                          <a:latin typeface="Cambria Math" panose="02040503050406030204" pitchFamily="18" charset="0"/>
                        </a:rPr>
                        <m:t>=10,000,000⋅</m:t>
                      </m:r>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0">
                                  <a:latin typeface="Cambria Math" panose="02040503050406030204" pitchFamily="18" charset="0"/>
                                </a:rPr>
                              </m:ctrlPr>
                            </m:dPr>
                            <m:e>
                              <m:r>
                                <a:rPr lang="en-US" i="0">
                                  <a:latin typeface="Cambria Math" panose="02040503050406030204" pitchFamily="18" charset="0"/>
                                </a:rPr>
                                <m:t>0.01×20</m:t>
                              </m:r>
                            </m:e>
                          </m:d>
                        </m:sup>
                      </m:sSup>
                      <m:r>
                        <a:rPr lang="en-US" i="0">
                          <a:latin typeface="Cambria Math" panose="02040503050406030204" pitchFamily="18" charset="0"/>
                        </a:rPr>
                        <m:t>≈12,214,000</m:t>
                      </m:r>
                    </m:oMath>
                  </m:oMathPara>
                </a14:m>
                <a:endParaRPr lang="en-US" dirty="0"/>
              </a:p>
              <a:p>
                <a:pPr>
                  <a:buNone/>
                </a:pPr>
                <a:endParaRPr lang="en-US" dirty="0"/>
              </a:p>
              <a:p>
                <a:pPr>
                  <a:buNone/>
                </a:pPr>
                <a:r>
                  <a:rPr lang="en-US" dirty="0"/>
                  <a:t>Thus, the population would increase to approximately </a:t>
                </a:r>
                <a:r>
                  <a:rPr lang="en-US" b="1" dirty="0"/>
                  <a:t>12.2 million </a:t>
                </a:r>
                <a:r>
                  <a:rPr lang="en-US" dirty="0"/>
                  <a:t>after 20 years.</a:t>
                </a:r>
              </a:p>
            </p:txBody>
          </p:sp>
        </mc:Choice>
        <mc:Fallback xmlns="">
          <p:sp>
            <p:nvSpPr>
              <p:cNvPr id="25" name="TextBox 24">
                <a:extLst>
                  <a:ext uri="{FF2B5EF4-FFF2-40B4-BE49-F238E27FC236}">
                    <a16:creationId xmlns:a16="http://schemas.microsoft.com/office/drawing/2014/main" id="{52580513-B076-3FDD-0A3A-B899D379DAB6}"/>
                  </a:ext>
                </a:extLst>
              </p:cNvPr>
              <p:cNvSpPr txBox="1">
                <a:spLocks noRot="1" noChangeAspect="1" noMove="1" noResize="1" noEditPoints="1" noAdjustHandles="1" noChangeArrowheads="1" noChangeShapeType="1" noTextEdit="1"/>
              </p:cNvSpPr>
              <p:nvPr/>
            </p:nvSpPr>
            <p:spPr>
              <a:xfrm>
                <a:off x="6459982" y="3959780"/>
                <a:ext cx="5363210" cy="2049920"/>
              </a:xfrm>
              <a:prstGeom prst="rect">
                <a:avLst/>
              </a:prstGeom>
              <a:blipFill>
                <a:blip r:embed="rId8"/>
                <a:stretch>
                  <a:fillRect l="-1023" t="-1786" b="-3869"/>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BLOCK 1 · WORKED EXAMPLE</a:t>
            </a:r>
            <a:endParaRPr lang="en-US" sz="14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200" b="1" dirty="0">
                <a:solidFill>
                  <a:srgbClr val="0B3D4C"/>
                </a:solidFill>
                <a:latin typeface="Cambria" pitchFamily="34" charset="0"/>
                <a:ea typeface="Cambria" pitchFamily="34" charset="-122"/>
                <a:cs typeface="Cambria" pitchFamily="34" charset="-120"/>
              </a:rPr>
              <a:t>Comparing Real Growth Rates: US vs. Mexico, 2024</a:t>
            </a:r>
            <a:endParaRPr lang="en-US" sz="32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graphicFrame>
        <p:nvGraphicFramePr>
          <p:cNvPr id="6" name="Chart 0"/>
          <p:cNvGraphicFramePr/>
          <p:nvPr>
            <p:extLst>
              <p:ext uri="{D42A27DB-BD31-4B8C-83A1-F6EECF244321}">
                <p14:modId xmlns:p14="http://schemas.microsoft.com/office/powerpoint/2010/main" val="2158602511"/>
              </p:ext>
            </p:extLst>
          </p:nvPr>
        </p:nvGraphicFramePr>
        <p:xfrm>
          <a:off x="548640" y="1691640"/>
          <a:ext cx="5303520" cy="411480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7" name="Text 3"/>
              <p:cNvSpPr/>
              <p:nvPr/>
            </p:nvSpPr>
            <p:spPr>
              <a:xfrm>
                <a:off x="6126480" y="1783080"/>
                <a:ext cx="5486400" cy="4151376"/>
              </a:xfrm>
              <a:prstGeom prst="rect">
                <a:avLst/>
              </a:prstGeom>
              <a:noFill/>
              <a:ln/>
            </p:spPr>
            <p:txBody>
              <a:bodyPr wrap="square" lIns="0" tIns="0" rIns="0" bIns="0" rtlCol="0" anchor="t"/>
              <a:lstStyle/>
              <a:p>
                <a:r>
                  <a:rPr lang="en-US" sz="2400" dirty="0"/>
                  <a:t>Using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𝑃</m:t>
                        </m:r>
                      </m:e>
                      <m:sub>
                        <m:r>
                          <a:rPr lang="en-US" sz="3200">
                            <a:latin typeface="Cambria Math" panose="02040503050406030204" pitchFamily="18" charset="0"/>
                          </a:rPr>
                          <m:t>2</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𝑃</m:t>
                        </m:r>
                      </m:e>
                      <m:sub>
                        <m:r>
                          <a:rPr lang="en-US" sz="3200">
                            <a:latin typeface="Cambria Math" panose="02040503050406030204" pitchFamily="18" charset="0"/>
                          </a:rPr>
                          <m:t>1</m:t>
                        </m:r>
                      </m:sub>
                    </m:sSub>
                    <m:r>
                      <a:rPr lang="en-US" sz="3200">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𝑟𝑛</m:t>
                        </m:r>
                      </m:sup>
                    </m:sSup>
                  </m:oMath>
                </a14:m>
                <a:endParaRPr lang="en-US" sz="2400" dirty="0"/>
              </a:p>
              <a:p>
                <a:endParaRPr lang="en-US" dirty="0"/>
              </a:p>
              <a:p>
                <a:pPr marL="342900" indent="-342900">
                  <a:buAutoNum type="arabicPeriod"/>
                </a:pPr>
                <a:r>
                  <a:rPr lang="en-US" dirty="0"/>
                  <a:t>If the U.S. population were 335 million in 2024, with an annual growth rate of </a:t>
                </a:r>
                <a14:m>
                  <m:oMath xmlns:m="http://schemas.openxmlformats.org/officeDocument/2006/math">
                    <m:r>
                      <a:rPr lang="en-US" sz="2400" i="1">
                        <a:latin typeface="Cambria Math" panose="02040503050406030204" pitchFamily="18" charset="0"/>
                      </a:rPr>
                      <m:t>𝑟</m:t>
                    </m:r>
                    <m:r>
                      <a:rPr lang="en-US" sz="2400">
                        <a:latin typeface="Cambria Math" panose="02040503050406030204" pitchFamily="18" charset="0"/>
                      </a:rPr>
                      <m:t>=0.0098</m:t>
                    </m:r>
                  </m:oMath>
                </a14:m>
                <a:r>
                  <a:rPr lang="en-US" dirty="0"/>
                  <a:t>, the population in the next 10 year? </a:t>
                </a:r>
              </a:p>
              <a:p>
                <a:r>
                  <a:rPr lang="en-US" dirty="0"/>
                  <a:t> it would reach approximately </a:t>
                </a:r>
                <a14:m>
                  <m:oMath xmlns:m="http://schemas.openxmlformats.org/officeDocument/2006/math">
                    <m:r>
                      <a:rPr lang="en-US" sz="2400">
                        <a:latin typeface="Cambria Math" panose="02040503050406030204" pitchFamily="18" charset="0"/>
                      </a:rPr>
                      <m:t>335×</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d>
                          <m:dPr>
                            <m:ctrlPr>
                              <a:rPr lang="en-US" sz="2400">
                                <a:latin typeface="Cambria Math" panose="02040503050406030204" pitchFamily="18" charset="0"/>
                              </a:rPr>
                            </m:ctrlPr>
                          </m:dPr>
                          <m:e>
                            <m:r>
                              <a:rPr lang="en-US" sz="2400">
                                <a:latin typeface="Cambria Math" panose="02040503050406030204" pitchFamily="18" charset="0"/>
                              </a:rPr>
                              <m:t>0.0098×10</m:t>
                            </m:r>
                          </m:e>
                        </m:d>
                      </m:sup>
                    </m:sSup>
                    <m:r>
                      <a:rPr lang="en-US" sz="2400">
                        <a:latin typeface="Cambria Math" panose="02040503050406030204" pitchFamily="18" charset="0"/>
                      </a:rPr>
                      <m:t>≈370</m:t>
                    </m:r>
                  </m:oMath>
                </a14:m>
                <a:r>
                  <a:rPr lang="en-US" dirty="0"/>
                  <a:t>million by 2034, assuming the rate remained constant.</a:t>
                </a:r>
              </a:p>
              <a:p>
                <a:endParaRPr lang="en-US" dirty="0"/>
              </a:p>
              <a:p>
                <a:r>
                  <a:rPr lang="en-US" dirty="0"/>
                  <a:t>------ </a:t>
                </a:r>
              </a:p>
              <a:p>
                <a:r>
                  <a:rPr lang="en-US" dirty="0"/>
                  <a:t>2. Mexico, with </a:t>
                </a:r>
                <a14:m>
                  <m:oMath xmlns:m="http://schemas.openxmlformats.org/officeDocument/2006/math">
                    <m:r>
                      <a:rPr lang="en-US" sz="2400" i="1">
                        <a:latin typeface="Cambria Math" panose="02040503050406030204" pitchFamily="18" charset="0"/>
                      </a:rPr>
                      <m:t>𝑟</m:t>
                    </m:r>
                    <m:r>
                      <a:rPr lang="en-US" sz="2400">
                        <a:latin typeface="Cambria Math" panose="02040503050406030204" pitchFamily="18" charset="0"/>
                      </a:rPr>
                      <m:t>=0.0086</m:t>
                    </m:r>
                  </m:oMath>
                </a14:m>
                <a:r>
                  <a:rPr lang="en-US" dirty="0"/>
                  <a:t>, grows more slowly in relative terms despite its younger age structure. </a:t>
                </a:r>
              </a:p>
              <a:p>
                <a:endParaRPr lang="en-US" dirty="0"/>
              </a:p>
              <a:p>
                <a:r>
                  <a:rPr lang="en-US" dirty="0"/>
                  <a:t>Try the calculation yourself using Mexico’s figures.</a:t>
                </a:r>
              </a:p>
            </p:txBody>
          </p:sp>
        </mc:Choice>
        <mc:Fallback xmlns="">
          <p:sp>
            <p:nvSpPr>
              <p:cNvPr id="7" name="Text 3"/>
              <p:cNvSpPr>
                <a:spLocks noRot="1" noChangeAspect="1" noMove="1" noResize="1" noEditPoints="1" noAdjustHandles="1" noChangeArrowheads="1" noChangeShapeType="1" noTextEdit="1"/>
              </p:cNvSpPr>
              <p:nvPr/>
            </p:nvSpPr>
            <p:spPr>
              <a:xfrm>
                <a:off x="6126480" y="1783080"/>
                <a:ext cx="5486400" cy="4151376"/>
              </a:xfrm>
              <a:prstGeom prst="rect">
                <a:avLst/>
              </a:prstGeom>
              <a:blipFill>
                <a:blip r:embed="rId5"/>
                <a:stretch>
                  <a:fillRect l="-3333" r="-3000" b="-9838"/>
                </a:stretch>
              </a:blipFill>
              <a:ln/>
            </p:spPr>
            <p:txBody>
              <a:bodyPr/>
              <a:lstStyle/>
              <a:p>
                <a:r>
                  <a:rPr lang="en-US">
                    <a:noFill/>
                  </a:rPr>
                  <a:t> </a:t>
                </a:r>
              </a:p>
            </p:txBody>
          </p:sp>
        </mc:Fallback>
      </mc:AlternateContent>
      <p:sp>
        <p:nvSpPr>
          <p:cNvPr id="8" name="Text 4"/>
          <p:cNvSpPr/>
          <p:nvPr/>
        </p:nvSpPr>
        <p:spPr>
          <a:xfrm>
            <a:off x="548640" y="6355080"/>
            <a:ext cx="11064240" cy="36576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Source: World Bank. (2025). Population growth (annual %) — United States, Mexico [Data set]. World Bank Open Data. https://data.worldbank.org/indicator/SP.POP.GROW</a:t>
            </a:r>
            <a:endParaRPr lang="en-US" sz="1000" dirty="0"/>
          </a:p>
        </p:txBody>
      </p:sp>
      <p:sp>
        <p:nvSpPr>
          <p:cNvPr id="9"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IN-CLASS EXERCISE</a:t>
            </a:r>
            <a:endParaRPr lang="en-US"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Your Turn: Growth Rate &amp; Doubling Time</a:t>
            </a:r>
            <a:endParaRPr lang="en-US" sz="4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mc:AlternateContent xmlns:mc="http://schemas.openxmlformats.org/markup-compatibility/2006" xmlns:a14="http://schemas.microsoft.com/office/drawing/2010/main">
        <mc:Choice Requires="a14">
          <p:sp>
            <p:nvSpPr>
              <p:cNvPr id="6" name="Text 3"/>
              <p:cNvSpPr/>
              <p:nvPr/>
            </p:nvSpPr>
            <p:spPr>
              <a:xfrm>
                <a:off x="548640" y="1417320"/>
                <a:ext cx="10881360" cy="4572000"/>
              </a:xfrm>
              <a:prstGeom prst="rect">
                <a:avLst/>
              </a:prstGeom>
              <a:noFill/>
              <a:ln/>
            </p:spPr>
            <p:txBody>
              <a:bodyPr wrap="square" lIns="0" tIns="0" rIns="0" bIns="0" rtlCol="0" anchor="t"/>
              <a:lstStyle/>
              <a:p>
                <a:r>
                  <a:rPr lang="en-US" sz="2400" b="1" dirty="0"/>
                  <a:t>Working in pairs (10 minutes):</a:t>
                </a:r>
                <a:endParaRPr lang="en-US" sz="2400" dirty="0"/>
              </a:p>
              <a:p>
                <a:pPr marL="457200" lvl="0" indent="-457200">
                  <a:buAutoNum type="arabicPeriod"/>
                </a:pPr>
                <a:r>
                  <a:rPr lang="en-US" sz="2400" dirty="0"/>
                  <a:t>Mexico’s population was approximately 130 million in 2024, with an annual growth rate of r=0.0086. Using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a:latin typeface="Cambria Math" panose="02040503050406030204" pitchFamily="18" charset="0"/>
                          </a:rPr>
                          <m:t>2</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a:latin typeface="Cambria Math" panose="02040503050406030204" pitchFamily="18" charset="0"/>
                          </a:rPr>
                          <m:t>1</m:t>
                        </m:r>
                      </m:sub>
                    </m:sSub>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𝑟𝑛</m:t>
                        </m:r>
                      </m:sup>
                    </m:sSup>
                  </m:oMath>
                </a14:m>
                <a:r>
                  <a:rPr lang="en-US" sz="2400" dirty="0"/>
                  <a:t>, project Mexico’s population in 2034. </a:t>
                </a:r>
              </a:p>
              <a:p>
                <a:pPr marL="457200" lvl="0" indent="-457200">
                  <a:buAutoNum type="arabicPeriod"/>
                </a:pPr>
                <a:endParaRPr lang="en-US" sz="2400" dirty="0"/>
              </a:p>
              <a:p>
                <a:pPr lvl="0"/>
                <a:r>
                  <a:rPr lang="en-US" sz="2400" dirty="0"/>
                  <a:t>2. Suppose Thailand’s population declines at a constant annual rate of 0.5%. When will it take for the population to fall to half its current size? What does a negative population growth rate imply about the components of the demographic balancing equation? </a:t>
                </a:r>
              </a:p>
              <a:p>
                <a:pPr lvl="0"/>
                <a:endParaRPr lang="en-US" sz="2400" dirty="0"/>
              </a:p>
              <a:p>
                <a:pPr lvl="0"/>
                <a:r>
                  <a:rPr lang="en-US" sz="2400" dirty="0"/>
                  <a:t>3. Explore the current population and annual growth rate of your country. Assuming that the growth rate remains constant, calculate the year in which its population would: </a:t>
                </a:r>
              </a:p>
              <a:p>
                <a:pPr marL="800100" lvl="1" indent="-342900">
                  <a:buFont typeface="Arial" panose="020B0604020202020204" pitchFamily="34" charset="0"/>
                  <a:buChar char="•"/>
                </a:pPr>
                <a:r>
                  <a:rPr lang="en-US" sz="2400" dirty="0"/>
                  <a:t>increase to 150% of its current size if the growth rate is positive; or </a:t>
                </a:r>
              </a:p>
              <a:p>
                <a:pPr marL="800100" lvl="1" indent="-342900">
                  <a:buFont typeface="Arial" panose="020B0604020202020204" pitchFamily="34" charset="0"/>
                  <a:buChar char="•"/>
                </a:pPr>
                <a:r>
                  <a:rPr lang="en-US" sz="2400" dirty="0"/>
                  <a:t>decrease to 50% of its current size if the growth rate is negative. </a:t>
                </a:r>
              </a:p>
              <a:p>
                <a:r>
                  <a:rPr lang="en-US" sz="2400" dirty="0"/>
                  <a:t>Briefly discuss whether this projection is realistic and identify the assumptions underlying your calculation.</a:t>
                </a:r>
              </a:p>
            </p:txBody>
          </p:sp>
        </mc:Choice>
        <mc:Fallback xmlns="">
          <p:sp>
            <p:nvSpPr>
              <p:cNvPr id="6" name="Text 3"/>
              <p:cNvSpPr>
                <a:spLocks noRot="1" noChangeAspect="1" noMove="1" noResize="1" noEditPoints="1" noAdjustHandles="1" noChangeArrowheads="1" noChangeShapeType="1" noTextEdit="1"/>
              </p:cNvSpPr>
              <p:nvPr/>
            </p:nvSpPr>
            <p:spPr>
              <a:xfrm>
                <a:off x="548640" y="1417320"/>
                <a:ext cx="10881360" cy="4572000"/>
              </a:xfrm>
              <a:prstGeom prst="rect">
                <a:avLst/>
              </a:prstGeom>
              <a:blipFill>
                <a:blip r:embed="rId4"/>
                <a:stretch>
                  <a:fillRect l="-1737" t="-2133" r="-2241" b="-16000"/>
                </a:stretch>
              </a:blipFill>
              <a:ln/>
            </p:spPr>
            <p:txBody>
              <a:bodyPr/>
              <a:lstStyle/>
              <a:p>
                <a:r>
                  <a:rPr lang="en-US">
                    <a:noFill/>
                  </a:rPr>
                  <a:t> </a:t>
                </a:r>
              </a:p>
            </p:txBody>
          </p:sp>
        </mc:Fallback>
      </mc:AlternateContent>
      <p:sp>
        <p:nvSpPr>
          <p:cNvPr id="7"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B3D4C"/>
        </a:solidFill>
        <a:effectLst/>
      </p:bgPr>
    </p:bg>
    <p:spTree>
      <p:nvGrpSpPr>
        <p:cNvPr id="1" name=""/>
        <p:cNvGrpSpPr/>
        <p:nvPr/>
      </p:nvGrpSpPr>
      <p:grpSpPr>
        <a:xfrm>
          <a:off x="0" y="0"/>
          <a:ext cx="0" cy="0"/>
          <a:chOff x="0" y="0"/>
          <a:chExt cx="0" cy="0"/>
        </a:xfrm>
      </p:grpSpPr>
      <p:sp>
        <p:nvSpPr>
          <p:cNvPr id="2" name="Text 0"/>
          <p:cNvSpPr/>
          <p:nvPr/>
        </p:nvSpPr>
        <p:spPr>
          <a:xfrm>
            <a:off x="822960" y="1828800"/>
            <a:ext cx="5486400" cy="457200"/>
          </a:xfrm>
          <a:prstGeom prst="rect">
            <a:avLst/>
          </a:prstGeom>
          <a:noFill/>
          <a:ln/>
        </p:spPr>
        <p:txBody>
          <a:bodyPr wrap="square" lIns="0" tIns="0" rIns="0" bIns="0" rtlCol="0" anchor="ctr"/>
          <a:lstStyle/>
          <a:p>
            <a:pPr marL="0" indent="0">
              <a:buNone/>
            </a:pPr>
            <a:r>
              <a:rPr lang="en-US" sz="2000" b="1" kern="0" spc="300" dirty="0">
                <a:solidFill>
                  <a:srgbClr val="E85C41"/>
                </a:solidFill>
                <a:latin typeface="Calibri" pitchFamily="34" charset="0"/>
                <a:ea typeface="Calibri" pitchFamily="34" charset="-122"/>
                <a:cs typeface="Calibri" pitchFamily="34" charset="-120"/>
              </a:rPr>
              <a:t>BLOCK 2 </a:t>
            </a:r>
            <a:endParaRPr lang="en-US" sz="2000" dirty="0"/>
          </a:p>
        </p:txBody>
      </p:sp>
      <p:sp>
        <p:nvSpPr>
          <p:cNvPr id="3" name="Text 1"/>
          <p:cNvSpPr/>
          <p:nvPr/>
        </p:nvSpPr>
        <p:spPr>
          <a:xfrm>
            <a:off x="822960" y="2286000"/>
            <a:ext cx="8686800" cy="14630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Official &amp; Traditional Data Sources</a:t>
            </a:r>
            <a:endParaRPr lang="en-US" sz="4800" dirty="0"/>
          </a:p>
        </p:txBody>
      </p:sp>
      <p:sp>
        <p:nvSpPr>
          <p:cNvPr id="4" name="Text 2"/>
          <p:cNvSpPr/>
          <p:nvPr/>
        </p:nvSpPr>
        <p:spPr>
          <a:xfrm>
            <a:off x="822960" y="3794760"/>
            <a:ext cx="7955280" cy="1005840"/>
          </a:xfrm>
          <a:prstGeom prst="rect">
            <a:avLst/>
          </a:prstGeom>
          <a:noFill/>
          <a:ln/>
        </p:spPr>
        <p:txBody>
          <a:bodyPr wrap="square" lIns="0" tIns="0" rIns="0" bIns="0" rtlCol="0" anchor="ctr"/>
          <a:lstStyle/>
          <a:p>
            <a:pPr marL="0" indent="0">
              <a:lnSpc>
                <a:spcPct val="130000"/>
              </a:lnSpc>
              <a:buNone/>
            </a:pPr>
            <a:r>
              <a:rPr lang="en-US" sz="2000" dirty="0">
                <a:solidFill>
                  <a:srgbClr val="CADCFC"/>
                </a:solidFill>
                <a:latin typeface="Calibri" pitchFamily="34" charset="0"/>
                <a:ea typeface="Calibri" pitchFamily="34" charset="-122"/>
                <a:cs typeface="Calibri" pitchFamily="34" charset="-120"/>
              </a:rPr>
              <a:t>The four pillars of official demographic statistics — and how to assess their completeness and quality.</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BLOCK 2 · THE FOUR PILLARS</a:t>
            </a:r>
            <a:endParaRPr lang="en-US" sz="20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400" b="1" dirty="0">
                <a:solidFill>
                  <a:srgbClr val="0B3D4C"/>
                </a:solidFill>
                <a:latin typeface="Cambria" pitchFamily="34" charset="0"/>
                <a:ea typeface="Cambria" pitchFamily="34" charset="-122"/>
                <a:cs typeface="Cambria" pitchFamily="34" charset="-120"/>
              </a:rPr>
              <a:t>Official Sources of Demographic Data</a:t>
            </a:r>
            <a:endParaRPr lang="en-US" sz="44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691640"/>
            <a:ext cx="2548890" cy="3566160"/>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7" name="Shape 4"/>
          <p:cNvSpPr/>
          <p:nvPr/>
        </p:nvSpPr>
        <p:spPr>
          <a:xfrm>
            <a:off x="804672" y="1947672"/>
            <a:ext cx="566928" cy="566928"/>
          </a:xfrm>
          <a:prstGeom prst="ellipse">
            <a:avLst/>
          </a:prstGeom>
          <a:solidFill>
            <a:srgbClr val="FFFFFF"/>
          </a:solidFill>
          <a:ln w="15875">
            <a:solidFill>
              <a:srgbClr val="1C7293"/>
            </a:solidFill>
            <a:prstDash val="solid"/>
          </a:ln>
        </p:spPr>
      </p:sp>
      <p:pic>
        <p:nvPicPr>
          <p:cNvPr id="8" name="Image 1" descr="preencoded.png"/>
          <p:cNvPicPr>
            <a:picLocks noChangeAspect="1"/>
          </p:cNvPicPr>
          <p:nvPr/>
        </p:nvPicPr>
        <p:blipFill>
          <a:blip r:embed="rId4"/>
          <a:stretch>
            <a:fillRect/>
          </a:stretch>
        </p:blipFill>
        <p:spPr>
          <a:xfrm>
            <a:off x="950976" y="2093976"/>
            <a:ext cx="292608" cy="292608"/>
          </a:xfrm>
          <a:prstGeom prst="rect">
            <a:avLst/>
          </a:prstGeom>
        </p:spPr>
      </p:pic>
      <p:sp>
        <p:nvSpPr>
          <p:cNvPr id="9" name="Text 5"/>
          <p:cNvSpPr/>
          <p:nvPr/>
        </p:nvSpPr>
        <p:spPr>
          <a:xfrm>
            <a:off x="804672" y="2606040"/>
            <a:ext cx="2036826" cy="457200"/>
          </a:xfrm>
          <a:prstGeom prst="rect">
            <a:avLst/>
          </a:prstGeom>
          <a:noFill/>
          <a:ln/>
        </p:spPr>
        <p:txBody>
          <a:bodyPr wrap="square" lIns="0" tIns="0" rIns="0" bIns="0" rtlCol="0" anchor="ctr"/>
          <a:lstStyle/>
          <a:p>
            <a:pPr marL="0" indent="0">
              <a:buNone/>
            </a:pPr>
            <a:r>
              <a:rPr lang="en-US" sz="2400" b="1" dirty="0">
                <a:solidFill>
                  <a:srgbClr val="0B3D4C"/>
                </a:solidFill>
                <a:latin typeface="Cambria" pitchFamily="34" charset="0"/>
                <a:ea typeface="Cambria" pitchFamily="34" charset="-122"/>
                <a:cs typeface="Cambria" pitchFamily="34" charset="-120"/>
              </a:rPr>
              <a:t>Census</a:t>
            </a:r>
            <a:endParaRPr lang="en-US" sz="2400" dirty="0"/>
          </a:p>
        </p:txBody>
      </p:sp>
      <p:sp>
        <p:nvSpPr>
          <p:cNvPr id="10" name="Text 6"/>
          <p:cNvSpPr/>
          <p:nvPr/>
        </p:nvSpPr>
        <p:spPr>
          <a:xfrm>
            <a:off x="804672" y="3044952"/>
            <a:ext cx="2036826" cy="2011680"/>
          </a:xfrm>
          <a:prstGeom prst="rect">
            <a:avLst/>
          </a:prstGeom>
          <a:noFill/>
          <a:ln/>
        </p:spPr>
        <p:txBody>
          <a:bodyPr wrap="square" lIns="0" tIns="0" rIns="0" bIns="0" rtlCol="0" anchor="ctr"/>
          <a:lstStyle/>
          <a:p>
            <a:pPr marL="0" indent="0">
              <a:lnSpc>
                <a:spcPct val="115000"/>
              </a:lnSpc>
              <a:buNone/>
            </a:pPr>
            <a:r>
              <a:rPr lang="en-US" dirty="0">
                <a:solidFill>
                  <a:srgbClr val="5B6472"/>
                </a:solidFill>
                <a:latin typeface="Calibri" pitchFamily="34" charset="0"/>
                <a:ea typeface="Calibri" pitchFamily="34" charset="-122"/>
                <a:cs typeface="Calibri" pitchFamily="34" charset="-120"/>
              </a:rPr>
              <a:t>Complete enumeration of a population at a point in time, typically every 5–10 years</a:t>
            </a:r>
            <a:endParaRPr lang="en-US" dirty="0"/>
          </a:p>
        </p:txBody>
      </p:sp>
      <p:sp>
        <p:nvSpPr>
          <p:cNvPr id="11" name="Shape 7"/>
          <p:cNvSpPr/>
          <p:nvPr/>
        </p:nvSpPr>
        <p:spPr>
          <a:xfrm>
            <a:off x="3417570" y="1691640"/>
            <a:ext cx="2548890" cy="3566160"/>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12" name="Shape 8"/>
          <p:cNvSpPr/>
          <p:nvPr/>
        </p:nvSpPr>
        <p:spPr>
          <a:xfrm>
            <a:off x="3673602" y="1947672"/>
            <a:ext cx="566928" cy="566928"/>
          </a:xfrm>
          <a:prstGeom prst="ellipse">
            <a:avLst/>
          </a:prstGeom>
          <a:solidFill>
            <a:srgbClr val="FFFFFF"/>
          </a:solidFill>
          <a:ln w="15875">
            <a:solidFill>
              <a:srgbClr val="1C7293"/>
            </a:solidFill>
            <a:prstDash val="solid"/>
          </a:ln>
        </p:spPr>
      </p:sp>
      <p:pic>
        <p:nvPicPr>
          <p:cNvPr id="13" name="Image 2" descr="preencoded.png"/>
          <p:cNvPicPr>
            <a:picLocks noChangeAspect="1"/>
          </p:cNvPicPr>
          <p:nvPr/>
        </p:nvPicPr>
        <p:blipFill>
          <a:blip r:embed="rId5"/>
          <a:stretch>
            <a:fillRect/>
          </a:stretch>
        </p:blipFill>
        <p:spPr>
          <a:xfrm>
            <a:off x="3819906" y="2093976"/>
            <a:ext cx="292608" cy="292608"/>
          </a:xfrm>
          <a:prstGeom prst="rect">
            <a:avLst/>
          </a:prstGeom>
        </p:spPr>
      </p:pic>
      <p:sp>
        <p:nvSpPr>
          <p:cNvPr id="14" name="Text 9"/>
          <p:cNvSpPr/>
          <p:nvPr/>
        </p:nvSpPr>
        <p:spPr>
          <a:xfrm>
            <a:off x="3673602" y="2606040"/>
            <a:ext cx="2036826" cy="457200"/>
          </a:xfrm>
          <a:prstGeom prst="rect">
            <a:avLst/>
          </a:prstGeom>
          <a:noFill/>
          <a:ln/>
        </p:spPr>
        <p:txBody>
          <a:bodyPr wrap="square" lIns="0" tIns="0" rIns="0" bIns="0" rtlCol="0" anchor="ctr"/>
          <a:lstStyle/>
          <a:p>
            <a:r>
              <a:rPr lang="en-US" sz="2000" b="1" dirty="0">
                <a:solidFill>
                  <a:srgbClr val="5B6472"/>
                </a:solidFill>
                <a:latin typeface="Calibri" pitchFamily="34" charset="0"/>
                <a:ea typeface="Calibri" pitchFamily="34" charset="-122"/>
                <a:cs typeface="Calibri" pitchFamily="34" charset="-120"/>
              </a:rPr>
              <a:t>Civil registration &amp; vital statistics </a:t>
            </a:r>
          </a:p>
          <a:p>
            <a:r>
              <a:rPr lang="en-US" sz="2000" b="1" dirty="0">
                <a:solidFill>
                  <a:srgbClr val="0B3D4C"/>
                </a:solidFill>
                <a:latin typeface="Cambria" pitchFamily="34" charset="0"/>
                <a:ea typeface="Cambria" pitchFamily="34" charset="-122"/>
                <a:cs typeface="Cambria" pitchFamily="34" charset="-120"/>
              </a:rPr>
              <a:t>CRVS</a:t>
            </a:r>
            <a:endParaRPr lang="en-US" sz="2000" dirty="0"/>
          </a:p>
        </p:txBody>
      </p:sp>
      <p:sp>
        <p:nvSpPr>
          <p:cNvPr id="15" name="Text 10"/>
          <p:cNvSpPr/>
          <p:nvPr/>
        </p:nvSpPr>
        <p:spPr>
          <a:xfrm>
            <a:off x="3673602" y="3044952"/>
            <a:ext cx="2036826" cy="2011680"/>
          </a:xfrm>
          <a:prstGeom prst="rect">
            <a:avLst/>
          </a:prstGeom>
          <a:noFill/>
          <a:ln/>
        </p:spPr>
        <p:txBody>
          <a:bodyPr wrap="square" lIns="0" tIns="0" rIns="0" bIns="0" rtlCol="0" anchor="ctr"/>
          <a:lstStyle/>
          <a:p>
            <a:pPr marL="0" indent="0">
              <a:lnSpc>
                <a:spcPct val="115000"/>
              </a:lnSpc>
              <a:buNone/>
            </a:pPr>
            <a:r>
              <a:rPr lang="en-US" dirty="0">
                <a:solidFill>
                  <a:srgbClr val="5B6472"/>
                </a:solidFill>
                <a:latin typeface="Calibri" pitchFamily="34" charset="0"/>
                <a:ea typeface="Calibri" pitchFamily="34" charset="-122"/>
                <a:cs typeface="Calibri" pitchFamily="34" charset="-120"/>
              </a:rPr>
              <a:t>Civil registration &amp; vital statistics — continuous recording of births, deaths, marriages</a:t>
            </a:r>
            <a:endParaRPr lang="en-US" dirty="0"/>
          </a:p>
        </p:txBody>
      </p:sp>
      <p:sp>
        <p:nvSpPr>
          <p:cNvPr id="16" name="Shape 11"/>
          <p:cNvSpPr/>
          <p:nvPr/>
        </p:nvSpPr>
        <p:spPr>
          <a:xfrm>
            <a:off x="6286500" y="1691640"/>
            <a:ext cx="2548890" cy="3566160"/>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17" name="Shape 12"/>
          <p:cNvSpPr/>
          <p:nvPr/>
        </p:nvSpPr>
        <p:spPr>
          <a:xfrm>
            <a:off x="6542532" y="1947672"/>
            <a:ext cx="566928" cy="566928"/>
          </a:xfrm>
          <a:prstGeom prst="ellipse">
            <a:avLst/>
          </a:prstGeom>
          <a:solidFill>
            <a:srgbClr val="FFFFFF"/>
          </a:solidFill>
          <a:ln w="15875">
            <a:solidFill>
              <a:srgbClr val="1C7293"/>
            </a:solidFill>
            <a:prstDash val="solid"/>
          </a:ln>
        </p:spPr>
      </p:sp>
      <p:pic>
        <p:nvPicPr>
          <p:cNvPr id="18" name="Image 3" descr="preencoded.png"/>
          <p:cNvPicPr>
            <a:picLocks noChangeAspect="1"/>
          </p:cNvPicPr>
          <p:nvPr/>
        </p:nvPicPr>
        <p:blipFill>
          <a:blip r:embed="rId6"/>
          <a:stretch>
            <a:fillRect/>
          </a:stretch>
        </p:blipFill>
        <p:spPr>
          <a:xfrm>
            <a:off x="6688836" y="2093976"/>
            <a:ext cx="292608" cy="292608"/>
          </a:xfrm>
          <a:prstGeom prst="rect">
            <a:avLst/>
          </a:prstGeom>
        </p:spPr>
      </p:pic>
      <p:sp>
        <p:nvSpPr>
          <p:cNvPr id="19" name="Text 13"/>
          <p:cNvSpPr/>
          <p:nvPr/>
        </p:nvSpPr>
        <p:spPr>
          <a:xfrm>
            <a:off x="6542532" y="2606040"/>
            <a:ext cx="2036826" cy="457200"/>
          </a:xfrm>
          <a:prstGeom prst="rect">
            <a:avLst/>
          </a:prstGeom>
          <a:noFill/>
          <a:ln/>
        </p:spPr>
        <p:txBody>
          <a:bodyPr wrap="square" lIns="0" tIns="0" rIns="0" bIns="0" rtlCol="0" anchor="ctr"/>
          <a:lstStyle/>
          <a:p>
            <a:pPr marL="0" indent="0">
              <a:buNone/>
            </a:pPr>
            <a:r>
              <a:rPr lang="en-US" sz="2400" b="1" dirty="0">
                <a:solidFill>
                  <a:srgbClr val="0B3D4C"/>
                </a:solidFill>
                <a:latin typeface="Cambria" pitchFamily="34" charset="0"/>
                <a:ea typeface="Cambria" pitchFamily="34" charset="-122"/>
                <a:cs typeface="Cambria" pitchFamily="34" charset="-120"/>
              </a:rPr>
              <a:t>Sample surveys</a:t>
            </a:r>
            <a:endParaRPr lang="en-US" sz="2400" dirty="0"/>
          </a:p>
        </p:txBody>
      </p:sp>
      <p:sp>
        <p:nvSpPr>
          <p:cNvPr id="20" name="Text 14"/>
          <p:cNvSpPr/>
          <p:nvPr/>
        </p:nvSpPr>
        <p:spPr>
          <a:xfrm>
            <a:off x="6542532" y="3044952"/>
            <a:ext cx="2036826" cy="2011680"/>
          </a:xfrm>
          <a:prstGeom prst="rect">
            <a:avLst/>
          </a:prstGeom>
          <a:noFill/>
          <a:ln/>
        </p:spPr>
        <p:txBody>
          <a:bodyPr wrap="square" lIns="0" tIns="0" rIns="0" bIns="0" rtlCol="0" anchor="ctr"/>
          <a:lstStyle/>
          <a:p>
            <a:pPr marL="0" indent="0">
              <a:lnSpc>
                <a:spcPct val="115000"/>
              </a:lnSpc>
              <a:buNone/>
            </a:pPr>
            <a:r>
              <a:rPr lang="en-US" dirty="0">
                <a:solidFill>
                  <a:srgbClr val="5B6472"/>
                </a:solidFill>
                <a:latin typeface="Calibri" pitchFamily="34" charset="0"/>
                <a:ea typeface="Calibri" pitchFamily="34" charset="-122"/>
                <a:cs typeface="Calibri" pitchFamily="34" charset="-120"/>
              </a:rPr>
              <a:t>Household surveys (e.g., DHS, labour-force surveys) collecting detailed data from a sample</a:t>
            </a:r>
            <a:endParaRPr lang="en-US" dirty="0"/>
          </a:p>
        </p:txBody>
      </p:sp>
      <p:sp>
        <p:nvSpPr>
          <p:cNvPr id="21" name="Shape 15"/>
          <p:cNvSpPr/>
          <p:nvPr/>
        </p:nvSpPr>
        <p:spPr>
          <a:xfrm>
            <a:off x="9155430" y="1691640"/>
            <a:ext cx="2548890" cy="3566160"/>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22" name="Shape 16"/>
          <p:cNvSpPr/>
          <p:nvPr/>
        </p:nvSpPr>
        <p:spPr>
          <a:xfrm>
            <a:off x="9411462" y="1947672"/>
            <a:ext cx="566928" cy="566928"/>
          </a:xfrm>
          <a:prstGeom prst="ellipse">
            <a:avLst/>
          </a:prstGeom>
          <a:solidFill>
            <a:srgbClr val="FFFFFF"/>
          </a:solidFill>
          <a:ln w="15875">
            <a:solidFill>
              <a:srgbClr val="1C7293"/>
            </a:solidFill>
            <a:prstDash val="solid"/>
          </a:ln>
        </p:spPr>
      </p:sp>
      <p:pic>
        <p:nvPicPr>
          <p:cNvPr id="23" name="Image 4" descr="preencoded.png"/>
          <p:cNvPicPr>
            <a:picLocks noChangeAspect="1"/>
          </p:cNvPicPr>
          <p:nvPr/>
        </p:nvPicPr>
        <p:blipFill>
          <a:blip r:embed="rId7"/>
          <a:stretch>
            <a:fillRect/>
          </a:stretch>
        </p:blipFill>
        <p:spPr>
          <a:xfrm>
            <a:off x="9557766" y="2093976"/>
            <a:ext cx="292608" cy="292608"/>
          </a:xfrm>
          <a:prstGeom prst="rect">
            <a:avLst/>
          </a:prstGeom>
        </p:spPr>
      </p:pic>
      <p:sp>
        <p:nvSpPr>
          <p:cNvPr id="24" name="Text 17"/>
          <p:cNvSpPr/>
          <p:nvPr/>
        </p:nvSpPr>
        <p:spPr>
          <a:xfrm>
            <a:off x="9411462" y="2606040"/>
            <a:ext cx="2036826" cy="457200"/>
          </a:xfrm>
          <a:prstGeom prst="rect">
            <a:avLst/>
          </a:prstGeom>
          <a:noFill/>
          <a:ln/>
        </p:spPr>
        <p:txBody>
          <a:bodyPr wrap="square" lIns="0" tIns="0" rIns="0" bIns="0" rtlCol="0" anchor="ctr"/>
          <a:lstStyle/>
          <a:p>
            <a:pPr marL="0" indent="0">
              <a:buNone/>
            </a:pPr>
            <a:r>
              <a:rPr lang="en-US" sz="2400" b="1" dirty="0">
                <a:solidFill>
                  <a:srgbClr val="0B3D4C"/>
                </a:solidFill>
                <a:latin typeface="Cambria" pitchFamily="34" charset="0"/>
                <a:ea typeface="Cambria" pitchFamily="34" charset="-122"/>
                <a:cs typeface="Cambria" pitchFamily="34" charset="-120"/>
              </a:rPr>
              <a:t>Population registers</a:t>
            </a:r>
            <a:endParaRPr lang="en-US" sz="2400" dirty="0"/>
          </a:p>
        </p:txBody>
      </p:sp>
      <p:sp>
        <p:nvSpPr>
          <p:cNvPr id="25" name="Text 18"/>
          <p:cNvSpPr/>
          <p:nvPr/>
        </p:nvSpPr>
        <p:spPr>
          <a:xfrm>
            <a:off x="9411462" y="3044952"/>
            <a:ext cx="2036826" cy="2011680"/>
          </a:xfrm>
          <a:prstGeom prst="rect">
            <a:avLst/>
          </a:prstGeom>
          <a:noFill/>
          <a:ln/>
        </p:spPr>
        <p:txBody>
          <a:bodyPr wrap="square" lIns="0" tIns="0" rIns="0" bIns="0" rtlCol="0" anchor="ctr"/>
          <a:lstStyle/>
          <a:p>
            <a:pPr marL="0" indent="0">
              <a:lnSpc>
                <a:spcPct val="115000"/>
              </a:lnSpc>
              <a:buNone/>
            </a:pPr>
            <a:r>
              <a:rPr lang="en-US" dirty="0">
                <a:solidFill>
                  <a:srgbClr val="5B6472"/>
                </a:solidFill>
                <a:latin typeface="Calibri" pitchFamily="34" charset="0"/>
                <a:ea typeface="Calibri" pitchFamily="34" charset="-122"/>
                <a:cs typeface="Calibri" pitchFamily="34" charset="-120"/>
              </a:rPr>
              <a:t>Continuously updated administrative records of every resident, common in Nordic countries</a:t>
            </a:r>
            <a:endParaRPr lang="en-US" dirty="0"/>
          </a:p>
        </p:txBody>
      </p:sp>
      <p:sp>
        <p:nvSpPr>
          <p:cNvPr id="26" name="Text 19"/>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5E00-BAD7-C229-3FD0-291F56AA4B65}"/>
              </a:ext>
            </a:extLst>
          </p:cNvPr>
          <p:cNvSpPr txBox="1">
            <a:spLocks/>
          </p:cNvSpPr>
          <p:nvPr/>
        </p:nvSpPr>
        <p:spPr>
          <a:xfrm>
            <a:off x="-1267581" y="171058"/>
            <a:ext cx="8596668" cy="1320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dirty="0"/>
              <a:t>Population </a:t>
            </a:r>
            <a:r>
              <a:rPr lang="fr-FR" dirty="0" err="1"/>
              <a:t>census</a:t>
            </a:r>
            <a:r>
              <a:rPr lang="fr-FR" dirty="0"/>
              <a:t> </a:t>
            </a:r>
            <a:endParaRPr lang="en-US" dirty="0"/>
          </a:p>
        </p:txBody>
      </p:sp>
      <p:graphicFrame>
        <p:nvGraphicFramePr>
          <p:cNvPr id="3" name="Content Placeholder 2">
            <a:extLst>
              <a:ext uri="{FF2B5EF4-FFF2-40B4-BE49-F238E27FC236}">
                <a16:creationId xmlns:a16="http://schemas.microsoft.com/office/drawing/2014/main" id="{52C325D5-7814-BA6E-B25A-88EC0E3C3790}"/>
              </a:ext>
            </a:extLst>
          </p:cNvPr>
          <p:cNvGraphicFramePr>
            <a:graphicFrameLocks/>
          </p:cNvGraphicFramePr>
          <p:nvPr/>
        </p:nvGraphicFramePr>
        <p:xfrm>
          <a:off x="570015" y="1462829"/>
          <a:ext cx="5261759" cy="4301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A1F04901-59DC-CA37-B543-345DFBD87C88}"/>
              </a:ext>
            </a:extLst>
          </p:cNvPr>
          <p:cNvSpPr/>
          <p:nvPr/>
        </p:nvSpPr>
        <p:spPr>
          <a:xfrm>
            <a:off x="458189" y="6013819"/>
            <a:ext cx="5637811" cy="523220"/>
          </a:xfrm>
          <a:prstGeom prst="rect">
            <a:avLst/>
          </a:prstGeom>
        </p:spPr>
        <p:txBody>
          <a:bodyPr wrap="square">
            <a:spAutoFit/>
          </a:bodyPr>
          <a:lstStyle/>
          <a:p>
            <a:r>
              <a:rPr lang="en-US" sz="1400" dirty="0">
                <a:latin typeface="Dutch823BT-RomanB"/>
              </a:rPr>
              <a:t>Source: Jennifer H. Lundquist, Douglas L. Anderton, and Barbara </a:t>
            </a:r>
            <a:r>
              <a:rPr lang="en-US" sz="1400" dirty="0" err="1">
                <a:latin typeface="Dutch823BT-RomanB"/>
              </a:rPr>
              <a:t>Yaukey</a:t>
            </a:r>
            <a:r>
              <a:rPr lang="en-US" sz="1400" dirty="0">
                <a:latin typeface="Dutch823BT-RomanB"/>
              </a:rPr>
              <a:t> (2015) </a:t>
            </a:r>
            <a:r>
              <a:rPr lang="en-US" sz="1400" dirty="0"/>
              <a:t>DEMOGRAPHY</a:t>
            </a:r>
          </a:p>
        </p:txBody>
      </p:sp>
      <p:pic>
        <p:nvPicPr>
          <p:cNvPr id="5" name="Picture 2">
            <a:extLst>
              <a:ext uri="{FF2B5EF4-FFF2-40B4-BE49-F238E27FC236}">
                <a16:creationId xmlns:a16="http://schemas.microsoft.com/office/drawing/2014/main" id="{2394913B-76A2-7C0F-EE72-79FDB7388C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7617" y="0"/>
            <a:ext cx="5126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4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C153C39-20C3-7CE4-D2F9-6EAFC4403539}"/>
              </a:ext>
            </a:extLst>
          </p:cNvPr>
          <p:cNvPicPr>
            <a:picLocks noChangeAspect="1"/>
          </p:cNvPicPr>
          <p:nvPr/>
        </p:nvPicPr>
        <p:blipFill>
          <a:blip r:embed="rId2"/>
          <a:stretch>
            <a:fillRect/>
          </a:stretch>
        </p:blipFill>
        <p:spPr>
          <a:xfrm>
            <a:off x="320249" y="548139"/>
            <a:ext cx="11642163" cy="5591403"/>
          </a:xfrm>
          <a:prstGeom prst="rect">
            <a:avLst/>
          </a:prstGeom>
        </p:spPr>
      </p:pic>
      <p:sp>
        <p:nvSpPr>
          <p:cNvPr id="3" name="Rectangle 2">
            <a:extLst>
              <a:ext uri="{FF2B5EF4-FFF2-40B4-BE49-F238E27FC236}">
                <a16:creationId xmlns:a16="http://schemas.microsoft.com/office/drawing/2014/main" id="{98EE78E8-8229-28AF-D565-A9F96462D8B3}"/>
              </a:ext>
            </a:extLst>
          </p:cNvPr>
          <p:cNvSpPr/>
          <p:nvPr/>
        </p:nvSpPr>
        <p:spPr>
          <a:xfrm>
            <a:off x="685801" y="6396335"/>
            <a:ext cx="10667999" cy="461665"/>
          </a:xfrm>
          <a:prstGeom prst="rect">
            <a:avLst/>
          </a:prstGeom>
        </p:spPr>
        <p:txBody>
          <a:bodyPr wrap="square">
            <a:spAutoFit/>
          </a:bodyPr>
          <a:lstStyle/>
          <a:p>
            <a:r>
              <a:rPr lang="en-US" sz="1200" dirty="0"/>
              <a:t>Source: https://unstats.un.org/unsd/demographic-social/Standards-and-Methods/files/Principles_and_Recommendations/Population-and-Housing-Censuses/Series_M67rev3-E.pdf</a:t>
            </a:r>
          </a:p>
        </p:txBody>
      </p:sp>
    </p:spTree>
    <p:extLst>
      <p:ext uri="{BB962C8B-B14F-4D97-AF65-F5344CB8AC3E}">
        <p14:creationId xmlns:p14="http://schemas.microsoft.com/office/powerpoint/2010/main" val="1655278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0B6A0-8C69-9552-4E23-6BA42B6ACC78}"/>
              </a:ext>
            </a:extLst>
          </p:cNvPr>
          <p:cNvSpPr txBox="1">
            <a:spLocks/>
          </p:cNvSpPr>
          <p:nvPr/>
        </p:nvSpPr>
        <p:spPr>
          <a:xfrm>
            <a:off x="-788609" y="290286"/>
            <a:ext cx="8596668" cy="1320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800" dirty="0"/>
              <a:t>Basic features of a census</a:t>
            </a:r>
            <a:br>
              <a:rPr lang="en-US" sz="4800" dirty="0"/>
            </a:br>
            <a:endParaRPr lang="en-US" sz="4800" dirty="0"/>
          </a:p>
        </p:txBody>
      </p:sp>
      <p:sp>
        <p:nvSpPr>
          <p:cNvPr id="3" name="Content Placeholder 2">
            <a:extLst>
              <a:ext uri="{FF2B5EF4-FFF2-40B4-BE49-F238E27FC236}">
                <a16:creationId xmlns:a16="http://schemas.microsoft.com/office/drawing/2014/main" id="{BC0BD0C0-0D5B-9AE0-8025-A181867B2935}"/>
              </a:ext>
            </a:extLst>
          </p:cNvPr>
          <p:cNvSpPr txBox="1">
            <a:spLocks/>
          </p:cNvSpPr>
          <p:nvPr/>
        </p:nvSpPr>
        <p:spPr>
          <a:xfrm>
            <a:off x="368299" y="1220179"/>
            <a:ext cx="11137900" cy="5176156"/>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AutoNum type="arabicPeriod"/>
            </a:pPr>
            <a:r>
              <a:rPr lang="en-US" sz="2400" b="1" dirty="0"/>
              <a:t>Individual enumeration; </a:t>
            </a:r>
          </a:p>
          <a:p>
            <a:pPr marL="0" indent="0">
              <a:buFont typeface="Arial" pitchFamily="34" charset="0"/>
              <a:buNone/>
            </a:pPr>
            <a:r>
              <a:rPr lang="en-US" sz="2400" dirty="0"/>
              <a:t>  The term “census” implies that each individual and each set of living quarters is enumerated separately and that the characteristics thereof are separately recorded.</a:t>
            </a:r>
          </a:p>
          <a:p>
            <a:pPr marL="0" indent="0">
              <a:buFont typeface="Arial" pitchFamily="34" charset="0"/>
              <a:buNone/>
            </a:pPr>
            <a:r>
              <a:rPr lang="en-US" sz="2400" b="1" dirty="0"/>
              <a:t>2. Universality within a defined territory;</a:t>
            </a:r>
          </a:p>
          <a:p>
            <a:pPr marL="0" indent="0">
              <a:buFont typeface="Arial" pitchFamily="34" charset="0"/>
              <a:buNone/>
            </a:pPr>
            <a:r>
              <a:rPr lang="en-US" sz="2400" dirty="0"/>
              <a:t> Everybody in the specified territory should be similarly counted and described. </a:t>
            </a:r>
          </a:p>
          <a:p>
            <a:pPr marL="0" indent="0">
              <a:buFont typeface="Arial" pitchFamily="34" charset="0"/>
              <a:buNone/>
            </a:pPr>
            <a:r>
              <a:rPr lang="en-US" sz="2400" b="1" dirty="0"/>
              <a:t>3. Simultaneity; </a:t>
            </a:r>
          </a:p>
          <a:p>
            <a:pPr marL="0" indent="0">
              <a:buFont typeface="Arial" pitchFamily="34" charset="0"/>
              <a:buNone/>
            </a:pPr>
            <a:r>
              <a:rPr lang="en-US" sz="2400" dirty="0"/>
              <a:t>Each person and each set of living quarters should be enumerated as of the same well defined point in time and the data collected should refer to a well-defined reference period. </a:t>
            </a:r>
          </a:p>
          <a:p>
            <a:pPr marL="0" indent="0">
              <a:buFont typeface="Arial" pitchFamily="34" charset="0"/>
              <a:buNone/>
            </a:pPr>
            <a:r>
              <a:rPr lang="en-US" sz="2400" b="1" dirty="0"/>
              <a:t>4. Defined periodicity;</a:t>
            </a:r>
          </a:p>
          <a:p>
            <a:pPr marL="0" indent="0">
              <a:buFont typeface="Arial" pitchFamily="34" charset="0"/>
              <a:buNone/>
            </a:pPr>
            <a:r>
              <a:rPr lang="en-US" sz="2400" dirty="0"/>
              <a:t>Periodic; Censuses should be taken at regular intervals so that comparable information is made available in a fixed sequence.</a:t>
            </a:r>
          </a:p>
          <a:p>
            <a:pPr marL="0" indent="0">
              <a:buFont typeface="Arial" pitchFamily="34" charset="0"/>
              <a:buNone/>
            </a:pPr>
            <a:r>
              <a:rPr lang="en-US" sz="2400" b="1" dirty="0"/>
              <a:t>5. Capacity to produce small-area statistics;</a:t>
            </a:r>
          </a:p>
          <a:p>
            <a:pPr marL="0" indent="0">
              <a:buFont typeface="Arial" pitchFamily="34" charset="0"/>
              <a:buNone/>
            </a:pPr>
            <a:r>
              <a:rPr lang="en-US" sz="2400" dirty="0"/>
              <a:t>The census should produce data on the number and characteristics of the population and housing units down to the lowest appropriate geographic level, compatible with national circumstance, and for small population groups, all the while protecting confidentiality of personal information on each individual.</a:t>
            </a:r>
          </a:p>
          <a:p>
            <a:pPr marL="0" indent="0">
              <a:buFont typeface="Arial" pitchFamily="34" charset="0"/>
              <a:buNone/>
            </a:pPr>
            <a:endParaRPr lang="en-US" sz="2400" dirty="0"/>
          </a:p>
        </p:txBody>
      </p:sp>
      <p:sp>
        <p:nvSpPr>
          <p:cNvPr id="4" name="Rectangle 3">
            <a:extLst>
              <a:ext uri="{FF2B5EF4-FFF2-40B4-BE49-F238E27FC236}">
                <a16:creationId xmlns:a16="http://schemas.microsoft.com/office/drawing/2014/main" id="{7538B7C4-2D7B-5D41-F935-BFDB474461A5}"/>
              </a:ext>
            </a:extLst>
          </p:cNvPr>
          <p:cNvSpPr/>
          <p:nvPr/>
        </p:nvSpPr>
        <p:spPr>
          <a:xfrm>
            <a:off x="444732" y="6134725"/>
            <a:ext cx="10667999" cy="523220"/>
          </a:xfrm>
          <a:prstGeom prst="rect">
            <a:avLst/>
          </a:prstGeom>
        </p:spPr>
        <p:txBody>
          <a:bodyPr wrap="square">
            <a:spAutoFit/>
          </a:bodyPr>
          <a:lstStyle/>
          <a:p>
            <a:r>
              <a:rPr lang="en-US" sz="1400" dirty="0"/>
              <a:t>Source: https://unstats.un.org/unsd/demographic-social/Standards-and-Methods/files/Principles_and_Recommendations/Population-and-Housing-Censuses/Series_M67rev3-E.pdf</a:t>
            </a:r>
          </a:p>
        </p:txBody>
      </p:sp>
    </p:spTree>
    <p:extLst>
      <p:ext uri="{BB962C8B-B14F-4D97-AF65-F5344CB8AC3E}">
        <p14:creationId xmlns:p14="http://schemas.microsoft.com/office/powerpoint/2010/main" val="859478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5D1020F-E3ED-FA4C-4409-686A1D36506A}"/>
              </a:ext>
            </a:extLst>
          </p:cNvPr>
          <p:cNvSpPr/>
          <p:nvPr/>
        </p:nvSpPr>
        <p:spPr>
          <a:xfrm>
            <a:off x="548640" y="1691640"/>
            <a:ext cx="2548890" cy="3566160"/>
          </a:xfrm>
          <a:prstGeom prst="roundRect">
            <a:avLst>
              <a:gd name="adj" fmla="val 2870"/>
            </a:avLst>
          </a:prstGeom>
          <a:solidFill>
            <a:srgbClr val="F4F6F9"/>
          </a:solidFill>
          <a:ln/>
          <a:effectLst>
            <a:outerShdw blurRad="76200" dist="25400" dir="5400000" algn="bl" rotWithShape="0">
              <a:srgbClr val="9AA5B1">
                <a:alpha val="25000"/>
              </a:srgbClr>
            </a:outerShdw>
          </a:effectLst>
        </p:spPr>
      </p:sp>
      <p:sp>
        <p:nvSpPr>
          <p:cNvPr id="5" name="Shape 4">
            <a:extLst>
              <a:ext uri="{FF2B5EF4-FFF2-40B4-BE49-F238E27FC236}">
                <a16:creationId xmlns:a16="http://schemas.microsoft.com/office/drawing/2014/main" id="{42020E0C-8432-4510-1F95-402181E20416}"/>
              </a:ext>
            </a:extLst>
          </p:cNvPr>
          <p:cNvSpPr/>
          <p:nvPr/>
        </p:nvSpPr>
        <p:spPr>
          <a:xfrm>
            <a:off x="804672" y="1947672"/>
            <a:ext cx="566928" cy="566928"/>
          </a:xfrm>
          <a:prstGeom prst="ellipse">
            <a:avLst/>
          </a:prstGeom>
          <a:solidFill>
            <a:srgbClr val="FFFFFF"/>
          </a:solidFill>
          <a:ln w="15875">
            <a:solidFill>
              <a:srgbClr val="1C7293"/>
            </a:solidFill>
            <a:prstDash val="solid"/>
          </a:ln>
        </p:spPr>
      </p:sp>
      <p:pic>
        <p:nvPicPr>
          <p:cNvPr id="7" name="Image 1" descr="preencoded.png">
            <a:extLst>
              <a:ext uri="{FF2B5EF4-FFF2-40B4-BE49-F238E27FC236}">
                <a16:creationId xmlns:a16="http://schemas.microsoft.com/office/drawing/2014/main" id="{3547B718-0653-10BE-4D04-DE4A7008F074}"/>
              </a:ext>
            </a:extLst>
          </p:cNvPr>
          <p:cNvPicPr>
            <a:picLocks noChangeAspect="1"/>
          </p:cNvPicPr>
          <p:nvPr/>
        </p:nvPicPr>
        <p:blipFill>
          <a:blip r:embed="rId2"/>
          <a:stretch>
            <a:fillRect/>
          </a:stretch>
        </p:blipFill>
        <p:spPr>
          <a:xfrm>
            <a:off x="950976" y="2093976"/>
            <a:ext cx="292608" cy="292608"/>
          </a:xfrm>
          <a:prstGeom prst="rect">
            <a:avLst/>
          </a:prstGeom>
        </p:spPr>
      </p:pic>
      <p:sp>
        <p:nvSpPr>
          <p:cNvPr id="9" name="Text 5">
            <a:extLst>
              <a:ext uri="{FF2B5EF4-FFF2-40B4-BE49-F238E27FC236}">
                <a16:creationId xmlns:a16="http://schemas.microsoft.com/office/drawing/2014/main" id="{80141E91-F065-8ECA-3893-8146599F788E}"/>
              </a:ext>
            </a:extLst>
          </p:cNvPr>
          <p:cNvSpPr/>
          <p:nvPr/>
        </p:nvSpPr>
        <p:spPr>
          <a:xfrm>
            <a:off x="804672" y="2606040"/>
            <a:ext cx="2036826" cy="457200"/>
          </a:xfrm>
          <a:prstGeom prst="rect">
            <a:avLst/>
          </a:prstGeom>
          <a:noFill/>
          <a:ln/>
        </p:spPr>
        <p:txBody>
          <a:bodyPr wrap="square" lIns="0" tIns="0" rIns="0" bIns="0" rtlCol="0" anchor="ctr"/>
          <a:lstStyle/>
          <a:p>
            <a:pPr marL="0" indent="0">
              <a:buNone/>
            </a:pPr>
            <a:r>
              <a:rPr lang="en-US" sz="2400" b="1" dirty="0">
                <a:solidFill>
                  <a:srgbClr val="0B3D4C"/>
                </a:solidFill>
                <a:latin typeface="Cambria" pitchFamily="34" charset="0"/>
                <a:ea typeface="Cambria" pitchFamily="34" charset="-122"/>
                <a:cs typeface="Cambria" pitchFamily="34" charset="-120"/>
              </a:rPr>
              <a:t>Census</a:t>
            </a:r>
            <a:endParaRPr lang="en-US" sz="2400" dirty="0"/>
          </a:p>
        </p:txBody>
      </p:sp>
      <p:sp>
        <p:nvSpPr>
          <p:cNvPr id="11" name="Text 6">
            <a:extLst>
              <a:ext uri="{FF2B5EF4-FFF2-40B4-BE49-F238E27FC236}">
                <a16:creationId xmlns:a16="http://schemas.microsoft.com/office/drawing/2014/main" id="{A8E0434A-7D72-34D5-2888-E68C6258E5ED}"/>
              </a:ext>
            </a:extLst>
          </p:cNvPr>
          <p:cNvSpPr/>
          <p:nvPr/>
        </p:nvSpPr>
        <p:spPr>
          <a:xfrm>
            <a:off x="804672" y="3044952"/>
            <a:ext cx="2036826" cy="2011680"/>
          </a:xfrm>
          <a:prstGeom prst="rect">
            <a:avLst/>
          </a:prstGeom>
          <a:noFill/>
          <a:ln/>
        </p:spPr>
        <p:txBody>
          <a:bodyPr wrap="square" lIns="0" tIns="0" rIns="0" bIns="0" rtlCol="0" anchor="ctr"/>
          <a:lstStyle/>
          <a:p>
            <a:pPr marL="0" indent="0">
              <a:lnSpc>
                <a:spcPct val="115000"/>
              </a:lnSpc>
              <a:buNone/>
            </a:pPr>
            <a:r>
              <a:rPr lang="en-US" dirty="0">
                <a:solidFill>
                  <a:srgbClr val="5B6472"/>
                </a:solidFill>
                <a:latin typeface="Calibri" pitchFamily="34" charset="0"/>
                <a:ea typeface="Calibri" pitchFamily="34" charset="-122"/>
                <a:cs typeface="Calibri" pitchFamily="34" charset="-120"/>
              </a:rPr>
              <a:t>Complete enumeration of a population at a point in time, typically every 5–10 years</a:t>
            </a:r>
            <a:endParaRPr lang="en-US" dirty="0"/>
          </a:p>
        </p:txBody>
      </p:sp>
      <p:sp>
        <p:nvSpPr>
          <p:cNvPr id="13" name="TextBox 12">
            <a:extLst>
              <a:ext uri="{FF2B5EF4-FFF2-40B4-BE49-F238E27FC236}">
                <a16:creationId xmlns:a16="http://schemas.microsoft.com/office/drawing/2014/main" id="{A40AAC27-066F-51F7-7316-E66CA0C8F3CD}"/>
              </a:ext>
            </a:extLst>
          </p:cNvPr>
          <p:cNvSpPr txBox="1"/>
          <p:nvPr/>
        </p:nvSpPr>
        <p:spPr>
          <a:xfrm>
            <a:off x="3353562" y="1675317"/>
            <a:ext cx="8336153" cy="4524315"/>
          </a:xfrm>
          <a:prstGeom prst="rect">
            <a:avLst/>
          </a:prstGeom>
          <a:noFill/>
        </p:spPr>
        <p:txBody>
          <a:bodyPr wrap="square">
            <a:spAutoFit/>
          </a:bodyPr>
          <a:lstStyle/>
          <a:p>
            <a:pPr>
              <a:buNone/>
            </a:pPr>
            <a:r>
              <a:rPr lang="en-US" b="1" dirty="0"/>
              <a:t>Advantages</a:t>
            </a:r>
          </a:p>
          <a:p>
            <a:pPr marL="342900" lvl="0" indent="-342900">
              <a:buFont typeface="Arial" panose="020B0604020202020204" pitchFamily="34" charset="0"/>
              <a:buChar char="•"/>
            </a:pPr>
            <a:r>
              <a:rPr lang="en-US" dirty="0"/>
              <a:t>Provides the most comprehensive picture of the population and households. </a:t>
            </a:r>
          </a:p>
          <a:p>
            <a:pPr marL="342900" lvl="0" indent="-342900">
              <a:buFont typeface="Arial" panose="020B0604020202020204" pitchFamily="34" charset="0"/>
              <a:buChar char="•"/>
            </a:pPr>
            <a:r>
              <a:rPr lang="en-US" dirty="0"/>
              <a:t>Produces reliable statistics for small geographic areas and population subgroups. </a:t>
            </a:r>
          </a:p>
          <a:p>
            <a:pPr marL="342900" lvl="0" indent="-342900">
              <a:buFont typeface="Arial" panose="020B0604020202020204" pitchFamily="34" charset="0"/>
              <a:buChar char="•"/>
            </a:pPr>
            <a:r>
              <a:rPr lang="en-US" dirty="0"/>
              <a:t>Establishes benchmark population figures for national and local planning. </a:t>
            </a:r>
          </a:p>
          <a:p>
            <a:pPr marL="342900" lvl="0" indent="-342900">
              <a:buFont typeface="Arial" panose="020B0604020202020204" pitchFamily="34" charset="0"/>
              <a:buChar char="•"/>
            </a:pPr>
            <a:r>
              <a:rPr lang="en-US" dirty="0"/>
              <a:t>Provides sampling frames and population weights for household surveys. </a:t>
            </a:r>
          </a:p>
          <a:p>
            <a:pPr marL="342900" lvl="0" indent="-342900">
              <a:buFont typeface="Arial" panose="020B0604020202020204" pitchFamily="34" charset="0"/>
              <a:buChar char="•"/>
            </a:pPr>
            <a:r>
              <a:rPr lang="en-US" dirty="0"/>
              <a:t>Supports the allocation of public resources and political representation. </a:t>
            </a:r>
          </a:p>
          <a:p>
            <a:pPr marL="342900" lvl="0" indent="-342900">
              <a:buFont typeface="Arial" panose="020B0604020202020204" pitchFamily="34" charset="0"/>
              <a:buChar char="•"/>
            </a:pPr>
            <a:r>
              <a:rPr lang="en-US" dirty="0"/>
              <a:t>Enables comparisons across areas and, when definitions are consistent, over time. </a:t>
            </a:r>
          </a:p>
          <a:p>
            <a:pPr>
              <a:buNone/>
            </a:pPr>
            <a:r>
              <a:rPr lang="en-US" b="1" dirty="0"/>
              <a:t>Limitations</a:t>
            </a:r>
          </a:p>
          <a:p>
            <a:pPr marL="342900" lvl="0" indent="-342900">
              <a:buFont typeface="Arial" panose="020B0604020202020204" pitchFamily="34" charset="0"/>
              <a:buChar char="•"/>
            </a:pPr>
            <a:r>
              <a:rPr lang="en-US" dirty="0"/>
              <a:t>Expensive and operationally complex to conduct. </a:t>
            </a:r>
          </a:p>
          <a:p>
            <a:pPr marL="342900" lvl="0" indent="-342900">
              <a:buFont typeface="Arial" panose="020B0604020202020204" pitchFamily="34" charset="0"/>
              <a:buChar char="•"/>
            </a:pPr>
            <a:r>
              <a:rPr lang="en-US" dirty="0"/>
              <a:t>Usually conducted only every 5–10 years, so results may become outdated. </a:t>
            </a:r>
          </a:p>
          <a:p>
            <a:pPr marL="342900" lvl="0" indent="-342900">
              <a:buFont typeface="Arial" panose="020B0604020202020204" pitchFamily="34" charset="0"/>
              <a:buChar char="•"/>
            </a:pPr>
            <a:r>
              <a:rPr lang="en-US" dirty="0"/>
              <a:t>Requires considerable time for data processing, analysis, and publication. </a:t>
            </a:r>
          </a:p>
          <a:p>
            <a:pPr marL="342900" lvl="0" indent="-342900">
              <a:buFont typeface="Arial" panose="020B0604020202020204" pitchFamily="34" charset="0"/>
              <a:buChar char="•"/>
            </a:pPr>
            <a:r>
              <a:rPr lang="en-US" dirty="0"/>
              <a:t>May undercount hard-to-reach populations, including migrants, homeless people, and residents of remote areas. </a:t>
            </a:r>
          </a:p>
          <a:p>
            <a:pPr marL="342900" lvl="0" indent="-342900">
              <a:buFont typeface="Arial" panose="020B0604020202020204" pitchFamily="34" charset="0"/>
              <a:buChar char="•"/>
            </a:pPr>
            <a:r>
              <a:rPr lang="en-US" dirty="0"/>
              <a:t>Collects less detailed information than </a:t>
            </a:r>
            <a:r>
              <a:rPr lang="en-US" dirty="0" err="1"/>
              <a:t>specialised</a:t>
            </a:r>
            <a:r>
              <a:rPr lang="en-US" dirty="0"/>
              <a:t> sample surveys. </a:t>
            </a:r>
          </a:p>
          <a:p>
            <a:pPr marL="342900" lvl="0" indent="-342900">
              <a:buFont typeface="Arial" panose="020B0604020202020204" pitchFamily="34" charset="0"/>
              <a:buChar char="•"/>
            </a:pPr>
            <a:r>
              <a:rPr lang="en-US" dirty="0"/>
              <a:t>Results may be affected by non-response, reporting errors, political sensitivities, or inconsistent definitions.</a:t>
            </a:r>
          </a:p>
        </p:txBody>
      </p:sp>
      <p:sp>
        <p:nvSpPr>
          <p:cNvPr id="15" name="Text 0">
            <a:extLst>
              <a:ext uri="{FF2B5EF4-FFF2-40B4-BE49-F238E27FC236}">
                <a16:creationId xmlns:a16="http://schemas.microsoft.com/office/drawing/2014/main" id="{445FE8F4-B718-2261-84AF-DCB7FD844B8D}"/>
              </a:ext>
            </a:extLst>
          </p:cNvPr>
          <p:cNvSpPr/>
          <p:nvPr/>
        </p:nvSpPr>
        <p:spPr>
          <a:xfrm>
            <a:off x="548640" y="384048"/>
            <a:ext cx="8229600" cy="32004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BLOCK 2 · THE FOUR PILLARS</a:t>
            </a:r>
            <a:endParaRPr lang="en-US" sz="2000" dirty="0"/>
          </a:p>
        </p:txBody>
      </p:sp>
      <p:sp>
        <p:nvSpPr>
          <p:cNvPr id="17" name="Text 1">
            <a:extLst>
              <a:ext uri="{FF2B5EF4-FFF2-40B4-BE49-F238E27FC236}">
                <a16:creationId xmlns:a16="http://schemas.microsoft.com/office/drawing/2014/main" id="{5B62F9A5-CA11-4601-9E46-5BD4AF5CC8E1}"/>
              </a:ext>
            </a:extLst>
          </p:cNvPr>
          <p:cNvSpPr/>
          <p:nvPr/>
        </p:nvSpPr>
        <p:spPr>
          <a:xfrm>
            <a:off x="548640" y="658368"/>
            <a:ext cx="9692640" cy="777240"/>
          </a:xfrm>
          <a:prstGeom prst="rect">
            <a:avLst/>
          </a:prstGeom>
          <a:noFill/>
          <a:ln/>
        </p:spPr>
        <p:txBody>
          <a:bodyPr wrap="square" lIns="0" tIns="0" rIns="0" bIns="0" rtlCol="0" anchor="ctr"/>
          <a:lstStyle/>
          <a:p>
            <a:pPr marL="0" indent="0">
              <a:buNone/>
            </a:pPr>
            <a:r>
              <a:rPr lang="en-US" sz="4400" b="1" dirty="0">
                <a:solidFill>
                  <a:srgbClr val="0B3D4C"/>
                </a:solidFill>
                <a:latin typeface="Cambria" pitchFamily="34" charset="0"/>
                <a:ea typeface="Cambria" pitchFamily="34" charset="-122"/>
                <a:cs typeface="Cambria" pitchFamily="34" charset="-120"/>
              </a:rPr>
              <a:t>Official Sources of Demographic Data</a:t>
            </a:r>
            <a:endParaRPr lang="en-US" sz="4400" dirty="0"/>
          </a:p>
        </p:txBody>
      </p:sp>
      <p:sp>
        <p:nvSpPr>
          <p:cNvPr id="19" name="Shape 2">
            <a:extLst>
              <a:ext uri="{FF2B5EF4-FFF2-40B4-BE49-F238E27FC236}">
                <a16:creationId xmlns:a16="http://schemas.microsoft.com/office/drawing/2014/main" id="{8BF8DF29-AFE7-5BAA-E199-976F2F21534F}"/>
              </a:ext>
            </a:extLst>
          </p:cNvPr>
          <p:cNvSpPr/>
          <p:nvPr/>
        </p:nvSpPr>
        <p:spPr>
          <a:xfrm>
            <a:off x="10881360" y="411480"/>
            <a:ext cx="777240" cy="777240"/>
          </a:xfrm>
          <a:prstGeom prst="ellipse">
            <a:avLst/>
          </a:prstGeom>
          <a:solidFill>
            <a:srgbClr val="F4F6F9"/>
          </a:solidFill>
          <a:ln w="12700">
            <a:solidFill>
              <a:srgbClr val="DCE1E8"/>
            </a:solidFill>
            <a:prstDash val="solid"/>
          </a:ln>
        </p:spPr>
      </p:sp>
      <p:pic>
        <p:nvPicPr>
          <p:cNvPr id="21" name="Image 0" descr="preencoded.png">
            <a:extLst>
              <a:ext uri="{FF2B5EF4-FFF2-40B4-BE49-F238E27FC236}">
                <a16:creationId xmlns:a16="http://schemas.microsoft.com/office/drawing/2014/main" id="{8BA891C9-C071-D019-D55B-6A749B240D1C}"/>
              </a:ext>
            </a:extLst>
          </p:cNvPr>
          <p:cNvPicPr>
            <a:picLocks noChangeAspect="1"/>
          </p:cNvPicPr>
          <p:nvPr/>
        </p:nvPicPr>
        <p:blipFill>
          <a:blip r:embed="rId3"/>
          <a:stretch>
            <a:fillRect/>
          </a:stretch>
        </p:blipFill>
        <p:spPr>
          <a:xfrm>
            <a:off x="11055096" y="585216"/>
            <a:ext cx="429768" cy="429768"/>
          </a:xfrm>
          <a:prstGeom prst="rect">
            <a:avLst/>
          </a:prstGeom>
        </p:spPr>
      </p:pic>
    </p:spTree>
    <p:extLst>
      <p:ext uri="{BB962C8B-B14F-4D97-AF65-F5344CB8AC3E}">
        <p14:creationId xmlns:p14="http://schemas.microsoft.com/office/powerpoint/2010/main" val="1148050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278AE-FAD2-8284-ED2B-01AD5505CF40}"/>
              </a:ext>
            </a:extLst>
          </p:cNvPr>
          <p:cNvSpPr txBox="1">
            <a:spLocks/>
          </p:cNvSpPr>
          <p:nvPr/>
        </p:nvSpPr>
        <p:spPr>
          <a:xfrm>
            <a:off x="603069" y="1322703"/>
            <a:ext cx="8596668" cy="1320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Modern census</a:t>
            </a:r>
          </a:p>
        </p:txBody>
      </p:sp>
      <p:sp>
        <p:nvSpPr>
          <p:cNvPr id="3" name="Content Placeholder 2">
            <a:extLst>
              <a:ext uri="{FF2B5EF4-FFF2-40B4-BE49-F238E27FC236}">
                <a16:creationId xmlns:a16="http://schemas.microsoft.com/office/drawing/2014/main" id="{E1330087-C4AC-15E2-03C9-A8163F1EF435}"/>
              </a:ext>
            </a:extLst>
          </p:cNvPr>
          <p:cNvSpPr txBox="1">
            <a:spLocks/>
          </p:cNvSpPr>
          <p:nvPr/>
        </p:nvSpPr>
        <p:spPr>
          <a:xfrm>
            <a:off x="677334" y="2160589"/>
            <a:ext cx="11224380" cy="3880773"/>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It specifies the geographic boundaries of the area to be covered.</a:t>
            </a:r>
          </a:p>
          <a:p>
            <a:r>
              <a:rPr lang="en-US" dirty="0"/>
              <a:t>The government decides which traits it needs to know about for each of its people and settles upon a questionnaire.</a:t>
            </a:r>
          </a:p>
          <a:p>
            <a:r>
              <a:rPr lang="en-US" dirty="0"/>
              <a:t>Simultaneously, within all of the subareas, the government sends out the assigned enumerator to visit households and to list all of the individuals in each household. </a:t>
            </a:r>
          </a:p>
          <a:p>
            <a:r>
              <a:rPr lang="en-US" dirty="0"/>
              <a:t>The government compiles the information from the subareas, tabulating numbers of people by subarea (distribution) and by category of individual trait (composition)</a:t>
            </a:r>
          </a:p>
          <a:p>
            <a:r>
              <a:rPr lang="en-US" dirty="0"/>
              <a:t>The government reports the findings to the sponsoring citizenry.</a:t>
            </a:r>
          </a:p>
        </p:txBody>
      </p:sp>
      <p:sp>
        <p:nvSpPr>
          <p:cNvPr id="4" name="Rectangle 3">
            <a:extLst>
              <a:ext uri="{FF2B5EF4-FFF2-40B4-BE49-F238E27FC236}">
                <a16:creationId xmlns:a16="http://schemas.microsoft.com/office/drawing/2014/main" id="{194D0118-589E-4D43-97B2-4C8D2C2F0B7A}"/>
              </a:ext>
            </a:extLst>
          </p:cNvPr>
          <p:cNvSpPr/>
          <p:nvPr/>
        </p:nvSpPr>
        <p:spPr>
          <a:xfrm>
            <a:off x="685801" y="6396335"/>
            <a:ext cx="10667999" cy="461665"/>
          </a:xfrm>
          <a:prstGeom prst="rect">
            <a:avLst/>
          </a:prstGeom>
        </p:spPr>
        <p:txBody>
          <a:bodyPr wrap="square">
            <a:spAutoFit/>
          </a:bodyPr>
          <a:lstStyle/>
          <a:p>
            <a:r>
              <a:rPr lang="en-US" sz="1200" dirty="0"/>
              <a:t>Source: https://unstats.un.org/unsd/demographic-social/Standards-and-Methods/files/Principles_and_Recommendations/Population-and-Housing-Censuses/Series_M67rev3-E.pdf</a:t>
            </a:r>
          </a:p>
        </p:txBody>
      </p:sp>
      <p:sp>
        <p:nvSpPr>
          <p:cNvPr id="6" name="Text 0">
            <a:extLst>
              <a:ext uri="{FF2B5EF4-FFF2-40B4-BE49-F238E27FC236}">
                <a16:creationId xmlns:a16="http://schemas.microsoft.com/office/drawing/2014/main" id="{95646F56-5F5B-E079-AD51-42CA5866E351}"/>
              </a:ext>
            </a:extLst>
          </p:cNvPr>
          <p:cNvSpPr/>
          <p:nvPr/>
        </p:nvSpPr>
        <p:spPr>
          <a:xfrm>
            <a:off x="548640" y="384048"/>
            <a:ext cx="8229600" cy="32004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BLOCK 2 · THE FOUR PILLARS</a:t>
            </a:r>
            <a:endParaRPr lang="en-US" sz="2000" dirty="0"/>
          </a:p>
        </p:txBody>
      </p:sp>
      <p:sp>
        <p:nvSpPr>
          <p:cNvPr id="8" name="Text 1">
            <a:extLst>
              <a:ext uri="{FF2B5EF4-FFF2-40B4-BE49-F238E27FC236}">
                <a16:creationId xmlns:a16="http://schemas.microsoft.com/office/drawing/2014/main" id="{30A256BA-A456-724B-3019-86DD509BF3F1}"/>
              </a:ext>
            </a:extLst>
          </p:cNvPr>
          <p:cNvSpPr/>
          <p:nvPr/>
        </p:nvSpPr>
        <p:spPr>
          <a:xfrm>
            <a:off x="548640" y="626364"/>
            <a:ext cx="9692640" cy="777240"/>
          </a:xfrm>
          <a:prstGeom prst="rect">
            <a:avLst/>
          </a:prstGeom>
          <a:noFill/>
          <a:ln/>
        </p:spPr>
        <p:txBody>
          <a:bodyPr wrap="square" lIns="0" tIns="0" rIns="0" bIns="0" rtlCol="0" anchor="ctr"/>
          <a:lstStyle/>
          <a:p>
            <a:pPr marL="0" indent="0">
              <a:buNone/>
            </a:pPr>
            <a:r>
              <a:rPr lang="en-US" sz="4400" b="1" dirty="0">
                <a:solidFill>
                  <a:srgbClr val="0B3D4C"/>
                </a:solidFill>
                <a:latin typeface="Cambria" pitchFamily="34" charset="0"/>
                <a:ea typeface="Cambria" pitchFamily="34" charset="-122"/>
                <a:cs typeface="Cambria" pitchFamily="34" charset="-120"/>
              </a:rPr>
              <a:t>Official Sources of Demographic Data</a:t>
            </a:r>
            <a:endParaRPr lang="en-US" sz="4400" dirty="0"/>
          </a:p>
        </p:txBody>
      </p:sp>
      <p:sp>
        <p:nvSpPr>
          <p:cNvPr id="10" name="Shape 2">
            <a:extLst>
              <a:ext uri="{FF2B5EF4-FFF2-40B4-BE49-F238E27FC236}">
                <a16:creationId xmlns:a16="http://schemas.microsoft.com/office/drawing/2014/main" id="{80C0DEFC-7680-C616-E186-41EE0409B75E}"/>
              </a:ext>
            </a:extLst>
          </p:cNvPr>
          <p:cNvSpPr/>
          <p:nvPr/>
        </p:nvSpPr>
        <p:spPr>
          <a:xfrm>
            <a:off x="10881360" y="411480"/>
            <a:ext cx="777240" cy="777240"/>
          </a:xfrm>
          <a:prstGeom prst="ellipse">
            <a:avLst/>
          </a:prstGeom>
          <a:solidFill>
            <a:srgbClr val="F4F6F9"/>
          </a:solidFill>
          <a:ln w="12700">
            <a:solidFill>
              <a:srgbClr val="DCE1E8"/>
            </a:solidFill>
            <a:prstDash val="solid"/>
          </a:ln>
        </p:spPr>
      </p:sp>
      <p:pic>
        <p:nvPicPr>
          <p:cNvPr id="12" name="Image 0" descr="preencoded.png">
            <a:extLst>
              <a:ext uri="{FF2B5EF4-FFF2-40B4-BE49-F238E27FC236}">
                <a16:creationId xmlns:a16="http://schemas.microsoft.com/office/drawing/2014/main" id="{EB8213F3-6F93-28E8-28F7-F3BAE9CDCB3A}"/>
              </a:ext>
            </a:extLst>
          </p:cNvPr>
          <p:cNvPicPr>
            <a:picLocks noChangeAspect="1"/>
          </p:cNvPicPr>
          <p:nvPr/>
        </p:nvPicPr>
        <p:blipFill>
          <a:blip r:embed="rId2"/>
          <a:stretch>
            <a:fillRect/>
          </a:stretch>
        </p:blipFill>
        <p:spPr>
          <a:xfrm>
            <a:off x="11055096" y="585216"/>
            <a:ext cx="429768" cy="429768"/>
          </a:xfrm>
          <a:prstGeom prst="rect">
            <a:avLst/>
          </a:prstGeom>
        </p:spPr>
      </p:pic>
    </p:spTree>
    <p:extLst>
      <p:ext uri="{BB962C8B-B14F-4D97-AF65-F5344CB8AC3E}">
        <p14:creationId xmlns:p14="http://schemas.microsoft.com/office/powerpoint/2010/main" val="2499987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FF00-4663-52D3-A8F3-11A03B99B221}"/>
              </a:ext>
            </a:extLst>
          </p:cNvPr>
          <p:cNvSpPr txBox="1">
            <a:spLocks/>
          </p:cNvSpPr>
          <p:nvPr/>
        </p:nvSpPr>
        <p:spPr>
          <a:xfrm>
            <a:off x="838200" y="365125"/>
            <a:ext cx="3588657" cy="372790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a:t>Standard Hierarchy of Geographic Entities for the 2010 Decennial Census</a:t>
            </a:r>
            <a:endParaRPr lang="en-US" sz="3600" dirty="0"/>
          </a:p>
        </p:txBody>
      </p:sp>
      <p:pic>
        <p:nvPicPr>
          <p:cNvPr id="3" name="Picture 2">
            <a:extLst>
              <a:ext uri="{FF2B5EF4-FFF2-40B4-BE49-F238E27FC236}">
                <a16:creationId xmlns:a16="http://schemas.microsoft.com/office/drawing/2014/main" id="{16874199-C29B-F92C-018D-18CDDE09F491}"/>
              </a:ext>
            </a:extLst>
          </p:cNvPr>
          <p:cNvPicPr>
            <a:picLocks noChangeAspect="1"/>
          </p:cNvPicPr>
          <p:nvPr/>
        </p:nvPicPr>
        <p:blipFill>
          <a:blip r:embed="rId2"/>
          <a:stretch>
            <a:fillRect/>
          </a:stretch>
        </p:blipFill>
        <p:spPr>
          <a:xfrm>
            <a:off x="4717215" y="0"/>
            <a:ext cx="6821570" cy="6858000"/>
          </a:xfrm>
          <a:prstGeom prst="rect">
            <a:avLst/>
          </a:prstGeom>
        </p:spPr>
      </p:pic>
      <p:sp>
        <p:nvSpPr>
          <p:cNvPr id="4" name="Rectangle 3">
            <a:extLst>
              <a:ext uri="{FF2B5EF4-FFF2-40B4-BE49-F238E27FC236}">
                <a16:creationId xmlns:a16="http://schemas.microsoft.com/office/drawing/2014/main" id="{02AEF721-FD33-D6E9-7DBD-6ABD204862DF}"/>
              </a:ext>
            </a:extLst>
          </p:cNvPr>
          <p:cNvSpPr/>
          <p:nvPr/>
        </p:nvSpPr>
        <p:spPr>
          <a:xfrm>
            <a:off x="653215" y="6123543"/>
            <a:ext cx="6838732" cy="369332"/>
          </a:xfrm>
          <a:prstGeom prst="rect">
            <a:avLst/>
          </a:prstGeom>
        </p:spPr>
        <p:txBody>
          <a:bodyPr wrap="none">
            <a:spAutoFit/>
          </a:bodyPr>
          <a:lstStyle/>
          <a:p>
            <a:r>
              <a:rPr lang="en-US" dirty="0"/>
              <a:t>Source: https://www2.census.gov/geo/pdfs/reference/geodiagram.pdf</a:t>
            </a:r>
          </a:p>
        </p:txBody>
      </p:sp>
    </p:spTree>
    <p:extLst>
      <p:ext uri="{BB962C8B-B14F-4D97-AF65-F5344CB8AC3E}">
        <p14:creationId xmlns:p14="http://schemas.microsoft.com/office/powerpoint/2010/main" val="1203520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C661-CDFA-49C0-9296-75C9B86A4BB3}"/>
              </a:ext>
            </a:extLst>
          </p:cNvPr>
          <p:cNvSpPr>
            <a:spLocks noGrp="1"/>
          </p:cNvSpPr>
          <p:nvPr>
            <p:ph type="title"/>
          </p:nvPr>
        </p:nvSpPr>
        <p:spPr>
          <a:xfrm>
            <a:off x="671769" y="-72042"/>
            <a:ext cx="10512862" cy="1325218"/>
          </a:xfrm>
        </p:spPr>
        <p:txBody>
          <a:bodyPr/>
          <a:lstStyle/>
          <a:p>
            <a:r>
              <a:rPr lang="en-US" dirty="0"/>
              <a:t>What topics to be included? </a:t>
            </a:r>
          </a:p>
        </p:txBody>
      </p:sp>
      <p:sp>
        <p:nvSpPr>
          <p:cNvPr id="4" name="TextBox 3">
            <a:extLst>
              <a:ext uri="{FF2B5EF4-FFF2-40B4-BE49-F238E27FC236}">
                <a16:creationId xmlns:a16="http://schemas.microsoft.com/office/drawing/2014/main" id="{386FBEDC-266C-4A29-8174-E3B4A36AE356}"/>
              </a:ext>
            </a:extLst>
          </p:cNvPr>
          <p:cNvSpPr txBox="1"/>
          <p:nvPr/>
        </p:nvSpPr>
        <p:spPr>
          <a:xfrm>
            <a:off x="740697" y="1253176"/>
            <a:ext cx="4948082" cy="830781"/>
          </a:xfrm>
          <a:prstGeom prst="rect">
            <a:avLst/>
          </a:prstGeom>
          <a:noFill/>
          <a:ln>
            <a:solidFill>
              <a:schemeClr val="accent1"/>
            </a:solidFill>
          </a:ln>
        </p:spPr>
        <p:txBody>
          <a:bodyPr wrap="square" rtlCol="0">
            <a:spAutoFit/>
          </a:bodyPr>
          <a:lstStyle/>
          <a:p>
            <a:pPr algn="ctr"/>
            <a:r>
              <a:rPr lang="en-US" sz="4799" dirty="0"/>
              <a:t>Political side</a:t>
            </a:r>
          </a:p>
        </p:txBody>
      </p:sp>
      <p:sp>
        <p:nvSpPr>
          <p:cNvPr id="5" name="TextBox 4">
            <a:extLst>
              <a:ext uri="{FF2B5EF4-FFF2-40B4-BE49-F238E27FC236}">
                <a16:creationId xmlns:a16="http://schemas.microsoft.com/office/drawing/2014/main" id="{824F3FFE-A6A7-4970-9301-885FC547E62F}"/>
              </a:ext>
            </a:extLst>
          </p:cNvPr>
          <p:cNvSpPr txBox="1"/>
          <p:nvPr/>
        </p:nvSpPr>
        <p:spPr>
          <a:xfrm>
            <a:off x="5880385" y="1230896"/>
            <a:ext cx="4505511" cy="830781"/>
          </a:xfrm>
          <a:prstGeom prst="rect">
            <a:avLst/>
          </a:prstGeom>
          <a:noFill/>
          <a:ln>
            <a:solidFill>
              <a:schemeClr val="accent1"/>
            </a:solidFill>
          </a:ln>
        </p:spPr>
        <p:txBody>
          <a:bodyPr wrap="square" rtlCol="0">
            <a:spAutoFit/>
          </a:bodyPr>
          <a:lstStyle/>
          <a:p>
            <a:pPr algn="ctr"/>
            <a:r>
              <a:rPr lang="en-US" sz="4799" dirty="0"/>
              <a:t>Technical side</a:t>
            </a:r>
          </a:p>
        </p:txBody>
      </p:sp>
      <p:sp>
        <p:nvSpPr>
          <p:cNvPr id="6" name="Rectangle 5">
            <a:extLst>
              <a:ext uri="{FF2B5EF4-FFF2-40B4-BE49-F238E27FC236}">
                <a16:creationId xmlns:a16="http://schemas.microsoft.com/office/drawing/2014/main" id="{746566F4-F8B9-43B4-BAD5-E2E361217FC9}"/>
              </a:ext>
            </a:extLst>
          </p:cNvPr>
          <p:cNvSpPr/>
          <p:nvPr/>
        </p:nvSpPr>
        <p:spPr>
          <a:xfrm>
            <a:off x="740697" y="2315906"/>
            <a:ext cx="4948082" cy="2030796"/>
          </a:xfrm>
          <a:prstGeom prst="rect">
            <a:avLst/>
          </a:prstGeom>
          <a:solidFill>
            <a:schemeClr val="accent1">
              <a:lumMod val="40000"/>
              <a:lumOff val="60000"/>
            </a:schemeClr>
          </a:solidFill>
        </p:spPr>
        <p:txBody>
          <a:bodyPr wrap="square">
            <a:spAutoFit/>
          </a:bodyPr>
          <a:lstStyle/>
          <a:p>
            <a:r>
              <a:rPr lang="en-US" sz="1799" dirty="0"/>
              <a:t>The priority of national over international needs in determining census content e.g. </a:t>
            </a:r>
          </a:p>
          <a:p>
            <a:endParaRPr lang="en-US" sz="1799" dirty="0"/>
          </a:p>
          <a:p>
            <a:pPr marL="285664" indent="-285664">
              <a:buFont typeface="Arial" panose="020B0604020202020204" pitchFamily="34" charset="0"/>
              <a:buChar char="•"/>
            </a:pPr>
            <a:r>
              <a:rPr lang="en-US" sz="1799" dirty="0"/>
              <a:t>Hearings and debates dealing with demographic priorities</a:t>
            </a:r>
          </a:p>
          <a:p>
            <a:pPr marL="285664" indent="-285664">
              <a:buFont typeface="Arial" panose="020B0604020202020204" pitchFamily="34" charset="0"/>
              <a:buChar char="•"/>
            </a:pPr>
            <a:r>
              <a:rPr lang="en-US" sz="1799" dirty="0"/>
              <a:t>Rights to privacy</a:t>
            </a:r>
          </a:p>
          <a:p>
            <a:endParaRPr lang="en-US" sz="1799" dirty="0"/>
          </a:p>
        </p:txBody>
      </p:sp>
      <p:sp>
        <p:nvSpPr>
          <p:cNvPr id="7" name="Rectangle 6">
            <a:extLst>
              <a:ext uri="{FF2B5EF4-FFF2-40B4-BE49-F238E27FC236}">
                <a16:creationId xmlns:a16="http://schemas.microsoft.com/office/drawing/2014/main" id="{984C2D76-AC77-4152-BDDB-B23E076E39A5}"/>
              </a:ext>
            </a:extLst>
          </p:cNvPr>
          <p:cNvSpPr/>
          <p:nvPr/>
        </p:nvSpPr>
        <p:spPr>
          <a:xfrm>
            <a:off x="5928200" y="2315905"/>
            <a:ext cx="4505510" cy="2030796"/>
          </a:xfrm>
          <a:prstGeom prst="rect">
            <a:avLst/>
          </a:prstGeom>
          <a:solidFill>
            <a:schemeClr val="accent1">
              <a:lumMod val="40000"/>
              <a:lumOff val="60000"/>
            </a:schemeClr>
          </a:solidFill>
        </p:spPr>
        <p:txBody>
          <a:bodyPr wrap="square">
            <a:spAutoFit/>
          </a:bodyPr>
          <a:lstStyle/>
          <a:p>
            <a:pPr marL="285664" indent="-285664">
              <a:buFont typeface="Arial" panose="020B0604020202020204" pitchFamily="34" charset="0"/>
              <a:buChar char="•"/>
            </a:pPr>
            <a:r>
              <a:rPr lang="en-US" sz="1799" dirty="0"/>
              <a:t>Complete and comparable.</a:t>
            </a:r>
          </a:p>
          <a:p>
            <a:pPr marL="285664" indent="-285664">
              <a:buFont typeface="Arial" panose="020B0604020202020204" pitchFamily="34" charset="0"/>
              <a:buChar char="•"/>
            </a:pPr>
            <a:r>
              <a:rPr lang="en-US" sz="1799" dirty="0"/>
              <a:t>Nations can enhance international comparability by taking censuses in standard years</a:t>
            </a:r>
          </a:p>
          <a:p>
            <a:pPr marL="285664" indent="-285664">
              <a:buFont typeface="Arial" panose="020B0604020202020204" pitchFamily="34" charset="0"/>
              <a:buChar char="•"/>
            </a:pPr>
            <a:endParaRPr lang="en-US" sz="1799" dirty="0"/>
          </a:p>
          <a:p>
            <a:pPr marL="285664" indent="-285664">
              <a:buFont typeface="Arial" panose="020B0604020202020204" pitchFamily="34" charset="0"/>
              <a:buChar char="•"/>
            </a:pPr>
            <a:endParaRPr lang="en-US" sz="1799" dirty="0"/>
          </a:p>
          <a:p>
            <a:pPr marL="285664" indent="-285664">
              <a:buFont typeface="Arial" panose="020B0604020202020204" pitchFamily="34" charset="0"/>
              <a:buChar char="•"/>
            </a:pPr>
            <a:endParaRPr lang="en-US" sz="1799" dirty="0"/>
          </a:p>
        </p:txBody>
      </p:sp>
      <p:sp>
        <p:nvSpPr>
          <p:cNvPr id="8" name="Rectangle 7">
            <a:extLst>
              <a:ext uri="{FF2B5EF4-FFF2-40B4-BE49-F238E27FC236}">
                <a16:creationId xmlns:a16="http://schemas.microsoft.com/office/drawing/2014/main" id="{C5C535DD-74E4-4CBC-98A0-F224AC3D3247}"/>
              </a:ext>
            </a:extLst>
          </p:cNvPr>
          <p:cNvSpPr/>
          <p:nvPr/>
        </p:nvSpPr>
        <p:spPr>
          <a:xfrm>
            <a:off x="769054" y="4512671"/>
            <a:ext cx="10512862" cy="1476943"/>
          </a:xfrm>
          <a:prstGeom prst="rect">
            <a:avLst/>
          </a:prstGeom>
          <a:solidFill>
            <a:schemeClr val="accent1">
              <a:lumMod val="40000"/>
              <a:lumOff val="60000"/>
            </a:schemeClr>
          </a:solidFill>
        </p:spPr>
        <p:txBody>
          <a:bodyPr wrap="square">
            <a:spAutoFit/>
          </a:bodyPr>
          <a:lstStyle/>
          <a:p>
            <a:r>
              <a:rPr lang="en-US" sz="1799" dirty="0"/>
              <a:t>Let’s take a look at</a:t>
            </a:r>
            <a:r>
              <a:rPr lang="th-TH" sz="1799" dirty="0"/>
              <a:t>  </a:t>
            </a:r>
            <a:r>
              <a:rPr lang="en-US" sz="1799" dirty="0"/>
              <a:t>the Thai census</a:t>
            </a:r>
          </a:p>
          <a:p>
            <a:endParaRPr lang="en-US" sz="1799" dirty="0"/>
          </a:p>
          <a:p>
            <a:r>
              <a:rPr lang="en-US" sz="1799" dirty="0">
                <a:hlinkClick r:id="rId3"/>
              </a:rPr>
              <a:t>https://unstats.un.org/unsd/demographic/sources/census/quest/THA2010en.pdf</a:t>
            </a:r>
            <a:r>
              <a:rPr lang="en-US" sz="1799" dirty="0"/>
              <a:t> </a:t>
            </a:r>
          </a:p>
          <a:p>
            <a:endParaRPr lang="en-US" sz="1799" dirty="0"/>
          </a:p>
          <a:p>
            <a:r>
              <a:rPr lang="en-US" sz="1799" dirty="0">
                <a:hlinkClick r:id="rId4"/>
              </a:rPr>
              <a:t>http://www.nso.go.th/sites/2014en/Pages/popeng/2010/mainpop.aspx</a:t>
            </a:r>
            <a:r>
              <a:rPr lang="en-US" sz="1799" dirty="0"/>
              <a:t>  </a:t>
            </a:r>
          </a:p>
        </p:txBody>
      </p:sp>
      <p:sp>
        <p:nvSpPr>
          <p:cNvPr id="9" name="Rectangle 8">
            <a:extLst>
              <a:ext uri="{FF2B5EF4-FFF2-40B4-BE49-F238E27FC236}">
                <a16:creationId xmlns:a16="http://schemas.microsoft.com/office/drawing/2014/main" id="{B59B9E99-E33F-4A2F-ACFB-91EF09209E6A}"/>
              </a:ext>
            </a:extLst>
          </p:cNvPr>
          <p:cNvSpPr/>
          <p:nvPr/>
        </p:nvSpPr>
        <p:spPr>
          <a:xfrm>
            <a:off x="906909" y="6307459"/>
            <a:ext cx="9478988" cy="369236"/>
          </a:xfrm>
          <a:prstGeom prst="rect">
            <a:avLst/>
          </a:prstGeom>
        </p:spPr>
        <p:txBody>
          <a:bodyPr wrap="square">
            <a:spAutoFit/>
          </a:bodyPr>
          <a:lstStyle/>
          <a:p>
            <a:r>
              <a:rPr lang="en-US" sz="1799" dirty="0">
                <a:latin typeface="Dutch823BT-RomanB"/>
              </a:rPr>
              <a:t>Source: Jennifer H. Lundquist, Douglas L. Anderton, and Barbara </a:t>
            </a:r>
            <a:r>
              <a:rPr lang="en-US" sz="1799" dirty="0" err="1">
                <a:latin typeface="Dutch823BT-RomanB"/>
              </a:rPr>
              <a:t>Yaukey</a:t>
            </a:r>
            <a:r>
              <a:rPr lang="en-US" sz="1799" dirty="0">
                <a:latin typeface="Dutch823BT-RomanB"/>
              </a:rPr>
              <a:t> (2015) </a:t>
            </a:r>
            <a:r>
              <a:rPr lang="en-US" sz="1799" dirty="0"/>
              <a:t>DEMOGRAPHY</a:t>
            </a:r>
          </a:p>
        </p:txBody>
      </p:sp>
    </p:spTree>
    <p:extLst>
      <p:ext uri="{BB962C8B-B14F-4D97-AF65-F5344CB8AC3E}">
        <p14:creationId xmlns:p14="http://schemas.microsoft.com/office/powerpoint/2010/main" val="2655128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2000" b="1" kern="0" spc="200" dirty="0">
                <a:solidFill>
                  <a:srgbClr val="D9F0EC"/>
                </a:solidFill>
                <a:latin typeface="Calibri" pitchFamily="34" charset="0"/>
                <a:ea typeface="Calibri" pitchFamily="34" charset="-122"/>
                <a:cs typeface="Calibri" pitchFamily="34" charset="-120"/>
              </a:rPr>
              <a:t>EXAMPLE 1</a:t>
            </a:r>
            <a:endParaRPr lang="en-US" sz="20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Thailand’s 2025 Census Goes Digital-First</a:t>
            </a:r>
            <a:endParaRPr lang="en-US" sz="36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Thailand’s National Statistical Office ran the 2025 Population and Housing Census under a "Digital First Approach," directing respondents to self-report via a web application and government portal before enumerator follow-up</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This is a major shift from the 2020 census round, when online/mailed pilot response rates were only about 5% and 4% respectively</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Censuses are costly (they attempt to count everyone) and infrequent — but they remain the gold-standard sampling frame that surveys and small-area estimates are built on</a:t>
            </a:r>
            <a:endParaRPr lang="en-US" sz="2400"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Source: United Nations ESCAP (2024). Thailand Population and Housing Census 2025 [Conference presentation]. Asia-Pacific Stats Café Series. https://crvs.unescap.org/system/files/sites/default/files/Thailand_presentation.pdf</a:t>
            </a:r>
            <a:endParaRPr lang="en-US" sz="120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2000" b="1" kern="0" spc="200" dirty="0">
                <a:solidFill>
                  <a:srgbClr val="D9F0EC"/>
                </a:solidFill>
                <a:latin typeface="Calibri" pitchFamily="34" charset="0"/>
                <a:ea typeface="Calibri" pitchFamily="34" charset="-122"/>
                <a:cs typeface="Calibri" pitchFamily="34" charset="-120"/>
              </a:rPr>
              <a:t>EXAMPLE 2</a:t>
            </a:r>
            <a:endParaRPr lang="en-US" sz="20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Thailand’s Near-Complete Civil Registration</a:t>
            </a:r>
            <a:endParaRPr lang="en-US" sz="36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By 2024, Thailand reached essentially 100% registration of births occurring within its territory in that year, as part of the Asia-Pacific CRVS Decade (2015–2024) coordinated by UN ESCAP</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Challenges remain: a high share of deaths occur outside health facilities, requiring special programs to improve medically certified cause-of-death coding</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CRVS data — unlike a census — are continuous, giving up-to-date annual counts of births and deaths, the numerator for CBR, CDR, and related rates </a:t>
            </a:r>
            <a:endParaRPr lang="en-US" sz="2400"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Source: United Nations ESCAP (2024/2025). Get Every One in the Picture: Thailand country profile. https://getinthepicture.org/country/thailand</a:t>
            </a:r>
            <a:endParaRPr lang="en-US" sz="120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E007-D4C9-87BE-96F4-23926C7A0845}"/>
              </a:ext>
            </a:extLst>
          </p:cNvPr>
          <p:cNvSpPr txBox="1">
            <a:spLocks/>
          </p:cNvSpPr>
          <p:nvPr/>
        </p:nvSpPr>
        <p:spPr>
          <a:xfrm>
            <a:off x="677334" y="609600"/>
            <a:ext cx="8596668" cy="1320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a:t>Checkpoint  </a:t>
            </a:r>
          </a:p>
        </p:txBody>
      </p:sp>
      <p:sp>
        <p:nvSpPr>
          <p:cNvPr id="3" name="Content Placeholder 2">
            <a:extLst>
              <a:ext uri="{FF2B5EF4-FFF2-40B4-BE49-F238E27FC236}">
                <a16:creationId xmlns:a16="http://schemas.microsoft.com/office/drawing/2014/main" id="{ADF91F56-F0B9-EDF1-0180-1D40491A6D2F}"/>
              </a:ext>
            </a:extLst>
          </p:cNvPr>
          <p:cNvSpPr txBox="1">
            <a:spLocks/>
          </p:cNvSpPr>
          <p:nvPr/>
        </p:nvSpPr>
        <p:spPr>
          <a:xfrm>
            <a:off x="677334" y="2160589"/>
            <a:ext cx="10803466" cy="3880773"/>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a:p>
            <a:r>
              <a:rPr lang="en-US" dirty="0"/>
              <a:t>Find Population and Housing Census  from </a:t>
            </a:r>
            <a:r>
              <a:rPr lang="en-US" dirty="0">
                <a:hlinkClick r:id="rId2"/>
              </a:rPr>
              <a:t>United Nations Statistics Division - Demographic and Social Statistics</a:t>
            </a:r>
            <a:r>
              <a:rPr lang="en-US" dirty="0"/>
              <a:t>  </a:t>
            </a:r>
          </a:p>
          <a:p>
            <a:pPr marL="0" indent="0">
              <a:buFont typeface="Arial" pitchFamily="34" charset="0"/>
              <a:buNone/>
            </a:pPr>
            <a:endParaRPr lang="en-US" dirty="0"/>
          </a:p>
          <a:p>
            <a:r>
              <a:rPr lang="en-US" dirty="0">
                <a:hlinkClick r:id="rId3"/>
              </a:rPr>
              <a:t>https://unstats.un.org/unsd/demographic-social/census/document-resources/</a:t>
            </a:r>
            <a:endParaRPr lang="en-US" dirty="0"/>
          </a:p>
          <a:p>
            <a:endParaRPr lang="en-US" dirty="0"/>
          </a:p>
          <a:p>
            <a:pPr marL="0" indent="0">
              <a:buFont typeface="Arial" pitchFamily="34" charset="0"/>
              <a:buNone/>
            </a:pPr>
            <a:r>
              <a:rPr lang="en-US" i="1" dirty="0">
                <a:solidFill>
                  <a:schemeClr val="accent1">
                    <a:lumMod val="50000"/>
                  </a:schemeClr>
                </a:solidFill>
              </a:rPr>
              <a:t>Select two Population and Housing Census questionnaires from two different countries, and provide the criteria for your selection. </a:t>
            </a:r>
          </a:p>
          <a:p>
            <a:pPr marL="0" indent="0">
              <a:buFont typeface="Arial" pitchFamily="34" charset="0"/>
              <a:buNone/>
            </a:pPr>
            <a:endParaRPr lang="en-US" i="1" dirty="0">
              <a:solidFill>
                <a:schemeClr val="accent1">
                  <a:lumMod val="50000"/>
                </a:schemeClr>
              </a:solidFill>
            </a:endParaRPr>
          </a:p>
          <a:p>
            <a:pPr marL="0" indent="0">
              <a:buFont typeface="Arial" pitchFamily="34" charset="0"/>
              <a:buNone/>
            </a:pPr>
            <a:r>
              <a:rPr lang="en-US" i="1" dirty="0">
                <a:solidFill>
                  <a:schemeClr val="accent1">
                    <a:lumMod val="50000"/>
                  </a:schemeClr>
                </a:solidFill>
              </a:rPr>
              <a:t>You will have 15 minutes to compare the questionnaires between the two countries. Afterward, share 2-3 observations related to the content of the questionnaires. Each group will have 3 minutes to report back.</a:t>
            </a:r>
          </a:p>
        </p:txBody>
      </p:sp>
    </p:spTree>
    <p:extLst>
      <p:ext uri="{BB962C8B-B14F-4D97-AF65-F5344CB8AC3E}">
        <p14:creationId xmlns:p14="http://schemas.microsoft.com/office/powerpoint/2010/main" val="3337754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4358C-0E7A-D0EE-AE83-FF23B327E864}"/>
              </a:ext>
            </a:extLst>
          </p:cNvPr>
          <p:cNvSpPr>
            <a:spLocks noGrp="1"/>
          </p:cNvSpPr>
          <p:nvPr>
            <p:ph type="title"/>
          </p:nvPr>
        </p:nvSpPr>
        <p:spPr>
          <a:xfrm>
            <a:off x="643299" y="322544"/>
            <a:ext cx="10902226" cy="1135441"/>
          </a:xfrm>
        </p:spPr>
        <p:txBody>
          <a:bodyPr>
            <a:normAutofit/>
          </a:bodyPr>
          <a:lstStyle/>
          <a:p>
            <a:pPr algn="l"/>
            <a:r>
              <a:rPr lang="en-US" dirty="0"/>
              <a:t>How to cope with discrepancies? </a:t>
            </a:r>
          </a:p>
        </p:txBody>
      </p:sp>
      <p:sp>
        <p:nvSpPr>
          <p:cNvPr id="3" name="Content Placeholder 2">
            <a:extLst>
              <a:ext uri="{FF2B5EF4-FFF2-40B4-BE49-F238E27FC236}">
                <a16:creationId xmlns:a16="http://schemas.microsoft.com/office/drawing/2014/main" id="{287AB499-0C96-D68D-3F74-6B54181E2C13}"/>
              </a:ext>
            </a:extLst>
          </p:cNvPr>
          <p:cNvSpPr>
            <a:spLocks noGrp="1"/>
          </p:cNvSpPr>
          <p:nvPr>
            <p:ph idx="1"/>
          </p:nvPr>
        </p:nvSpPr>
        <p:spPr>
          <a:xfrm>
            <a:off x="643301" y="1783410"/>
            <a:ext cx="4007340" cy="4392838"/>
          </a:xfrm>
        </p:spPr>
        <p:txBody>
          <a:bodyPr>
            <a:normAutofit fontScale="92500"/>
          </a:bodyPr>
          <a:lstStyle/>
          <a:p>
            <a:pPr marL="0" indent="0">
              <a:buNone/>
            </a:pPr>
            <a:endParaRPr lang="en-US" sz="1999" dirty="0">
              <a:hlinkClick r:id="rId2"/>
            </a:endParaRPr>
          </a:p>
          <a:p>
            <a:pPr marL="0" indent="0">
              <a:buNone/>
            </a:pPr>
            <a:endParaRPr lang="en-US" sz="1999" dirty="0">
              <a:hlinkClick r:id="rId2"/>
            </a:endParaRPr>
          </a:p>
          <a:p>
            <a:r>
              <a:rPr lang="en-US" sz="1999" dirty="0">
                <a:hlinkClick r:id="rId2"/>
              </a:rPr>
              <a:t>https://www.census.gov/newsroom/press-releases/2022/2020-census-estimates-of-undercount-and-overcount.html</a:t>
            </a:r>
            <a:r>
              <a:rPr lang="en-US" sz="1999" dirty="0"/>
              <a:t> </a:t>
            </a:r>
          </a:p>
          <a:p>
            <a:endParaRPr lang="en-US" sz="1999" dirty="0"/>
          </a:p>
          <a:p>
            <a:pPr marL="0" indent="0">
              <a:buNone/>
            </a:pPr>
            <a:endParaRPr lang="en-US" sz="1999" dirty="0"/>
          </a:p>
          <a:p>
            <a:r>
              <a:rPr lang="en-US" sz="1999" dirty="0">
                <a:hlinkClick r:id="rId3"/>
              </a:rPr>
              <a:t>https://www.census.gov/library/stories/2022/05/2020-census-undercount-overcount-rates-by-state.html#:~:text=If%20an%20estimated%20net%20coverage,error%20or%20more%20than%20once</a:t>
            </a:r>
            <a:r>
              <a:rPr lang="en-US" sz="1999" dirty="0"/>
              <a:t>. </a:t>
            </a:r>
          </a:p>
        </p:txBody>
      </p:sp>
      <p:pic>
        <p:nvPicPr>
          <p:cNvPr id="5" name="Picture 4">
            <a:extLst>
              <a:ext uri="{FF2B5EF4-FFF2-40B4-BE49-F238E27FC236}">
                <a16:creationId xmlns:a16="http://schemas.microsoft.com/office/drawing/2014/main" id="{863FB686-34C1-19C2-6DEB-D7B68B027DCD}"/>
              </a:ext>
            </a:extLst>
          </p:cNvPr>
          <p:cNvPicPr>
            <a:picLocks noChangeAspect="1"/>
          </p:cNvPicPr>
          <p:nvPr/>
        </p:nvPicPr>
        <p:blipFill>
          <a:blip r:embed="rId4"/>
          <a:stretch>
            <a:fillRect/>
          </a:stretch>
        </p:blipFill>
        <p:spPr>
          <a:xfrm>
            <a:off x="4966679" y="1736451"/>
            <a:ext cx="6662511" cy="3014786"/>
          </a:xfrm>
          <a:prstGeom prst="rect">
            <a:avLst/>
          </a:prstGeom>
        </p:spPr>
      </p:pic>
      <p:sp>
        <p:nvSpPr>
          <p:cNvPr id="4" name="Title 1">
            <a:extLst>
              <a:ext uri="{FF2B5EF4-FFF2-40B4-BE49-F238E27FC236}">
                <a16:creationId xmlns:a16="http://schemas.microsoft.com/office/drawing/2014/main" id="{21938100-3C51-1FFE-5FFC-A49CC3AD016E}"/>
              </a:ext>
            </a:extLst>
          </p:cNvPr>
          <p:cNvSpPr txBox="1">
            <a:spLocks/>
          </p:cNvSpPr>
          <p:nvPr/>
        </p:nvSpPr>
        <p:spPr>
          <a:xfrm>
            <a:off x="643301" y="1168730"/>
            <a:ext cx="10902226" cy="1135441"/>
          </a:xfrm>
        </p:spPr>
        <p:txBody>
          <a:bodyPr>
            <a:normAutofit/>
          </a:bodyPr>
          <a:lstStyle>
            <a:lvl1pPr algn="ctr" defTabSz="914400" rtl="0" eaLnBrk="1" latinLnBrk="0" hangingPunct="1">
              <a:spcBef>
                <a:spcPct val="0"/>
              </a:spcBef>
              <a:buNone/>
              <a:defRPr sz="3599" kern="1200">
                <a:solidFill>
                  <a:schemeClr val="tx1"/>
                </a:solidFill>
                <a:latin typeface="+mj-lt"/>
                <a:ea typeface="+mj-ea"/>
                <a:cs typeface="+mj-cs"/>
              </a:defRPr>
            </a:lvl1pPr>
          </a:lstStyle>
          <a:p>
            <a:pPr algn="l"/>
            <a:r>
              <a:rPr lang="en-US"/>
              <a:t>For example </a:t>
            </a:r>
            <a:endParaRPr lang="en-US" dirty="0"/>
          </a:p>
        </p:txBody>
      </p:sp>
    </p:spTree>
    <p:extLst>
      <p:ext uri="{BB962C8B-B14F-4D97-AF65-F5344CB8AC3E}">
        <p14:creationId xmlns:p14="http://schemas.microsoft.com/office/powerpoint/2010/main" val="217899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101807-5D0E-9A46-7986-10C564FE92B1}"/>
              </a:ext>
            </a:extLst>
          </p:cNvPr>
          <p:cNvPicPr>
            <a:picLocks noChangeAspect="1"/>
          </p:cNvPicPr>
          <p:nvPr/>
        </p:nvPicPr>
        <p:blipFill>
          <a:blip r:embed="rId2"/>
          <a:stretch>
            <a:fillRect/>
          </a:stretch>
        </p:blipFill>
        <p:spPr>
          <a:xfrm>
            <a:off x="675019" y="2702666"/>
            <a:ext cx="1752845" cy="2381582"/>
          </a:xfrm>
          <a:prstGeom prst="rect">
            <a:avLst/>
          </a:prstGeom>
        </p:spPr>
      </p:pic>
      <p:sp>
        <p:nvSpPr>
          <p:cNvPr id="5" name="TextBox 4">
            <a:extLst>
              <a:ext uri="{FF2B5EF4-FFF2-40B4-BE49-F238E27FC236}">
                <a16:creationId xmlns:a16="http://schemas.microsoft.com/office/drawing/2014/main" id="{94418844-AAA2-0FF4-3AAD-143019C2A256}"/>
              </a:ext>
            </a:extLst>
          </p:cNvPr>
          <p:cNvSpPr txBox="1"/>
          <p:nvPr/>
        </p:nvSpPr>
        <p:spPr>
          <a:xfrm>
            <a:off x="2718235" y="1672638"/>
            <a:ext cx="8766629" cy="4801314"/>
          </a:xfrm>
          <a:prstGeom prst="rect">
            <a:avLst/>
          </a:prstGeom>
          <a:noFill/>
        </p:spPr>
        <p:txBody>
          <a:bodyPr wrap="square">
            <a:spAutoFit/>
          </a:bodyPr>
          <a:lstStyle/>
          <a:p>
            <a:pPr>
              <a:buNone/>
            </a:pPr>
            <a:r>
              <a:rPr lang="en-US" b="1" dirty="0"/>
              <a:t>Advantages</a:t>
            </a:r>
          </a:p>
          <a:p>
            <a:pPr marL="342900" lvl="0" indent="-342900">
              <a:buFont typeface="Arial" panose="020B0604020202020204" pitchFamily="34" charset="0"/>
              <a:buChar char="•"/>
            </a:pPr>
            <a:r>
              <a:rPr lang="en-US" dirty="0"/>
              <a:t>Continuously records vital events, including births, deaths, marriages, divorces, and sometimes causes of death. </a:t>
            </a:r>
          </a:p>
          <a:p>
            <a:pPr marL="342900" lvl="0" indent="-342900">
              <a:buFont typeface="Arial" panose="020B0604020202020204" pitchFamily="34" charset="0"/>
              <a:buChar char="•"/>
            </a:pPr>
            <a:r>
              <a:rPr lang="en-US" dirty="0"/>
              <a:t>Produces more timely demographic information than a periodic census. </a:t>
            </a:r>
          </a:p>
          <a:p>
            <a:pPr marL="342900" lvl="0" indent="-342900">
              <a:buFont typeface="Arial" panose="020B0604020202020204" pitchFamily="34" charset="0"/>
              <a:buChar char="•"/>
            </a:pPr>
            <a:r>
              <a:rPr lang="en-US" dirty="0"/>
              <a:t>Provides legal identity and documentation needed to access rights and public services. </a:t>
            </a:r>
          </a:p>
          <a:p>
            <a:pPr marL="342900" lvl="0" indent="-342900">
              <a:buFont typeface="Arial" panose="020B0604020202020204" pitchFamily="34" charset="0"/>
              <a:buChar char="•"/>
            </a:pPr>
            <a:r>
              <a:rPr lang="en-US" dirty="0"/>
              <a:t>Supports the calculation of fertility, mortality, life expectancy, and cause-of-death indicators. </a:t>
            </a:r>
          </a:p>
          <a:p>
            <a:pPr marL="342900" lvl="0" indent="-342900">
              <a:buFont typeface="Arial" panose="020B0604020202020204" pitchFamily="34" charset="0"/>
              <a:buChar char="•"/>
            </a:pPr>
            <a:r>
              <a:rPr lang="en-US" dirty="0"/>
              <a:t>Can generate statistics for small geographic areas and monitor changes over time. </a:t>
            </a:r>
          </a:p>
          <a:p>
            <a:pPr marL="342900" lvl="0" indent="-342900">
              <a:buFont typeface="Arial" panose="020B0604020202020204" pitchFamily="34" charset="0"/>
              <a:buChar char="•"/>
            </a:pPr>
            <a:r>
              <a:rPr lang="en-US" dirty="0"/>
              <a:t>Covers the entire population in principle rather than only a sample. </a:t>
            </a:r>
          </a:p>
          <a:p>
            <a:pPr>
              <a:buNone/>
            </a:pPr>
            <a:r>
              <a:rPr lang="en-US" b="1" dirty="0"/>
              <a:t>Limitations</a:t>
            </a:r>
          </a:p>
          <a:p>
            <a:pPr marL="342900" lvl="0" indent="-342900">
              <a:buFont typeface="Arial" panose="020B0604020202020204" pitchFamily="34" charset="0"/>
              <a:buChar char="•"/>
            </a:pPr>
            <a:r>
              <a:rPr lang="en-US" dirty="0"/>
              <a:t>Registration may be incomplete, particularly in remote areas and among migrants or </a:t>
            </a:r>
            <a:r>
              <a:rPr lang="en-US" dirty="0" err="1"/>
              <a:t>marginalised</a:t>
            </a:r>
            <a:r>
              <a:rPr lang="en-US" dirty="0"/>
              <a:t> populations. </a:t>
            </a:r>
          </a:p>
          <a:p>
            <a:pPr marL="342900" lvl="0" indent="-342900">
              <a:buFont typeface="Arial" panose="020B0604020202020204" pitchFamily="34" charset="0"/>
              <a:buChar char="•"/>
            </a:pPr>
            <a:r>
              <a:rPr lang="en-US" dirty="0"/>
              <a:t>Some events may be registered late, inaccurately, or more than once. </a:t>
            </a:r>
          </a:p>
          <a:p>
            <a:pPr marL="342900" lvl="0" indent="-342900">
              <a:buFont typeface="Arial" panose="020B0604020202020204" pitchFamily="34" charset="0"/>
              <a:buChar char="•"/>
            </a:pPr>
            <a:r>
              <a:rPr lang="en-US" dirty="0"/>
              <a:t>Cause-of-death information may be missing or incorrectly classified. </a:t>
            </a:r>
          </a:p>
          <a:p>
            <a:pPr marL="342900" lvl="0" indent="-342900">
              <a:buFont typeface="Arial" panose="020B0604020202020204" pitchFamily="34" charset="0"/>
              <a:buChar char="•"/>
            </a:pPr>
            <a:r>
              <a:rPr lang="en-US" dirty="0"/>
              <a:t>Data quality and coverage can vary substantially across regions and population groups. </a:t>
            </a:r>
          </a:p>
          <a:p>
            <a:pPr marL="342900" lvl="0" indent="-342900">
              <a:buFont typeface="Arial" panose="020B0604020202020204" pitchFamily="34" charset="0"/>
              <a:buChar char="•"/>
            </a:pPr>
            <a:r>
              <a:rPr lang="en-US" dirty="0"/>
              <a:t>Civil registration systems may be fragmented across different government agencies. </a:t>
            </a:r>
          </a:p>
          <a:p>
            <a:pPr marL="342900" lvl="0" indent="-342900">
              <a:buFont typeface="Arial" panose="020B0604020202020204" pitchFamily="34" charset="0"/>
              <a:buChar char="•"/>
            </a:pPr>
            <a:r>
              <a:rPr lang="en-US" dirty="0"/>
              <a:t>Privacy, confidentiality, and restricted data access may limit research use.</a:t>
            </a:r>
          </a:p>
        </p:txBody>
      </p:sp>
      <p:sp>
        <p:nvSpPr>
          <p:cNvPr id="7" name="Text 0">
            <a:extLst>
              <a:ext uri="{FF2B5EF4-FFF2-40B4-BE49-F238E27FC236}">
                <a16:creationId xmlns:a16="http://schemas.microsoft.com/office/drawing/2014/main" id="{89CF506F-42C1-96E2-0B08-D2B657B9399E}"/>
              </a:ext>
            </a:extLst>
          </p:cNvPr>
          <p:cNvSpPr/>
          <p:nvPr/>
        </p:nvSpPr>
        <p:spPr>
          <a:xfrm>
            <a:off x="548640" y="384048"/>
            <a:ext cx="8229600" cy="32004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BLOCK 2 · THE FOUR PILLARS</a:t>
            </a:r>
            <a:endParaRPr lang="en-US" sz="2000" dirty="0"/>
          </a:p>
        </p:txBody>
      </p:sp>
      <p:sp>
        <p:nvSpPr>
          <p:cNvPr id="9" name="Text 1">
            <a:extLst>
              <a:ext uri="{FF2B5EF4-FFF2-40B4-BE49-F238E27FC236}">
                <a16:creationId xmlns:a16="http://schemas.microsoft.com/office/drawing/2014/main" id="{854EBF75-FB16-B365-3EC1-7F8FD1147B0A}"/>
              </a:ext>
            </a:extLst>
          </p:cNvPr>
          <p:cNvSpPr/>
          <p:nvPr/>
        </p:nvSpPr>
        <p:spPr>
          <a:xfrm>
            <a:off x="548640" y="658368"/>
            <a:ext cx="9692640" cy="777240"/>
          </a:xfrm>
          <a:prstGeom prst="rect">
            <a:avLst/>
          </a:prstGeom>
          <a:noFill/>
          <a:ln/>
        </p:spPr>
        <p:txBody>
          <a:bodyPr wrap="square" lIns="0" tIns="0" rIns="0" bIns="0" rtlCol="0" anchor="ctr"/>
          <a:lstStyle/>
          <a:p>
            <a:pPr marL="0" indent="0">
              <a:buNone/>
            </a:pPr>
            <a:r>
              <a:rPr lang="en-US" sz="4400" b="1" dirty="0">
                <a:solidFill>
                  <a:srgbClr val="0B3D4C"/>
                </a:solidFill>
                <a:latin typeface="Cambria" pitchFamily="34" charset="0"/>
                <a:ea typeface="Cambria" pitchFamily="34" charset="-122"/>
                <a:cs typeface="Cambria" pitchFamily="34" charset="-120"/>
              </a:rPr>
              <a:t>Official Sources of Demographic Data</a:t>
            </a:r>
            <a:endParaRPr lang="en-US" sz="4400" dirty="0"/>
          </a:p>
        </p:txBody>
      </p:sp>
      <p:sp>
        <p:nvSpPr>
          <p:cNvPr id="11" name="Shape 2">
            <a:extLst>
              <a:ext uri="{FF2B5EF4-FFF2-40B4-BE49-F238E27FC236}">
                <a16:creationId xmlns:a16="http://schemas.microsoft.com/office/drawing/2014/main" id="{98D15398-75E8-C805-7583-D4CB87418271}"/>
              </a:ext>
            </a:extLst>
          </p:cNvPr>
          <p:cNvSpPr/>
          <p:nvPr/>
        </p:nvSpPr>
        <p:spPr>
          <a:xfrm>
            <a:off x="10881360" y="411480"/>
            <a:ext cx="777240" cy="777240"/>
          </a:xfrm>
          <a:prstGeom prst="ellipse">
            <a:avLst/>
          </a:prstGeom>
          <a:solidFill>
            <a:srgbClr val="F4F6F9"/>
          </a:solidFill>
          <a:ln w="12700">
            <a:solidFill>
              <a:srgbClr val="DCE1E8"/>
            </a:solidFill>
            <a:prstDash val="solid"/>
          </a:ln>
        </p:spPr>
      </p:sp>
      <p:pic>
        <p:nvPicPr>
          <p:cNvPr id="13" name="Image 0" descr="preencoded.png">
            <a:extLst>
              <a:ext uri="{FF2B5EF4-FFF2-40B4-BE49-F238E27FC236}">
                <a16:creationId xmlns:a16="http://schemas.microsoft.com/office/drawing/2014/main" id="{ADA8BD08-4523-C6F3-16BC-A843F78B4658}"/>
              </a:ext>
            </a:extLst>
          </p:cNvPr>
          <p:cNvPicPr>
            <a:picLocks noChangeAspect="1"/>
          </p:cNvPicPr>
          <p:nvPr/>
        </p:nvPicPr>
        <p:blipFill>
          <a:blip r:embed="rId3"/>
          <a:stretch>
            <a:fillRect/>
          </a:stretch>
        </p:blipFill>
        <p:spPr>
          <a:xfrm>
            <a:off x="11055096" y="585216"/>
            <a:ext cx="429768" cy="429768"/>
          </a:xfrm>
          <a:prstGeom prst="rect">
            <a:avLst/>
          </a:prstGeom>
        </p:spPr>
      </p:pic>
    </p:spTree>
    <p:extLst>
      <p:ext uri="{BB962C8B-B14F-4D97-AF65-F5344CB8AC3E}">
        <p14:creationId xmlns:p14="http://schemas.microsoft.com/office/powerpoint/2010/main" val="150921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BLOCK 2 · MORE SOURCES</a:t>
            </a:r>
            <a:endParaRPr lang="en-US" sz="20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Sample Surveys and Population Registers</a:t>
            </a:r>
            <a:endParaRPr lang="en-US" sz="4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645920"/>
            <a:ext cx="5257800" cy="4572000"/>
          </a:xfrm>
          <a:prstGeom prst="roundRect">
            <a:avLst>
              <a:gd name="adj" fmla="val 1600"/>
            </a:avLst>
          </a:prstGeom>
          <a:solidFill>
            <a:srgbClr val="F4F6F9"/>
          </a:solidFill>
          <a:ln/>
        </p:spPr>
      </p:sp>
      <p:sp>
        <p:nvSpPr>
          <p:cNvPr id="7" name="Text 4"/>
          <p:cNvSpPr/>
          <p:nvPr/>
        </p:nvSpPr>
        <p:spPr>
          <a:xfrm>
            <a:off x="868680" y="1874520"/>
            <a:ext cx="4617720" cy="502920"/>
          </a:xfrm>
          <a:prstGeom prst="rect">
            <a:avLst/>
          </a:prstGeom>
          <a:noFill/>
          <a:ln/>
        </p:spPr>
        <p:txBody>
          <a:bodyPr wrap="square" lIns="0" tIns="0" rIns="0" bIns="0" rtlCol="0" anchor="ctr"/>
          <a:lstStyle/>
          <a:p>
            <a:pPr marL="0" indent="0">
              <a:buNone/>
            </a:pPr>
            <a:r>
              <a:rPr lang="en-US" sz="3200" b="1" dirty="0">
                <a:solidFill>
                  <a:srgbClr val="0B3D4C"/>
                </a:solidFill>
                <a:latin typeface="Cambria" pitchFamily="34" charset="0"/>
                <a:ea typeface="Cambria" pitchFamily="34" charset="-122"/>
                <a:cs typeface="Cambria" pitchFamily="34" charset="-120"/>
              </a:rPr>
              <a:t>Sample Surveys</a:t>
            </a:r>
            <a:endParaRPr lang="en-US" sz="3200" dirty="0"/>
          </a:p>
        </p:txBody>
      </p:sp>
      <p:sp>
        <p:nvSpPr>
          <p:cNvPr id="8" name="Text 5"/>
          <p:cNvSpPr/>
          <p:nvPr/>
        </p:nvSpPr>
        <p:spPr>
          <a:xfrm>
            <a:off x="868680" y="2468880"/>
            <a:ext cx="4617720" cy="365760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B2130"/>
                </a:solidFill>
                <a:latin typeface="Calibri" pitchFamily="34" charset="0"/>
                <a:ea typeface="Calibri" pitchFamily="34" charset="-122"/>
                <a:cs typeface="Calibri" pitchFamily="34" charset="-120"/>
              </a:rPr>
              <a:t>Collect rich, detailed data (fertility histories, health, income) from a representative sample, not everyone</a:t>
            </a:r>
            <a:endParaRPr lang="en-US" sz="2000" dirty="0"/>
          </a:p>
          <a:p>
            <a:pPr marL="342900" indent="-342900">
              <a:lnSpc>
                <a:spcPct val="115000"/>
              </a:lnSpc>
              <a:spcAft>
                <a:spcPts val="1000"/>
              </a:spcAft>
              <a:buSzPct val="100000"/>
              <a:buChar char="–"/>
            </a:pPr>
            <a:r>
              <a:rPr lang="en-US" sz="2000" dirty="0">
                <a:solidFill>
                  <a:srgbClr val="1B2130"/>
                </a:solidFill>
                <a:latin typeface="Calibri" pitchFamily="34" charset="0"/>
                <a:ea typeface="Calibri" pitchFamily="34" charset="-122"/>
                <a:cs typeface="Calibri" pitchFamily="34" charset="-120"/>
              </a:rPr>
              <a:t>Examples: Demographic and Health Surveys (DHS), Thailand’s Labour Force Survey (NSO)</a:t>
            </a:r>
            <a:endParaRPr lang="en-US" sz="2000" dirty="0"/>
          </a:p>
          <a:p>
            <a:pPr marL="342900" indent="-342900">
              <a:lnSpc>
                <a:spcPct val="115000"/>
              </a:lnSpc>
              <a:spcAft>
                <a:spcPts val="1000"/>
              </a:spcAft>
              <a:buSzPct val="100000"/>
              <a:buChar char="–"/>
            </a:pPr>
            <a:r>
              <a:rPr lang="en-US" sz="2000" dirty="0">
                <a:solidFill>
                  <a:srgbClr val="1B2130"/>
                </a:solidFill>
                <a:latin typeface="Calibri" pitchFamily="34" charset="0"/>
                <a:ea typeface="Calibri" pitchFamily="34" charset="-122"/>
                <a:cs typeface="Calibri" pitchFamily="34" charset="-120"/>
              </a:rPr>
              <a:t>Fast and flexible, but subject to sampling error and potential non-response bias</a:t>
            </a:r>
            <a:endParaRPr lang="en-US" sz="2000" dirty="0"/>
          </a:p>
        </p:txBody>
      </p:sp>
      <p:sp>
        <p:nvSpPr>
          <p:cNvPr id="9" name="Shape 6"/>
          <p:cNvSpPr/>
          <p:nvPr/>
        </p:nvSpPr>
        <p:spPr>
          <a:xfrm>
            <a:off x="6263640" y="1645920"/>
            <a:ext cx="5257800" cy="4572000"/>
          </a:xfrm>
          <a:prstGeom prst="roundRect">
            <a:avLst>
              <a:gd name="adj" fmla="val 1600"/>
            </a:avLst>
          </a:prstGeom>
          <a:solidFill>
            <a:srgbClr val="0B3D4C"/>
          </a:solidFill>
          <a:ln/>
        </p:spPr>
      </p:sp>
      <p:sp>
        <p:nvSpPr>
          <p:cNvPr id="10" name="Text 7"/>
          <p:cNvSpPr/>
          <p:nvPr/>
        </p:nvSpPr>
        <p:spPr>
          <a:xfrm>
            <a:off x="6583680" y="1874520"/>
            <a:ext cx="4617720" cy="5029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Population Registers</a:t>
            </a:r>
            <a:endParaRPr lang="en-US" sz="3200" dirty="0"/>
          </a:p>
        </p:txBody>
      </p:sp>
      <p:sp>
        <p:nvSpPr>
          <p:cNvPr id="11" name="Text 8"/>
          <p:cNvSpPr/>
          <p:nvPr/>
        </p:nvSpPr>
        <p:spPr>
          <a:xfrm>
            <a:off x="6583680" y="2468880"/>
            <a:ext cx="4617720" cy="365760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E4E9F2"/>
                </a:solidFill>
                <a:latin typeface="Calibri" pitchFamily="34" charset="0"/>
                <a:ea typeface="Calibri" pitchFamily="34" charset="-122"/>
                <a:cs typeface="Calibri" pitchFamily="34" charset="-120"/>
              </a:rPr>
              <a:t>Continuously updated administrative databases covering every resident (e.g., Sweden’s Register of Total Population)</a:t>
            </a:r>
            <a:endParaRPr lang="en-US" sz="2000" dirty="0"/>
          </a:p>
          <a:p>
            <a:pPr marL="342900" indent="-342900">
              <a:lnSpc>
                <a:spcPct val="115000"/>
              </a:lnSpc>
              <a:spcAft>
                <a:spcPts val="1000"/>
              </a:spcAft>
              <a:buSzPct val="100000"/>
              <a:buChar char="–"/>
            </a:pPr>
            <a:r>
              <a:rPr lang="en-US" sz="2000" dirty="0">
                <a:solidFill>
                  <a:srgbClr val="E4E9F2"/>
                </a:solidFill>
                <a:latin typeface="Calibri" pitchFamily="34" charset="0"/>
                <a:ea typeface="Calibri" pitchFamily="34" charset="-122"/>
                <a:cs typeface="Calibri" pitchFamily="34" charset="-120"/>
              </a:rPr>
              <a:t>Enable register-based "censuses" without door-to-door enumeration</a:t>
            </a:r>
            <a:endParaRPr lang="en-US" sz="2000" dirty="0"/>
          </a:p>
          <a:p>
            <a:pPr marL="342900" indent="-342900">
              <a:lnSpc>
                <a:spcPct val="115000"/>
              </a:lnSpc>
              <a:spcAft>
                <a:spcPts val="1000"/>
              </a:spcAft>
              <a:buSzPct val="100000"/>
              <a:buChar char="–"/>
            </a:pPr>
            <a:r>
              <a:rPr lang="en-US" sz="2000" dirty="0">
                <a:solidFill>
                  <a:srgbClr val="E4E9F2"/>
                </a:solidFill>
                <a:latin typeface="Calibri" pitchFamily="34" charset="0"/>
                <a:ea typeface="Calibri" pitchFamily="34" charset="-122"/>
                <a:cs typeface="Calibri" pitchFamily="34" charset="-120"/>
              </a:rPr>
              <a:t>Require a unique personal ID system and strong inter-agency data-sharing — not feasible everywhere</a:t>
            </a:r>
            <a:endParaRPr lang="en-US" sz="2000" dirty="0"/>
          </a:p>
        </p:txBody>
      </p:sp>
      <p:sp>
        <p:nvSpPr>
          <p:cNvPr id="12" name="Text 9"/>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2000" b="1" kern="0" spc="200" dirty="0">
                <a:solidFill>
                  <a:srgbClr val="D9F0EC"/>
                </a:solidFill>
                <a:latin typeface="Calibri" pitchFamily="34" charset="0"/>
                <a:ea typeface="Calibri" pitchFamily="34" charset="-122"/>
                <a:cs typeface="Calibri" pitchFamily="34" charset="-120"/>
              </a:rPr>
              <a:t>EXAMPLE 3</a:t>
            </a:r>
            <a:endParaRPr lang="en-US" sz="2000" dirty="0"/>
          </a:p>
        </p:txBody>
      </p:sp>
      <p:sp>
        <p:nvSpPr>
          <p:cNvPr id="4" name="Text 2"/>
          <p:cNvSpPr/>
          <p:nvPr/>
        </p:nvSpPr>
        <p:spPr>
          <a:xfrm>
            <a:off x="388620" y="1384300"/>
            <a:ext cx="3063240" cy="21031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Population Registers as a Data Source: Denmark &amp; Sweden</a:t>
            </a:r>
            <a:endParaRPr lang="en-US" sz="36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Careja and Bevelander (2018) show how Danish and Swedish population registers — built on unique personal identity numbers — provide systematic, longitudinal, near-complete data on residents, including immigrants</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Register-linked data let researchers follow the same individuals across health, tax, and migration records over decades, something few surveys can match</a:t>
            </a:r>
            <a:endParaRPr lang="en-US" sz="2400" dirty="0"/>
          </a:p>
          <a:p>
            <a:pPr marL="342900" indent="-342900">
              <a:lnSpc>
                <a:spcPct val="118000"/>
              </a:lnSpc>
              <a:spcAft>
                <a:spcPts val="1100"/>
              </a:spcAft>
              <a:buSzPct val="100000"/>
              <a:buChar char="–"/>
            </a:pPr>
            <a:r>
              <a:rPr lang="en-US" sz="2400" dirty="0">
                <a:solidFill>
                  <a:srgbClr val="1B2130"/>
                </a:solidFill>
                <a:latin typeface="Calibri" pitchFamily="34" charset="0"/>
                <a:ea typeface="Calibri" pitchFamily="34" charset="-122"/>
                <a:cs typeface="Calibri" pitchFamily="34" charset="-120"/>
              </a:rPr>
              <a:t>The tradeoff: registers are only as good as administrative coverage and timely updating, and this model depends on high public trust and legal infrastructure most countries do not yet have</a:t>
            </a:r>
            <a:endParaRPr lang="en-US" sz="2400"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Source: Careja, R., &amp; Bevelander, P. (2018). Using population registers for migration and integration research: Examples from Denmark and Sweden. Comparative Migration Studies, 6, 19. </a:t>
            </a:r>
            <a:r>
              <a:rPr lang="en-US" sz="1200" i="1" dirty="0">
                <a:solidFill>
                  <a:srgbClr val="5B6472"/>
                </a:solidFill>
                <a:latin typeface="Calibri" pitchFamily="34" charset="0"/>
                <a:ea typeface="Calibri" pitchFamily="34" charset="-122"/>
                <a:cs typeface="Calibri" pitchFamily="34" charset="-120"/>
                <a:hlinkClick r:id="rId4"/>
              </a:rPr>
              <a:t>https://doi.org/10.1186/s40878-018-0076-4</a:t>
            </a:r>
            <a:r>
              <a:rPr lang="en-US" sz="1200" i="1" dirty="0">
                <a:solidFill>
                  <a:srgbClr val="5B6472"/>
                </a:solidFill>
                <a:latin typeface="Calibri" pitchFamily="34" charset="0"/>
                <a:ea typeface="Calibri" pitchFamily="34" charset="-122"/>
                <a:cs typeface="Calibri" pitchFamily="34" charset="-120"/>
              </a:rPr>
              <a:t> </a:t>
            </a:r>
            <a:endParaRPr lang="en-US" sz="120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2 · COMPARISON</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Strengths and Limitations at a Glance</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2643574973"/>
              </p:ext>
            </p:extLst>
          </p:nvPr>
        </p:nvGraphicFramePr>
        <p:xfrm>
          <a:off x="548640" y="1691640"/>
          <a:ext cx="11064240" cy="5065776"/>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859536">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Source</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Key strength</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Key limitation</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extLst>
                  <a:ext uri="{0D108BD9-81ED-4DB2-BD59-A6C34878D82A}">
                    <a16:rowId xmlns:a16="http://schemas.microsoft.com/office/drawing/2014/main" val="10000"/>
                  </a:ext>
                </a:extLst>
              </a:tr>
              <a:tr h="859536">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Census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Universal coverage; small-area detail</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Costly; infrequent (5–10 yr gaps)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extLst>
                  <a:ext uri="{0D108BD9-81ED-4DB2-BD59-A6C34878D82A}">
                    <a16:rowId xmlns:a16="http://schemas.microsoft.com/office/drawing/2014/main" val="10001"/>
                  </a:ext>
                </a:extLst>
              </a:tr>
              <a:tr h="859536">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CRVS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Continuous, real-time vital events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Completeness varies; cause-of-death quality issues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59536">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Sample surveys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Rich detail; flexible design</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Sampling error; possible non-response bias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extLst>
                  <a:ext uri="{0D108BD9-81ED-4DB2-BD59-A6C34878D82A}">
                    <a16:rowId xmlns:a16="http://schemas.microsoft.com/office/drawing/2014/main" val="10003"/>
                  </a:ext>
                </a:extLst>
              </a:tr>
              <a:tr h="859536">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Population registers</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Continuous, near-complete, linkable</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B2130"/>
                          </a:solidFill>
                          <a:latin typeface="Calibri" pitchFamily="34" charset="0"/>
                          <a:ea typeface="Calibri" pitchFamily="34" charset="-122"/>
                          <a:cs typeface="Calibri" pitchFamily="34" charset="-120"/>
                        </a:rPr>
                        <a:t>Requires strong ID/legal infrastructure</a:t>
                      </a:r>
                      <a:endParaRPr lang="en-US" sz="28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4FBCF-1CFF-0AAE-9BAA-0B03F5FD5A10}"/>
              </a:ext>
            </a:extLst>
          </p:cNvPr>
          <p:cNvSpPr txBox="1"/>
          <p:nvPr/>
        </p:nvSpPr>
        <p:spPr>
          <a:xfrm>
            <a:off x="548640" y="1478153"/>
            <a:ext cx="11074400" cy="5262979"/>
          </a:xfrm>
          <a:prstGeom prst="rect">
            <a:avLst/>
          </a:prstGeom>
          <a:noFill/>
        </p:spPr>
        <p:txBody>
          <a:bodyPr wrap="square">
            <a:spAutoFit/>
          </a:bodyPr>
          <a:lstStyle/>
          <a:p>
            <a:pPr>
              <a:buNone/>
            </a:pPr>
            <a:r>
              <a:rPr lang="en-US" sz="2400" dirty="0"/>
              <a:t>Working in small groups, select one country and address the following questions:</a:t>
            </a:r>
          </a:p>
          <a:p>
            <a:pPr marL="342900" lvl="0" indent="-342900">
              <a:buFont typeface="+mj-lt"/>
              <a:buAutoNum type="arabicPeriod"/>
            </a:pPr>
            <a:r>
              <a:rPr lang="en-US" sz="2400" b="1" dirty="0"/>
              <a:t>What official demographic data sources are available in your country?</a:t>
            </a:r>
            <a:br>
              <a:rPr lang="en-US" sz="2400" dirty="0"/>
            </a:br>
            <a:r>
              <a:rPr lang="en-US" sz="2400" dirty="0"/>
              <a:t>Identify examples of the population census, civil registration and vital statistics (CRVS), sample surveys, and population registers. For each source, provide the responsible institution, latest available year, frequency of data collection, population coverage, and an official link. If a source is unavailable, explain why. </a:t>
            </a:r>
          </a:p>
          <a:p>
            <a:pPr marL="342900" lvl="0" indent="-342900">
              <a:buFont typeface="+mj-lt"/>
              <a:buAutoNum type="arabicPeriod"/>
            </a:pPr>
            <a:r>
              <a:rPr lang="en-US" sz="2400" b="1" dirty="0"/>
              <a:t>How do these sources differ in purpose and data quality?</a:t>
            </a:r>
            <a:br>
              <a:rPr lang="en-US" sz="2400" dirty="0"/>
            </a:br>
            <a:r>
              <a:rPr lang="en-US" sz="2400" dirty="0"/>
              <a:t>Compare their major indicators, geographic coverage, timeliness, completeness, accessibility, and possible sources of error or </a:t>
            </a:r>
            <a:r>
              <a:rPr lang="en-US" sz="2400" dirty="0" err="1"/>
              <a:t>undercoverage</a:t>
            </a:r>
            <a:r>
              <a:rPr lang="en-US" sz="2400" dirty="0"/>
              <a:t>. Which population groups are most likely to be omitted or inadequately represented? </a:t>
            </a:r>
          </a:p>
          <a:p>
            <a:pPr marL="342900" lvl="0" indent="-342900">
              <a:buFont typeface="+mj-lt"/>
              <a:buAutoNum type="arabicPeriod"/>
            </a:pPr>
            <a:r>
              <a:rPr lang="en-US" sz="2400" b="1" dirty="0"/>
              <a:t>How should the sources be combined?</a:t>
            </a:r>
            <a:br>
              <a:rPr lang="en-US" sz="2400" dirty="0"/>
            </a:br>
            <a:r>
              <a:rPr lang="en-US" sz="2400" dirty="0"/>
              <a:t>Select one demographic issue—such as fertility, mortality, migration, ageing, or population growth—and explain which source would be most appropriate. Discuss how another source could be used to validate or complement the findings.</a:t>
            </a:r>
          </a:p>
        </p:txBody>
      </p:sp>
      <p:sp>
        <p:nvSpPr>
          <p:cNvPr id="5" name="Text 0">
            <a:extLst>
              <a:ext uri="{FF2B5EF4-FFF2-40B4-BE49-F238E27FC236}">
                <a16:creationId xmlns:a16="http://schemas.microsoft.com/office/drawing/2014/main" id="{84DC4308-C349-4D7C-D37C-78CF9BD5E557}"/>
              </a:ext>
            </a:extLst>
          </p:cNvPr>
          <p:cNvSpPr/>
          <p:nvPr/>
        </p:nvSpPr>
        <p:spPr>
          <a:xfrm>
            <a:off x="548640" y="384048"/>
            <a:ext cx="82296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IN-CLASS EXERCISE</a:t>
            </a:r>
            <a:endParaRPr lang="en-US" dirty="0"/>
          </a:p>
        </p:txBody>
      </p:sp>
      <p:sp>
        <p:nvSpPr>
          <p:cNvPr id="7" name="Text 1">
            <a:extLst>
              <a:ext uri="{FF2B5EF4-FFF2-40B4-BE49-F238E27FC236}">
                <a16:creationId xmlns:a16="http://schemas.microsoft.com/office/drawing/2014/main" id="{76A44A5E-6160-8B1A-3EDB-867DD5A2FB47}"/>
              </a:ext>
            </a:extLst>
          </p:cNvPr>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Your Turn</a:t>
            </a:r>
            <a:endParaRPr lang="en-US" sz="4000" dirty="0"/>
          </a:p>
        </p:txBody>
      </p:sp>
      <p:sp>
        <p:nvSpPr>
          <p:cNvPr id="9" name="Shape 2">
            <a:extLst>
              <a:ext uri="{FF2B5EF4-FFF2-40B4-BE49-F238E27FC236}">
                <a16:creationId xmlns:a16="http://schemas.microsoft.com/office/drawing/2014/main" id="{5EA29FE7-0FF1-8ED1-D5E9-44B1C0609A74}"/>
              </a:ext>
            </a:extLst>
          </p:cNvPr>
          <p:cNvSpPr/>
          <p:nvPr/>
        </p:nvSpPr>
        <p:spPr>
          <a:xfrm>
            <a:off x="10881360" y="411480"/>
            <a:ext cx="777240" cy="777240"/>
          </a:xfrm>
          <a:prstGeom prst="ellipse">
            <a:avLst/>
          </a:prstGeom>
          <a:solidFill>
            <a:srgbClr val="F4F6F9"/>
          </a:solidFill>
          <a:ln w="12700">
            <a:solidFill>
              <a:srgbClr val="DCE1E8"/>
            </a:solidFill>
            <a:prstDash val="solid"/>
          </a:ln>
        </p:spPr>
      </p:sp>
      <p:pic>
        <p:nvPicPr>
          <p:cNvPr id="11" name="Image 0" descr="preencoded.png">
            <a:extLst>
              <a:ext uri="{FF2B5EF4-FFF2-40B4-BE49-F238E27FC236}">
                <a16:creationId xmlns:a16="http://schemas.microsoft.com/office/drawing/2014/main" id="{3B72DD8D-E9AB-0133-8B84-4AF8C254829E}"/>
              </a:ext>
            </a:extLst>
          </p:cNvPr>
          <p:cNvPicPr>
            <a:picLocks noChangeAspect="1"/>
          </p:cNvPicPr>
          <p:nvPr/>
        </p:nvPicPr>
        <p:blipFill>
          <a:blip r:embed="rId2"/>
          <a:stretch>
            <a:fillRect/>
          </a:stretch>
        </p:blipFill>
        <p:spPr>
          <a:xfrm>
            <a:off x="11055096" y="585216"/>
            <a:ext cx="429768" cy="429768"/>
          </a:xfrm>
          <a:prstGeom prst="rect">
            <a:avLst/>
          </a:prstGeom>
        </p:spPr>
      </p:pic>
    </p:spTree>
    <p:extLst>
      <p:ext uri="{BB962C8B-B14F-4D97-AF65-F5344CB8AC3E}">
        <p14:creationId xmlns:p14="http://schemas.microsoft.com/office/powerpoint/2010/main" val="506476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BLOCK 2 · DATA QUALITY</a:t>
            </a:r>
            <a:endParaRPr lang="en-US"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Why Assess Completeness and Quality?</a:t>
            </a:r>
            <a:endParaRPr lang="en-US" sz="4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2400" b="1" dirty="0">
                <a:solidFill>
                  <a:srgbClr val="1B2130"/>
                </a:solidFill>
                <a:latin typeface="Calibri" pitchFamily="34" charset="0"/>
                <a:ea typeface="Calibri" pitchFamily="34" charset="-122"/>
                <a:cs typeface="Calibri" pitchFamily="34" charset="-120"/>
              </a:rPr>
              <a:t>Every data source can misstate ages, undercount hard-to-reach groups, or lag behind real events</a:t>
            </a:r>
            <a:endParaRPr lang="en-US" sz="2400" dirty="0"/>
          </a:p>
          <a:p>
            <a:pPr marL="342900" indent="-342900">
              <a:lnSpc>
                <a:spcPct val="115000"/>
              </a:lnSpc>
              <a:spcAft>
                <a:spcPts val="1200"/>
              </a:spcAft>
              <a:buSzPct val="100000"/>
              <a:buChar char="–"/>
            </a:pPr>
            <a:r>
              <a:rPr lang="en-US" sz="2400" dirty="0">
                <a:solidFill>
                  <a:srgbClr val="1B2130"/>
                </a:solidFill>
                <a:latin typeface="Calibri" pitchFamily="34" charset="0"/>
                <a:ea typeface="Calibri" pitchFamily="34" charset="-122"/>
                <a:cs typeface="Calibri" pitchFamily="34" charset="-120"/>
              </a:rPr>
              <a:t>Age misreporting is one of the most common and best-studied data-quality problems — respondents (or enumerators) round ages to preferred digits, especially 0 and 5</a:t>
            </a:r>
            <a:endParaRPr lang="en-US" sz="2400" dirty="0"/>
          </a:p>
          <a:p>
            <a:pPr marL="342900" indent="-342900">
              <a:lnSpc>
                <a:spcPct val="115000"/>
              </a:lnSpc>
              <a:spcAft>
                <a:spcPts val="1200"/>
              </a:spcAft>
              <a:buSzPct val="100000"/>
              <a:buChar char="–"/>
            </a:pPr>
            <a:r>
              <a:rPr lang="en-US" sz="2400" dirty="0">
                <a:solidFill>
                  <a:srgbClr val="1B2130"/>
                </a:solidFill>
                <a:latin typeface="Calibri" pitchFamily="34" charset="0"/>
                <a:ea typeface="Calibri" pitchFamily="34" charset="-122"/>
                <a:cs typeface="Calibri" pitchFamily="34" charset="-120"/>
              </a:rPr>
              <a:t>This "age heaping" distorts age-specific rates, life tables, and population pyramids if left uncorrected</a:t>
            </a:r>
            <a:endParaRPr lang="en-US" sz="2400" dirty="0"/>
          </a:p>
          <a:p>
            <a:pPr marL="342900" indent="-342900">
              <a:lnSpc>
                <a:spcPct val="115000"/>
              </a:lnSpc>
              <a:spcAft>
                <a:spcPts val="1200"/>
              </a:spcAft>
              <a:buSzPct val="100000"/>
              <a:buChar char="–"/>
            </a:pPr>
            <a:r>
              <a:rPr lang="en-US" sz="2400" dirty="0">
                <a:solidFill>
                  <a:srgbClr val="1B2130"/>
                </a:solidFill>
                <a:latin typeface="Calibri" pitchFamily="34" charset="0"/>
                <a:ea typeface="Calibri" pitchFamily="34" charset="-122"/>
                <a:cs typeface="Calibri" pitchFamily="34" charset="-120"/>
              </a:rPr>
              <a:t>The UN formalized a simple diagnostic — Whipple’s Index — in its 1955 Manual II, still used by statistical agencies today</a:t>
            </a:r>
            <a:endParaRPr lang="en-US" sz="24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110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110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2 · DATA QUALITY</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Whipple’s Index: Detecting Age Heaping</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737360"/>
            <a:ext cx="5120640" cy="1828800"/>
          </a:xfrm>
          <a:prstGeom prst="roundRect">
            <a:avLst>
              <a:gd name="adj" fmla="val 4000"/>
            </a:avLst>
          </a:prstGeom>
          <a:solidFill>
            <a:srgbClr val="0B3D4C"/>
          </a:solidFill>
          <a:ln/>
        </p:spPr>
      </p:sp>
      <p:sp>
        <p:nvSpPr>
          <p:cNvPr id="7" name="Text 4"/>
          <p:cNvSpPr/>
          <p:nvPr/>
        </p:nvSpPr>
        <p:spPr>
          <a:xfrm>
            <a:off x="731520" y="1737360"/>
            <a:ext cx="4754880" cy="1828800"/>
          </a:xfrm>
          <a:prstGeom prst="rect">
            <a:avLst/>
          </a:prstGeom>
          <a:noFill/>
          <a:ln/>
        </p:spPr>
        <p:txBody>
          <a:bodyPr wrap="square" lIns="0" tIns="0" rIns="0" bIns="0" rtlCol="0" anchor="ctr"/>
          <a:lstStyle/>
          <a:p>
            <a:pPr marL="0" indent="0" algn="ctr">
              <a:buNone/>
            </a:pPr>
            <a:r>
              <a:rPr lang="en-US" sz="2800" b="1" dirty="0">
                <a:solidFill>
                  <a:srgbClr val="E85C41"/>
                </a:solidFill>
                <a:latin typeface="Cambria" pitchFamily="34" charset="0"/>
                <a:ea typeface="Cambria" pitchFamily="34" charset="-122"/>
                <a:cs typeface="Cambria" pitchFamily="34" charset="-120"/>
              </a:rPr>
              <a:t>WI = [5 × Σ P(25,30,…,60) / </a:t>
            </a:r>
          </a:p>
          <a:p>
            <a:pPr marL="0" indent="0" algn="ctr">
              <a:buNone/>
            </a:pPr>
            <a:r>
              <a:rPr lang="en-US" sz="2800" b="1" dirty="0">
                <a:solidFill>
                  <a:srgbClr val="E85C41"/>
                </a:solidFill>
                <a:latin typeface="Cambria" pitchFamily="34" charset="0"/>
                <a:ea typeface="Cambria" pitchFamily="34" charset="-122"/>
                <a:cs typeface="Cambria" pitchFamily="34" charset="-120"/>
              </a:rPr>
              <a:t>   Σ P(23…62)] × 100</a:t>
            </a:r>
            <a:endParaRPr lang="en-US" sz="2800" dirty="0"/>
          </a:p>
        </p:txBody>
      </p:sp>
      <p:sp>
        <p:nvSpPr>
          <p:cNvPr id="8" name="Text 5"/>
          <p:cNvSpPr/>
          <p:nvPr/>
        </p:nvSpPr>
        <p:spPr>
          <a:xfrm>
            <a:off x="548640" y="3794760"/>
            <a:ext cx="5120640" cy="2377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Numerator: sum of persons reporting ages ending in 0 or 5, from 25 to 60</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Denominator: total persons aged 23–62 inclusive</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WI = 100 → no age preference; WI = 500</a:t>
            </a:r>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 → everyone reports a age ending 0/5</a:t>
            </a:r>
            <a:endParaRPr lang="en-US" sz="1600" dirty="0"/>
          </a:p>
          <a:p>
            <a:pPr marL="342900" indent="-342900">
              <a:lnSpc>
                <a:spcPct val="115000"/>
              </a:lnSpc>
              <a:spcAft>
                <a:spcPts val="1000"/>
              </a:spcAft>
              <a:buSzPct val="100000"/>
              <a:buChar char="–"/>
            </a:pPr>
            <a:r>
              <a:rPr lang="en-US" sz="1600" dirty="0">
                <a:solidFill>
                  <a:srgbClr val="1B2130"/>
                </a:solidFill>
                <a:latin typeface="Calibri" pitchFamily="34" charset="0"/>
                <a:ea typeface="Calibri" pitchFamily="34" charset="-122"/>
                <a:cs typeface="Calibri" pitchFamily="34" charset="-120"/>
              </a:rPr>
              <a:t>UN benchmark: &lt;105 "highly accurate", 105–109.9 "fairly accurate" … &gt;175 "very rough" data</a:t>
            </a:r>
            <a:endParaRPr lang="en-US" sz="160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20</a:t>
            </a:r>
            <a:endParaRPr lang="en-US" sz="1050" dirty="0"/>
          </a:p>
        </p:txBody>
      </p:sp>
      <p:sp>
        <p:nvSpPr>
          <p:cNvPr id="11" name="Text 3">
            <a:extLst>
              <a:ext uri="{FF2B5EF4-FFF2-40B4-BE49-F238E27FC236}">
                <a16:creationId xmlns:a16="http://schemas.microsoft.com/office/drawing/2014/main" id="{50D227BF-AB73-010C-DAA9-DB5A36D7F328}"/>
              </a:ext>
            </a:extLst>
          </p:cNvPr>
          <p:cNvSpPr/>
          <p:nvPr/>
        </p:nvSpPr>
        <p:spPr>
          <a:xfrm>
            <a:off x="6209606" y="1691640"/>
            <a:ext cx="5220393" cy="4572000"/>
          </a:xfrm>
          <a:prstGeom prst="rect">
            <a:avLst/>
          </a:prstGeom>
          <a:noFill/>
          <a:ln/>
        </p:spPr>
        <p:txBody>
          <a:bodyPr wrap="square" lIns="0" tIns="0" rIns="0" bIns="0" rtlCol="0" anchor="t"/>
          <a:lstStyle/>
          <a:p>
            <a:pPr marL="0" indent="0">
              <a:lnSpc>
                <a:spcPct val="125000"/>
              </a:lnSpc>
              <a:spcAft>
                <a:spcPts val="1200"/>
              </a:spcAft>
              <a:buNone/>
            </a:pPr>
            <a:r>
              <a:rPr lang="en-US" sz="2000" dirty="0">
                <a:solidFill>
                  <a:srgbClr val="1B2130"/>
                </a:solidFill>
                <a:latin typeface="Calibri" pitchFamily="34" charset="0"/>
                <a:ea typeface="Calibri" pitchFamily="34" charset="-122"/>
                <a:cs typeface="Calibri" pitchFamily="34" charset="-120"/>
              </a:rPr>
              <a:t>Suppose a household survey of 10,000 people aged 23–62 reports:</a:t>
            </a:r>
            <a:endParaRPr lang="en-US" sz="2000" dirty="0"/>
          </a:p>
          <a:p>
            <a:pPr marL="342900" indent="-342900">
              <a:lnSpc>
                <a:spcPct val="125000"/>
              </a:lnSpc>
              <a:spcAft>
                <a:spcPts val="800"/>
              </a:spcAft>
              <a:buSzPct val="100000"/>
              <a:buChar char="–"/>
            </a:pPr>
            <a:r>
              <a:rPr lang="en-US" sz="2000" dirty="0">
                <a:solidFill>
                  <a:srgbClr val="1B2130"/>
                </a:solidFill>
                <a:latin typeface="Calibri" pitchFamily="34" charset="0"/>
                <a:ea typeface="Calibri" pitchFamily="34" charset="-122"/>
                <a:cs typeface="Calibri" pitchFamily="34" charset="-120"/>
              </a:rPr>
              <a:t>• 2,300 people report ages ending in 0 or 5 (e.g., 25, 30, 35 … 60)</a:t>
            </a:r>
            <a:endParaRPr lang="en-US" sz="2000" dirty="0"/>
          </a:p>
          <a:p>
            <a:pPr marL="342900" indent="-342900">
              <a:lnSpc>
                <a:spcPct val="12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 Total surveyed aged 23–62 = 10,000</a:t>
            </a:r>
            <a:endParaRPr lang="en-US" sz="2000" dirty="0"/>
          </a:p>
          <a:p>
            <a:pPr marL="0" indent="0">
              <a:lnSpc>
                <a:spcPct val="125000"/>
              </a:lnSpc>
              <a:spcAft>
                <a:spcPts val="1200"/>
              </a:spcAft>
              <a:buNone/>
            </a:pPr>
            <a:r>
              <a:rPr lang="en-US" sz="2000" b="1" dirty="0">
                <a:solidFill>
                  <a:srgbClr val="0B3D4C"/>
                </a:solidFill>
                <a:latin typeface="Calibri" pitchFamily="34" charset="0"/>
                <a:ea typeface="Calibri" pitchFamily="34" charset="-122"/>
                <a:cs typeface="Calibri" pitchFamily="34" charset="-120"/>
              </a:rPr>
              <a:t>WI = (5 × 2,300 / 10,000) × 100 = 115</a:t>
            </a:r>
            <a:endParaRPr lang="en-US" sz="2000" dirty="0"/>
          </a:p>
          <a:p>
            <a:pPr marL="0" indent="0">
              <a:lnSpc>
                <a:spcPct val="125000"/>
              </a:lnSpc>
              <a:buNone/>
            </a:pPr>
            <a:r>
              <a:rPr lang="en-US" sz="2000" i="1" dirty="0">
                <a:solidFill>
                  <a:srgbClr val="1B2130"/>
                </a:solidFill>
                <a:latin typeface="Calibri" pitchFamily="34" charset="0"/>
                <a:ea typeface="Calibri" pitchFamily="34" charset="-122"/>
                <a:cs typeface="Calibri" pitchFamily="34" charset="-120"/>
              </a:rPr>
              <a:t>Interpretation: WI = 115 falls in the UN’s "fairly accurate" to "approximate" range — noticeable preference for ages ending in 0 or 5, warranting caution in single-year age analysis.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E85C41"/>
        </a:solidFill>
        <a:effectLst/>
      </p:bgPr>
    </p:bg>
    <p:spTree>
      <p:nvGrpSpPr>
        <p:cNvPr id="1" name=""/>
        <p:cNvGrpSpPr/>
        <p:nvPr/>
      </p:nvGrpSpPr>
      <p:grpSpPr>
        <a:xfrm>
          <a:off x="0" y="0"/>
          <a:ext cx="0" cy="0"/>
          <a:chOff x="0" y="0"/>
          <a:chExt cx="0" cy="0"/>
        </a:xfrm>
      </p:grpSpPr>
      <p:sp>
        <p:nvSpPr>
          <p:cNvPr id="2" name="Shape 0"/>
          <p:cNvSpPr/>
          <p:nvPr/>
        </p:nvSpPr>
        <p:spPr>
          <a:xfrm>
            <a:off x="9692640" y="548640"/>
            <a:ext cx="2011680" cy="2011680"/>
          </a:xfrm>
          <a:prstGeom prst="ellipse">
            <a:avLst/>
          </a:prstGeom>
          <a:solidFill>
            <a:srgbClr val="F2BE6C"/>
          </a:solidFill>
          <a:ln/>
        </p:spPr>
      </p:sp>
      <p:pic>
        <p:nvPicPr>
          <p:cNvPr id="3" name="Image 0" descr="preencoded.png"/>
          <p:cNvPicPr>
            <a:picLocks noChangeAspect="1"/>
          </p:cNvPicPr>
          <p:nvPr/>
        </p:nvPicPr>
        <p:blipFill>
          <a:blip r:embed="rId3"/>
          <a:stretch>
            <a:fillRect/>
          </a:stretch>
        </p:blipFill>
        <p:spPr>
          <a:xfrm>
            <a:off x="10287000" y="1143000"/>
            <a:ext cx="822960" cy="822960"/>
          </a:xfrm>
          <a:prstGeom prst="rect">
            <a:avLst/>
          </a:prstGeom>
        </p:spPr>
      </p:pic>
      <p:sp>
        <p:nvSpPr>
          <p:cNvPr id="4" name="Text 1"/>
          <p:cNvSpPr/>
          <p:nvPr/>
        </p:nvSpPr>
        <p:spPr>
          <a:xfrm>
            <a:off x="640080" y="548640"/>
            <a:ext cx="7315200" cy="411480"/>
          </a:xfrm>
          <a:prstGeom prst="rect">
            <a:avLst/>
          </a:prstGeom>
          <a:noFill/>
          <a:ln/>
        </p:spPr>
        <p:txBody>
          <a:bodyPr wrap="square" lIns="0" tIns="0" rIns="0" bIns="0" rtlCol="0" anchor="ctr"/>
          <a:lstStyle/>
          <a:p>
            <a:pPr marL="0" indent="0">
              <a:buNone/>
            </a:pPr>
            <a:r>
              <a:rPr lang="en-US" sz="2400" b="1" kern="0" spc="200" dirty="0">
                <a:solidFill>
                  <a:srgbClr val="0B3D4C"/>
                </a:solidFill>
                <a:latin typeface="Calibri" pitchFamily="34" charset="0"/>
                <a:ea typeface="Calibri" pitchFamily="34" charset="-122"/>
                <a:cs typeface="Calibri" pitchFamily="34" charset="-120"/>
              </a:rPr>
              <a:t>LET’S DISCUSS</a:t>
            </a:r>
            <a:endParaRPr lang="en-US" sz="2400" dirty="0"/>
          </a:p>
        </p:txBody>
      </p:sp>
      <p:sp>
        <p:nvSpPr>
          <p:cNvPr id="5" name="Text 2"/>
          <p:cNvSpPr/>
          <p:nvPr/>
        </p:nvSpPr>
        <p:spPr>
          <a:xfrm>
            <a:off x="640080" y="960120"/>
            <a:ext cx="8686800" cy="10058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Why Does Age Heaping Happen?</a:t>
            </a:r>
            <a:endParaRPr lang="en-US" sz="4000" dirty="0"/>
          </a:p>
        </p:txBody>
      </p:sp>
      <p:sp>
        <p:nvSpPr>
          <p:cNvPr id="6" name="Text 3"/>
          <p:cNvSpPr/>
          <p:nvPr/>
        </p:nvSpPr>
        <p:spPr>
          <a:xfrm>
            <a:off x="640080" y="2286000"/>
            <a:ext cx="8778240" cy="393192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2800" dirty="0">
                <a:solidFill>
                  <a:srgbClr val="2A2115"/>
                </a:solidFill>
                <a:latin typeface="Calibri" pitchFamily="34" charset="0"/>
                <a:ea typeface="Calibri" pitchFamily="34" charset="-122"/>
                <a:cs typeface="Calibri" pitchFamily="34" charset="-120"/>
              </a:rPr>
              <a:t>What individual-level factors (education, literacy, birth documentation) might drive age heaping in a household survey?</a:t>
            </a:r>
            <a:endParaRPr lang="en-US" sz="2800" dirty="0"/>
          </a:p>
          <a:p>
            <a:pPr marL="342900" indent="-342900">
              <a:lnSpc>
                <a:spcPct val="120000"/>
              </a:lnSpc>
              <a:spcAft>
                <a:spcPts val="1400"/>
              </a:spcAft>
              <a:buSzPct val="100000"/>
              <a:buChar char="–"/>
            </a:pPr>
            <a:r>
              <a:rPr lang="en-US" sz="2800" dirty="0">
                <a:solidFill>
                  <a:srgbClr val="2A2115"/>
                </a:solidFill>
                <a:latin typeface="Calibri" pitchFamily="34" charset="0"/>
                <a:ea typeface="Calibri" pitchFamily="34" charset="-122"/>
                <a:cs typeface="Calibri" pitchFamily="34" charset="-120"/>
              </a:rPr>
              <a:t>Why might age heaping be worse in older cohorts than younger ones in the same country?</a:t>
            </a:r>
            <a:endParaRPr lang="en-US" sz="2800" dirty="0"/>
          </a:p>
          <a:p>
            <a:pPr marL="342900" indent="-342900">
              <a:lnSpc>
                <a:spcPct val="120000"/>
              </a:lnSpc>
              <a:spcAft>
                <a:spcPts val="1400"/>
              </a:spcAft>
              <a:buSzPct val="100000"/>
              <a:buChar char="–"/>
            </a:pPr>
            <a:r>
              <a:rPr lang="en-US" sz="2800" dirty="0">
                <a:solidFill>
                  <a:srgbClr val="2A2115"/>
                </a:solidFill>
                <a:latin typeface="Calibri" pitchFamily="34" charset="0"/>
                <a:ea typeface="Calibri" pitchFamily="34" charset="-122"/>
                <a:cs typeface="Calibri" pitchFamily="34" charset="-120"/>
              </a:rPr>
              <a:t>How might a National Statistical Office correct age-specific rates once it detects heaping?</a:t>
            </a:r>
            <a:endParaRPr lang="en-US" sz="2800" dirty="0"/>
          </a:p>
        </p:txBody>
      </p:sp>
      <p:sp>
        <p:nvSpPr>
          <p:cNvPr id="7"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200" dirty="0">
                <a:solidFill>
                  <a:srgbClr val="5B6472"/>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0B3D4C"/>
        </a:solidFill>
        <a:effectLst/>
      </p:bgPr>
    </p:bg>
    <p:spTree>
      <p:nvGrpSpPr>
        <p:cNvPr id="1" name=""/>
        <p:cNvGrpSpPr/>
        <p:nvPr/>
      </p:nvGrpSpPr>
      <p:grpSpPr>
        <a:xfrm>
          <a:off x="0" y="0"/>
          <a:ext cx="0" cy="0"/>
          <a:chOff x="0" y="0"/>
          <a:chExt cx="0" cy="0"/>
        </a:xfrm>
      </p:grpSpPr>
      <p:sp>
        <p:nvSpPr>
          <p:cNvPr id="2" name="Text 0"/>
          <p:cNvSpPr/>
          <p:nvPr/>
        </p:nvSpPr>
        <p:spPr>
          <a:xfrm>
            <a:off x="822960" y="1828800"/>
            <a:ext cx="5486400" cy="457200"/>
          </a:xfrm>
          <a:prstGeom prst="rect">
            <a:avLst/>
          </a:prstGeom>
          <a:noFill/>
          <a:ln/>
        </p:spPr>
        <p:txBody>
          <a:bodyPr wrap="square" lIns="0" tIns="0" rIns="0" bIns="0" rtlCol="0" anchor="ctr"/>
          <a:lstStyle/>
          <a:p>
            <a:pPr marL="0" indent="0">
              <a:buNone/>
            </a:pPr>
            <a:r>
              <a:rPr lang="en-US" b="1" kern="0" spc="300" dirty="0">
                <a:solidFill>
                  <a:srgbClr val="E85C41"/>
                </a:solidFill>
                <a:latin typeface="Calibri" pitchFamily="34" charset="0"/>
                <a:ea typeface="Calibri" pitchFamily="34" charset="-122"/>
                <a:cs typeface="Calibri" pitchFamily="34" charset="-120"/>
              </a:rPr>
              <a:t>BLOCK</a:t>
            </a:r>
            <a:endParaRPr lang="en-US" dirty="0"/>
          </a:p>
        </p:txBody>
      </p:sp>
      <p:sp>
        <p:nvSpPr>
          <p:cNvPr id="3" name="Text 1"/>
          <p:cNvSpPr/>
          <p:nvPr/>
        </p:nvSpPr>
        <p:spPr>
          <a:xfrm>
            <a:off x="822960" y="2286000"/>
            <a:ext cx="8686800" cy="14630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Non-Traditional &amp; Digital-Trace Data</a:t>
            </a:r>
            <a:endParaRPr lang="en-US" sz="4400" dirty="0"/>
          </a:p>
        </p:txBody>
      </p:sp>
      <p:sp>
        <p:nvSpPr>
          <p:cNvPr id="4" name="Text 2"/>
          <p:cNvSpPr/>
          <p:nvPr/>
        </p:nvSpPr>
        <p:spPr>
          <a:xfrm>
            <a:off x="822960" y="3794760"/>
            <a:ext cx="7955280" cy="1005840"/>
          </a:xfrm>
          <a:prstGeom prst="rect">
            <a:avLst/>
          </a:prstGeom>
          <a:noFill/>
          <a:ln/>
        </p:spPr>
        <p:txBody>
          <a:bodyPr wrap="square" lIns="0" tIns="0" rIns="0" bIns="0" rtlCol="0" anchor="ctr"/>
          <a:lstStyle/>
          <a:p>
            <a:pPr marL="0" indent="0">
              <a:lnSpc>
                <a:spcPct val="130000"/>
              </a:lnSpc>
              <a:buNone/>
            </a:pPr>
            <a:r>
              <a:rPr lang="en-US" dirty="0">
                <a:solidFill>
                  <a:srgbClr val="CADCFC"/>
                </a:solidFill>
                <a:latin typeface="Calibri" pitchFamily="34" charset="0"/>
                <a:ea typeface="Calibri" pitchFamily="34" charset="-122"/>
                <a:cs typeface="Calibri" pitchFamily="34" charset="-120"/>
              </a:rPr>
              <a:t>Mobile-phone records, satellite imagery, and social-media data as fast, high-resolution complements to official statistics — with real caveats.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3 · THE MOTIVATING GAP</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Official Data Update Slowly — Digital Signals Update Fast</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graphicFrame>
        <p:nvGraphicFramePr>
          <p:cNvPr id="6" name="Chart 0"/>
          <p:cNvGraphicFramePr/>
          <p:nvPr>
            <p:extLst>
              <p:ext uri="{D42A27DB-BD31-4B8C-83A1-F6EECF244321}">
                <p14:modId xmlns:p14="http://schemas.microsoft.com/office/powerpoint/2010/main" val="2545190316"/>
              </p:ext>
            </p:extLst>
          </p:nvPr>
        </p:nvGraphicFramePr>
        <p:xfrm>
          <a:off x="548640" y="1691640"/>
          <a:ext cx="78638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8595360" y="1737360"/>
            <a:ext cx="3063240" cy="4114800"/>
          </a:xfrm>
          <a:prstGeom prst="rect">
            <a:avLst/>
          </a:prstGeom>
          <a:noFill/>
          <a:ln/>
        </p:spPr>
        <p:txBody>
          <a:bodyPr wrap="square" lIns="0" tIns="0" rIns="0" bIns="0" rtlCol="0" anchor="t"/>
          <a:lstStyle/>
          <a:p>
            <a:pPr marL="0" indent="0">
              <a:lnSpc>
                <a:spcPct val="120000"/>
              </a:lnSpc>
              <a:buNone/>
            </a:pPr>
            <a:r>
              <a:rPr lang="en-US" sz="1600" dirty="0">
                <a:solidFill>
                  <a:srgbClr val="1B2130"/>
                </a:solidFill>
                <a:latin typeface="Calibri" pitchFamily="34" charset="0"/>
                <a:ea typeface="Calibri" pitchFamily="34" charset="-122"/>
                <a:cs typeface="Calibri" pitchFamily="34" charset="-120"/>
              </a:rPr>
              <a:t>Illustrative update latency (years) for population information, by source type.</a:t>
            </a:r>
            <a:endParaRPr lang="en-US" sz="1600" dirty="0"/>
          </a:p>
          <a:p>
            <a:pPr marL="0" indent="0">
              <a:lnSpc>
                <a:spcPct val="120000"/>
              </a:lnSpc>
              <a:buNone/>
            </a:pPr>
            <a:endParaRPr lang="en-US" sz="1600" dirty="0"/>
          </a:p>
          <a:p>
            <a:pPr marL="0" indent="0">
              <a:lnSpc>
                <a:spcPct val="120000"/>
              </a:lnSpc>
              <a:buNone/>
            </a:pPr>
            <a:r>
              <a:rPr lang="en-US" sz="1600" dirty="0">
                <a:solidFill>
                  <a:srgbClr val="1B2130"/>
                </a:solidFill>
                <a:latin typeface="Calibri" pitchFamily="34" charset="0"/>
                <a:ea typeface="Calibri" pitchFamily="34" charset="-122"/>
                <a:cs typeface="Calibri" pitchFamily="34" charset="-120"/>
              </a:rPr>
              <a:t>Censuses may be a decade old by the time of use; even annual CRVS/survey data lag real-time events such as displacement or rapid urban growth.</a:t>
            </a:r>
            <a:endParaRPr lang="en-US" sz="1600" dirty="0"/>
          </a:p>
          <a:p>
            <a:pPr marL="0" indent="0">
              <a:lnSpc>
                <a:spcPct val="120000"/>
              </a:lnSpc>
              <a:buNone/>
            </a:pPr>
            <a:endParaRPr lang="en-US" sz="1600" dirty="0"/>
          </a:p>
          <a:p>
            <a:pPr marL="0" indent="0">
              <a:lnSpc>
                <a:spcPct val="120000"/>
              </a:lnSpc>
              <a:buNone/>
            </a:pPr>
            <a:r>
              <a:rPr lang="en-US" sz="1600" dirty="0">
                <a:solidFill>
                  <a:srgbClr val="1B2130"/>
                </a:solidFill>
                <a:latin typeface="Calibri" pitchFamily="34" charset="0"/>
                <a:ea typeface="Calibri" pitchFamily="34" charset="-122"/>
                <a:cs typeface="Calibri" pitchFamily="34" charset="-120"/>
              </a:rPr>
              <a:t>Digital-trace data can update daily — motivating its use as a complement, not a replacement, for official statistics.</a:t>
            </a:r>
            <a:endParaRPr lang="en-US" sz="1600" dirty="0"/>
          </a:p>
        </p:txBody>
      </p:sp>
      <p:sp>
        <p:nvSpPr>
          <p:cNvPr id="8"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3 · MOBILE DATA</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Mobile-Phone Call Detail Records (CDRs)</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2000" b="1" dirty="0">
                <a:solidFill>
                  <a:srgbClr val="1B2130"/>
                </a:solidFill>
                <a:latin typeface="Calibri" pitchFamily="34" charset="0"/>
                <a:ea typeface="Calibri" pitchFamily="34" charset="-122"/>
                <a:cs typeface="Calibri" pitchFamily="34" charset="-120"/>
              </a:rPr>
              <a:t>CDRs are logs mobile operators generate for billing: which cell tower a call/text connected through, and when</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Aggregated and anonymized, tower-level CDRs reveal where subscribers are, in near-real time, across an entire country</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Because CDRs are collected passively for billing (not demographic) purposes, they can achieve national coverage at a fraction of a census’s cost</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Key limitation: only captures mobile subscribers — coverage gaps for children, the very poor, and multiple-SIM users must be modeled or corrected</a:t>
            </a:r>
            <a:endParaRPr lang="en-US" sz="20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105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105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1600" b="1" kern="0" spc="200" dirty="0">
                <a:solidFill>
                  <a:srgbClr val="D9F0EC"/>
                </a:solidFill>
                <a:latin typeface="Calibri" pitchFamily="34" charset="0"/>
                <a:ea typeface="Calibri" pitchFamily="34" charset="-122"/>
                <a:cs typeface="Calibri" pitchFamily="34" charset="-120"/>
              </a:rPr>
              <a:t>EXAMPLE 4</a:t>
            </a:r>
            <a:endParaRPr lang="en-US" sz="16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Dynamic Population Mapping From Mobile Data</a:t>
            </a:r>
            <a:endParaRPr lang="en-US" sz="28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Deville et al. (2014, PNAS) used mobile-operator call data in Portugal and France to produce dynamic, fine-grained maps of population distribution — including daily commuting patterns official censuses cannot capture</a:t>
            </a:r>
            <a:endParaRPr lang="en-US" dirty="0"/>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The method estimates population density by combining call-volume patterns with a "top-down" census-based prior, so it stays anchored to official totals while adding spatial and temporal detail</a:t>
            </a:r>
            <a:endParaRPr lang="en-US" dirty="0"/>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The authors explicitly note applicability to low-income countries where census data are "scarce, outdated, or unreliable" — precisely the settings where traditional data are weakest</a:t>
            </a:r>
            <a:endParaRPr lang="en-US"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Source: Deville, P., Linard, C., Martin, S., Gilbert, M., Stevens, F. R., Gaughan, A. E., Blondel, V. D., &amp; Tatem, A. J. (2014). Dynamic population mapping using mobile phone data. PNAS, 111(45), 15888–15893. https://doi.org/10.1073/pnas.1408439111</a:t>
            </a:r>
            <a:endParaRPr lang="en-US" sz="105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3 · SATELLITE DATA</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600" b="1" dirty="0">
                <a:solidFill>
                  <a:srgbClr val="0B3D4C"/>
                </a:solidFill>
                <a:latin typeface="Cambria" pitchFamily="34" charset="0"/>
                <a:ea typeface="Cambria" pitchFamily="34" charset="-122"/>
                <a:cs typeface="Cambria" pitchFamily="34" charset="-120"/>
              </a:rPr>
              <a:t>Satellite Imagery-Based Population Mapping</a:t>
            </a:r>
            <a:endParaRPr lang="en-US" sz="36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2000" b="1" dirty="0">
                <a:solidFill>
                  <a:srgbClr val="1B2130"/>
                </a:solidFill>
                <a:latin typeface="Calibri" pitchFamily="34" charset="0"/>
                <a:ea typeface="Calibri" pitchFamily="34" charset="-122"/>
                <a:cs typeface="Calibri" pitchFamily="34" charset="-120"/>
              </a:rPr>
              <a:t>Satellite imagery detects built-up areas, night-lights, and settlement footprints at very high spatial resolution (down to ~100m grid cells)</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WorldPop (University of Southampton) combines satellite/geospatial layers with census counts and, increasingly, mobile-phone data using machine-learning (random-forest) models to redistribute population within census units</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This produces gridded population estimates useful for disaster response, vaccination-campaign planning, and small-area estimation between censuses</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Limitation: it models where structures are, not who lives in them — demographic composition (age, sex) still typically comes from census/survey data</a:t>
            </a:r>
            <a:endParaRPr lang="en-US" sz="20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105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105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1300" b="1" kern="0" spc="200" dirty="0">
                <a:solidFill>
                  <a:srgbClr val="D9F0EC"/>
                </a:solidFill>
                <a:latin typeface="Calibri" pitchFamily="34" charset="0"/>
                <a:ea typeface="Calibri" pitchFamily="34" charset="-122"/>
                <a:cs typeface="Calibri" pitchFamily="34" charset="-120"/>
              </a:rPr>
              <a:t>EXAMPLE 5</a:t>
            </a:r>
            <a:endParaRPr lang="en-US" sz="13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WorldPop: Bottom-Up, Open Population Grids</a:t>
            </a:r>
            <a:endParaRPr lang="en-US" sz="23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sz="1550" dirty="0">
                <a:solidFill>
                  <a:srgbClr val="1B2130"/>
                </a:solidFill>
                <a:latin typeface="Calibri" pitchFamily="34" charset="0"/>
                <a:ea typeface="Calibri" pitchFamily="34" charset="-122"/>
                <a:cs typeface="Calibri" pitchFamily="34" charset="-120"/>
              </a:rPr>
              <a:t>WorldPop produces open-access, gridded population datasets for most countries, rebuilding population distribution from satellite-derived settlement layers calibrated against census totals</a:t>
            </a:r>
            <a:endParaRPr lang="en-US" sz="1550" dirty="0"/>
          </a:p>
          <a:p>
            <a:pPr marL="342900" indent="-342900">
              <a:lnSpc>
                <a:spcPct val="118000"/>
              </a:lnSpc>
              <a:spcAft>
                <a:spcPts val="1100"/>
              </a:spcAft>
              <a:buSzPct val="100000"/>
              <a:buChar char="–"/>
            </a:pPr>
            <a:r>
              <a:rPr lang="en-US" sz="1550" dirty="0">
                <a:solidFill>
                  <a:srgbClr val="1B2130"/>
                </a:solidFill>
                <a:latin typeface="Calibri" pitchFamily="34" charset="0"/>
                <a:ea typeface="Calibri" pitchFamily="34" charset="-122"/>
                <a:cs typeface="Calibri" pitchFamily="34" charset="-120"/>
              </a:rPr>
              <a:t>Its "bottom-up" projects have directly supported humanitarian response, malaria-elimination planning, and vaccination micro-planning in settings with outdated census data</a:t>
            </a:r>
            <a:endParaRPr lang="en-US" sz="1550" dirty="0"/>
          </a:p>
          <a:p>
            <a:pPr marL="342900" indent="-342900">
              <a:lnSpc>
                <a:spcPct val="118000"/>
              </a:lnSpc>
              <a:spcAft>
                <a:spcPts val="1100"/>
              </a:spcAft>
              <a:buSzPct val="100000"/>
              <a:buChar char="–"/>
            </a:pPr>
            <a:r>
              <a:rPr lang="en-US" sz="1550" dirty="0">
                <a:solidFill>
                  <a:srgbClr val="1B2130"/>
                </a:solidFill>
                <a:latin typeface="Calibri" pitchFamily="34" charset="0"/>
                <a:ea typeface="Calibri" pitchFamily="34" charset="-122"/>
                <a:cs typeface="Calibri" pitchFamily="34" charset="-120"/>
              </a:rPr>
              <a:t>For Thailand and the wider region, WorldPop-style products let researchers estimate population in areas or years the last census did not directly cover — a natural bridge to the mobile and satellite themes you’ll revisit in the Applied Classes on AI/digital data</a:t>
            </a:r>
            <a:endParaRPr lang="en-US" sz="1550"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950" i="1" dirty="0">
                <a:solidFill>
                  <a:srgbClr val="5B6472"/>
                </a:solidFill>
                <a:latin typeface="Calibri" pitchFamily="34" charset="0"/>
                <a:ea typeface="Calibri" pitchFamily="34" charset="-122"/>
                <a:cs typeface="Calibri" pitchFamily="34" charset="-120"/>
              </a:rPr>
              <a:t>Source: WorldPop. (2024). Methods. University of Southampton. https://www.worldpop.org/methods/</a:t>
            </a:r>
            <a:endParaRPr lang="en-US" sz="95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BLOCK 3 · SOCIAL DATA</a:t>
            </a:r>
            <a:endParaRPr lang="en-US" sz="16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3200" b="1" dirty="0">
                <a:solidFill>
                  <a:srgbClr val="0B3D4C"/>
                </a:solidFill>
                <a:latin typeface="Cambria" pitchFamily="34" charset="0"/>
                <a:ea typeface="Cambria" pitchFamily="34" charset="-122"/>
                <a:cs typeface="Cambria" pitchFamily="34" charset="-120"/>
              </a:rPr>
              <a:t>Social Media &amp; Internet Data as Demographic Signal</a:t>
            </a:r>
            <a:endParaRPr lang="en-US" sz="32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2000" b="1" dirty="0">
                <a:solidFill>
                  <a:srgbClr val="1B2130"/>
                </a:solidFill>
                <a:latin typeface="Calibri" pitchFamily="34" charset="0"/>
                <a:ea typeface="Calibri" pitchFamily="34" charset="-122"/>
                <a:cs typeface="Calibri" pitchFamily="34" charset="-120"/>
              </a:rPr>
              <a:t>Platforms like Facebook’s advertising audience tool or search/e-mail data can proxy migration stocks, sentiment, or even mortality shocks in near-real time</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Zagheni and Weber (2015) show these sources are cheap and timely, but fundamentally non-representative: internet/social-media users differ systematically from the general population by age, income, gender, and geography</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Bias is not fixed — it varies by platform, country, and over time, so naive extrapolation from "who posts" to "who exists" can badly mislead policy</a:t>
            </a:r>
            <a:endParaRPr lang="en-US" sz="2000" dirty="0"/>
          </a:p>
          <a:p>
            <a:pPr marL="342900" indent="-342900">
              <a:lnSpc>
                <a:spcPct val="115000"/>
              </a:lnSpc>
              <a:spcAft>
                <a:spcPts val="1200"/>
              </a:spcAft>
              <a:buSzPct val="100000"/>
              <a:buChar char="–"/>
            </a:pPr>
            <a:r>
              <a:rPr lang="en-US" sz="2000" dirty="0">
                <a:solidFill>
                  <a:srgbClr val="1B2130"/>
                </a:solidFill>
                <a:latin typeface="Calibri" pitchFamily="34" charset="0"/>
                <a:ea typeface="Calibri" pitchFamily="34" charset="-122"/>
                <a:cs typeface="Calibri" pitchFamily="34" charset="-120"/>
              </a:rPr>
              <a:t>The responsible approach: calibrate digital signals against a known benchmark (census or survey) rather than using them as stand-alone population counts</a:t>
            </a:r>
            <a:endParaRPr lang="en-US" sz="20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105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105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1600" b="1" kern="0" spc="200" dirty="0">
                <a:solidFill>
                  <a:srgbClr val="D9F0EC"/>
                </a:solidFill>
                <a:latin typeface="Calibri" pitchFamily="34" charset="0"/>
                <a:ea typeface="Calibri" pitchFamily="34" charset="-122"/>
                <a:cs typeface="Calibri" pitchFamily="34" charset="-120"/>
              </a:rPr>
              <a:t>EXAMPLE 6</a:t>
            </a:r>
            <a:endParaRPr lang="en-US" sz="16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Representativeness Problem, Named</a:t>
            </a:r>
            <a:endParaRPr lang="en-US" sz="28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Zagheni &amp; Weber (2015) formalize why "big" internet data is not automatically "representative" data: coverage is skewed toward younger, urban, wealthier, and more digitally connected populations</a:t>
            </a:r>
            <a:endParaRPr lang="en-US" dirty="0"/>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Their earlier e-mail-based migration-rate study illustrates the promise (fast, low-cost signals of international mobility) alongside the same caveat — corrections for selection bias are essential before treating results as population estimates</a:t>
            </a:r>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This is the central methodological lesson for the whole "digital demography"  --- verify before you trust</a:t>
            </a:r>
            <a:endParaRPr lang="en-US"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Source: Zagheni, E., &amp; Weber, I. (2015). Demographic research with non-representative internet data. International Journal of Manpower, 36(1), 13–25. https://www.zagheni.net/uploads/3/4/4/7/34477700/zagheni_weber2015.pdf</a:t>
            </a:r>
            <a:endParaRPr lang="en-US" sz="105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BLOCK 3 · OPEN MICRODATA</a:t>
            </a:r>
            <a:endParaRPr lang="en-US" sz="12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2800" b="1" dirty="0">
                <a:solidFill>
                  <a:srgbClr val="0B3D4C"/>
                </a:solidFill>
                <a:latin typeface="Cambria" pitchFamily="34" charset="0"/>
                <a:ea typeface="Cambria" pitchFamily="34" charset="-122"/>
                <a:cs typeface="Cambria" pitchFamily="34" charset="-120"/>
              </a:rPr>
              <a:t>IPUMS International: Open Census Microdata for Research</a:t>
            </a:r>
            <a:endParaRPr lang="en-US" sz="28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00200"/>
            <a:ext cx="10881360" cy="4663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600" b="1" dirty="0">
                <a:solidFill>
                  <a:srgbClr val="1B2130"/>
                </a:solidFill>
                <a:latin typeface="Calibri" pitchFamily="34" charset="0"/>
                <a:ea typeface="Calibri" pitchFamily="34" charset="-122"/>
                <a:cs typeface="Calibri" pitchFamily="34" charset="-120"/>
              </a:rPr>
              <a:t>IPUMS International (Minnesota Population Center, University of Minnesota) harmonizes and disseminates census microdata samples from over 100 countries, including Thailand, spanning 1960s–present</a:t>
            </a:r>
            <a:endParaRPr lang="en-US" sz="1600" dirty="0"/>
          </a:p>
          <a:p>
            <a:pPr marL="342900" indent="-342900">
              <a:lnSpc>
                <a:spcPct val="115000"/>
              </a:lnSpc>
              <a:spcAft>
                <a:spcPts val="1200"/>
              </a:spcAft>
              <a:buSzPct val="100000"/>
              <a:buChar char="–"/>
            </a:pPr>
            <a:r>
              <a:rPr lang="en-US" sz="1600" dirty="0">
                <a:solidFill>
                  <a:srgbClr val="1B2130"/>
                </a:solidFill>
                <a:latin typeface="Calibri" pitchFamily="34" charset="0"/>
                <a:ea typeface="Calibri" pitchFamily="34" charset="-122"/>
                <a:cs typeface="Calibri" pitchFamily="34" charset="-120"/>
              </a:rPr>
              <a:t>Variables are standardized across countries and time so researchers can build genuinely comparative demographic analyses without re-cleaning raw national data</a:t>
            </a:r>
            <a:endParaRPr lang="en-US" sz="1600" dirty="0"/>
          </a:p>
          <a:p>
            <a:pPr marL="342900" indent="-342900">
              <a:lnSpc>
                <a:spcPct val="115000"/>
              </a:lnSpc>
              <a:spcAft>
                <a:spcPts val="1200"/>
              </a:spcAft>
              <a:buSzPct val="100000"/>
              <a:buChar char="–"/>
            </a:pPr>
            <a:r>
              <a:rPr lang="en-US" sz="1600" dirty="0">
                <a:solidFill>
                  <a:srgbClr val="1B2130"/>
                </a:solidFill>
                <a:latin typeface="Calibri" pitchFamily="34" charset="0"/>
                <a:ea typeface="Calibri" pitchFamily="34" charset="-122"/>
                <a:cs typeface="Calibri" pitchFamily="34" charset="-120"/>
              </a:rPr>
              <a:t>Access is free to qualified researchers under a usage agreement — a strong complement to the proprietary/commercial digital-data sources discussed above</a:t>
            </a:r>
            <a:endParaRPr lang="en-US" sz="1600" dirty="0"/>
          </a:p>
          <a:p>
            <a:pPr marL="342900" indent="-342900">
              <a:lnSpc>
                <a:spcPct val="115000"/>
              </a:lnSpc>
              <a:spcAft>
                <a:spcPts val="1200"/>
              </a:spcAft>
              <a:buSzPct val="100000"/>
              <a:buChar char="–"/>
            </a:pPr>
            <a:r>
              <a:rPr lang="en-US" sz="1600" dirty="0">
                <a:solidFill>
                  <a:srgbClr val="1B2130"/>
                </a:solidFill>
                <a:latin typeface="Calibri" pitchFamily="34" charset="0"/>
                <a:ea typeface="Calibri" pitchFamily="34" charset="-122"/>
                <a:cs typeface="Calibri" pitchFamily="34" charset="-120"/>
              </a:rPr>
              <a:t>A good habit for your applied research paper: check IPUMS International before assuming microdata for a comparative question does not exist</a:t>
            </a:r>
            <a:endParaRPr lang="en-US" sz="1600" dirty="0"/>
          </a:p>
        </p:txBody>
      </p:sp>
      <p:sp>
        <p:nvSpPr>
          <p:cNvPr id="7" name="Text 4"/>
          <p:cNvSpPr/>
          <p:nvPr/>
        </p:nvSpPr>
        <p:spPr>
          <a:xfrm>
            <a:off x="457200" y="6473952"/>
            <a:ext cx="10725912" cy="274320"/>
          </a:xfrm>
          <a:prstGeom prst="rect">
            <a:avLst/>
          </a:prstGeom>
          <a:noFill/>
          <a:ln/>
        </p:spPr>
        <p:txBody>
          <a:bodyPr wrap="square" lIns="0" tIns="0" rIns="0" bIns="0" rtlCol="0" anchor="ctr"/>
          <a:lstStyle/>
          <a:p>
            <a:pPr marL="0" indent="0" algn="l">
              <a:buNone/>
            </a:pPr>
            <a:r>
              <a:rPr lang="en-US" sz="900" i="1" dirty="0">
                <a:solidFill>
                  <a:srgbClr val="5B6472"/>
                </a:solidFill>
                <a:latin typeface="Calibri" pitchFamily="34" charset="0"/>
                <a:ea typeface="Calibri" pitchFamily="34" charset="-122"/>
                <a:cs typeface="Calibri" pitchFamily="34" charset="-120"/>
              </a:rPr>
              <a:t>Session 2 · Fundamental Demographic Analysis · College of Population Studies, Chulalongkorn University</a:t>
            </a:r>
            <a:endParaRPr lang="en-US" sz="900" dirty="0"/>
          </a:p>
        </p:txBody>
      </p:sp>
      <p:sp>
        <p:nvSpPr>
          <p:cNvPr id="8" name="Text 5"/>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7293"/>
          </a:solidFill>
          <a:ln/>
        </p:spPr>
      </p:sp>
      <p:sp>
        <p:nvSpPr>
          <p:cNvPr id="3" name="Text 1"/>
          <p:cNvSpPr/>
          <p:nvPr/>
        </p:nvSpPr>
        <p:spPr>
          <a:xfrm>
            <a:off x="457200" y="502920"/>
            <a:ext cx="2926080" cy="365760"/>
          </a:xfrm>
          <a:prstGeom prst="rect">
            <a:avLst/>
          </a:prstGeom>
          <a:noFill/>
          <a:ln/>
        </p:spPr>
        <p:txBody>
          <a:bodyPr wrap="square" lIns="0" tIns="0" rIns="0" bIns="0" rtlCol="0" anchor="ctr"/>
          <a:lstStyle/>
          <a:p>
            <a:pPr marL="0" indent="0">
              <a:buNone/>
            </a:pPr>
            <a:r>
              <a:rPr lang="en-US" sz="1600" b="1" kern="0" spc="200" dirty="0">
                <a:solidFill>
                  <a:srgbClr val="D9F0EC"/>
                </a:solidFill>
                <a:latin typeface="Calibri" pitchFamily="34" charset="0"/>
                <a:ea typeface="Calibri" pitchFamily="34" charset="-122"/>
                <a:cs typeface="Calibri" pitchFamily="34" charset="-120"/>
              </a:rPr>
              <a:t>EXAMPLE 7</a:t>
            </a:r>
            <a:endParaRPr lang="en-US" sz="1600" dirty="0"/>
          </a:p>
        </p:txBody>
      </p:sp>
      <p:sp>
        <p:nvSpPr>
          <p:cNvPr id="4" name="Text 2"/>
          <p:cNvSpPr/>
          <p:nvPr/>
        </p:nvSpPr>
        <p:spPr>
          <a:xfrm>
            <a:off x="457200" y="914400"/>
            <a:ext cx="3063240" cy="21031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Using IPUMS International in Practice</a:t>
            </a:r>
            <a:endParaRPr lang="en-US" sz="2800" dirty="0"/>
          </a:p>
        </p:txBody>
      </p:sp>
      <p:sp>
        <p:nvSpPr>
          <p:cNvPr id="5" name="Shape 3"/>
          <p:cNvSpPr/>
          <p:nvPr/>
        </p:nvSpPr>
        <p:spPr>
          <a:xfrm>
            <a:off x="457200" y="4892040"/>
            <a:ext cx="960120" cy="960120"/>
          </a:xfrm>
          <a:prstGeom prst="ellipse">
            <a:avLst/>
          </a:prstGeom>
          <a:solidFill>
            <a:srgbClr val="3A93A3"/>
          </a:solidFill>
          <a:ln/>
        </p:spPr>
      </p:sp>
      <p:pic>
        <p:nvPicPr>
          <p:cNvPr id="6" name="Image 0" descr="preencoded.png"/>
          <p:cNvPicPr>
            <a:picLocks noChangeAspect="1"/>
          </p:cNvPicPr>
          <p:nvPr/>
        </p:nvPicPr>
        <p:blipFill>
          <a:blip r:embed="rId3"/>
          <a:stretch>
            <a:fillRect/>
          </a:stretch>
        </p:blipFill>
        <p:spPr>
          <a:xfrm>
            <a:off x="713232" y="5148072"/>
            <a:ext cx="457200" cy="457200"/>
          </a:xfrm>
          <a:prstGeom prst="rect">
            <a:avLst/>
          </a:prstGeom>
        </p:spPr>
      </p:pic>
      <p:sp>
        <p:nvSpPr>
          <p:cNvPr id="7" name="Text 4"/>
          <p:cNvSpPr/>
          <p:nvPr/>
        </p:nvSpPr>
        <p:spPr>
          <a:xfrm>
            <a:off x="4251960" y="777240"/>
            <a:ext cx="7406640" cy="4937760"/>
          </a:xfrm>
          <a:prstGeom prst="rect">
            <a:avLst/>
          </a:prstGeom>
          <a:noFill/>
          <a:ln/>
        </p:spPr>
        <p:txBody>
          <a:bodyPr wrap="square" lIns="0" tIns="0" rIns="0" bIns="0" rtlCol="0" anchor="t"/>
          <a:lstStyle/>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IPUMS International currently distributes samples from 82+ countries, 277+ censuses, and over 600 million individual person records — one of the largest harmonized microdata resources in the social sciences</a:t>
            </a:r>
            <a:endParaRPr lang="en-US" dirty="0"/>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A typical project: comparing household size or female labour-force participation across Southeast Asian censuses using consistent variable definitions</a:t>
            </a:r>
            <a:endParaRPr lang="en-US" dirty="0"/>
          </a:p>
          <a:p>
            <a:pPr marL="342900" indent="-342900">
              <a:lnSpc>
                <a:spcPct val="118000"/>
              </a:lnSpc>
              <a:spcAft>
                <a:spcPts val="1100"/>
              </a:spcAft>
              <a:buSzPct val="100000"/>
              <a:buChar char="–"/>
            </a:pPr>
            <a:r>
              <a:rPr lang="en-US" dirty="0">
                <a:solidFill>
                  <a:srgbClr val="1B2130"/>
                </a:solidFill>
                <a:latin typeface="Calibri" pitchFamily="34" charset="0"/>
                <a:ea typeface="Calibri" pitchFamily="34" charset="-122"/>
                <a:cs typeface="Calibri" pitchFamily="34" charset="-120"/>
              </a:rPr>
              <a:t>Because it draws on national census microdata, IPUMS International sits at the intersection of "traditional" (census-based) and "modern" (globally harmonized, programmatically accessible) demographic data infrastructure</a:t>
            </a:r>
            <a:endParaRPr lang="en-US" dirty="0"/>
          </a:p>
        </p:txBody>
      </p:sp>
      <p:sp>
        <p:nvSpPr>
          <p:cNvPr id="8" name="Text 5"/>
          <p:cNvSpPr/>
          <p:nvPr/>
        </p:nvSpPr>
        <p:spPr>
          <a:xfrm>
            <a:off x="4251960" y="6263640"/>
            <a:ext cx="7406640" cy="45720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Source: Minnesota Population Center. (2024). Integrated Public Use Microdata Series, International: Version 7.3 [Dataset]. IPUMS. https://doi.org/10.18128/D020.V7.3</a:t>
            </a:r>
            <a:endParaRPr lang="en-US" sz="1050" dirty="0"/>
          </a:p>
        </p:txBody>
      </p:sp>
      <p:sp>
        <p:nvSpPr>
          <p:cNvPr id="9" name="Text 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50" dirty="0">
                <a:solidFill>
                  <a:srgbClr val="5B6472"/>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BLOCK 3 · SYNTHESIS</a:t>
            </a:r>
            <a:endParaRPr lang="en-US"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4000" b="1" dirty="0">
                <a:solidFill>
                  <a:srgbClr val="0B3D4C"/>
                </a:solidFill>
                <a:latin typeface="Cambria" pitchFamily="34" charset="0"/>
                <a:ea typeface="Cambria" pitchFamily="34" charset="-122"/>
                <a:cs typeface="Cambria" pitchFamily="34" charset="-120"/>
              </a:rPr>
              <a:t>Traditional vs. Digital-Trace Data: A Balanced View</a:t>
            </a:r>
            <a:endParaRPr lang="en-US" sz="4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2324171994"/>
              </p:ext>
            </p:extLst>
          </p:nvPr>
        </p:nvGraphicFramePr>
        <p:xfrm>
          <a:off x="548640" y="1691640"/>
          <a:ext cx="11064240" cy="4297680"/>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71628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Traditional (census/CRVS/survey)</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Digital-trace (mobile/satellite/social)</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B3D4C"/>
                    </a:solidFill>
                  </a:tcPr>
                </a:tc>
                <a:extLst>
                  <a:ext uri="{0D108BD9-81ED-4DB2-BD59-A6C34878D82A}">
                    <a16:rowId xmlns:a16="http://schemas.microsoft.com/office/drawing/2014/main" val="10000"/>
                  </a:ext>
                </a:extLst>
              </a:tr>
              <a:tr h="716280">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Coverage</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Near-universal by design</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Passive; depends on device/platform use</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extLst>
                  <a:ext uri="{0D108BD9-81ED-4DB2-BD59-A6C34878D82A}">
                    <a16:rowId xmlns:a16="http://schemas.microsoft.com/office/drawing/2014/main" val="10001"/>
                  </a:ext>
                </a:extLst>
              </a:tr>
              <a:tr h="716280">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Timeliness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Slow (years)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Near real-time (days/hours)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6280">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Representativeness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High, if well-executed</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Often biased toward connected sub-groups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extLst>
                  <a:ext uri="{0D108BD9-81ED-4DB2-BD59-A6C34878D82A}">
                    <a16:rowId xmlns:a16="http://schemas.microsoft.com/office/drawing/2014/main" val="10003"/>
                  </a:ext>
                </a:extLst>
              </a:tr>
              <a:tr h="716280">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Cost</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High per data point</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Low marginal cost once infrastructure exists</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6280">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Best use</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Benchmark totals &amp; structure</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tc>
                  <a:txBody>
                    <a:bodyPr/>
                    <a:lstStyle/>
                    <a:p>
                      <a:pPr marL="0" indent="0" algn="l">
                        <a:buNone/>
                      </a:pPr>
                      <a:r>
                        <a:rPr lang="en-US" sz="1600" dirty="0">
                          <a:solidFill>
                            <a:srgbClr val="1B2130"/>
                          </a:solidFill>
                          <a:latin typeface="Calibri" pitchFamily="34" charset="0"/>
                          <a:ea typeface="Calibri" pitchFamily="34" charset="-122"/>
                          <a:cs typeface="Calibri" pitchFamily="34" charset="-120"/>
                        </a:rPr>
                        <a:t>Fine-grained, fast-moving detail — calibrated to a benchmark</a:t>
                      </a:r>
                      <a:endParaRPr lang="en-US" sz="1600" dirty="0">
                        <a:latin typeface="Calibri" charset="0"/>
                        <a:ea typeface="Calibri" charset="0"/>
                        <a:cs typeface="Calibri" charset="0"/>
                      </a:endParaRPr>
                    </a:p>
                  </a:txBody>
                  <a:tcPr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4F6F9"/>
                    </a:solidFill>
                  </a:tcPr>
                </a:tc>
                <a:extLst>
                  <a:ext uri="{0D108BD9-81ED-4DB2-BD59-A6C34878D82A}">
                    <a16:rowId xmlns:a16="http://schemas.microsoft.com/office/drawing/2014/main" val="10005"/>
                  </a:ext>
                </a:extLst>
              </a:tr>
            </a:tbl>
          </a:graphicData>
        </a:graphic>
      </p:graphicFrame>
      <p:sp>
        <p:nvSpPr>
          <p:cNvPr id="7" name="Text 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E85C41"/>
        </a:solidFill>
        <a:effectLst/>
      </p:bgPr>
    </p:bg>
    <p:spTree>
      <p:nvGrpSpPr>
        <p:cNvPr id="1" name=""/>
        <p:cNvGrpSpPr/>
        <p:nvPr/>
      </p:nvGrpSpPr>
      <p:grpSpPr>
        <a:xfrm>
          <a:off x="0" y="0"/>
          <a:ext cx="0" cy="0"/>
          <a:chOff x="0" y="0"/>
          <a:chExt cx="0" cy="0"/>
        </a:xfrm>
      </p:grpSpPr>
      <p:sp>
        <p:nvSpPr>
          <p:cNvPr id="2" name="Shape 0"/>
          <p:cNvSpPr/>
          <p:nvPr/>
        </p:nvSpPr>
        <p:spPr>
          <a:xfrm>
            <a:off x="9692640" y="548640"/>
            <a:ext cx="2011680" cy="2011680"/>
          </a:xfrm>
          <a:prstGeom prst="ellipse">
            <a:avLst/>
          </a:prstGeom>
          <a:solidFill>
            <a:srgbClr val="F2BE6C"/>
          </a:solidFill>
          <a:ln/>
        </p:spPr>
      </p:sp>
      <p:pic>
        <p:nvPicPr>
          <p:cNvPr id="3" name="Image 0" descr="preencoded.png"/>
          <p:cNvPicPr>
            <a:picLocks noChangeAspect="1"/>
          </p:cNvPicPr>
          <p:nvPr/>
        </p:nvPicPr>
        <p:blipFill>
          <a:blip r:embed="rId3"/>
          <a:stretch>
            <a:fillRect/>
          </a:stretch>
        </p:blipFill>
        <p:spPr>
          <a:xfrm>
            <a:off x="10287000" y="1143000"/>
            <a:ext cx="822960" cy="822960"/>
          </a:xfrm>
          <a:prstGeom prst="rect">
            <a:avLst/>
          </a:prstGeom>
        </p:spPr>
      </p:pic>
      <p:sp>
        <p:nvSpPr>
          <p:cNvPr id="4" name="Text 1"/>
          <p:cNvSpPr/>
          <p:nvPr/>
        </p:nvSpPr>
        <p:spPr>
          <a:xfrm>
            <a:off x="640080" y="548640"/>
            <a:ext cx="7315200" cy="411480"/>
          </a:xfrm>
          <a:prstGeom prst="rect">
            <a:avLst/>
          </a:prstGeom>
          <a:noFill/>
          <a:ln/>
        </p:spPr>
        <p:txBody>
          <a:bodyPr wrap="square" lIns="0" tIns="0" rIns="0" bIns="0" rtlCol="0" anchor="ctr"/>
          <a:lstStyle/>
          <a:p>
            <a:pPr marL="0" indent="0">
              <a:buNone/>
            </a:pPr>
            <a:r>
              <a:rPr lang="en-US" sz="1400" b="1" kern="0" spc="200" dirty="0">
                <a:solidFill>
                  <a:srgbClr val="0B3D4C"/>
                </a:solidFill>
                <a:latin typeface="Calibri" pitchFamily="34" charset="0"/>
                <a:ea typeface="Calibri" pitchFamily="34" charset="-122"/>
                <a:cs typeface="Calibri" pitchFamily="34" charset="-120"/>
              </a:rPr>
              <a:t>LET’S DISCUSS</a:t>
            </a:r>
            <a:endParaRPr lang="en-US" sz="1400" dirty="0"/>
          </a:p>
        </p:txBody>
      </p:sp>
      <p:sp>
        <p:nvSpPr>
          <p:cNvPr id="5" name="Text 2"/>
          <p:cNvSpPr/>
          <p:nvPr/>
        </p:nvSpPr>
        <p:spPr>
          <a:xfrm>
            <a:off x="640080" y="960120"/>
            <a:ext cx="8686800" cy="1005840"/>
          </a:xfrm>
          <a:prstGeom prst="rect">
            <a:avLst/>
          </a:prstGeom>
          <a:noFill/>
          <a:ln/>
        </p:spPr>
        <p:txBody>
          <a:bodyPr wrap="square" lIns="0" tIns="0" rIns="0" bIns="0" rtlCol="0" anchor="ctr"/>
          <a:lstStyle/>
          <a:p>
            <a:pPr marL="0" indent="0">
              <a:buNone/>
            </a:pPr>
            <a:r>
              <a:rPr lang="en-US" sz="2700" b="1" dirty="0">
                <a:solidFill>
                  <a:srgbClr val="0B3D4C"/>
                </a:solidFill>
                <a:latin typeface="Cambria" pitchFamily="34" charset="0"/>
                <a:ea typeface="Cambria" pitchFamily="34" charset="-122"/>
                <a:cs typeface="Cambria" pitchFamily="34" charset="-120"/>
              </a:rPr>
              <a:t>Triangulating Traditional and Digital Data</a:t>
            </a:r>
            <a:endParaRPr lang="en-US" sz="2700" dirty="0"/>
          </a:p>
        </p:txBody>
      </p:sp>
      <p:sp>
        <p:nvSpPr>
          <p:cNvPr id="6" name="Text 3"/>
          <p:cNvSpPr/>
          <p:nvPr/>
        </p:nvSpPr>
        <p:spPr>
          <a:xfrm>
            <a:off x="640080" y="2286000"/>
            <a:ext cx="8778240" cy="393192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600" dirty="0">
                <a:solidFill>
                  <a:srgbClr val="2A2115"/>
                </a:solidFill>
                <a:latin typeface="Calibri" pitchFamily="34" charset="0"/>
                <a:ea typeface="Calibri" pitchFamily="34" charset="-122"/>
                <a:cs typeface="Calibri" pitchFamily="34" charset="-120"/>
              </a:rPr>
              <a:t>For a rapid-onset disaster in a data-poor region, which combination of sources would you reach for first, and why?</a:t>
            </a:r>
            <a:endParaRPr lang="en-US" sz="1600" dirty="0"/>
          </a:p>
          <a:p>
            <a:pPr marL="342900" indent="-342900">
              <a:lnSpc>
                <a:spcPct val="120000"/>
              </a:lnSpc>
              <a:spcAft>
                <a:spcPts val="1400"/>
              </a:spcAft>
              <a:buSzPct val="100000"/>
              <a:buChar char="–"/>
            </a:pPr>
            <a:r>
              <a:rPr lang="en-US" sz="1600" dirty="0">
                <a:solidFill>
                  <a:srgbClr val="2A2115"/>
                </a:solidFill>
                <a:latin typeface="Calibri" pitchFamily="34" charset="0"/>
                <a:ea typeface="Calibri" pitchFamily="34" charset="-122"/>
                <a:cs typeface="Calibri" pitchFamily="34" charset="-120"/>
              </a:rPr>
              <a:t>If a mobile-network operator offered you CDR data for a Thai province, what would you need from NSO to calibrate it responsibly?</a:t>
            </a:r>
            <a:endParaRPr lang="en-US" sz="1600" dirty="0"/>
          </a:p>
          <a:p>
            <a:pPr marL="342900" indent="-342900">
              <a:lnSpc>
                <a:spcPct val="120000"/>
              </a:lnSpc>
              <a:spcAft>
                <a:spcPts val="1400"/>
              </a:spcAft>
              <a:buSzPct val="100000"/>
              <a:buChar char="–"/>
            </a:pPr>
            <a:r>
              <a:rPr lang="en-US" sz="1600" dirty="0">
                <a:solidFill>
                  <a:srgbClr val="2A2115"/>
                </a:solidFill>
                <a:latin typeface="Calibri" pitchFamily="34" charset="0"/>
                <a:ea typeface="Calibri" pitchFamily="34" charset="-122"/>
                <a:cs typeface="Calibri" pitchFamily="34" charset="-120"/>
              </a:rPr>
              <a:t>Where do you expect this "traditional + digital" theme to reappear later in the course (hint: Applied Classes 11–13)?</a:t>
            </a:r>
            <a:endParaRPr lang="en-US" sz="1600" dirty="0"/>
          </a:p>
        </p:txBody>
      </p:sp>
      <p:sp>
        <p:nvSpPr>
          <p:cNvPr id="7"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2800" b="1" dirty="0">
                <a:solidFill>
                  <a:srgbClr val="0B3D4C"/>
                </a:solidFill>
                <a:latin typeface="Cambria" pitchFamily="34" charset="0"/>
                <a:ea typeface="Cambria" pitchFamily="34" charset="-122"/>
                <a:cs typeface="Cambria" pitchFamily="34" charset="-120"/>
              </a:rPr>
              <a:t>Key Takeaways From Session 2</a:t>
            </a:r>
            <a:endParaRPr lang="en-US" sz="28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Shape 3"/>
          <p:cNvSpPr/>
          <p:nvPr/>
        </p:nvSpPr>
        <p:spPr>
          <a:xfrm>
            <a:off x="548640" y="169164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7" name="Shape 4"/>
          <p:cNvSpPr/>
          <p:nvPr/>
        </p:nvSpPr>
        <p:spPr>
          <a:xfrm>
            <a:off x="804672" y="1947672"/>
            <a:ext cx="566928" cy="566928"/>
          </a:xfrm>
          <a:prstGeom prst="ellipse">
            <a:avLst/>
          </a:prstGeom>
          <a:solidFill>
            <a:srgbClr val="FFFFFF"/>
          </a:solidFill>
          <a:ln w="15875">
            <a:solidFill>
              <a:srgbClr val="1C7293"/>
            </a:solidFill>
            <a:prstDash val="solid"/>
          </a:ln>
        </p:spPr>
      </p:sp>
      <p:pic>
        <p:nvPicPr>
          <p:cNvPr id="8" name="Image 1" descr="preencoded.png"/>
          <p:cNvPicPr>
            <a:picLocks noChangeAspect="1"/>
          </p:cNvPicPr>
          <p:nvPr/>
        </p:nvPicPr>
        <p:blipFill>
          <a:blip r:embed="rId4"/>
          <a:stretch>
            <a:fillRect/>
          </a:stretch>
        </p:blipFill>
        <p:spPr>
          <a:xfrm>
            <a:off x="950976" y="2093976"/>
            <a:ext cx="292608" cy="292608"/>
          </a:xfrm>
          <a:prstGeom prst="rect">
            <a:avLst/>
          </a:prstGeom>
        </p:spPr>
      </p:pic>
      <p:sp>
        <p:nvSpPr>
          <p:cNvPr id="9" name="Text 5"/>
          <p:cNvSpPr/>
          <p:nvPr/>
        </p:nvSpPr>
        <p:spPr>
          <a:xfrm>
            <a:off x="804672" y="260604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One accounting identity</a:t>
            </a:r>
            <a:endParaRPr lang="en-US" sz="1500" dirty="0"/>
          </a:p>
        </p:txBody>
      </p:sp>
      <p:sp>
        <p:nvSpPr>
          <p:cNvPr id="10" name="Text 6"/>
          <p:cNvSpPr/>
          <p:nvPr/>
        </p:nvSpPr>
        <p:spPr>
          <a:xfrm>
            <a:off x="804672" y="304495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P₂ = P₁ + B − D + IM − OM underlies every population estimate</a:t>
            </a:r>
            <a:endParaRPr lang="en-US" sz="1150" dirty="0"/>
          </a:p>
        </p:txBody>
      </p:sp>
      <p:sp>
        <p:nvSpPr>
          <p:cNvPr id="11" name="Shape 7"/>
          <p:cNvSpPr/>
          <p:nvPr/>
        </p:nvSpPr>
        <p:spPr>
          <a:xfrm>
            <a:off x="4373880" y="169164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12" name="Shape 8"/>
          <p:cNvSpPr/>
          <p:nvPr/>
        </p:nvSpPr>
        <p:spPr>
          <a:xfrm>
            <a:off x="4629912" y="1947672"/>
            <a:ext cx="566928" cy="566928"/>
          </a:xfrm>
          <a:prstGeom prst="ellipse">
            <a:avLst/>
          </a:prstGeom>
          <a:solidFill>
            <a:srgbClr val="FFFFFF"/>
          </a:solidFill>
          <a:ln w="15875">
            <a:solidFill>
              <a:srgbClr val="1C7293"/>
            </a:solidFill>
            <a:prstDash val="solid"/>
          </a:ln>
        </p:spPr>
      </p:sp>
      <p:pic>
        <p:nvPicPr>
          <p:cNvPr id="13" name="Image 2" descr="preencoded.png"/>
          <p:cNvPicPr>
            <a:picLocks noChangeAspect="1"/>
          </p:cNvPicPr>
          <p:nvPr/>
        </p:nvPicPr>
        <p:blipFill>
          <a:blip r:embed="rId5"/>
          <a:stretch>
            <a:fillRect/>
          </a:stretch>
        </p:blipFill>
        <p:spPr>
          <a:xfrm>
            <a:off x="4776216" y="2093976"/>
            <a:ext cx="292608" cy="292608"/>
          </a:xfrm>
          <a:prstGeom prst="rect">
            <a:avLst/>
          </a:prstGeom>
        </p:spPr>
      </p:pic>
      <p:sp>
        <p:nvSpPr>
          <p:cNvPr id="14" name="Text 9"/>
          <p:cNvSpPr/>
          <p:nvPr/>
        </p:nvSpPr>
        <p:spPr>
          <a:xfrm>
            <a:off x="4629912" y="260604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Growth is exponential</a:t>
            </a:r>
            <a:endParaRPr lang="en-US" sz="1500" dirty="0"/>
          </a:p>
        </p:txBody>
      </p:sp>
      <p:sp>
        <p:nvSpPr>
          <p:cNvPr id="15" name="Text 10"/>
          <p:cNvSpPr/>
          <p:nvPr/>
        </p:nvSpPr>
        <p:spPr>
          <a:xfrm>
            <a:off x="4629912" y="304495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P₂ = P₁·e^(rn) and the Rule of 70 let you project and compare growth quickly</a:t>
            </a:r>
            <a:endParaRPr lang="en-US" sz="1150" dirty="0"/>
          </a:p>
        </p:txBody>
      </p:sp>
      <p:sp>
        <p:nvSpPr>
          <p:cNvPr id="16" name="Shape 11"/>
          <p:cNvSpPr/>
          <p:nvPr/>
        </p:nvSpPr>
        <p:spPr>
          <a:xfrm>
            <a:off x="8199120" y="169164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17" name="Shape 12"/>
          <p:cNvSpPr/>
          <p:nvPr/>
        </p:nvSpPr>
        <p:spPr>
          <a:xfrm>
            <a:off x="8455152" y="1947672"/>
            <a:ext cx="566928" cy="566928"/>
          </a:xfrm>
          <a:prstGeom prst="ellipse">
            <a:avLst/>
          </a:prstGeom>
          <a:solidFill>
            <a:srgbClr val="FFFFFF"/>
          </a:solidFill>
          <a:ln w="15875">
            <a:solidFill>
              <a:srgbClr val="1C7293"/>
            </a:solidFill>
            <a:prstDash val="solid"/>
          </a:ln>
        </p:spPr>
      </p:sp>
      <p:pic>
        <p:nvPicPr>
          <p:cNvPr id="18" name="Image 3" descr="preencoded.png"/>
          <p:cNvPicPr>
            <a:picLocks noChangeAspect="1"/>
          </p:cNvPicPr>
          <p:nvPr/>
        </p:nvPicPr>
        <p:blipFill>
          <a:blip r:embed="rId6"/>
          <a:stretch>
            <a:fillRect/>
          </a:stretch>
        </p:blipFill>
        <p:spPr>
          <a:xfrm>
            <a:off x="8601456" y="2093976"/>
            <a:ext cx="292608" cy="292608"/>
          </a:xfrm>
          <a:prstGeom prst="rect">
            <a:avLst/>
          </a:prstGeom>
        </p:spPr>
      </p:pic>
      <p:sp>
        <p:nvSpPr>
          <p:cNvPr id="19" name="Text 13"/>
          <p:cNvSpPr/>
          <p:nvPr/>
        </p:nvSpPr>
        <p:spPr>
          <a:xfrm>
            <a:off x="8455152" y="260604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Four official pillars</a:t>
            </a:r>
            <a:endParaRPr lang="en-US" sz="1500" dirty="0"/>
          </a:p>
        </p:txBody>
      </p:sp>
      <p:sp>
        <p:nvSpPr>
          <p:cNvPr id="20" name="Text 14"/>
          <p:cNvSpPr/>
          <p:nvPr/>
        </p:nvSpPr>
        <p:spPr>
          <a:xfrm>
            <a:off x="8455152" y="304495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Census, CRVS, surveys, and registers each trade off cost, timeliness, and coverage</a:t>
            </a:r>
            <a:endParaRPr lang="en-US" sz="1150" dirty="0"/>
          </a:p>
        </p:txBody>
      </p:sp>
      <p:sp>
        <p:nvSpPr>
          <p:cNvPr id="21" name="Shape 15"/>
          <p:cNvSpPr/>
          <p:nvPr/>
        </p:nvSpPr>
        <p:spPr>
          <a:xfrm>
            <a:off x="548640" y="411480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22" name="Shape 16"/>
          <p:cNvSpPr/>
          <p:nvPr/>
        </p:nvSpPr>
        <p:spPr>
          <a:xfrm>
            <a:off x="804672" y="4370832"/>
            <a:ext cx="566928" cy="566928"/>
          </a:xfrm>
          <a:prstGeom prst="ellipse">
            <a:avLst/>
          </a:prstGeom>
          <a:solidFill>
            <a:srgbClr val="FFFFFF"/>
          </a:solidFill>
          <a:ln w="15875">
            <a:solidFill>
              <a:srgbClr val="1C7293"/>
            </a:solidFill>
            <a:prstDash val="solid"/>
          </a:ln>
        </p:spPr>
      </p:sp>
      <p:pic>
        <p:nvPicPr>
          <p:cNvPr id="23" name="Image 4" descr="preencoded.png"/>
          <p:cNvPicPr>
            <a:picLocks noChangeAspect="1"/>
          </p:cNvPicPr>
          <p:nvPr/>
        </p:nvPicPr>
        <p:blipFill>
          <a:blip r:embed="rId7"/>
          <a:stretch>
            <a:fillRect/>
          </a:stretch>
        </p:blipFill>
        <p:spPr>
          <a:xfrm>
            <a:off x="950976" y="4517136"/>
            <a:ext cx="292608" cy="292608"/>
          </a:xfrm>
          <a:prstGeom prst="rect">
            <a:avLst/>
          </a:prstGeom>
        </p:spPr>
      </p:pic>
      <p:sp>
        <p:nvSpPr>
          <p:cNvPr id="24" name="Text 17"/>
          <p:cNvSpPr/>
          <p:nvPr/>
        </p:nvSpPr>
        <p:spPr>
          <a:xfrm>
            <a:off x="804672" y="502920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Always check quality</a:t>
            </a:r>
            <a:endParaRPr lang="en-US" sz="1500" dirty="0"/>
          </a:p>
        </p:txBody>
      </p:sp>
      <p:sp>
        <p:nvSpPr>
          <p:cNvPr id="25" name="Text 18"/>
          <p:cNvSpPr/>
          <p:nvPr/>
        </p:nvSpPr>
        <p:spPr>
          <a:xfrm>
            <a:off x="804672" y="546811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Whipple’s Index and similar tools reveal age heaping and other reporting errors</a:t>
            </a:r>
            <a:endParaRPr lang="en-US" sz="1150" dirty="0"/>
          </a:p>
        </p:txBody>
      </p:sp>
      <p:sp>
        <p:nvSpPr>
          <p:cNvPr id="26" name="Shape 19"/>
          <p:cNvSpPr/>
          <p:nvPr/>
        </p:nvSpPr>
        <p:spPr>
          <a:xfrm>
            <a:off x="4373880" y="411480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27" name="Shape 20"/>
          <p:cNvSpPr/>
          <p:nvPr/>
        </p:nvSpPr>
        <p:spPr>
          <a:xfrm>
            <a:off x="4629912" y="4370832"/>
            <a:ext cx="566928" cy="566928"/>
          </a:xfrm>
          <a:prstGeom prst="ellipse">
            <a:avLst/>
          </a:prstGeom>
          <a:solidFill>
            <a:srgbClr val="FFFFFF"/>
          </a:solidFill>
          <a:ln w="15875">
            <a:solidFill>
              <a:srgbClr val="1C7293"/>
            </a:solidFill>
            <a:prstDash val="solid"/>
          </a:ln>
        </p:spPr>
      </p:sp>
      <p:pic>
        <p:nvPicPr>
          <p:cNvPr id="28" name="Image 5" descr="preencoded.png"/>
          <p:cNvPicPr>
            <a:picLocks noChangeAspect="1"/>
          </p:cNvPicPr>
          <p:nvPr/>
        </p:nvPicPr>
        <p:blipFill>
          <a:blip r:embed="rId8"/>
          <a:stretch>
            <a:fillRect/>
          </a:stretch>
        </p:blipFill>
        <p:spPr>
          <a:xfrm>
            <a:off x="4776216" y="4517136"/>
            <a:ext cx="292608" cy="292608"/>
          </a:xfrm>
          <a:prstGeom prst="rect">
            <a:avLst/>
          </a:prstGeom>
        </p:spPr>
      </p:pic>
      <p:sp>
        <p:nvSpPr>
          <p:cNvPr id="29" name="Text 21"/>
          <p:cNvSpPr/>
          <p:nvPr/>
        </p:nvSpPr>
        <p:spPr>
          <a:xfrm>
            <a:off x="4629912" y="502920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Digital data complements</a:t>
            </a:r>
            <a:endParaRPr lang="en-US" sz="1500" dirty="0"/>
          </a:p>
        </p:txBody>
      </p:sp>
      <p:sp>
        <p:nvSpPr>
          <p:cNvPr id="30" name="Text 22"/>
          <p:cNvSpPr/>
          <p:nvPr/>
        </p:nvSpPr>
        <p:spPr>
          <a:xfrm>
            <a:off x="4629912" y="546811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Mobile, satellite, and social data add speed and resolution — but need calibration against a benchmark</a:t>
            </a:r>
            <a:endParaRPr lang="en-US" sz="1150" dirty="0"/>
          </a:p>
        </p:txBody>
      </p:sp>
      <p:sp>
        <p:nvSpPr>
          <p:cNvPr id="31" name="Shape 23"/>
          <p:cNvSpPr/>
          <p:nvPr/>
        </p:nvSpPr>
        <p:spPr>
          <a:xfrm>
            <a:off x="8199120" y="4114800"/>
            <a:ext cx="3505200" cy="2148840"/>
          </a:xfrm>
          <a:prstGeom prst="roundRect">
            <a:avLst>
              <a:gd name="adj" fmla="val 3404"/>
            </a:avLst>
          </a:prstGeom>
          <a:solidFill>
            <a:srgbClr val="F4F6F9"/>
          </a:solidFill>
          <a:ln/>
          <a:effectLst>
            <a:outerShdw blurRad="76200" dist="25400" dir="5400000" algn="bl" rotWithShape="0">
              <a:srgbClr val="9AA5B1">
                <a:alpha val="25000"/>
              </a:srgbClr>
            </a:outerShdw>
          </a:effectLst>
        </p:spPr>
      </p:sp>
      <p:sp>
        <p:nvSpPr>
          <p:cNvPr id="32" name="Shape 24"/>
          <p:cNvSpPr/>
          <p:nvPr/>
        </p:nvSpPr>
        <p:spPr>
          <a:xfrm>
            <a:off x="8455152" y="4370832"/>
            <a:ext cx="566928" cy="566928"/>
          </a:xfrm>
          <a:prstGeom prst="ellipse">
            <a:avLst/>
          </a:prstGeom>
          <a:solidFill>
            <a:srgbClr val="FFFFFF"/>
          </a:solidFill>
          <a:ln w="15875">
            <a:solidFill>
              <a:srgbClr val="1C7293"/>
            </a:solidFill>
            <a:prstDash val="solid"/>
          </a:ln>
        </p:spPr>
      </p:sp>
      <p:pic>
        <p:nvPicPr>
          <p:cNvPr id="33" name="Image 6" descr="preencoded.png"/>
          <p:cNvPicPr>
            <a:picLocks noChangeAspect="1"/>
          </p:cNvPicPr>
          <p:nvPr/>
        </p:nvPicPr>
        <p:blipFill>
          <a:blip r:embed="rId9"/>
          <a:stretch>
            <a:fillRect/>
          </a:stretch>
        </p:blipFill>
        <p:spPr>
          <a:xfrm>
            <a:off x="8601456" y="4517136"/>
            <a:ext cx="292608" cy="292608"/>
          </a:xfrm>
          <a:prstGeom prst="rect">
            <a:avLst/>
          </a:prstGeom>
        </p:spPr>
      </p:pic>
      <p:sp>
        <p:nvSpPr>
          <p:cNvPr id="34" name="Text 25"/>
          <p:cNvSpPr/>
          <p:nvPr/>
        </p:nvSpPr>
        <p:spPr>
          <a:xfrm>
            <a:off x="8455152" y="5029200"/>
            <a:ext cx="2993136" cy="457200"/>
          </a:xfrm>
          <a:prstGeom prst="rect">
            <a:avLst/>
          </a:prstGeom>
          <a:noFill/>
          <a:ln/>
        </p:spPr>
        <p:txBody>
          <a:bodyPr wrap="square" lIns="0" tIns="0" rIns="0" bIns="0" rtlCol="0" anchor="ctr"/>
          <a:lstStyle/>
          <a:p>
            <a:pPr marL="0" indent="0">
              <a:buNone/>
            </a:pPr>
            <a:r>
              <a:rPr lang="en-US" sz="1500" b="1" dirty="0">
                <a:solidFill>
                  <a:srgbClr val="0B3D4C"/>
                </a:solidFill>
                <a:latin typeface="Cambria" pitchFamily="34" charset="0"/>
                <a:ea typeface="Cambria" pitchFamily="34" charset="-122"/>
                <a:cs typeface="Cambria" pitchFamily="34" charset="-120"/>
              </a:rPr>
              <a:t>Use open resources</a:t>
            </a:r>
            <a:endParaRPr lang="en-US" sz="1500" dirty="0"/>
          </a:p>
        </p:txBody>
      </p:sp>
      <p:sp>
        <p:nvSpPr>
          <p:cNvPr id="35" name="Text 26"/>
          <p:cNvSpPr/>
          <p:nvPr/>
        </p:nvSpPr>
        <p:spPr>
          <a:xfrm>
            <a:off x="8455152" y="5468112"/>
            <a:ext cx="2993136" cy="59436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IPUMS International and WorldPop give you free, research-grade data for your applied paper</a:t>
            </a:r>
            <a:endParaRPr lang="en-US" sz="1150" dirty="0"/>
          </a:p>
        </p:txBody>
      </p:sp>
      <p:sp>
        <p:nvSpPr>
          <p:cNvPr id="36" name="Text 27"/>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bg>
      <p:bgPr>
        <a:solidFill>
          <a:srgbClr val="0B3D4C"/>
        </a:solidFill>
        <a:effectLst/>
      </p:bgPr>
    </p:bg>
    <p:spTree>
      <p:nvGrpSpPr>
        <p:cNvPr id="1" name=""/>
        <p:cNvGrpSpPr/>
        <p:nvPr/>
      </p:nvGrpSpPr>
      <p:grpSpPr>
        <a:xfrm>
          <a:off x="0" y="0"/>
          <a:ext cx="0" cy="0"/>
          <a:chOff x="0" y="0"/>
          <a:chExt cx="0" cy="0"/>
        </a:xfrm>
      </p:grpSpPr>
      <p:sp>
        <p:nvSpPr>
          <p:cNvPr id="2" name="Text 0"/>
          <p:cNvSpPr/>
          <p:nvPr/>
        </p:nvSpPr>
        <p:spPr>
          <a:xfrm>
            <a:off x="0" y="2651760"/>
            <a:ext cx="12188952"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3" name="Text 1"/>
          <p:cNvSpPr/>
          <p:nvPr/>
        </p:nvSpPr>
        <p:spPr>
          <a:xfrm>
            <a:off x="0" y="3657600"/>
            <a:ext cx="12188952" cy="548640"/>
          </a:xfrm>
          <a:prstGeom prst="rect">
            <a:avLst/>
          </a:prstGeom>
          <a:noFill/>
          <a:ln/>
        </p:spPr>
        <p:txBody>
          <a:bodyPr wrap="square" lIns="0" tIns="0" rIns="0" bIns="0"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Next session: Mortality &amp; Morbidity</a:t>
            </a:r>
            <a:endParaRPr lang="en-US" sz="1500" dirty="0"/>
          </a:p>
        </p:txBody>
      </p:sp>
      <p:sp>
        <p:nvSpPr>
          <p:cNvPr id="4" name="Text 2"/>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C7CDD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pPr marL="0" indent="0">
              <a:buNone/>
            </a:pPr>
            <a:r>
              <a:rPr lang="en-US" sz="2800" b="1" dirty="0">
                <a:solidFill>
                  <a:srgbClr val="0B3D4C"/>
                </a:solidFill>
                <a:latin typeface="Cambria" pitchFamily="34" charset="0"/>
                <a:ea typeface="Cambria" pitchFamily="34" charset="-122"/>
                <a:cs typeface="Cambria" pitchFamily="34" charset="-120"/>
              </a:rPr>
              <a:t>References (1 of 2)</a:t>
            </a:r>
            <a:endParaRPr lang="en-US" sz="2800" dirty="0"/>
          </a:p>
        </p:txBody>
      </p:sp>
      <p:sp>
        <p:nvSpPr>
          <p:cNvPr id="4" name="Text 2"/>
          <p:cNvSpPr/>
          <p:nvPr/>
        </p:nvSpPr>
        <p:spPr>
          <a:xfrm>
            <a:off x="548640" y="1600200"/>
            <a:ext cx="11064240" cy="4754880"/>
          </a:xfrm>
          <a:prstGeom prst="rect">
            <a:avLst/>
          </a:prstGeom>
          <a:noFill/>
          <a:ln/>
        </p:spPr>
        <p:txBody>
          <a:bodyPr wrap="square" lIns="0" tIns="0" rIns="0" bIns="0" rtlCol="0" anchor="t"/>
          <a:lstStyle/>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Careja, R., &amp; Bevelander, P. (2018). Using population registers for migration and integration research: Examples from Denmark and Sweden. Comparative Migration Studies, 6, 19. https://doi.org/10.1186/s40878-018-0076-4</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Deville, P., Linard, C., Martin, S., Gilbert, M., Stevens, F. R., Gaughan, A. E., Blondel, V. D., &amp; Tatem, A. J. (2014). Dynamic population mapping using mobile phone data. Proceedings of the National Academy of Sciences, 111(45), 15888–15893. https://doi.org/10.1073/pnas.1408439111</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Minnesota Population Center. (2024). Integrated Public Use Microdata Series, International: Version 7.3 [Dataset]. IPUMS. https://doi.org/10.18128/D020.V7.3</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United Nations, Department of Economic and Social Affairs, Population Division. (1955). Manual II: Methods of appraisal of quality of basic data for population estimates. United Nations.</a:t>
            </a:r>
            <a:endParaRPr lang="en-US" sz="1150" dirty="0"/>
          </a:p>
        </p:txBody>
      </p:sp>
      <p:sp>
        <p:nvSpPr>
          <p:cNvPr id="5" name="Text 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38</a:t>
            </a:r>
            <a:endParaRPr lang="en-US" sz="900" dirty="0"/>
          </a:p>
        </p:txBody>
      </p:sp>
      <p:sp>
        <p:nvSpPr>
          <p:cNvPr id="7" name="Text 2">
            <a:extLst>
              <a:ext uri="{FF2B5EF4-FFF2-40B4-BE49-F238E27FC236}">
                <a16:creationId xmlns:a16="http://schemas.microsoft.com/office/drawing/2014/main" id="{C4F83DE8-CB97-BCEF-34AA-4B25EE254263}"/>
              </a:ext>
            </a:extLst>
          </p:cNvPr>
          <p:cNvSpPr/>
          <p:nvPr/>
        </p:nvSpPr>
        <p:spPr>
          <a:xfrm>
            <a:off x="530352" y="3383003"/>
            <a:ext cx="11064240" cy="3078480"/>
          </a:xfrm>
          <a:prstGeom prst="rect">
            <a:avLst/>
          </a:prstGeom>
          <a:noFill/>
          <a:ln/>
        </p:spPr>
        <p:txBody>
          <a:bodyPr wrap="square" lIns="0" tIns="0" rIns="0" bIns="0" rtlCol="0" anchor="t"/>
          <a:lstStyle/>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United Nations Economic and Social Commission for Asia and the Pacific. (2024). Thailand Population and Housing Census 2025 [Conference presentation]. Asia-Pacific Stats Café Series. https://crvs.unescap.org/system/files/sites/default/files/Thailand_presentation.pdf</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United Nations Economic and Social Commission for Asia and the Pacific. (2025). Get every one in the picture: Thailand country profile. https://getinthepicture.org/country/thailand</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World Bank. (2025). Population growth (annual %) [Data set]. World Bank Open Data. https://data.worldbank.org/indicator/SP.POP.GROW</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WorldPop. (2024). Methods. University of Southampton. https://www.worldpop.org/methods/</a:t>
            </a:r>
            <a:endParaRPr lang="en-US" sz="1150" dirty="0"/>
          </a:p>
          <a:p>
            <a:pPr marL="0" indent="0">
              <a:lnSpc>
                <a:spcPct val="115000"/>
              </a:lnSpc>
              <a:spcAft>
                <a:spcPts val="1100"/>
              </a:spcAft>
              <a:buNone/>
            </a:pPr>
            <a:r>
              <a:rPr lang="en-US" sz="1150" dirty="0">
                <a:solidFill>
                  <a:srgbClr val="1B2130"/>
                </a:solidFill>
                <a:latin typeface="Calibri" pitchFamily="34" charset="0"/>
                <a:ea typeface="Calibri" pitchFamily="34" charset="-122"/>
                <a:cs typeface="Calibri" pitchFamily="34" charset="-120"/>
              </a:rPr>
              <a:t>Zagheni, E., &amp; Weber, I. (2015). Demographic research with non-representative internet data. International Journal of Manpower, 36(1), 13–25. https://www.zagheni.net/uploads/3/4/4/7/34477700/zagheni_weber2015.pdf</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0">
    <p:bg>
      <p:bgPr>
        <a:solidFill>
          <a:srgbClr val="1C7293"/>
        </a:solidFill>
        <a:effectLst/>
      </p:bgPr>
    </p:bg>
    <p:spTree>
      <p:nvGrpSpPr>
        <p:cNvPr id="1" name=""/>
        <p:cNvGrpSpPr/>
        <p:nvPr/>
      </p:nvGrpSpPr>
      <p:grpSpPr>
        <a:xfrm>
          <a:off x="0" y="0"/>
          <a:ext cx="0" cy="0"/>
          <a:chOff x="0" y="0"/>
          <a:chExt cx="0" cy="0"/>
        </a:xfrm>
      </p:grpSpPr>
      <p:sp>
        <p:nvSpPr>
          <p:cNvPr id="2" name="Text 0"/>
          <p:cNvSpPr/>
          <p:nvPr/>
        </p:nvSpPr>
        <p:spPr>
          <a:xfrm>
            <a:off x="0" y="2743200"/>
            <a:ext cx="1218895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PRACTICE EXERCISES</a:t>
            </a:r>
            <a:endParaRPr lang="en-US" sz="4000" dirty="0"/>
          </a:p>
        </p:txBody>
      </p:sp>
      <p:sp>
        <p:nvSpPr>
          <p:cNvPr id="3" name="Text 1"/>
          <p:cNvSpPr/>
          <p:nvPr/>
        </p:nvSpPr>
        <p:spPr>
          <a:xfrm>
            <a:off x="0" y="3611880"/>
            <a:ext cx="12188952" cy="457200"/>
          </a:xfrm>
          <a:prstGeom prst="rect">
            <a:avLst/>
          </a:prstGeom>
          <a:noFill/>
          <a:ln/>
        </p:spPr>
        <p:txBody>
          <a:bodyPr wrap="square" lIns="0" tIns="0" rIns="0" bIns="0" rtlCol="0" anchor="ctr"/>
          <a:lstStyle/>
          <a:p>
            <a:pPr marL="0" indent="0" algn="ctr">
              <a:buNone/>
            </a:pPr>
            <a:r>
              <a:rPr lang="en-US" sz="1500" i="1" dirty="0">
                <a:solidFill>
                  <a:srgbClr val="E4F0F1"/>
                </a:solidFill>
                <a:latin typeface="Calibri" pitchFamily="34" charset="0"/>
                <a:ea typeface="Calibri" pitchFamily="34" charset="-122"/>
                <a:cs typeface="Calibri" pitchFamily="34" charset="-120"/>
              </a:rPr>
              <a:t>14 questions — conceptual &amp; computational — to consolidate Session 2</a:t>
            </a:r>
            <a:endParaRPr lang="en-US" sz="1500" dirty="0"/>
          </a:p>
        </p:txBody>
      </p:sp>
      <p:sp>
        <p:nvSpPr>
          <p:cNvPr id="4" name="Text 2"/>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C7CDD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PRACTICE EXERCISES</a:t>
            </a:r>
            <a:endParaRPr lang="en-US" sz="12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r>
              <a:rPr lang="en-US" sz="2400" b="1" dirty="0">
                <a:solidFill>
                  <a:srgbClr val="0B3D4C"/>
                </a:solidFill>
                <a:latin typeface="Cambria" pitchFamily="34" charset="0"/>
                <a:ea typeface="Cambria" pitchFamily="34" charset="-122"/>
                <a:cs typeface="Cambria" pitchFamily="34" charset="-120"/>
              </a:rPr>
              <a:t>The Balancing Equation &amp; Growth (1–5); Official Data Sources (6–9)</a:t>
            </a:r>
            <a:endParaRPr lang="en-US" sz="24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91640"/>
            <a:ext cx="11064240" cy="466344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 Write the demographic balancing equation and define each term.</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2. A city had 500,000 residents on Jan 1. During the year: 8,000 births, 4,500 deaths, 6,000 in-migrants, 3,000 out-migrants. Find the population on Dec 31.</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3. A country grows at r = 0.015 (1.5%) per year. Using P₂ = P₁·e^(rn), project its population in 20 years if P₁ = 40,000,000.</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4. Using the Rule of 70, estimate the doubling time for a population growing at 3.5% per year.</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5. Explain why a negative net migration could offset positive natural increase, and give a real-world example.</a:t>
            </a:r>
            <a:endParaRPr lang="en-US" sz="1500" dirty="0"/>
          </a:p>
        </p:txBody>
      </p:sp>
      <p:sp>
        <p:nvSpPr>
          <p:cNvPr id="7"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41</a:t>
            </a:r>
            <a:endParaRPr lang="en-US" sz="900" dirty="0"/>
          </a:p>
        </p:txBody>
      </p:sp>
      <p:sp>
        <p:nvSpPr>
          <p:cNvPr id="9" name="Text 3">
            <a:extLst>
              <a:ext uri="{FF2B5EF4-FFF2-40B4-BE49-F238E27FC236}">
                <a16:creationId xmlns:a16="http://schemas.microsoft.com/office/drawing/2014/main" id="{198DEEC9-C37B-8DCA-E5FB-0969796AF4AB}"/>
              </a:ext>
            </a:extLst>
          </p:cNvPr>
          <p:cNvSpPr/>
          <p:nvPr/>
        </p:nvSpPr>
        <p:spPr>
          <a:xfrm>
            <a:off x="594360" y="4290614"/>
            <a:ext cx="11064240" cy="2123902"/>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6. Compare a census and a population register on timeliness, coverage, and cost.</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7. Why might CRVS data understate infant deaths in a country with many home births and deaths?</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8. Give one advantage sample surveys have over censuses, and one advantage censuses have over surveys.</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9. Explain in your own words why Thailand’s move to a "Digital First" census approach might improve OR threaten data completeness — argue both sides.</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PRACTICE EXERCISES</a:t>
            </a:r>
            <a:endParaRPr lang="en-US" sz="1200" dirty="0"/>
          </a:p>
        </p:txBody>
      </p:sp>
      <p:sp>
        <p:nvSpPr>
          <p:cNvPr id="3" name="Text 1"/>
          <p:cNvSpPr/>
          <p:nvPr/>
        </p:nvSpPr>
        <p:spPr>
          <a:xfrm>
            <a:off x="548640" y="658368"/>
            <a:ext cx="9692640" cy="777240"/>
          </a:xfrm>
          <a:prstGeom prst="rect">
            <a:avLst/>
          </a:prstGeom>
          <a:noFill/>
          <a:ln/>
        </p:spPr>
        <p:txBody>
          <a:bodyPr wrap="square" lIns="0" tIns="0" rIns="0" bIns="0" rtlCol="0" anchor="ctr"/>
          <a:lstStyle/>
          <a:p>
            <a:r>
              <a:rPr lang="en-US" sz="2000" b="1" dirty="0">
                <a:solidFill>
                  <a:srgbClr val="0B3D4C"/>
                </a:solidFill>
                <a:latin typeface="Cambria" pitchFamily="34" charset="0"/>
                <a:ea typeface="Cambria" pitchFamily="34" charset="-122"/>
                <a:cs typeface="Cambria" pitchFamily="34" charset="-120"/>
              </a:rPr>
              <a:t>Data Quality: Whipple’s Index (10–11); Non-Traditional &amp; Digital Data (12–14)</a:t>
            </a:r>
            <a:endParaRPr lang="en-US" sz="2000" dirty="0"/>
          </a:p>
        </p:txBody>
      </p:sp>
      <p:sp>
        <p:nvSpPr>
          <p:cNvPr id="4" name="Shape 2"/>
          <p:cNvSpPr/>
          <p:nvPr/>
        </p:nvSpPr>
        <p:spPr>
          <a:xfrm>
            <a:off x="10881360" y="411480"/>
            <a:ext cx="777240" cy="777240"/>
          </a:xfrm>
          <a:prstGeom prst="ellipse">
            <a:avLst/>
          </a:prstGeom>
          <a:solidFill>
            <a:srgbClr val="F4F6F9"/>
          </a:solidFill>
          <a:ln w="12700">
            <a:solidFill>
              <a:srgbClr val="DCE1E8"/>
            </a:solidFill>
            <a:prstDash val="solid"/>
          </a:ln>
        </p:spPr>
      </p:sp>
      <p:pic>
        <p:nvPicPr>
          <p:cNvPr id="5" name="Image 0" descr="preencoded.png"/>
          <p:cNvPicPr>
            <a:picLocks noChangeAspect="1"/>
          </p:cNvPicPr>
          <p:nvPr/>
        </p:nvPicPr>
        <p:blipFill>
          <a:blip r:embed="rId3"/>
          <a:stretch>
            <a:fillRect/>
          </a:stretch>
        </p:blipFill>
        <p:spPr>
          <a:xfrm>
            <a:off x="11055096" y="585216"/>
            <a:ext cx="429768" cy="429768"/>
          </a:xfrm>
          <a:prstGeom prst="rect">
            <a:avLst/>
          </a:prstGeom>
        </p:spPr>
      </p:pic>
      <p:sp>
        <p:nvSpPr>
          <p:cNvPr id="6" name="Text 3"/>
          <p:cNvSpPr/>
          <p:nvPr/>
        </p:nvSpPr>
        <p:spPr>
          <a:xfrm>
            <a:off x="548640" y="1691640"/>
            <a:ext cx="11064240" cy="466344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10. A sample of 5,000 people aged 23–62 shows 1,400 reporting ages ending in 0 or 5. Calculate Whipple’s Index and classify the data quality using the UN benchmark scale.</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11. Suggest two reasons an enumerator (rather than the respondent) might introduce age heaping into census data.</a:t>
            </a:r>
            <a:endParaRPr lang="en-US" sz="1500" dirty="0"/>
          </a:p>
        </p:txBody>
      </p:sp>
      <p:sp>
        <p:nvSpPr>
          <p:cNvPr id="7" name="Text 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43</a:t>
            </a:r>
            <a:endParaRPr lang="en-US" sz="900" dirty="0"/>
          </a:p>
        </p:txBody>
      </p:sp>
      <p:sp>
        <p:nvSpPr>
          <p:cNvPr id="9" name="Text 3">
            <a:extLst>
              <a:ext uri="{FF2B5EF4-FFF2-40B4-BE49-F238E27FC236}">
                <a16:creationId xmlns:a16="http://schemas.microsoft.com/office/drawing/2014/main" id="{803719FE-662D-A300-B10F-AFCB6C1B7D5B}"/>
              </a:ext>
            </a:extLst>
          </p:cNvPr>
          <p:cNvSpPr/>
          <p:nvPr/>
        </p:nvSpPr>
        <p:spPr>
          <a:xfrm>
            <a:off x="562292" y="2864981"/>
            <a:ext cx="11064240" cy="1932709"/>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12. Explain how Deville et al. (2014) used mobile-phone call detail records to map population, and name one limitation of this method.</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13. What does it mean to say social-media data is "non-representative," and how can researchers correct for this (per Zagheni &amp; Weber, 2015)?</a:t>
            </a:r>
            <a:endParaRPr lang="en-US" sz="1500" dirty="0"/>
          </a:p>
          <a:p>
            <a:pPr marL="342900" indent="-342900">
              <a:lnSpc>
                <a:spcPct val="120000"/>
              </a:lnSpc>
              <a:spcAft>
                <a:spcPts val="1600"/>
              </a:spcAft>
              <a:buSzPct val="100000"/>
              <a:buChar char="•"/>
            </a:pPr>
            <a:r>
              <a:rPr lang="en-US" sz="1500" dirty="0">
                <a:solidFill>
                  <a:srgbClr val="1B2130"/>
                </a:solidFill>
                <a:latin typeface="Calibri" pitchFamily="34" charset="0"/>
                <a:ea typeface="Calibri" pitchFamily="34" charset="-122"/>
                <a:cs typeface="Calibri" pitchFamily="34" charset="-120"/>
              </a:rPr>
              <a:t>14. Design a one-paragraph research plan that combines a traditional source (census, CRVS, or survey) with a digital-trace source (mobile, satellite, or social-media data) to answer a real population question of your choice.</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5">
    <p:bg>
      <p:bgPr>
        <a:solidFill>
          <a:srgbClr val="0B3D4C"/>
        </a:solidFill>
        <a:effectLst/>
      </p:bgPr>
    </p:bg>
    <p:spTree>
      <p:nvGrpSpPr>
        <p:cNvPr id="1" name=""/>
        <p:cNvGrpSpPr/>
        <p:nvPr/>
      </p:nvGrpSpPr>
      <p:grpSpPr>
        <a:xfrm>
          <a:off x="0" y="0"/>
          <a:ext cx="0" cy="0"/>
          <a:chOff x="0" y="0"/>
          <a:chExt cx="0" cy="0"/>
        </a:xfrm>
      </p:grpSpPr>
      <p:sp>
        <p:nvSpPr>
          <p:cNvPr id="2" name="Text 0"/>
          <p:cNvSpPr/>
          <p:nvPr/>
        </p:nvSpPr>
        <p:spPr>
          <a:xfrm>
            <a:off x="0" y="2468880"/>
            <a:ext cx="12188952"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p:nvPr/>
        </p:nvSpPr>
        <p:spPr>
          <a:xfrm>
            <a:off x="0" y="3429000"/>
            <a:ext cx="12188952" cy="548640"/>
          </a:xfrm>
          <a:prstGeom prst="rect">
            <a:avLst/>
          </a:prstGeom>
          <a:noFill/>
          <a:ln/>
        </p:spPr>
        <p:txBody>
          <a:bodyPr wrap="square" lIns="0" tIns="0" rIns="0" bIns="0"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Session 3 — Mortality, Morbidity, and Health</a:t>
            </a:r>
            <a:endParaRPr lang="en-US" sz="1600" dirty="0"/>
          </a:p>
        </p:txBody>
      </p:sp>
      <p:sp>
        <p:nvSpPr>
          <p:cNvPr id="4" name="Text 2"/>
          <p:cNvSpPr/>
          <p:nvPr/>
        </p:nvSpPr>
        <p:spPr>
          <a:xfrm>
            <a:off x="0" y="4480560"/>
            <a:ext cx="12188952" cy="365760"/>
          </a:xfrm>
          <a:prstGeom prst="rect">
            <a:avLst/>
          </a:prstGeom>
          <a:noFill/>
          <a:ln/>
        </p:spPr>
        <p:txBody>
          <a:bodyPr wrap="square" lIns="0" tIns="0" rIns="0" bIns="0" rtlCol="0" anchor="ctr"/>
          <a:lstStyle/>
          <a:p>
            <a:pPr marL="0" indent="0" algn="ctr">
              <a:buNone/>
            </a:pPr>
            <a:r>
              <a:rPr lang="en-US" sz="1100" dirty="0">
                <a:solidFill>
                  <a:srgbClr val="8FA0BE"/>
                </a:solidFill>
                <a:latin typeface="Calibri" pitchFamily="34" charset="0"/>
                <a:ea typeface="Calibri" pitchFamily="34" charset="-122"/>
                <a:cs typeface="Calibri" pitchFamily="34" charset="-120"/>
              </a:rPr>
              <a:t>5140602 Fundamental Demographic Analysis · College of Population Studies, Chulalongkorn University</a:t>
            </a:r>
            <a:endParaRPr lang="en-US" sz="1100" dirty="0"/>
          </a:p>
        </p:txBody>
      </p:sp>
      <p:sp>
        <p:nvSpPr>
          <p:cNvPr id="5" name="Text 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C7CDD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1443</TotalTime>
  <Words>5730</Words>
  <Application>Microsoft Office PowerPoint</Application>
  <PresentationFormat>Custom</PresentationFormat>
  <Paragraphs>526</Paragraphs>
  <Slides>50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Cambria</vt:lpstr>
      <vt:lpstr>Cambria Math</vt:lpstr>
      <vt:lpstr>Dutch823BT-RomanB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topics to be included? </vt:lpstr>
      <vt:lpstr>PowerPoint Presentation</vt:lpstr>
      <vt:lpstr>PowerPoint Presentation</vt:lpstr>
      <vt:lpstr>PowerPoint Presentation</vt:lpstr>
      <vt:lpstr>How to cope with discrepancies?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RB</cp:lastModifiedBy>
  <cp:revision>73</cp:revision>
  <dcterms:created xsi:type="dcterms:W3CDTF">2026-08-03T15:44:52Z</dcterms:created>
  <dcterms:modified xsi:type="dcterms:W3CDTF">2026-08-18T05:07:48Z</dcterms:modified>
</cp:coreProperties>
</file>