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1.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1"/>
  </p:notesMasterIdLst>
  <p:sldIdLst>
    <p:sldId id="256" r:id="rId2"/>
    <p:sldId id="321" r:id="rId3"/>
    <p:sldId id="257" r:id="rId4"/>
    <p:sldId id="258" r:id="rId5"/>
    <p:sldId id="259" r:id="rId6"/>
    <p:sldId id="260" r:id="rId7"/>
    <p:sldId id="261" r:id="rId8"/>
    <p:sldId id="322" r:id="rId9"/>
    <p:sldId id="323" r:id="rId10"/>
    <p:sldId id="262" r:id="rId11"/>
    <p:sldId id="263" r:id="rId12"/>
    <p:sldId id="324" r:id="rId13"/>
    <p:sldId id="327" r:id="rId14"/>
    <p:sldId id="325" r:id="rId15"/>
    <p:sldId id="326" r:id="rId16"/>
    <p:sldId id="264" r:id="rId17"/>
    <p:sldId id="265" r:id="rId18"/>
    <p:sldId id="266" r:id="rId19"/>
    <p:sldId id="267" r:id="rId20"/>
    <p:sldId id="268" r:id="rId21"/>
    <p:sldId id="269" r:id="rId22"/>
    <p:sldId id="270" r:id="rId23"/>
    <p:sldId id="271" r:id="rId24"/>
    <p:sldId id="272" r:id="rId25"/>
    <p:sldId id="328" r:id="rId26"/>
    <p:sldId id="273" r:id="rId27"/>
    <p:sldId id="329" r:id="rId28"/>
    <p:sldId id="330" r:id="rId29"/>
    <p:sldId id="331" r:id="rId30"/>
    <p:sldId id="274" r:id="rId31"/>
    <p:sldId id="285" r:id="rId32"/>
    <p:sldId id="334" r:id="rId33"/>
    <p:sldId id="286" r:id="rId34"/>
    <p:sldId id="287" r:id="rId35"/>
    <p:sldId id="288" r:id="rId36"/>
    <p:sldId id="289" r:id="rId37"/>
    <p:sldId id="290" r:id="rId38"/>
    <p:sldId id="291" r:id="rId39"/>
    <p:sldId id="335" r:id="rId40"/>
    <p:sldId id="292" r:id="rId41"/>
    <p:sldId id="293" r:id="rId42"/>
    <p:sldId id="294" r:id="rId43"/>
    <p:sldId id="295" r:id="rId44"/>
    <p:sldId id="336" r:id="rId45"/>
    <p:sldId id="337" r:id="rId46"/>
    <p:sldId id="338" r:id="rId47"/>
    <p:sldId id="339" r:id="rId48"/>
    <p:sldId id="276" r:id="rId49"/>
    <p:sldId id="277" r:id="rId50"/>
    <p:sldId id="306" r:id="rId51"/>
    <p:sldId id="278" r:id="rId52"/>
    <p:sldId id="332" r:id="rId53"/>
    <p:sldId id="279" r:id="rId54"/>
    <p:sldId id="280" r:id="rId55"/>
    <p:sldId id="281" r:id="rId56"/>
    <p:sldId id="282" r:id="rId57"/>
    <p:sldId id="283" r:id="rId58"/>
    <p:sldId id="284" r:id="rId59"/>
    <p:sldId id="333" r:id="rId60"/>
    <p:sldId id="296" r:id="rId61"/>
    <p:sldId id="297" r:id="rId62"/>
    <p:sldId id="298" r:id="rId63"/>
    <p:sldId id="299" r:id="rId64"/>
    <p:sldId id="300" r:id="rId65"/>
    <p:sldId id="308" r:id="rId66"/>
    <p:sldId id="340" r:id="rId67"/>
    <p:sldId id="301" r:id="rId68"/>
    <p:sldId id="341" r:id="rId69"/>
    <p:sldId id="310" r:id="rId70"/>
    <p:sldId id="311" r:id="rId71"/>
    <p:sldId id="312" r:id="rId72"/>
    <p:sldId id="313" r:id="rId73"/>
    <p:sldId id="314" r:id="rId74"/>
    <p:sldId id="315" r:id="rId75"/>
    <p:sldId id="316" r:id="rId76"/>
    <p:sldId id="317" r:id="rId77"/>
    <p:sldId id="318" r:id="rId78"/>
    <p:sldId id="319" r:id="rId79"/>
    <p:sldId id="320" r:id="rId8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2" d="100"/>
          <a:sy n="122" d="100"/>
        </p:scale>
        <p:origin x="114"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00000"/>
                </a:solidFill>
                <a:latin typeface="Arial"/>
              </a:defRPr>
            </a:pPr>
            <a:r>
              <a:rPr lang="en-US" sz="1300" b="0" i="0" u="none" strike="noStrike">
                <a:solidFill>
                  <a:srgbClr val="000000"/>
                </a:solidFill>
                <a:latin typeface="Arial"/>
              </a:rPr>
              <a:t>Survivorship Curve lx, Cohort A</a:t>
            </a:r>
          </a:p>
        </c:rich>
      </c:tx>
      <c:overlay val="0"/>
    </c:title>
    <c:autoTitleDeleted val="0"/>
    <c:plotArea>
      <c:layout/>
      <c:lineChart>
        <c:grouping val="standard"/>
        <c:varyColors val="0"/>
        <c:ser>
          <c:idx val="0"/>
          <c:order val="0"/>
          <c:tx>
            <c:strRef>
              <c:f>Sheet1!$B$1</c:f>
              <c:strCache>
                <c:ptCount val="1"/>
                <c:pt idx="0">
                  <c:v>lx (survivors per 100,000)</c:v>
                </c:pt>
              </c:strCache>
            </c:strRef>
          </c:tx>
          <c:spPr>
            <a:ln w="31750" cap="flat">
              <a:solidFill>
                <a:srgbClr val="0B3D62"/>
              </a:solidFill>
              <a:prstDash val="solid"/>
              <a:round/>
            </a:ln>
            <a:effectLst/>
          </c:spPr>
          <c:marker>
            <c:symbol val="circle"/>
            <c:size val="6"/>
            <c:spPr>
              <a:solidFill>
                <a:srgbClr val="0B3D62"/>
              </a:solidFill>
              <a:ln w="9525" cap="flat">
                <a:solidFill>
                  <a:srgbClr val="0B3D62"/>
                </a:solidFill>
                <a:prstDash val="solid"/>
                <a:round/>
              </a:ln>
              <a:effectLst/>
            </c:spPr>
          </c:marker>
          <c:cat>
            <c:strRef>
              <c:f>Sheet1!$A$2:$A$7</c:f>
              <c:strCache>
                <c:ptCount val="6"/>
                <c:pt idx="0">
                  <c:v>0</c:v>
                </c:pt>
                <c:pt idx="1">
                  <c:v>1</c:v>
                </c:pt>
                <c:pt idx="2">
                  <c:v>5</c:v>
                </c:pt>
                <c:pt idx="3">
                  <c:v>10</c:v>
                </c:pt>
                <c:pt idx="4">
                  <c:v>15</c:v>
                </c:pt>
                <c:pt idx="5">
                  <c:v>20</c:v>
                </c:pt>
              </c:strCache>
            </c:strRef>
          </c:cat>
          <c:val>
            <c:numRef>
              <c:f>Sheet1!$B$2:$B$7</c:f>
              <c:numCache>
                <c:formatCode>General</c:formatCode>
                <c:ptCount val="6"/>
                <c:pt idx="0">
                  <c:v>100000</c:v>
                </c:pt>
                <c:pt idx="1">
                  <c:v>98028</c:v>
                </c:pt>
                <c:pt idx="2">
                  <c:v>97442</c:v>
                </c:pt>
                <c:pt idx="3">
                  <c:v>97053</c:v>
                </c:pt>
                <c:pt idx="4">
                  <c:v>96714</c:v>
                </c:pt>
                <c:pt idx="5">
                  <c:v>96135</c:v>
                </c:pt>
              </c:numCache>
            </c:numRef>
          </c:val>
          <c:smooth val="0"/>
          <c:extLst>
            <c:ext xmlns:c16="http://schemas.microsoft.com/office/drawing/2014/chart" uri="{C3380CC4-5D6E-409C-BE32-E72D297353CC}">
              <c16:uniqueId val="{00000000-F0B7-4791-8B61-6E212C123E49}"/>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b="0" i="0" u="none" strike="noStrike">
                    <a:solidFill>
                      <a:srgbClr val="000000"/>
                    </a:solidFill>
                    <a:latin typeface="Arial"/>
                  </a:defRPr>
                </a:pPr>
                <a:r>
                  <a:rPr lang="en-US" b="0" i="0" u="none" strike="noStrike">
                    <a:solidFill>
                      <a:srgbClr val="000000"/>
                    </a:solidFill>
                    <a:latin typeface="Arial"/>
                  </a:rPr>
                  <a:t>Exact age</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7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D3E0E9"/>
              </a:solidFill>
              <a:prstDash val="solid"/>
              <a:round/>
            </a:ln>
          </c:spPr>
        </c:majorGridlines>
        <c:title>
          <c:tx>
            <c:rich>
              <a:bodyPr/>
              <a:lstStyle/>
              <a:p>
                <a:pPr>
                  <a:defRPr b="0" i="0" u="none" strike="noStrike">
                    <a:solidFill>
                      <a:srgbClr val="000000"/>
                    </a:solidFill>
                    <a:latin typeface="Arial"/>
                  </a:defRPr>
                </a:pPr>
                <a:r>
                  <a:rPr lang="en-US" b="0" i="0" u="none" strike="noStrike">
                    <a:solidFill>
                      <a:srgbClr val="000000"/>
                    </a:solidFill>
                    <a:latin typeface="Arial"/>
                  </a:rPr>
                  <a:t>Survivors (lx)</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8693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6182950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22311469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12826621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39091481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8840617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7310210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32521119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4369046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37838688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2101790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213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213A"/>
          </a:solidFill>
          <a:ln/>
        </p:spPr>
      </p:sp>
      <p:sp>
        <p:nvSpPr>
          <p:cNvPr id="5" name="Text 3"/>
          <p:cNvSpPr/>
          <p:nvPr/>
        </p:nvSpPr>
        <p:spPr>
          <a:xfrm>
            <a:off x="457200" y="640080"/>
            <a:ext cx="9144000" cy="320040"/>
          </a:xfrm>
          <a:prstGeom prst="rect">
            <a:avLst/>
          </a:prstGeom>
          <a:noFill/>
          <a:ln/>
        </p:spPr>
        <p:txBody>
          <a:bodyPr wrap="square" lIns="0" tIns="0" rIns="0" bIns="0" rtlCol="0" anchor="ctr"/>
          <a:lstStyle/>
          <a:p>
            <a:pPr marL="0" indent="0">
              <a:buNone/>
            </a:pPr>
            <a:r>
              <a:rPr lang="en-US" sz="1200" b="1" kern="0" spc="150" dirty="0">
                <a:solidFill>
                  <a:srgbClr val="E8A33D"/>
                </a:solidFill>
                <a:latin typeface="Calibri" pitchFamily="34" charset="0"/>
                <a:ea typeface="Calibri" pitchFamily="34" charset="-122"/>
                <a:cs typeface="Calibri" pitchFamily="34" charset="-120"/>
              </a:rPr>
              <a:t>COLLEGE OF POPULATION STUDIES · CHULALONGKORN UNIVERSITY</a:t>
            </a:r>
            <a:endParaRPr lang="en-US" sz="1200" dirty="0"/>
          </a:p>
        </p:txBody>
      </p:sp>
      <p:sp>
        <p:nvSpPr>
          <p:cNvPr id="6" name="Text 4"/>
          <p:cNvSpPr/>
          <p:nvPr/>
        </p:nvSpPr>
        <p:spPr>
          <a:xfrm>
            <a:off x="457200" y="1051560"/>
            <a:ext cx="9144000" cy="411480"/>
          </a:xfrm>
          <a:prstGeom prst="rect">
            <a:avLst/>
          </a:prstGeom>
          <a:noFill/>
          <a:ln/>
        </p:spPr>
        <p:txBody>
          <a:bodyPr wrap="square" lIns="0" tIns="0" rIns="0" bIns="0" rtlCol="0" anchor="ctr"/>
          <a:lstStyle/>
          <a:p>
            <a:pPr marL="0" indent="0">
              <a:buNone/>
            </a:pPr>
            <a:r>
              <a:rPr lang="en-US" sz="1600" dirty="0">
                <a:solidFill>
                  <a:srgbClr val="CADCEE"/>
                </a:solidFill>
                <a:latin typeface="Calibri" pitchFamily="34" charset="0"/>
                <a:ea typeface="Calibri" pitchFamily="34" charset="-122"/>
                <a:cs typeface="Calibri" pitchFamily="34" charset="-120"/>
              </a:rPr>
              <a:t>5140602 Fundamental Demographic Analysis</a:t>
            </a:r>
            <a:endParaRPr lang="en-US" sz="1600" dirty="0"/>
          </a:p>
        </p:txBody>
      </p:sp>
      <p:sp>
        <p:nvSpPr>
          <p:cNvPr id="7" name="Text 5"/>
          <p:cNvSpPr/>
          <p:nvPr/>
        </p:nvSpPr>
        <p:spPr>
          <a:xfrm>
            <a:off x="457200" y="1600200"/>
            <a:ext cx="10515600" cy="1920240"/>
          </a:xfrm>
          <a:prstGeom prst="rect">
            <a:avLst/>
          </a:prstGeom>
          <a:noFill/>
          <a:ln/>
        </p:spPr>
        <p:txBody>
          <a:bodyPr wrap="square" lIns="0" tIns="0" rIns="0" bIns="0"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Session 5</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Life Tables and Computational</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Demographic Techniques</a:t>
            </a:r>
            <a:endParaRPr lang="en-US" sz="4000" dirty="0"/>
          </a:p>
        </p:txBody>
      </p:sp>
      <p:sp>
        <p:nvSpPr>
          <p:cNvPr id="8" name="Shape 6"/>
          <p:cNvSpPr/>
          <p:nvPr/>
        </p:nvSpPr>
        <p:spPr>
          <a:xfrm>
            <a:off x="457200" y="3703320"/>
            <a:ext cx="2926080" cy="0"/>
          </a:xfrm>
          <a:prstGeom prst="line">
            <a:avLst/>
          </a:prstGeom>
          <a:noFill/>
          <a:ln w="31750">
            <a:solidFill>
              <a:srgbClr val="E8A33D"/>
            </a:solidFill>
            <a:prstDash val="solid"/>
          </a:ln>
        </p:spPr>
      </p:sp>
      <p:sp>
        <p:nvSpPr>
          <p:cNvPr id="9" name="Text 7"/>
          <p:cNvSpPr/>
          <p:nvPr/>
        </p:nvSpPr>
        <p:spPr>
          <a:xfrm>
            <a:off x="457200" y="3886200"/>
            <a:ext cx="10607040" cy="960120"/>
          </a:xfrm>
          <a:prstGeom prst="rect">
            <a:avLst/>
          </a:prstGeom>
          <a:noFill/>
          <a:ln/>
        </p:spPr>
        <p:txBody>
          <a:bodyPr wrap="square" lIns="0" tIns="0" rIns="0" bIns="0" rtlCol="0" anchor="ctr"/>
          <a:lstStyle/>
          <a:p>
            <a:pPr marL="0" indent="0">
              <a:buNone/>
            </a:pPr>
            <a:r>
              <a:rPr lang="en-US" sz="1500" i="1" dirty="0">
                <a:solidFill>
                  <a:srgbClr val="CADCEE"/>
                </a:solidFill>
                <a:latin typeface="Calibri" pitchFamily="34" charset="0"/>
                <a:ea typeface="Calibri" pitchFamily="34" charset="-122"/>
                <a:cs typeface="Calibri" pitchFamily="34" charset="-120"/>
              </a:rPr>
              <a:t>An Applied Lab: Building Life Tables by Hand, in a Spreadsheet, with a Generative-AI Coding Assistant — and the Way National Statistical Offices Actually Build Them</a:t>
            </a:r>
            <a:endParaRPr lang="en-US" sz="1500" dirty="0"/>
          </a:p>
        </p:txBody>
      </p:sp>
      <p:sp>
        <p:nvSpPr>
          <p:cNvPr id="10" name="Text 8"/>
          <p:cNvSpPr/>
          <p:nvPr/>
        </p:nvSpPr>
        <p:spPr>
          <a:xfrm>
            <a:off x="457200" y="5806440"/>
            <a:ext cx="10515600" cy="731520"/>
          </a:xfrm>
          <a:prstGeom prst="rect">
            <a:avLst/>
          </a:prstGeom>
          <a:noFill/>
          <a:ln/>
        </p:spPr>
        <p:txBody>
          <a:bodyPr wrap="square" lIns="0" tIns="0" rIns="0" bIns="0" rtlCol="0" anchor="ctr"/>
          <a:lstStyle/>
          <a:p>
            <a:pPr marL="0" indent="0">
              <a:lnSpc>
                <a:spcPct val="130000"/>
              </a:lnSpc>
              <a:buNone/>
            </a:pPr>
            <a:r>
              <a:rPr lang="en-US" sz="1200" b="1" dirty="0">
                <a:solidFill>
                  <a:srgbClr val="9FB6CC"/>
                </a:solidFill>
                <a:latin typeface="Calibri" pitchFamily="34" charset="0"/>
                <a:ea typeface="Calibri" pitchFamily="34" charset="-122"/>
                <a:cs typeface="Calibri" pitchFamily="34" charset="-120"/>
              </a:rPr>
              <a:t>Assoc. Prof. Dr. Ruttiya Bhula-or
</a:t>
            </a:r>
            <a:r>
              <a:rPr lang="en-US" sz="1200" dirty="0">
                <a:solidFill>
                  <a:srgbClr val="9FB6CC"/>
                </a:solidFill>
                <a:latin typeface="Calibri" pitchFamily="34" charset="0"/>
                <a:ea typeface="Calibri" pitchFamily="34" charset="-122"/>
                <a:cs typeface="Calibri" pitchFamily="34" charset="-120"/>
              </a:rPr>
              <a:t>College of Population Studies, Chulalongkorn University   |   Revised 2026 Syllabus   |   3-Hour Session</a:t>
            </a:r>
            <a:endParaRPr lang="en-US" sz="1200" dirty="0"/>
          </a:p>
        </p:txBody>
      </p:sp>
      <p:sp>
        <p:nvSpPr>
          <p:cNvPr id="11" name="Text 9"/>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12" name="Text 10"/>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1 / 80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400" b="1" kern="0" spc="200" dirty="0">
                <a:solidFill>
                  <a:srgbClr val="1C7293"/>
                </a:solidFill>
                <a:latin typeface="Calibri" pitchFamily="34" charset="0"/>
                <a:ea typeface="Calibri" pitchFamily="34" charset="-122"/>
                <a:cs typeface="Calibri" pitchFamily="34" charset="-120"/>
              </a:rPr>
              <a:t>BEFORE WE BEGIN</a:t>
            </a:r>
            <a:endParaRPr lang="en-US" sz="14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3200" b="1" dirty="0">
                <a:solidFill>
                  <a:srgbClr val="0B3D62"/>
                </a:solidFill>
                <a:latin typeface="Cambria" pitchFamily="34" charset="0"/>
                <a:ea typeface="Cambria" pitchFamily="34" charset="-122"/>
                <a:cs typeface="Cambria" pitchFamily="34" charset="-120"/>
              </a:rPr>
              <a:t>Questions This Session Will Answer</a:t>
            </a:r>
            <a:endParaRPr lang="en-US" sz="3200" dirty="0"/>
          </a:p>
        </p:txBody>
      </p:sp>
      <p:sp>
        <p:nvSpPr>
          <p:cNvPr id="4" name="Shape 2"/>
          <p:cNvSpPr/>
          <p:nvPr/>
        </p:nvSpPr>
        <p:spPr>
          <a:xfrm>
            <a:off x="457200" y="1600200"/>
            <a:ext cx="2627300" cy="4343400"/>
          </a:xfrm>
          <a:prstGeom prst="roundRect">
            <a:avLst>
              <a:gd name="adj" fmla="val 2436"/>
            </a:avLst>
          </a:prstGeom>
          <a:solidFill>
            <a:srgbClr val="EEF3F8"/>
          </a:solidFill>
          <a:ln w="9525">
            <a:solidFill>
              <a:srgbClr val="D3E0E9"/>
            </a:solidFill>
            <a:prstDash val="solid"/>
          </a:ln>
        </p:spPr>
      </p:sp>
      <p:sp>
        <p:nvSpPr>
          <p:cNvPr id="5" name="Shape 3"/>
          <p:cNvSpPr/>
          <p:nvPr/>
        </p:nvSpPr>
        <p:spPr>
          <a:xfrm>
            <a:off x="694944" y="1837944"/>
            <a:ext cx="457200" cy="457200"/>
          </a:xfrm>
          <a:prstGeom prst="ellipse">
            <a:avLst/>
          </a:prstGeom>
          <a:solidFill>
            <a:srgbClr val="1C7293"/>
          </a:solidFill>
          <a:ln/>
        </p:spPr>
      </p:sp>
      <p:sp>
        <p:nvSpPr>
          <p:cNvPr id="6" name="Text 4"/>
          <p:cNvSpPr/>
          <p:nvPr/>
        </p:nvSpPr>
        <p:spPr>
          <a:xfrm>
            <a:off x="694944"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7" name="Text 5"/>
          <p:cNvSpPr/>
          <p:nvPr/>
        </p:nvSpPr>
        <p:spPr>
          <a:xfrm>
            <a:off x="694944"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Life expectancy at birth</a:t>
            </a:r>
            <a:endParaRPr lang="en-US" dirty="0"/>
          </a:p>
        </p:txBody>
      </p:sp>
      <p:sp>
        <p:nvSpPr>
          <p:cNvPr id="8" name="Text 6"/>
          <p:cNvSpPr/>
          <p:nvPr/>
        </p:nvSpPr>
        <p:spPr>
          <a:xfrm>
            <a:off x="694944"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“How is it actually calculated?” Every headline e0 figure — 76.4 years for Thailand, 78.4 for the US — is the output of a reproducible calculation from raw death and population data. </a:t>
            </a:r>
            <a:endParaRPr lang="en-US" sz="1400" dirty="0"/>
          </a:p>
        </p:txBody>
      </p:sp>
      <p:sp>
        <p:nvSpPr>
          <p:cNvPr id="9" name="Shape 7"/>
          <p:cNvSpPr/>
          <p:nvPr/>
        </p:nvSpPr>
        <p:spPr>
          <a:xfrm>
            <a:off x="3340532" y="1600200"/>
            <a:ext cx="2627300" cy="4343400"/>
          </a:xfrm>
          <a:prstGeom prst="roundRect">
            <a:avLst>
              <a:gd name="adj" fmla="val 2436"/>
            </a:avLst>
          </a:prstGeom>
          <a:solidFill>
            <a:srgbClr val="EEF3F8"/>
          </a:solidFill>
          <a:ln w="9525">
            <a:solidFill>
              <a:srgbClr val="D3E0E9"/>
            </a:solidFill>
            <a:prstDash val="solid"/>
          </a:ln>
        </p:spPr>
      </p:sp>
      <p:sp>
        <p:nvSpPr>
          <p:cNvPr id="10" name="Shape 8"/>
          <p:cNvSpPr/>
          <p:nvPr/>
        </p:nvSpPr>
        <p:spPr>
          <a:xfrm>
            <a:off x="3578276" y="1837944"/>
            <a:ext cx="457200" cy="457200"/>
          </a:xfrm>
          <a:prstGeom prst="ellipse">
            <a:avLst/>
          </a:prstGeom>
          <a:solidFill>
            <a:srgbClr val="1C7293"/>
          </a:solidFill>
          <a:ln/>
        </p:spPr>
      </p:sp>
      <p:sp>
        <p:nvSpPr>
          <p:cNvPr id="11" name="Text 9"/>
          <p:cNvSpPr/>
          <p:nvPr/>
        </p:nvSpPr>
        <p:spPr>
          <a:xfrm>
            <a:off x="3578276"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12" name="Text 10"/>
          <p:cNvSpPr/>
          <p:nvPr/>
        </p:nvSpPr>
        <p:spPr>
          <a:xfrm>
            <a:off x="3578276"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Insurance pricing</a:t>
            </a:r>
            <a:endParaRPr lang="en-US" dirty="0"/>
          </a:p>
        </p:txBody>
      </p:sp>
      <p:sp>
        <p:nvSpPr>
          <p:cNvPr id="13" name="Text 11"/>
          <p:cNvSpPr/>
          <p:nvPr/>
        </p:nvSpPr>
        <p:spPr>
          <a:xfrm>
            <a:off x="3578276"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“Why does a premium rise with age in a precise, calculable way?” Insurers price risk directly off the same nqx column you will build today —</a:t>
            </a:r>
            <a:endParaRPr lang="en-US" sz="1400" dirty="0"/>
          </a:p>
        </p:txBody>
      </p:sp>
      <p:sp>
        <p:nvSpPr>
          <p:cNvPr id="14" name="Shape 12"/>
          <p:cNvSpPr/>
          <p:nvPr/>
        </p:nvSpPr>
        <p:spPr>
          <a:xfrm>
            <a:off x="6223864" y="1600200"/>
            <a:ext cx="2627300" cy="4343400"/>
          </a:xfrm>
          <a:prstGeom prst="roundRect">
            <a:avLst>
              <a:gd name="adj" fmla="val 2436"/>
            </a:avLst>
          </a:prstGeom>
          <a:solidFill>
            <a:srgbClr val="EEF3F8"/>
          </a:solidFill>
          <a:ln w="9525">
            <a:solidFill>
              <a:srgbClr val="D3E0E9"/>
            </a:solidFill>
            <a:prstDash val="solid"/>
          </a:ln>
        </p:spPr>
      </p:sp>
      <p:sp>
        <p:nvSpPr>
          <p:cNvPr id="15" name="Shape 13"/>
          <p:cNvSpPr/>
          <p:nvPr/>
        </p:nvSpPr>
        <p:spPr>
          <a:xfrm>
            <a:off x="6461608" y="1837944"/>
            <a:ext cx="457200" cy="457200"/>
          </a:xfrm>
          <a:prstGeom prst="ellipse">
            <a:avLst/>
          </a:prstGeom>
          <a:solidFill>
            <a:srgbClr val="1C7293"/>
          </a:solidFill>
          <a:ln/>
        </p:spPr>
      </p:sp>
      <p:sp>
        <p:nvSpPr>
          <p:cNvPr id="16" name="Text 14"/>
          <p:cNvSpPr/>
          <p:nvPr/>
        </p:nvSpPr>
        <p:spPr>
          <a:xfrm>
            <a:off x="6461608"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17" name="Text 15"/>
          <p:cNvSpPr/>
          <p:nvPr/>
        </p:nvSpPr>
        <p:spPr>
          <a:xfrm>
            <a:off x="6461608"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Official statistics</a:t>
            </a:r>
            <a:endParaRPr lang="en-US" dirty="0"/>
          </a:p>
        </p:txBody>
      </p:sp>
      <p:sp>
        <p:nvSpPr>
          <p:cNvPr id="18" name="Text 16"/>
          <p:cNvSpPr/>
          <p:nvPr/>
        </p:nvSpPr>
        <p:spPr>
          <a:xfrm>
            <a:off x="6461608"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“How does a statistics office turn death registrations into one official number?”</a:t>
            </a:r>
            <a:endParaRPr lang="en-US" sz="1400" dirty="0"/>
          </a:p>
        </p:txBody>
      </p:sp>
      <p:sp>
        <p:nvSpPr>
          <p:cNvPr id="19" name="Shape 17"/>
          <p:cNvSpPr/>
          <p:nvPr/>
        </p:nvSpPr>
        <p:spPr>
          <a:xfrm>
            <a:off x="9107195" y="1600200"/>
            <a:ext cx="2627300" cy="4343400"/>
          </a:xfrm>
          <a:prstGeom prst="roundRect">
            <a:avLst>
              <a:gd name="adj" fmla="val 2436"/>
            </a:avLst>
          </a:prstGeom>
          <a:solidFill>
            <a:srgbClr val="EEF3F8"/>
          </a:solidFill>
          <a:ln w="9525">
            <a:solidFill>
              <a:srgbClr val="D3E0E9"/>
            </a:solidFill>
            <a:prstDash val="solid"/>
          </a:ln>
        </p:spPr>
      </p:sp>
      <p:sp>
        <p:nvSpPr>
          <p:cNvPr id="20" name="Shape 18"/>
          <p:cNvSpPr/>
          <p:nvPr/>
        </p:nvSpPr>
        <p:spPr>
          <a:xfrm>
            <a:off x="9344939" y="1837944"/>
            <a:ext cx="457200" cy="457200"/>
          </a:xfrm>
          <a:prstGeom prst="ellipse">
            <a:avLst/>
          </a:prstGeom>
          <a:solidFill>
            <a:srgbClr val="1C7293"/>
          </a:solidFill>
          <a:ln/>
        </p:spPr>
      </p:sp>
      <p:sp>
        <p:nvSpPr>
          <p:cNvPr id="21" name="Text 19"/>
          <p:cNvSpPr/>
          <p:nvPr/>
        </p:nvSpPr>
        <p:spPr>
          <a:xfrm>
            <a:off x="9344939"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22" name="Text 20"/>
          <p:cNvSpPr/>
          <p:nvPr/>
        </p:nvSpPr>
        <p:spPr>
          <a:xfrm>
            <a:off x="9344939"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AI-assisted code</a:t>
            </a:r>
            <a:endParaRPr lang="en-US" dirty="0"/>
          </a:p>
        </p:txBody>
      </p:sp>
      <p:sp>
        <p:nvSpPr>
          <p:cNvPr id="23" name="Text 21"/>
          <p:cNvSpPr/>
          <p:nvPr/>
        </p:nvSpPr>
        <p:spPr>
          <a:xfrm>
            <a:off x="9344939"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“How much can an AI coding assistant get wrong — and how would you catch it?”</a:t>
            </a:r>
            <a:endParaRPr lang="en-US" sz="1400" dirty="0"/>
          </a:p>
        </p:txBody>
      </p:sp>
      <p:sp>
        <p:nvSpPr>
          <p:cNvPr id="24" name="Text 22"/>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5140602 Fundamental Demographic Analysis – Session 5</a:t>
            </a:r>
            <a:endParaRPr lang="en-US" sz="1000" dirty="0"/>
          </a:p>
        </p:txBody>
      </p:sp>
      <p:sp>
        <p:nvSpPr>
          <p:cNvPr id="25" name="Text 23"/>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2 / 80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SESSION OVERVIEW</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Learning Objectives</a:t>
            </a:r>
            <a:endParaRPr lang="en-US" sz="2700" dirty="0"/>
          </a:p>
        </p:txBody>
      </p:sp>
      <p:sp>
        <p:nvSpPr>
          <p:cNvPr id="4" name="Shape 2"/>
          <p:cNvSpPr/>
          <p:nvPr/>
        </p:nvSpPr>
        <p:spPr>
          <a:xfrm>
            <a:off x="457200" y="1554480"/>
            <a:ext cx="11277295" cy="914400"/>
          </a:xfrm>
          <a:prstGeom prst="roundRect">
            <a:avLst>
              <a:gd name="adj" fmla="val 7000"/>
            </a:avLst>
          </a:prstGeom>
          <a:solidFill>
            <a:srgbClr val="EEF3F8"/>
          </a:solidFill>
          <a:ln w="9525">
            <a:solidFill>
              <a:srgbClr val="D3E0E9"/>
            </a:solidFill>
            <a:prstDash val="solid"/>
          </a:ln>
        </p:spPr>
      </p:sp>
      <p:sp>
        <p:nvSpPr>
          <p:cNvPr id="5" name="Shape 3"/>
          <p:cNvSpPr/>
          <p:nvPr/>
        </p:nvSpPr>
        <p:spPr>
          <a:xfrm>
            <a:off x="658368" y="1810512"/>
            <a:ext cx="457200" cy="457200"/>
          </a:xfrm>
          <a:prstGeom prst="ellipse">
            <a:avLst/>
          </a:prstGeom>
          <a:solidFill>
            <a:srgbClr val="1C7293"/>
          </a:solidFill>
          <a:ln/>
        </p:spPr>
      </p:sp>
      <p:sp>
        <p:nvSpPr>
          <p:cNvPr id="6" name="Text 4"/>
          <p:cNvSpPr/>
          <p:nvPr/>
        </p:nvSpPr>
        <p:spPr>
          <a:xfrm>
            <a:off x="658368" y="181051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25880" y="1645920"/>
            <a:ext cx="3749040" cy="731520"/>
          </a:xfrm>
          <a:prstGeom prst="rect">
            <a:avLst/>
          </a:prstGeom>
          <a:noFill/>
          <a:ln/>
        </p:spPr>
        <p:txBody>
          <a:bodyPr wrap="square" lIns="0" tIns="0" rIns="0" bIns="0" rtlCol="0" anchor="ctr"/>
          <a:lstStyle/>
          <a:p>
            <a:pPr marL="0" indent="0">
              <a:buNone/>
            </a:pPr>
            <a:r>
              <a:rPr lang="en-US" sz="1350" b="1" dirty="0">
                <a:solidFill>
                  <a:srgbClr val="0B3D62"/>
                </a:solidFill>
                <a:latin typeface="Calibri" pitchFamily="34" charset="0"/>
                <a:ea typeface="Calibri" pitchFamily="34" charset="-122"/>
                <a:cs typeface="Calibri" pitchFamily="34" charset="-120"/>
              </a:rPr>
              <a:t>Construct a life table from raw mortality data</a:t>
            </a:r>
            <a:endParaRPr lang="en-US" sz="1350" dirty="0"/>
          </a:p>
        </p:txBody>
      </p:sp>
      <p:sp>
        <p:nvSpPr>
          <p:cNvPr id="8" name="Text 6"/>
          <p:cNvSpPr/>
          <p:nvPr/>
        </p:nvSpPr>
        <p:spPr>
          <a:xfrm>
            <a:off x="5212080" y="1627632"/>
            <a:ext cx="6248095" cy="768096"/>
          </a:xfrm>
          <a:prstGeom prst="rect">
            <a:avLst/>
          </a:prstGeom>
          <a:noFill/>
          <a:ln/>
        </p:spPr>
        <p:txBody>
          <a:bodyPr wrap="square" lIns="0" tIns="0" rIns="0" bIns="0" rtlCol="0" anchor="ctr"/>
          <a:lstStyle/>
          <a:p>
            <a:pPr marL="0" indent="0">
              <a:lnSpc>
                <a:spcPct val="105000"/>
              </a:lnSpc>
              <a:buNone/>
            </a:pPr>
            <a:r>
              <a:rPr lang="en-US" sz="1150" dirty="0">
                <a:solidFill>
                  <a:srgbClr val="142433"/>
                </a:solidFill>
                <a:latin typeface="Calibri" pitchFamily="34" charset="0"/>
                <a:ea typeface="Calibri" pitchFamily="34" charset="-122"/>
                <a:cs typeface="Calibri" pitchFamily="34" charset="-120"/>
              </a:rPr>
              <a:t>Derive nMx, nqx, lx, ndx, nLx, Tx, and ex step by step, for both abridged and complete life tables — using two independent worked examples.</a:t>
            </a:r>
            <a:endParaRPr lang="en-US" sz="1150" dirty="0"/>
          </a:p>
        </p:txBody>
      </p:sp>
      <p:sp>
        <p:nvSpPr>
          <p:cNvPr id="9" name="Shape 7"/>
          <p:cNvSpPr/>
          <p:nvPr/>
        </p:nvSpPr>
        <p:spPr>
          <a:xfrm>
            <a:off x="457200" y="2596896"/>
            <a:ext cx="11277295" cy="914400"/>
          </a:xfrm>
          <a:prstGeom prst="roundRect">
            <a:avLst>
              <a:gd name="adj" fmla="val 7000"/>
            </a:avLst>
          </a:prstGeom>
          <a:solidFill>
            <a:srgbClr val="E1EAF2"/>
          </a:solidFill>
          <a:ln w="9525">
            <a:solidFill>
              <a:srgbClr val="D3E0E9"/>
            </a:solidFill>
            <a:prstDash val="solid"/>
          </a:ln>
        </p:spPr>
      </p:sp>
      <p:sp>
        <p:nvSpPr>
          <p:cNvPr id="10" name="Shape 8"/>
          <p:cNvSpPr/>
          <p:nvPr/>
        </p:nvSpPr>
        <p:spPr>
          <a:xfrm>
            <a:off x="658368" y="2852928"/>
            <a:ext cx="457200" cy="457200"/>
          </a:xfrm>
          <a:prstGeom prst="ellipse">
            <a:avLst/>
          </a:prstGeom>
          <a:solidFill>
            <a:srgbClr val="1C7293"/>
          </a:solidFill>
          <a:ln/>
        </p:spPr>
      </p:sp>
      <p:sp>
        <p:nvSpPr>
          <p:cNvPr id="11" name="Text 9"/>
          <p:cNvSpPr/>
          <p:nvPr/>
        </p:nvSpPr>
        <p:spPr>
          <a:xfrm>
            <a:off x="658368" y="285292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325880" y="2688336"/>
            <a:ext cx="3749040" cy="731520"/>
          </a:xfrm>
          <a:prstGeom prst="rect">
            <a:avLst/>
          </a:prstGeom>
          <a:noFill/>
          <a:ln/>
        </p:spPr>
        <p:txBody>
          <a:bodyPr wrap="square" lIns="0" tIns="0" rIns="0" bIns="0" rtlCol="0" anchor="ctr"/>
          <a:lstStyle/>
          <a:p>
            <a:pPr marL="0" indent="0">
              <a:buNone/>
            </a:pPr>
            <a:r>
              <a:rPr lang="en-US" sz="1350" b="1" dirty="0">
                <a:solidFill>
                  <a:srgbClr val="0B3D62"/>
                </a:solidFill>
                <a:latin typeface="Calibri" pitchFamily="34" charset="0"/>
                <a:ea typeface="Calibri" pitchFamily="34" charset="-122"/>
                <a:cs typeface="Calibri" pitchFamily="34" charset="-120"/>
              </a:rPr>
              <a:t>Explain how life tables are built in real practice</a:t>
            </a:r>
            <a:endParaRPr lang="en-US" sz="1350" dirty="0"/>
          </a:p>
        </p:txBody>
      </p:sp>
      <p:sp>
        <p:nvSpPr>
          <p:cNvPr id="13" name="Text 11"/>
          <p:cNvSpPr/>
          <p:nvPr/>
        </p:nvSpPr>
        <p:spPr>
          <a:xfrm>
            <a:off x="5212080" y="2670048"/>
            <a:ext cx="6248095" cy="768096"/>
          </a:xfrm>
          <a:prstGeom prst="rect">
            <a:avLst/>
          </a:prstGeom>
          <a:noFill/>
          <a:ln/>
        </p:spPr>
        <p:txBody>
          <a:bodyPr wrap="square" lIns="0" tIns="0" rIns="0" bIns="0" rtlCol="0" anchor="ctr"/>
          <a:lstStyle/>
          <a:p>
            <a:pPr marL="0" indent="0">
              <a:lnSpc>
                <a:spcPct val="105000"/>
              </a:lnSpc>
              <a:buNone/>
            </a:pPr>
            <a:r>
              <a:rPr lang="en-US" sz="1150" dirty="0">
                <a:solidFill>
                  <a:srgbClr val="142433"/>
                </a:solidFill>
                <a:latin typeface="Calibri" pitchFamily="34" charset="0"/>
                <a:ea typeface="Calibri" pitchFamily="34" charset="-122"/>
                <a:cs typeface="Calibri" pitchFamily="34" charset="-120"/>
              </a:rPr>
              <a:t>Trace real inputs (CRVS deaths, census population) through the institutional workflows that Thailand's NSO/MOPH, the UN, and WHO actually use to publish official life tables.</a:t>
            </a:r>
            <a:endParaRPr lang="en-US" sz="1150" dirty="0"/>
          </a:p>
        </p:txBody>
      </p:sp>
      <p:sp>
        <p:nvSpPr>
          <p:cNvPr id="14" name="Shape 12"/>
          <p:cNvSpPr/>
          <p:nvPr/>
        </p:nvSpPr>
        <p:spPr>
          <a:xfrm>
            <a:off x="457200" y="3639312"/>
            <a:ext cx="11277295" cy="914400"/>
          </a:xfrm>
          <a:prstGeom prst="roundRect">
            <a:avLst>
              <a:gd name="adj" fmla="val 7000"/>
            </a:avLst>
          </a:prstGeom>
          <a:solidFill>
            <a:srgbClr val="EEF3F8"/>
          </a:solidFill>
          <a:ln w="9525">
            <a:solidFill>
              <a:srgbClr val="D3E0E9"/>
            </a:solidFill>
            <a:prstDash val="solid"/>
          </a:ln>
        </p:spPr>
      </p:sp>
      <p:sp>
        <p:nvSpPr>
          <p:cNvPr id="15" name="Shape 13"/>
          <p:cNvSpPr/>
          <p:nvPr/>
        </p:nvSpPr>
        <p:spPr>
          <a:xfrm>
            <a:off x="658368" y="3895344"/>
            <a:ext cx="457200" cy="457200"/>
          </a:xfrm>
          <a:prstGeom prst="ellipse">
            <a:avLst/>
          </a:prstGeom>
          <a:solidFill>
            <a:srgbClr val="1C7293"/>
          </a:solidFill>
          <a:ln/>
        </p:spPr>
      </p:sp>
      <p:sp>
        <p:nvSpPr>
          <p:cNvPr id="16" name="Text 14"/>
          <p:cNvSpPr/>
          <p:nvPr/>
        </p:nvSpPr>
        <p:spPr>
          <a:xfrm>
            <a:off x="658368" y="389534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325880" y="3730752"/>
            <a:ext cx="3749040" cy="731520"/>
          </a:xfrm>
          <a:prstGeom prst="rect">
            <a:avLst/>
          </a:prstGeom>
          <a:noFill/>
          <a:ln/>
        </p:spPr>
        <p:txBody>
          <a:bodyPr wrap="square" lIns="0" tIns="0" rIns="0" bIns="0" rtlCol="0" anchor="ctr"/>
          <a:lstStyle/>
          <a:p>
            <a:pPr marL="0" indent="0">
              <a:buNone/>
            </a:pPr>
            <a:r>
              <a:rPr lang="en-US" sz="1350" b="1" dirty="0">
                <a:solidFill>
                  <a:srgbClr val="0B3D62"/>
                </a:solidFill>
                <a:latin typeface="Calibri" pitchFamily="34" charset="0"/>
                <a:ea typeface="Calibri" pitchFamily="34" charset="-122"/>
                <a:cs typeface="Calibri" pitchFamily="34" charset="-120"/>
              </a:rPr>
              <a:t>Build a life table computationally</a:t>
            </a:r>
            <a:endParaRPr lang="en-US" sz="1350" dirty="0"/>
          </a:p>
        </p:txBody>
      </p:sp>
      <p:sp>
        <p:nvSpPr>
          <p:cNvPr id="18" name="Text 16"/>
          <p:cNvSpPr/>
          <p:nvPr/>
        </p:nvSpPr>
        <p:spPr>
          <a:xfrm>
            <a:off x="5212080" y="3712464"/>
            <a:ext cx="6248095" cy="768096"/>
          </a:xfrm>
          <a:prstGeom prst="rect">
            <a:avLst/>
          </a:prstGeom>
          <a:noFill/>
          <a:ln/>
        </p:spPr>
        <p:txBody>
          <a:bodyPr wrap="square" lIns="0" tIns="0" rIns="0" bIns="0" rtlCol="0" anchor="ctr"/>
          <a:lstStyle/>
          <a:p>
            <a:pPr marL="0" indent="0">
              <a:lnSpc>
                <a:spcPct val="105000"/>
              </a:lnSpc>
              <a:buNone/>
            </a:pPr>
            <a:r>
              <a:rPr lang="en-US" sz="1150" dirty="0">
                <a:solidFill>
                  <a:srgbClr val="142433"/>
                </a:solidFill>
                <a:latin typeface="Calibri" pitchFamily="34" charset="0"/>
                <a:ea typeface="Calibri" pitchFamily="34" charset="-122"/>
                <a:cs typeface="Calibri" pitchFamily="34" charset="-120"/>
              </a:rPr>
              <a:t>Implement the construction in a spreadsheet and with a generative-AI coding assistant (Python/pandas), disclosed per course policy.</a:t>
            </a:r>
            <a:endParaRPr lang="en-US" sz="1150" dirty="0"/>
          </a:p>
        </p:txBody>
      </p:sp>
      <p:sp>
        <p:nvSpPr>
          <p:cNvPr id="19" name="Shape 17"/>
          <p:cNvSpPr/>
          <p:nvPr/>
        </p:nvSpPr>
        <p:spPr>
          <a:xfrm>
            <a:off x="457200" y="4681728"/>
            <a:ext cx="11277295" cy="914400"/>
          </a:xfrm>
          <a:prstGeom prst="roundRect">
            <a:avLst>
              <a:gd name="adj" fmla="val 7000"/>
            </a:avLst>
          </a:prstGeom>
          <a:solidFill>
            <a:srgbClr val="E1EAF2"/>
          </a:solidFill>
          <a:ln w="9525">
            <a:solidFill>
              <a:srgbClr val="D3E0E9"/>
            </a:solidFill>
            <a:prstDash val="solid"/>
          </a:ln>
        </p:spPr>
      </p:sp>
      <p:sp>
        <p:nvSpPr>
          <p:cNvPr id="20" name="Shape 18"/>
          <p:cNvSpPr/>
          <p:nvPr/>
        </p:nvSpPr>
        <p:spPr>
          <a:xfrm>
            <a:off x="658368" y="4937760"/>
            <a:ext cx="457200" cy="457200"/>
          </a:xfrm>
          <a:prstGeom prst="ellipse">
            <a:avLst/>
          </a:prstGeom>
          <a:solidFill>
            <a:srgbClr val="1C7293"/>
          </a:solidFill>
          <a:ln/>
        </p:spPr>
      </p:sp>
      <p:sp>
        <p:nvSpPr>
          <p:cNvPr id="21" name="Text 19"/>
          <p:cNvSpPr/>
          <p:nvPr/>
        </p:nvSpPr>
        <p:spPr>
          <a:xfrm>
            <a:off x="658368" y="49377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1325880" y="4773168"/>
            <a:ext cx="3749040" cy="731520"/>
          </a:xfrm>
          <a:prstGeom prst="rect">
            <a:avLst/>
          </a:prstGeom>
          <a:noFill/>
          <a:ln/>
        </p:spPr>
        <p:txBody>
          <a:bodyPr wrap="square" lIns="0" tIns="0" rIns="0" bIns="0" rtlCol="0" anchor="ctr"/>
          <a:lstStyle/>
          <a:p>
            <a:pPr marL="0" indent="0">
              <a:buNone/>
            </a:pPr>
            <a:r>
              <a:rPr lang="en-US" sz="1350" b="1" dirty="0">
                <a:solidFill>
                  <a:srgbClr val="0B3D62"/>
                </a:solidFill>
                <a:latin typeface="Calibri" pitchFamily="34" charset="0"/>
                <a:ea typeface="Calibri" pitchFamily="34" charset="-122"/>
                <a:cs typeface="Calibri" pitchFamily="34" charset="-120"/>
              </a:rPr>
              <a:t>Critically verify AI-assisted demographic code</a:t>
            </a:r>
            <a:endParaRPr lang="en-US" sz="1350" dirty="0"/>
          </a:p>
        </p:txBody>
      </p:sp>
      <p:sp>
        <p:nvSpPr>
          <p:cNvPr id="23" name="Text 21"/>
          <p:cNvSpPr/>
          <p:nvPr/>
        </p:nvSpPr>
        <p:spPr>
          <a:xfrm>
            <a:off x="5212080" y="4754880"/>
            <a:ext cx="6248095" cy="768096"/>
          </a:xfrm>
          <a:prstGeom prst="rect">
            <a:avLst/>
          </a:prstGeom>
          <a:noFill/>
          <a:ln/>
        </p:spPr>
        <p:txBody>
          <a:bodyPr wrap="square" lIns="0" tIns="0" rIns="0" bIns="0" rtlCol="0" anchor="ctr"/>
          <a:lstStyle/>
          <a:p>
            <a:pPr marL="0" indent="0">
              <a:lnSpc>
                <a:spcPct val="105000"/>
              </a:lnSpc>
              <a:buNone/>
            </a:pPr>
            <a:r>
              <a:rPr lang="en-US" sz="1150" dirty="0">
                <a:solidFill>
                  <a:srgbClr val="142433"/>
                </a:solidFill>
                <a:latin typeface="Calibri" pitchFamily="34" charset="0"/>
                <a:ea typeface="Calibri" pitchFamily="34" charset="-122"/>
                <a:cs typeface="Calibri" pitchFamily="34" charset="-120"/>
              </a:rPr>
              <a:t>Apply a verification checklist to catch formula errors, off-by-one age-interval bugs, and unit mistakes.</a:t>
            </a:r>
            <a:endParaRPr lang="en-US" sz="1150" dirty="0"/>
          </a:p>
        </p:txBody>
      </p:sp>
      <p:sp>
        <p:nvSpPr>
          <p:cNvPr id="24" name="Shape 22"/>
          <p:cNvSpPr/>
          <p:nvPr/>
        </p:nvSpPr>
        <p:spPr>
          <a:xfrm>
            <a:off x="457200" y="5724144"/>
            <a:ext cx="11277295" cy="914400"/>
          </a:xfrm>
          <a:prstGeom prst="roundRect">
            <a:avLst>
              <a:gd name="adj" fmla="val 7000"/>
            </a:avLst>
          </a:prstGeom>
          <a:solidFill>
            <a:srgbClr val="EEF3F8"/>
          </a:solidFill>
          <a:ln w="9525">
            <a:solidFill>
              <a:srgbClr val="D3E0E9"/>
            </a:solidFill>
            <a:prstDash val="solid"/>
          </a:ln>
        </p:spPr>
      </p:sp>
      <p:sp>
        <p:nvSpPr>
          <p:cNvPr id="25" name="Shape 23"/>
          <p:cNvSpPr/>
          <p:nvPr/>
        </p:nvSpPr>
        <p:spPr>
          <a:xfrm>
            <a:off x="658368" y="5980176"/>
            <a:ext cx="457200" cy="457200"/>
          </a:xfrm>
          <a:prstGeom prst="ellipse">
            <a:avLst/>
          </a:prstGeom>
          <a:solidFill>
            <a:srgbClr val="1C7293"/>
          </a:solidFill>
          <a:ln/>
        </p:spPr>
      </p:sp>
      <p:sp>
        <p:nvSpPr>
          <p:cNvPr id="26" name="Text 24"/>
          <p:cNvSpPr/>
          <p:nvPr/>
        </p:nvSpPr>
        <p:spPr>
          <a:xfrm>
            <a:off x="658368" y="5980176"/>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1325880" y="5815584"/>
            <a:ext cx="3749040" cy="731520"/>
          </a:xfrm>
          <a:prstGeom prst="rect">
            <a:avLst/>
          </a:prstGeom>
          <a:noFill/>
          <a:ln/>
        </p:spPr>
        <p:txBody>
          <a:bodyPr wrap="square" lIns="0" tIns="0" rIns="0" bIns="0" rtlCol="0" anchor="ctr"/>
          <a:lstStyle/>
          <a:p>
            <a:pPr marL="0" indent="0">
              <a:buNone/>
            </a:pPr>
            <a:r>
              <a:rPr lang="en-US" sz="1350" b="1" dirty="0">
                <a:solidFill>
                  <a:srgbClr val="0B3D62"/>
                </a:solidFill>
                <a:latin typeface="Calibri" pitchFamily="34" charset="0"/>
                <a:ea typeface="Calibri" pitchFamily="34" charset="-122"/>
                <a:cs typeface="Calibri" pitchFamily="34" charset="-120"/>
              </a:rPr>
              <a:t>Connect construction to real professional practice</a:t>
            </a:r>
            <a:endParaRPr lang="en-US" sz="1350" dirty="0"/>
          </a:p>
        </p:txBody>
      </p:sp>
      <p:sp>
        <p:nvSpPr>
          <p:cNvPr id="28" name="Text 26"/>
          <p:cNvSpPr/>
          <p:nvPr/>
        </p:nvSpPr>
        <p:spPr>
          <a:xfrm>
            <a:off x="5212080" y="5797296"/>
            <a:ext cx="6248095" cy="768096"/>
          </a:xfrm>
          <a:prstGeom prst="rect">
            <a:avLst/>
          </a:prstGeom>
          <a:noFill/>
          <a:ln/>
        </p:spPr>
        <p:txBody>
          <a:bodyPr wrap="square" lIns="0" tIns="0" rIns="0" bIns="0" rtlCol="0" anchor="ctr"/>
          <a:lstStyle/>
          <a:p>
            <a:pPr marL="0" indent="0">
              <a:lnSpc>
                <a:spcPct val="105000"/>
              </a:lnSpc>
              <a:buNone/>
            </a:pPr>
            <a:r>
              <a:rPr lang="en-US" sz="1150" dirty="0">
                <a:solidFill>
                  <a:srgbClr val="142433"/>
                </a:solidFill>
                <a:latin typeface="Calibri" pitchFamily="34" charset="0"/>
                <a:ea typeface="Calibri" pitchFamily="34" charset="-122"/>
                <a:cs typeface="Calibri" pitchFamily="34" charset="-120"/>
              </a:rPr>
              <a:t>See how the same nMx -&gt; ex pipeline prices insurance, funds pensions, computes HALE, and drives population projections -- then build two further full life tables independently in the companion practice workbook.</a:t>
            </a:r>
            <a:endParaRPr lang="en-US" sz="1150" dirty="0"/>
          </a:p>
        </p:txBody>
      </p:sp>
      <p:sp>
        <p:nvSpPr>
          <p:cNvPr id="29" name="Text 27"/>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30" name="Text 28"/>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3 / 80</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200" b="1" kern="0" spc="200" dirty="0">
                <a:solidFill>
                  <a:srgbClr val="1C7293"/>
                </a:solidFill>
                <a:latin typeface="Calibri" pitchFamily="34" charset="0"/>
                <a:ea typeface="Calibri" pitchFamily="34" charset="-122"/>
                <a:cs typeface="Calibri" pitchFamily="34" charset="-120"/>
              </a:rPr>
              <a:t>TODAY'S PLAN</a:t>
            </a:r>
            <a:endParaRPr lang="en-US" sz="12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800" b="1" dirty="0">
                <a:solidFill>
                  <a:srgbClr val="0B3D62"/>
                </a:solidFill>
                <a:latin typeface="Cambria" pitchFamily="34" charset="0"/>
                <a:ea typeface="Cambria" pitchFamily="34" charset="-122"/>
                <a:cs typeface="Cambria" pitchFamily="34" charset="-120"/>
              </a:rPr>
              <a:t>Agenda — 180-Minute Session Structure</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759893534"/>
              </p:ext>
            </p:extLst>
          </p:nvPr>
        </p:nvGraphicFramePr>
        <p:xfrm>
          <a:off x="457200" y="1508760"/>
          <a:ext cx="9418320" cy="3822192"/>
        </p:xfrm>
        <a:graphic>
          <a:graphicData uri="http://schemas.openxmlformats.org/drawingml/2006/table">
            <a:tbl>
              <a:tblPr/>
              <a:tblGrid>
                <a:gridCol w="9418320">
                  <a:extLst>
                    <a:ext uri="{9D8B030D-6E8A-4147-A177-3AD203B41FA5}">
                      <a16:colId xmlns:a16="http://schemas.microsoft.com/office/drawing/2014/main" val="20000"/>
                    </a:ext>
                  </a:extLst>
                </a:gridCol>
              </a:tblGrid>
              <a:tr h="530352">
                <a:tc>
                  <a:txBody>
                    <a:bodyPr/>
                    <a:lstStyle/>
                    <a:p>
                      <a:r>
                        <a:rPr b="1">
                          <a:solidFill>
                            <a:srgbClr val="FFFFFF"/>
                          </a:solidFill>
                        </a:rPr>
                        <a:t>Segment</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extLst>
                  <a:ext uri="{0D108BD9-81ED-4DB2-BD59-A6C34878D82A}">
                    <a16:rowId xmlns:a16="http://schemas.microsoft.com/office/drawing/2014/main" val="10000"/>
                  </a:ext>
                </a:extLst>
              </a:tr>
              <a:tr h="530352">
                <a:tc>
                  <a:txBody>
                    <a:bodyPr/>
                    <a:lstStyle/>
                    <a:p>
                      <a:r>
                        <a:rPr dirty="0"/>
                        <a:t>Welcome, driving questions &amp; learning objectives </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r>
                        <a:rPr dirty="0"/>
                        <a:t>Block 1 — Foundations: history, who uses life tables, types, notation &amp; the seven core columns, incl. Group Work 1 </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0352">
                <a:tc>
                  <a:txBody>
                    <a:bodyPr/>
                    <a:lstStyle/>
                    <a:p>
                      <a:r>
                        <a:rPr lang="en-US"/>
                        <a:t>Block 2 </a:t>
                      </a:r>
                      <a:r>
                        <a:rPr lang="en-US" dirty="0"/>
                        <a:t>— Two fully worked examples, real-world applications &amp; extensions, incl. Group Work 3 </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r>
                        <a:rPr dirty="0"/>
                        <a:t>Block </a:t>
                      </a:r>
                      <a:r>
                        <a:rPr lang="en-US" dirty="0"/>
                        <a:t>3</a:t>
                      </a:r>
                      <a:r>
                        <a:rPr dirty="0"/>
                        <a:t>— How Life Tables Are Actually Built in Practice: real data, real institutions, real pitfalls</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0352">
                <a:tc>
                  <a:txBody>
                    <a:bodyPr/>
                    <a:lstStyle/>
                    <a:p>
                      <a:r>
                        <a:rPr dirty="0"/>
                        <a:t>Block 4 — Applied Lab: spreadsheet &amp; AI-assisted construction, verification checklist </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0352">
                <a:tc>
                  <a:txBody>
                    <a:bodyPr/>
                    <a:lstStyle/>
                    <a:p>
                      <a:r>
                        <a:rPr dirty="0"/>
                        <a:t>Practice exercises, summary &amp; discussion </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222019082"/>
                  </a:ext>
                </a:extLst>
              </a:tr>
            </a:tbl>
          </a:graphicData>
        </a:graphic>
      </p:graphicFrame>
      <p:sp>
        <p:nvSpPr>
          <p:cNvPr id="5" name="Text 2"/>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5140602 Fundamental Demographic Analysis – Session 5</a:t>
            </a:r>
            <a:endParaRPr lang="en-US" sz="900" dirty="0"/>
          </a:p>
        </p:txBody>
      </p:sp>
      <p:sp>
        <p:nvSpPr>
          <p:cNvPr id="6" name="Text 3"/>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4 / 80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MOTIVATION · EXAMPLE 1</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Why Life Tables Matter: The 20th–21st Century Mortality Revolution</a:t>
            </a:r>
            <a:endParaRPr lang="en-US" sz="2700" dirty="0"/>
          </a:p>
        </p:txBody>
      </p:sp>
      <p:sp>
        <p:nvSpPr>
          <p:cNvPr id="4" name="Text 2"/>
          <p:cNvSpPr/>
          <p:nvPr/>
        </p:nvSpPr>
        <p:spPr>
          <a:xfrm>
            <a:off x="457200" y="1737360"/>
            <a:ext cx="3576218" cy="822960"/>
          </a:xfrm>
          <a:prstGeom prst="rect">
            <a:avLst/>
          </a:prstGeom>
          <a:noFill/>
          <a:ln/>
        </p:spPr>
        <p:txBody>
          <a:bodyPr wrap="square" lIns="0" tIns="0" rIns="0" bIns="0" rtlCol="0" anchor="ctr"/>
          <a:lstStyle/>
          <a:p>
            <a:pPr marL="0" indent="0" algn="ctr">
              <a:buNone/>
            </a:pPr>
            <a:r>
              <a:rPr lang="en-US" sz="4400" b="1" dirty="0">
                <a:solidFill>
                  <a:srgbClr val="E8A33D"/>
                </a:solidFill>
                <a:latin typeface="Cambria" pitchFamily="34" charset="0"/>
                <a:ea typeface="Cambria" pitchFamily="34" charset="-122"/>
                <a:cs typeface="Cambria" pitchFamily="34" charset="-120"/>
              </a:rPr>
              <a:t>73.2</a:t>
            </a:r>
            <a:endParaRPr lang="en-US" sz="4400" dirty="0"/>
          </a:p>
        </p:txBody>
      </p:sp>
      <p:sp>
        <p:nvSpPr>
          <p:cNvPr id="5" name="Text 3"/>
          <p:cNvSpPr/>
          <p:nvPr/>
        </p:nvSpPr>
        <p:spPr>
          <a:xfrm>
            <a:off x="457200" y="2514600"/>
            <a:ext cx="3576218" cy="548640"/>
          </a:xfrm>
          <a:prstGeom prst="rect">
            <a:avLst/>
          </a:prstGeom>
          <a:noFill/>
          <a:ln/>
        </p:spPr>
        <p:txBody>
          <a:bodyPr wrap="square" lIns="0" tIns="0" rIns="0" bIns="0" rtlCol="0" anchor="t"/>
          <a:lstStyle/>
          <a:p>
            <a:pPr marL="0" indent="0" algn="ctr">
              <a:buNone/>
            </a:pPr>
            <a:r>
              <a:rPr lang="en-US" sz="1100" dirty="0">
                <a:solidFill>
                  <a:srgbClr val="142433"/>
                </a:solidFill>
                <a:latin typeface="Calibri" pitchFamily="34" charset="0"/>
                <a:ea typeface="Calibri" pitchFamily="34" charset="-122"/>
                <a:cs typeface="Calibri" pitchFamily="34" charset="-120"/>
              </a:rPr>
              <a:t>Global life expectancy at birth, 2023 (years)</a:t>
            </a:r>
            <a:endParaRPr lang="en-US" sz="1100" dirty="0"/>
          </a:p>
        </p:txBody>
      </p:sp>
      <p:sp>
        <p:nvSpPr>
          <p:cNvPr id="6" name="Text 4"/>
          <p:cNvSpPr/>
          <p:nvPr/>
        </p:nvSpPr>
        <p:spPr>
          <a:xfrm>
            <a:off x="4307738" y="1737360"/>
            <a:ext cx="3576218" cy="822960"/>
          </a:xfrm>
          <a:prstGeom prst="rect">
            <a:avLst/>
          </a:prstGeom>
          <a:noFill/>
          <a:ln/>
        </p:spPr>
        <p:txBody>
          <a:bodyPr wrap="square" lIns="0" tIns="0" rIns="0" bIns="0" rtlCol="0" anchor="ctr"/>
          <a:lstStyle/>
          <a:p>
            <a:pPr marL="0" indent="0" algn="ctr">
              <a:buNone/>
            </a:pPr>
            <a:r>
              <a:rPr lang="en-US" sz="4400" b="1" dirty="0">
                <a:solidFill>
                  <a:srgbClr val="2E7D5B"/>
                </a:solidFill>
                <a:latin typeface="Cambria" pitchFamily="34" charset="0"/>
                <a:ea typeface="Cambria" pitchFamily="34" charset="-122"/>
                <a:cs typeface="Cambria" pitchFamily="34" charset="-120"/>
              </a:rPr>
              <a:t>+8.4</a:t>
            </a:r>
            <a:endParaRPr lang="en-US" sz="4400" dirty="0"/>
          </a:p>
        </p:txBody>
      </p:sp>
      <p:sp>
        <p:nvSpPr>
          <p:cNvPr id="7" name="Text 5"/>
          <p:cNvSpPr/>
          <p:nvPr/>
        </p:nvSpPr>
        <p:spPr>
          <a:xfrm>
            <a:off x="4307738" y="2514600"/>
            <a:ext cx="3576218" cy="548640"/>
          </a:xfrm>
          <a:prstGeom prst="rect">
            <a:avLst/>
          </a:prstGeom>
          <a:noFill/>
          <a:ln/>
        </p:spPr>
        <p:txBody>
          <a:bodyPr wrap="square" lIns="0" tIns="0" rIns="0" bIns="0" rtlCol="0" anchor="t"/>
          <a:lstStyle/>
          <a:p>
            <a:pPr marL="0" indent="0" algn="ctr">
              <a:buNone/>
            </a:pPr>
            <a:r>
              <a:rPr lang="en-US" sz="1100" dirty="0">
                <a:solidFill>
                  <a:srgbClr val="142433"/>
                </a:solidFill>
                <a:latin typeface="Calibri" pitchFamily="34" charset="0"/>
                <a:ea typeface="Calibri" pitchFamily="34" charset="-122"/>
                <a:cs typeface="Calibri" pitchFamily="34" charset="-120"/>
              </a:rPr>
              <a:t>Years gained globally since 1995</a:t>
            </a:r>
            <a:endParaRPr lang="en-US" sz="1100" dirty="0"/>
          </a:p>
        </p:txBody>
      </p:sp>
      <p:sp>
        <p:nvSpPr>
          <p:cNvPr id="8" name="Text 6"/>
          <p:cNvSpPr/>
          <p:nvPr/>
        </p:nvSpPr>
        <p:spPr>
          <a:xfrm>
            <a:off x="8158277" y="1737360"/>
            <a:ext cx="3576218" cy="822960"/>
          </a:xfrm>
          <a:prstGeom prst="rect">
            <a:avLst/>
          </a:prstGeom>
          <a:noFill/>
          <a:ln/>
        </p:spPr>
        <p:txBody>
          <a:bodyPr wrap="square" lIns="0" tIns="0" rIns="0" bIns="0" rtlCol="0" anchor="ctr"/>
          <a:lstStyle/>
          <a:p>
            <a:pPr marL="0" indent="0" algn="ctr">
              <a:buNone/>
            </a:pPr>
            <a:r>
              <a:rPr lang="en-US" sz="4400" b="1" dirty="0">
                <a:solidFill>
                  <a:srgbClr val="1C7293"/>
                </a:solidFill>
                <a:latin typeface="Cambria" pitchFamily="34" charset="0"/>
                <a:ea typeface="Cambria" pitchFamily="34" charset="-122"/>
                <a:cs typeface="Cambria" pitchFamily="34" charset="-120"/>
              </a:rPr>
              <a:t>77.4</a:t>
            </a:r>
            <a:endParaRPr lang="en-US" sz="4400" dirty="0"/>
          </a:p>
        </p:txBody>
      </p:sp>
      <p:sp>
        <p:nvSpPr>
          <p:cNvPr id="9" name="Text 7"/>
          <p:cNvSpPr/>
          <p:nvPr/>
        </p:nvSpPr>
        <p:spPr>
          <a:xfrm>
            <a:off x="8158277" y="2514600"/>
            <a:ext cx="3576218" cy="548640"/>
          </a:xfrm>
          <a:prstGeom prst="rect">
            <a:avLst/>
          </a:prstGeom>
          <a:noFill/>
          <a:ln/>
        </p:spPr>
        <p:txBody>
          <a:bodyPr wrap="square" lIns="0" tIns="0" rIns="0" bIns="0" rtlCol="0" anchor="t"/>
          <a:lstStyle/>
          <a:p>
            <a:pPr marL="0" indent="0" algn="ctr">
              <a:buNone/>
            </a:pPr>
            <a:r>
              <a:rPr lang="en-US" sz="1100" dirty="0">
                <a:solidFill>
                  <a:srgbClr val="142433"/>
                </a:solidFill>
                <a:latin typeface="Calibri" pitchFamily="34" charset="0"/>
                <a:ea typeface="Calibri" pitchFamily="34" charset="-122"/>
                <a:cs typeface="Calibri" pitchFamily="34" charset="-120"/>
              </a:rPr>
              <a:t>Projected global life expectancy by 2054 (years)</a:t>
            </a:r>
            <a:endParaRPr lang="en-US" sz="1100" dirty="0"/>
          </a:p>
        </p:txBody>
      </p:sp>
      <p:sp>
        <p:nvSpPr>
          <p:cNvPr id="10" name="Shape 8"/>
          <p:cNvSpPr/>
          <p:nvPr/>
        </p:nvSpPr>
        <p:spPr>
          <a:xfrm>
            <a:off x="457200" y="3063240"/>
            <a:ext cx="11277295" cy="2651760"/>
          </a:xfrm>
          <a:prstGeom prst="roundRect">
            <a:avLst>
              <a:gd name="adj" fmla="val 2414"/>
            </a:avLst>
          </a:prstGeom>
          <a:solidFill>
            <a:srgbClr val="EEF3F8"/>
          </a:solidFill>
          <a:ln w="9525">
            <a:solidFill>
              <a:srgbClr val="D3E0E9"/>
            </a:solidFill>
            <a:prstDash val="solid"/>
          </a:ln>
        </p:spPr>
      </p:sp>
      <p:sp>
        <p:nvSpPr>
          <p:cNvPr id="11" name="Text 9"/>
          <p:cNvSpPr/>
          <p:nvPr/>
        </p:nvSpPr>
        <p:spPr>
          <a:xfrm>
            <a:off x="777240" y="3291840"/>
            <a:ext cx="10637215" cy="2194560"/>
          </a:xfrm>
          <a:prstGeom prst="rect">
            <a:avLst/>
          </a:prstGeom>
          <a:noFill/>
          <a:ln/>
        </p:spPr>
        <p:txBody>
          <a:bodyPr wrap="square" lIns="0" tIns="0" rIns="0" bIns="0" rtlCol="0" anchor="t"/>
          <a:lstStyle/>
          <a:p>
            <a:pPr marL="0" indent="0">
              <a:lnSpc>
                <a:spcPct val="125000"/>
              </a:lnSpc>
              <a:buNone/>
            </a:pPr>
            <a:r>
              <a:rPr lang="en-US" sz="1450" dirty="0">
                <a:solidFill>
                  <a:srgbClr val="142433"/>
                </a:solidFill>
                <a:latin typeface="Calibri" pitchFamily="34" charset="0"/>
                <a:ea typeface="Calibri" pitchFamily="34" charset="-122"/>
                <a:cs typeface="Calibri" pitchFamily="34" charset="-120"/>
              </a:rPr>
              <a:t>The life table is the core analytical engine behind every one of these headline numbers. Life expectancy at birth (e0), the single most cited demographic indicator worldwide, is a derived life-table function — it cannot be computed without first building the full nqx / lx / ndx / nLx / Tx sequence. Everything you compute today — by hand, in a spreadsheet, and with AI assistance — feeds directly into figures exactly like these.</a:t>
            </a:r>
            <a:endParaRPr lang="en-US" sz="1450" dirty="0"/>
          </a:p>
        </p:txBody>
      </p:sp>
      <p:sp>
        <p:nvSpPr>
          <p:cNvPr id="12" name="Text 10"/>
          <p:cNvSpPr/>
          <p:nvPr/>
        </p:nvSpPr>
        <p:spPr>
          <a:xfrm>
            <a:off x="457200" y="6053328"/>
            <a:ext cx="11277295" cy="420624"/>
          </a:xfrm>
          <a:prstGeom prst="rect">
            <a:avLst/>
          </a:prstGeom>
          <a:noFill/>
          <a:ln/>
        </p:spPr>
        <p:txBody>
          <a:bodyPr wrap="square" lIns="0" tIns="0" rIns="0" bIns="0" rtlCol="0" anchor="t"/>
          <a:lstStyle/>
          <a:p>
            <a:pPr marL="0" indent="0" algn="l">
              <a:buNone/>
            </a:pPr>
            <a:r>
              <a:rPr lang="en-US" sz="800" i="1" dirty="0">
                <a:solidFill>
                  <a:srgbClr val="5B6B79"/>
                </a:solidFill>
                <a:latin typeface="Calibri" pitchFamily="34" charset="0"/>
                <a:ea typeface="Calibri" pitchFamily="34" charset="-122"/>
                <a:cs typeface="Calibri" pitchFamily="34" charset="-120"/>
              </a:rPr>
              <a:t>Source: United Nations, Department of Economic and Social Affairs, Population Division. (2024). World population prospects 2024: Summary of results. https://population.un.org/wpp/assets/Files/WPP2024_Summary-of-Results.pdf</a:t>
            </a:r>
            <a:endParaRPr lang="en-US" sz="800" dirty="0"/>
          </a:p>
        </p:txBody>
      </p:sp>
      <p:sp>
        <p:nvSpPr>
          <p:cNvPr id="13" name="Text 11"/>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14" name="Text 12"/>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5 / 80</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7213A"/>
        </a:solidFill>
        <a:effectLst/>
      </p:bgPr>
    </p:bg>
    <p:spTree>
      <p:nvGrpSpPr>
        <p:cNvPr id="1" name=""/>
        <p:cNvGrpSpPr/>
        <p:nvPr/>
      </p:nvGrpSpPr>
      <p:grpSpPr>
        <a:xfrm>
          <a:off x="0" y="0"/>
          <a:ext cx="0" cy="0"/>
          <a:chOff x="0" y="0"/>
          <a:chExt cx="0" cy="0"/>
        </a:xfrm>
      </p:grpSpPr>
      <p:sp>
        <p:nvSpPr>
          <p:cNvPr id="3" name="Text 1"/>
          <p:cNvSpPr/>
          <p:nvPr/>
        </p:nvSpPr>
        <p:spPr>
          <a:xfrm>
            <a:off x="457200" y="2286000"/>
            <a:ext cx="10058400" cy="365760"/>
          </a:xfrm>
          <a:prstGeom prst="rect">
            <a:avLst/>
          </a:prstGeom>
          <a:noFill/>
          <a:ln/>
        </p:spPr>
        <p:txBody>
          <a:bodyPr wrap="square" lIns="0" tIns="0" rIns="0" bIns="0" rtlCol="0" anchor="ctr"/>
          <a:lstStyle/>
          <a:p>
            <a:pPr marL="0" indent="0">
              <a:buNone/>
            </a:pPr>
            <a:r>
              <a:rPr lang="en-US" sz="1400" b="1" kern="0" spc="200" dirty="0">
                <a:solidFill>
                  <a:srgbClr val="E8A33D"/>
                </a:solidFill>
                <a:latin typeface="Calibri" pitchFamily="34" charset="0"/>
                <a:ea typeface="Calibri" pitchFamily="34" charset="-122"/>
                <a:cs typeface="Calibri" pitchFamily="34" charset="-120"/>
              </a:rPr>
              <a:t>BLOCK 1</a:t>
            </a:r>
            <a:endParaRPr lang="en-US" sz="1400" dirty="0"/>
          </a:p>
        </p:txBody>
      </p:sp>
      <p:sp>
        <p:nvSpPr>
          <p:cNvPr id="4" name="Text 2"/>
          <p:cNvSpPr/>
          <p:nvPr/>
        </p:nvSpPr>
        <p:spPr>
          <a:xfrm>
            <a:off x="457200" y="2697480"/>
            <a:ext cx="10789920" cy="1554480"/>
          </a:xfrm>
          <a:prstGeom prst="rect">
            <a:avLst/>
          </a:prstGeom>
          <a:noFill/>
          <a:ln/>
        </p:spPr>
        <p:txBody>
          <a:bodyPr wrap="square" lIns="0" tIns="0" rIns="0" bIns="0" rtlCol="0" anchor="ctr"/>
          <a:lstStyle/>
          <a:p>
            <a:pPr marL="0" indent="0">
              <a:lnSpc>
                <a:spcPct val="105000"/>
              </a:lnSpc>
              <a:buNone/>
            </a:pPr>
            <a:r>
              <a:rPr lang="en-US" sz="3400" b="1" dirty="0">
                <a:solidFill>
                  <a:srgbClr val="FFFFFF"/>
                </a:solidFill>
                <a:latin typeface="Cambria" pitchFamily="34" charset="0"/>
                <a:ea typeface="Cambria" pitchFamily="34" charset="-122"/>
                <a:cs typeface="Cambria" pitchFamily="34" charset="-120"/>
              </a:rPr>
              <a:t>Foundations of Life Table Construction</a:t>
            </a:r>
            <a:endParaRPr lang="en-US" sz="3400" dirty="0"/>
          </a:p>
        </p:txBody>
      </p:sp>
      <p:sp>
        <p:nvSpPr>
          <p:cNvPr id="5" name="Text 3"/>
          <p:cNvSpPr/>
          <p:nvPr/>
        </p:nvSpPr>
        <p:spPr>
          <a:xfrm>
            <a:off x="457200" y="4023360"/>
            <a:ext cx="9601200" cy="914400"/>
          </a:xfrm>
          <a:prstGeom prst="rect">
            <a:avLst/>
          </a:prstGeom>
          <a:noFill/>
          <a:ln/>
        </p:spPr>
        <p:txBody>
          <a:bodyPr wrap="square" lIns="0" tIns="0" rIns="0" bIns="0" rtlCol="0" anchor="t"/>
          <a:lstStyle/>
          <a:p>
            <a:pPr marL="0" indent="0">
              <a:buNone/>
            </a:pPr>
            <a:r>
              <a:rPr lang="en-US" sz="1500" i="1" dirty="0">
                <a:solidFill>
                  <a:srgbClr val="B9CEE0"/>
                </a:solidFill>
                <a:latin typeface="Calibri" pitchFamily="34" charset="0"/>
                <a:ea typeface="Calibri" pitchFamily="34" charset="-122"/>
                <a:cs typeface="Calibri" pitchFamily="34" charset="-120"/>
              </a:rPr>
              <a:t>What a life table is, why it is built the way it is, and the seven columns you will compute today.</a:t>
            </a:r>
            <a:endParaRPr lang="en-US" sz="1500" dirty="0"/>
          </a:p>
        </p:txBody>
      </p:sp>
      <p:sp>
        <p:nvSpPr>
          <p:cNvPr id="6" name="Text 4"/>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7" name="Text 5"/>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6 / 80</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400" b="1" kern="0" spc="200" dirty="0">
                <a:solidFill>
                  <a:srgbClr val="1C7293"/>
                </a:solidFill>
                <a:latin typeface="Calibri" pitchFamily="34" charset="0"/>
                <a:ea typeface="Calibri" pitchFamily="34" charset="-122"/>
                <a:cs typeface="Calibri" pitchFamily="34" charset="-120"/>
              </a:rPr>
              <a:t>DEFINITION</a:t>
            </a:r>
            <a:endParaRPr lang="en-US" sz="14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3200" b="1" dirty="0">
                <a:solidFill>
                  <a:srgbClr val="0B3D62"/>
                </a:solidFill>
                <a:latin typeface="Cambria" pitchFamily="34" charset="0"/>
                <a:ea typeface="Cambria" pitchFamily="34" charset="-122"/>
                <a:cs typeface="Cambria" pitchFamily="34" charset="-120"/>
              </a:rPr>
              <a:t>What Is a Life Table?</a:t>
            </a:r>
            <a:endParaRPr lang="en-US" sz="3200" dirty="0"/>
          </a:p>
        </p:txBody>
      </p:sp>
      <p:sp>
        <p:nvSpPr>
          <p:cNvPr id="4" name="Shape 2"/>
          <p:cNvSpPr/>
          <p:nvPr/>
        </p:nvSpPr>
        <p:spPr>
          <a:xfrm>
            <a:off x="457200" y="1600200"/>
            <a:ext cx="2627300" cy="4343400"/>
          </a:xfrm>
          <a:prstGeom prst="roundRect">
            <a:avLst>
              <a:gd name="adj" fmla="val 2436"/>
            </a:avLst>
          </a:prstGeom>
          <a:solidFill>
            <a:srgbClr val="EEF3F8"/>
          </a:solidFill>
          <a:ln w="9525">
            <a:solidFill>
              <a:srgbClr val="D3E0E9"/>
            </a:solidFill>
            <a:prstDash val="solid"/>
          </a:ln>
        </p:spPr>
      </p:sp>
      <p:sp>
        <p:nvSpPr>
          <p:cNvPr id="5" name="Shape 3"/>
          <p:cNvSpPr/>
          <p:nvPr/>
        </p:nvSpPr>
        <p:spPr>
          <a:xfrm>
            <a:off x="694944" y="1837944"/>
            <a:ext cx="457200" cy="457200"/>
          </a:xfrm>
          <a:prstGeom prst="ellipse">
            <a:avLst/>
          </a:prstGeom>
          <a:solidFill>
            <a:srgbClr val="1C7293"/>
          </a:solidFill>
          <a:ln/>
        </p:spPr>
      </p:sp>
      <p:sp>
        <p:nvSpPr>
          <p:cNvPr id="6" name="Text 4"/>
          <p:cNvSpPr/>
          <p:nvPr/>
        </p:nvSpPr>
        <p:spPr>
          <a:xfrm>
            <a:off x="694944"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7" name="Text 5"/>
          <p:cNvSpPr/>
          <p:nvPr/>
        </p:nvSpPr>
        <p:spPr>
          <a:xfrm>
            <a:off x="694944"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A hypothetical (synthetic) cohort</a:t>
            </a:r>
            <a:endParaRPr lang="en-US" dirty="0"/>
          </a:p>
        </p:txBody>
      </p:sp>
      <p:sp>
        <p:nvSpPr>
          <p:cNvPr id="8" name="Text 6"/>
          <p:cNvSpPr/>
          <p:nvPr/>
        </p:nvSpPr>
        <p:spPr>
          <a:xfrm>
            <a:off x="694944"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A life table follows an imaginary group of, typically, 100,000 people (the "radix") from birth, applying a fixed set of age-specific mortality rates as they age.</a:t>
            </a:r>
            <a:endParaRPr lang="en-US" sz="1400" dirty="0"/>
          </a:p>
        </p:txBody>
      </p:sp>
      <p:sp>
        <p:nvSpPr>
          <p:cNvPr id="9" name="Shape 7"/>
          <p:cNvSpPr/>
          <p:nvPr/>
        </p:nvSpPr>
        <p:spPr>
          <a:xfrm>
            <a:off x="3340532" y="1600200"/>
            <a:ext cx="2627300" cy="4343400"/>
          </a:xfrm>
          <a:prstGeom prst="roundRect">
            <a:avLst>
              <a:gd name="adj" fmla="val 2436"/>
            </a:avLst>
          </a:prstGeom>
          <a:solidFill>
            <a:srgbClr val="EEF3F8"/>
          </a:solidFill>
          <a:ln w="9525">
            <a:solidFill>
              <a:srgbClr val="D3E0E9"/>
            </a:solidFill>
            <a:prstDash val="solid"/>
          </a:ln>
        </p:spPr>
      </p:sp>
      <p:sp>
        <p:nvSpPr>
          <p:cNvPr id="10" name="Shape 8"/>
          <p:cNvSpPr/>
          <p:nvPr/>
        </p:nvSpPr>
        <p:spPr>
          <a:xfrm>
            <a:off x="3578276" y="1837944"/>
            <a:ext cx="457200" cy="457200"/>
          </a:xfrm>
          <a:prstGeom prst="ellipse">
            <a:avLst/>
          </a:prstGeom>
          <a:solidFill>
            <a:srgbClr val="1C7293"/>
          </a:solidFill>
          <a:ln/>
        </p:spPr>
      </p:sp>
      <p:sp>
        <p:nvSpPr>
          <p:cNvPr id="11" name="Text 9"/>
          <p:cNvSpPr/>
          <p:nvPr/>
        </p:nvSpPr>
        <p:spPr>
          <a:xfrm>
            <a:off x="3578276"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x</a:t>
            </a:r>
            <a:endParaRPr lang="en-US" sz="2400" dirty="0"/>
          </a:p>
        </p:txBody>
      </p:sp>
      <p:sp>
        <p:nvSpPr>
          <p:cNvPr id="12" name="Text 10"/>
          <p:cNvSpPr/>
          <p:nvPr/>
        </p:nvSpPr>
        <p:spPr>
          <a:xfrm>
            <a:off x="3578276"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It answers one question at every age</a:t>
            </a:r>
            <a:endParaRPr lang="en-US" dirty="0"/>
          </a:p>
        </p:txBody>
      </p:sp>
      <p:sp>
        <p:nvSpPr>
          <p:cNvPr id="13" name="Text 11"/>
          <p:cNvSpPr/>
          <p:nvPr/>
        </p:nvSpPr>
        <p:spPr>
          <a:xfrm>
            <a:off x="3578276"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"Given these mortality conditions, how many of the original cohort survive to exact age x, and how many years do they collectively live?"</a:t>
            </a:r>
            <a:endParaRPr lang="en-US" sz="1400" dirty="0"/>
          </a:p>
        </p:txBody>
      </p:sp>
      <p:sp>
        <p:nvSpPr>
          <p:cNvPr id="14" name="Shape 12"/>
          <p:cNvSpPr/>
          <p:nvPr/>
        </p:nvSpPr>
        <p:spPr>
          <a:xfrm>
            <a:off x="6223864" y="1600200"/>
            <a:ext cx="2627300" cy="4343400"/>
          </a:xfrm>
          <a:prstGeom prst="roundRect">
            <a:avLst>
              <a:gd name="adj" fmla="val 2436"/>
            </a:avLst>
          </a:prstGeom>
          <a:solidFill>
            <a:srgbClr val="EEF3F8"/>
          </a:solidFill>
          <a:ln w="9525">
            <a:solidFill>
              <a:srgbClr val="D3E0E9"/>
            </a:solidFill>
            <a:prstDash val="solid"/>
          </a:ln>
        </p:spPr>
      </p:sp>
      <p:sp>
        <p:nvSpPr>
          <p:cNvPr id="15" name="Shape 13"/>
          <p:cNvSpPr/>
          <p:nvPr/>
        </p:nvSpPr>
        <p:spPr>
          <a:xfrm>
            <a:off x="6461608" y="1837944"/>
            <a:ext cx="457200" cy="457200"/>
          </a:xfrm>
          <a:prstGeom prst="ellipse">
            <a:avLst/>
          </a:prstGeom>
          <a:solidFill>
            <a:srgbClr val="1C7293"/>
          </a:solidFill>
          <a:ln/>
        </p:spPr>
      </p:sp>
      <p:sp>
        <p:nvSpPr>
          <p:cNvPr id="16" name="Text 14"/>
          <p:cNvSpPr/>
          <p:nvPr/>
        </p:nvSpPr>
        <p:spPr>
          <a:xfrm>
            <a:off x="6461608"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17" name="Text 15"/>
          <p:cNvSpPr/>
          <p:nvPr/>
        </p:nvSpPr>
        <p:spPr>
          <a:xfrm>
            <a:off x="6461608"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The demographer's core mortality model</a:t>
            </a:r>
            <a:endParaRPr lang="en-US" dirty="0"/>
          </a:p>
        </p:txBody>
      </p:sp>
      <p:sp>
        <p:nvSpPr>
          <p:cNvPr id="18" name="Text 16"/>
          <p:cNvSpPr/>
          <p:nvPr/>
        </p:nvSpPr>
        <p:spPr>
          <a:xfrm>
            <a:off x="6461608"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Nearly every summary mortality indicator — life expectancy, survival probabilities, healthy-life-years — is a life-table function.</a:t>
            </a:r>
            <a:endParaRPr lang="en-US" sz="1400" dirty="0"/>
          </a:p>
        </p:txBody>
      </p:sp>
      <p:sp>
        <p:nvSpPr>
          <p:cNvPr id="19" name="Shape 17"/>
          <p:cNvSpPr/>
          <p:nvPr/>
        </p:nvSpPr>
        <p:spPr>
          <a:xfrm>
            <a:off x="9107195" y="1600200"/>
            <a:ext cx="2627300" cy="4343400"/>
          </a:xfrm>
          <a:prstGeom prst="roundRect">
            <a:avLst>
              <a:gd name="adj" fmla="val 2436"/>
            </a:avLst>
          </a:prstGeom>
          <a:solidFill>
            <a:srgbClr val="EEF3F8"/>
          </a:solidFill>
          <a:ln w="9525">
            <a:solidFill>
              <a:srgbClr val="D3E0E9"/>
            </a:solidFill>
            <a:prstDash val="solid"/>
          </a:ln>
        </p:spPr>
      </p:sp>
      <p:sp>
        <p:nvSpPr>
          <p:cNvPr id="20" name="Shape 18"/>
          <p:cNvSpPr/>
          <p:nvPr/>
        </p:nvSpPr>
        <p:spPr>
          <a:xfrm>
            <a:off x="9344939" y="1837944"/>
            <a:ext cx="457200" cy="457200"/>
          </a:xfrm>
          <a:prstGeom prst="ellipse">
            <a:avLst/>
          </a:prstGeom>
          <a:solidFill>
            <a:srgbClr val="1C7293"/>
          </a:solidFill>
          <a:ln/>
        </p:spPr>
      </p:sp>
      <p:sp>
        <p:nvSpPr>
          <p:cNvPr id="21" name="Text 19"/>
          <p:cNvSpPr/>
          <p:nvPr/>
        </p:nvSpPr>
        <p:spPr>
          <a:xfrm>
            <a:off x="9344939"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D</a:t>
            </a:r>
            <a:endParaRPr lang="en-US" sz="2400" dirty="0"/>
          </a:p>
        </p:txBody>
      </p:sp>
      <p:sp>
        <p:nvSpPr>
          <p:cNvPr id="22" name="Text 20"/>
          <p:cNvSpPr/>
          <p:nvPr/>
        </p:nvSpPr>
        <p:spPr>
          <a:xfrm>
            <a:off x="9344939"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Built from real observed data</a:t>
            </a:r>
            <a:endParaRPr lang="en-US" dirty="0"/>
          </a:p>
        </p:txBody>
      </p:sp>
      <p:sp>
        <p:nvSpPr>
          <p:cNvPr id="23" name="Text 21"/>
          <p:cNvSpPr/>
          <p:nvPr/>
        </p:nvSpPr>
        <p:spPr>
          <a:xfrm>
            <a:off x="9344939"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Inputs are period age-specific death rates (nMx) from vital registration or census/survey data; outputs describe a synthetic, not a real, cohort unless it is a true cohort life table.</a:t>
            </a:r>
            <a:endParaRPr lang="en-US" sz="1400" dirty="0"/>
          </a:p>
        </p:txBody>
      </p:sp>
      <p:sp>
        <p:nvSpPr>
          <p:cNvPr id="24" name="Text 22"/>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5140602 Fundamental Demographic Analysis – Session 5</a:t>
            </a:r>
            <a:endParaRPr lang="en-US" sz="1000" dirty="0"/>
          </a:p>
        </p:txBody>
      </p:sp>
      <p:sp>
        <p:nvSpPr>
          <p:cNvPr id="25" name="Text 23"/>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7 / 80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400" b="1" kern="0" spc="200" dirty="0">
                <a:solidFill>
                  <a:srgbClr val="1C7293"/>
                </a:solidFill>
                <a:latin typeface="Calibri" pitchFamily="34" charset="0"/>
                <a:ea typeface="Calibri" pitchFamily="34" charset="-122"/>
                <a:cs typeface="Calibri" pitchFamily="34" charset="-120"/>
              </a:rPr>
              <a:t>WHEN IT STARTS · A BRIEF HISTORY</a:t>
            </a:r>
            <a:endParaRPr lang="en-US" sz="14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3200" b="1" dirty="0">
                <a:solidFill>
                  <a:srgbClr val="0B3D62"/>
                </a:solidFill>
                <a:latin typeface="Cambria" pitchFamily="34" charset="0"/>
                <a:ea typeface="Cambria" pitchFamily="34" charset="-122"/>
                <a:cs typeface="Cambria" pitchFamily="34" charset="-120"/>
              </a:rPr>
              <a:t>Where the Life Table Comes From</a:t>
            </a:r>
            <a:endParaRPr lang="en-US" sz="3200" dirty="0"/>
          </a:p>
        </p:txBody>
      </p:sp>
      <p:sp>
        <p:nvSpPr>
          <p:cNvPr id="4" name="Shape 2"/>
          <p:cNvSpPr/>
          <p:nvPr/>
        </p:nvSpPr>
        <p:spPr>
          <a:xfrm>
            <a:off x="457200" y="1481328"/>
            <a:ext cx="11277295" cy="777240"/>
          </a:xfrm>
          <a:prstGeom prst="roundRect">
            <a:avLst>
              <a:gd name="adj" fmla="val 8235"/>
            </a:avLst>
          </a:prstGeom>
          <a:solidFill>
            <a:srgbClr val="07213A"/>
          </a:solidFill>
          <a:ln/>
        </p:spPr>
      </p:sp>
      <p:sp>
        <p:nvSpPr>
          <p:cNvPr id="5" name="Text 3"/>
          <p:cNvSpPr/>
          <p:nvPr/>
        </p:nvSpPr>
        <p:spPr>
          <a:xfrm>
            <a:off x="685800" y="1481328"/>
            <a:ext cx="10820095"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Courier New" pitchFamily="34" charset="0"/>
                <a:ea typeface="Courier New" pitchFamily="34" charset="-122"/>
                <a:cs typeface="Courier New" pitchFamily="34" charset="-120"/>
              </a:rPr>
              <a:t>1662 Graunt (London)  →  1693 Halley (Breslau)  →  today's CRVS-based national life tables</a:t>
            </a:r>
            <a:endParaRPr lang="en-US" sz="2000" dirty="0"/>
          </a:p>
        </p:txBody>
      </p:sp>
      <p:sp>
        <p:nvSpPr>
          <p:cNvPr id="6" name="Shape 4"/>
          <p:cNvSpPr/>
          <p:nvPr/>
        </p:nvSpPr>
        <p:spPr>
          <a:xfrm>
            <a:off x="457200" y="2487168"/>
            <a:ext cx="3588410" cy="3337560"/>
          </a:xfrm>
          <a:prstGeom prst="roundRect">
            <a:avLst>
              <a:gd name="adj" fmla="val 1918"/>
            </a:avLst>
          </a:prstGeom>
          <a:solidFill>
            <a:srgbClr val="EEF3F8"/>
          </a:solidFill>
          <a:ln w="9525">
            <a:solidFill>
              <a:srgbClr val="D3E0E9"/>
            </a:solidFill>
            <a:prstDash val="solid"/>
          </a:ln>
        </p:spPr>
      </p:sp>
      <p:sp>
        <p:nvSpPr>
          <p:cNvPr id="7" name="Text 5"/>
          <p:cNvSpPr/>
          <p:nvPr/>
        </p:nvSpPr>
        <p:spPr>
          <a:xfrm>
            <a:off x="694944"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1662 — John Graunt's Bills of Mortality</a:t>
            </a:r>
            <a:endParaRPr lang="en-US" dirty="0"/>
          </a:p>
        </p:txBody>
      </p:sp>
      <p:sp>
        <p:nvSpPr>
          <p:cNvPr id="8" name="Text 6"/>
          <p:cNvSpPr/>
          <p:nvPr/>
        </p:nvSpPr>
        <p:spPr>
          <a:xfrm>
            <a:off x="694944"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Graunt analyzed London's weekly death records and published the first tables summarizing age patterns of death — the founding document of demography and vital statistics (Graunt, 1662).</a:t>
            </a:r>
            <a:endParaRPr lang="en-US" sz="1400" dirty="0"/>
          </a:p>
        </p:txBody>
      </p:sp>
      <p:sp>
        <p:nvSpPr>
          <p:cNvPr id="9" name="Shape 7"/>
          <p:cNvSpPr/>
          <p:nvPr/>
        </p:nvSpPr>
        <p:spPr>
          <a:xfrm>
            <a:off x="4301642" y="2487168"/>
            <a:ext cx="3588410" cy="3337560"/>
          </a:xfrm>
          <a:prstGeom prst="roundRect">
            <a:avLst>
              <a:gd name="adj" fmla="val 1918"/>
            </a:avLst>
          </a:prstGeom>
          <a:solidFill>
            <a:srgbClr val="EEF3F8"/>
          </a:solidFill>
          <a:ln w="9525">
            <a:solidFill>
              <a:srgbClr val="D3E0E9"/>
            </a:solidFill>
            <a:prstDash val="solid"/>
          </a:ln>
        </p:spPr>
      </p:sp>
      <p:sp>
        <p:nvSpPr>
          <p:cNvPr id="10" name="Text 8"/>
          <p:cNvSpPr/>
          <p:nvPr/>
        </p:nvSpPr>
        <p:spPr>
          <a:xfrm>
            <a:off x="4539386"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1693 — Edmond Halley's Breslau table</a:t>
            </a:r>
            <a:endParaRPr lang="en-US" dirty="0"/>
          </a:p>
        </p:txBody>
      </p:sp>
      <p:sp>
        <p:nvSpPr>
          <p:cNvPr id="11" name="Text 9"/>
          <p:cNvSpPr/>
          <p:nvPr/>
        </p:nvSpPr>
        <p:spPr>
          <a:xfrm>
            <a:off x="4539386"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Halley used real baptism and burial records from Breslau (now Wrocław) to build the first table showing, for each age, how many of a starting cohort survived — and used it to price life annuities, the direct ancestor of Block 2's actuarial application (Halley, 1693).</a:t>
            </a:r>
            <a:endParaRPr lang="en-US" sz="1400" dirty="0"/>
          </a:p>
        </p:txBody>
      </p:sp>
      <p:sp>
        <p:nvSpPr>
          <p:cNvPr id="12" name="Shape 10"/>
          <p:cNvSpPr/>
          <p:nvPr/>
        </p:nvSpPr>
        <p:spPr>
          <a:xfrm>
            <a:off x="8146085" y="2487168"/>
            <a:ext cx="3588410" cy="3337560"/>
          </a:xfrm>
          <a:prstGeom prst="roundRect">
            <a:avLst>
              <a:gd name="adj" fmla="val 1918"/>
            </a:avLst>
          </a:prstGeom>
          <a:solidFill>
            <a:srgbClr val="EEF3F8"/>
          </a:solidFill>
          <a:ln w="9525">
            <a:solidFill>
              <a:srgbClr val="D3E0E9"/>
            </a:solidFill>
            <a:prstDash val="solid"/>
          </a:ln>
        </p:spPr>
      </p:sp>
      <p:sp>
        <p:nvSpPr>
          <p:cNvPr id="13" name="Text 11"/>
          <p:cNvSpPr/>
          <p:nvPr/>
        </p:nvSpPr>
        <p:spPr>
          <a:xfrm>
            <a:off x="8383829"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18th century to today</a:t>
            </a:r>
            <a:endParaRPr lang="en-US" dirty="0"/>
          </a:p>
        </p:txBody>
      </p:sp>
      <p:sp>
        <p:nvSpPr>
          <p:cNvPr id="14" name="Text 12"/>
          <p:cNvSpPr/>
          <p:nvPr/>
        </p:nvSpPr>
        <p:spPr>
          <a:xfrm>
            <a:off x="8383829"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Actuarial and government use of life tables grew continuously from Halley onward; today's life tables use the identical logical structure, built from civil registration and census data through the institutional pipelines you will see in Block 2.</a:t>
            </a:r>
            <a:endParaRPr lang="en-US" sz="1400" dirty="0"/>
          </a:p>
        </p:txBody>
      </p:sp>
      <p:sp>
        <p:nvSpPr>
          <p:cNvPr id="15" name="Text 13"/>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5140602 Fundamental Demographic Analysis – Session 5</a:t>
            </a:r>
            <a:endParaRPr lang="en-US" sz="1000" dirty="0"/>
          </a:p>
        </p:txBody>
      </p:sp>
      <p:sp>
        <p:nvSpPr>
          <p:cNvPr id="16" name="Text 14"/>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8 / 80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400" b="1" kern="0" spc="200" dirty="0">
                <a:solidFill>
                  <a:srgbClr val="1C7293"/>
                </a:solidFill>
                <a:latin typeface="Calibri" pitchFamily="34" charset="0"/>
                <a:ea typeface="Calibri" pitchFamily="34" charset="-122"/>
                <a:cs typeface="Calibri" pitchFamily="34" charset="-120"/>
              </a:rPr>
              <a:t>WHO USES IT · A FIRST LOOK</a:t>
            </a:r>
            <a:endParaRPr lang="en-US" sz="14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3200" b="1" dirty="0">
                <a:solidFill>
                  <a:srgbClr val="0B3D62"/>
                </a:solidFill>
                <a:latin typeface="Cambria" pitchFamily="34" charset="0"/>
                <a:ea typeface="Cambria" pitchFamily="34" charset="-122"/>
                <a:cs typeface="Cambria" pitchFamily="34" charset="-120"/>
              </a:rPr>
              <a:t>Who Actually Uses Life Tables?</a:t>
            </a:r>
            <a:endParaRPr lang="en-US" sz="3200" dirty="0"/>
          </a:p>
        </p:txBody>
      </p:sp>
      <p:sp>
        <p:nvSpPr>
          <p:cNvPr id="4" name="Shape 2"/>
          <p:cNvSpPr/>
          <p:nvPr/>
        </p:nvSpPr>
        <p:spPr>
          <a:xfrm>
            <a:off x="457200" y="1600200"/>
            <a:ext cx="2627300" cy="4343400"/>
          </a:xfrm>
          <a:prstGeom prst="roundRect">
            <a:avLst>
              <a:gd name="adj" fmla="val 2436"/>
            </a:avLst>
          </a:prstGeom>
          <a:solidFill>
            <a:srgbClr val="EEF3F8"/>
          </a:solidFill>
          <a:ln w="9525">
            <a:solidFill>
              <a:srgbClr val="D3E0E9"/>
            </a:solidFill>
            <a:prstDash val="solid"/>
          </a:ln>
        </p:spPr>
        <p:txBody>
          <a:bodyPr/>
          <a:lstStyle/>
          <a:p>
            <a:endParaRPr/>
          </a:p>
        </p:txBody>
      </p:sp>
      <p:sp>
        <p:nvSpPr>
          <p:cNvPr id="5" name="Shape 3"/>
          <p:cNvSpPr/>
          <p:nvPr/>
        </p:nvSpPr>
        <p:spPr>
          <a:xfrm>
            <a:off x="694944" y="1837944"/>
            <a:ext cx="457200" cy="457200"/>
          </a:xfrm>
          <a:prstGeom prst="ellipse">
            <a:avLst/>
          </a:prstGeom>
          <a:solidFill>
            <a:srgbClr val="1C7293"/>
          </a:solidFill>
          <a:ln/>
        </p:spPr>
        <p:txBody>
          <a:bodyPr/>
          <a:lstStyle/>
          <a:p>
            <a:endParaRPr/>
          </a:p>
        </p:txBody>
      </p:sp>
      <p:sp>
        <p:nvSpPr>
          <p:cNvPr id="6" name="Text 4"/>
          <p:cNvSpPr/>
          <p:nvPr/>
        </p:nvSpPr>
        <p:spPr>
          <a:xfrm>
            <a:off x="694944"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7" name="Text 5"/>
          <p:cNvSpPr/>
          <p:nvPr/>
        </p:nvSpPr>
        <p:spPr>
          <a:xfrm>
            <a:off x="694944"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Actuaries &amp; insurers</a:t>
            </a:r>
            <a:endParaRPr lang="en-US" dirty="0"/>
          </a:p>
        </p:txBody>
      </p:sp>
      <p:sp>
        <p:nvSpPr>
          <p:cNvPr id="8" name="Text 6"/>
          <p:cNvSpPr/>
          <p:nvPr/>
        </p:nvSpPr>
        <p:spPr>
          <a:xfrm>
            <a:off x="694944"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Price term-life premiums and pension annuities directly off nqx and ex; regulators require standardized statutory mortality tables built the same way (detailed in Block 2).</a:t>
            </a:r>
            <a:endParaRPr lang="en-US" sz="1400" dirty="0"/>
          </a:p>
        </p:txBody>
      </p:sp>
      <p:sp>
        <p:nvSpPr>
          <p:cNvPr id="9" name="Shape 7"/>
          <p:cNvSpPr/>
          <p:nvPr/>
        </p:nvSpPr>
        <p:spPr>
          <a:xfrm>
            <a:off x="3340532" y="1600200"/>
            <a:ext cx="2627300" cy="4343400"/>
          </a:xfrm>
          <a:prstGeom prst="roundRect">
            <a:avLst>
              <a:gd name="adj" fmla="val 2436"/>
            </a:avLst>
          </a:prstGeom>
          <a:solidFill>
            <a:srgbClr val="EEF3F8"/>
          </a:solidFill>
          <a:ln w="9525">
            <a:solidFill>
              <a:srgbClr val="D3E0E9"/>
            </a:solidFill>
            <a:prstDash val="solid"/>
          </a:ln>
        </p:spPr>
        <p:txBody>
          <a:bodyPr/>
          <a:lstStyle/>
          <a:p>
            <a:endParaRPr/>
          </a:p>
        </p:txBody>
      </p:sp>
      <p:sp>
        <p:nvSpPr>
          <p:cNvPr id="10" name="Shape 8"/>
          <p:cNvSpPr/>
          <p:nvPr/>
        </p:nvSpPr>
        <p:spPr>
          <a:xfrm>
            <a:off x="3578276" y="1837944"/>
            <a:ext cx="457200" cy="457200"/>
          </a:xfrm>
          <a:prstGeom prst="ellipse">
            <a:avLst/>
          </a:prstGeom>
          <a:solidFill>
            <a:srgbClr val="1C7293"/>
          </a:solidFill>
          <a:ln/>
        </p:spPr>
        <p:txBody>
          <a:bodyPr/>
          <a:lstStyle/>
          <a:p>
            <a:endParaRPr/>
          </a:p>
        </p:txBody>
      </p:sp>
      <p:sp>
        <p:nvSpPr>
          <p:cNvPr id="11" name="Text 9"/>
          <p:cNvSpPr/>
          <p:nvPr/>
        </p:nvSpPr>
        <p:spPr>
          <a:xfrm>
            <a:off x="3578276"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12" name="Text 10"/>
          <p:cNvSpPr/>
          <p:nvPr/>
        </p:nvSpPr>
        <p:spPr>
          <a:xfrm>
            <a:off x="3578276"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Public health agencies</a:t>
            </a:r>
            <a:endParaRPr lang="en-US" dirty="0"/>
          </a:p>
        </p:txBody>
      </p:sp>
      <p:sp>
        <p:nvSpPr>
          <p:cNvPr id="13" name="Text 11"/>
          <p:cNvSpPr/>
          <p:nvPr/>
        </p:nvSpPr>
        <p:spPr>
          <a:xfrm>
            <a:off x="3578276"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WHO and national ministries compute healthy life expectancy (HALE) and cause-deleted life expectancy by extending the same pipeline with disability weights and cause-of-death data (Block 1).</a:t>
            </a:r>
            <a:endParaRPr lang="en-US" sz="1400" dirty="0"/>
          </a:p>
        </p:txBody>
      </p:sp>
      <p:sp>
        <p:nvSpPr>
          <p:cNvPr id="14" name="Shape 12"/>
          <p:cNvSpPr/>
          <p:nvPr/>
        </p:nvSpPr>
        <p:spPr>
          <a:xfrm>
            <a:off x="6223864" y="1600200"/>
            <a:ext cx="2627300" cy="4343400"/>
          </a:xfrm>
          <a:prstGeom prst="roundRect">
            <a:avLst>
              <a:gd name="adj" fmla="val 2436"/>
            </a:avLst>
          </a:prstGeom>
          <a:solidFill>
            <a:srgbClr val="EEF3F8"/>
          </a:solidFill>
          <a:ln w="9525">
            <a:solidFill>
              <a:srgbClr val="D3E0E9"/>
            </a:solidFill>
            <a:prstDash val="solid"/>
          </a:ln>
        </p:spPr>
        <p:txBody>
          <a:bodyPr/>
          <a:lstStyle/>
          <a:p>
            <a:endParaRPr/>
          </a:p>
        </p:txBody>
      </p:sp>
      <p:sp>
        <p:nvSpPr>
          <p:cNvPr id="15" name="Shape 13"/>
          <p:cNvSpPr/>
          <p:nvPr/>
        </p:nvSpPr>
        <p:spPr>
          <a:xfrm>
            <a:off x="6461608" y="1837944"/>
            <a:ext cx="457200" cy="457200"/>
          </a:xfrm>
          <a:prstGeom prst="ellipse">
            <a:avLst/>
          </a:prstGeom>
          <a:solidFill>
            <a:srgbClr val="1C7293"/>
          </a:solidFill>
          <a:ln/>
        </p:spPr>
        <p:txBody>
          <a:bodyPr/>
          <a:lstStyle/>
          <a:p>
            <a:endParaRPr/>
          </a:p>
        </p:txBody>
      </p:sp>
      <p:sp>
        <p:nvSpPr>
          <p:cNvPr id="16" name="Text 14"/>
          <p:cNvSpPr/>
          <p:nvPr/>
        </p:nvSpPr>
        <p:spPr>
          <a:xfrm>
            <a:off x="6461608"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17" name="Text 15"/>
          <p:cNvSpPr/>
          <p:nvPr/>
        </p:nvSpPr>
        <p:spPr>
          <a:xfrm>
            <a:off x="6461608"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Governments &amp; pension systems</a:t>
            </a:r>
            <a:endParaRPr lang="en-US" dirty="0"/>
          </a:p>
        </p:txBody>
      </p:sp>
      <p:sp>
        <p:nvSpPr>
          <p:cNvPr id="18" name="Text 16"/>
          <p:cNvSpPr/>
          <p:nvPr/>
        </p:nvSpPr>
        <p:spPr>
          <a:xfrm>
            <a:off x="6461608"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National statistical offices publish official life tables (Slide 37); social-security actuaries use them to set contribution rates and retirement ages (Block 2).</a:t>
            </a:r>
            <a:endParaRPr lang="en-US" sz="1400" dirty="0"/>
          </a:p>
        </p:txBody>
      </p:sp>
      <p:sp>
        <p:nvSpPr>
          <p:cNvPr id="19" name="Shape 17"/>
          <p:cNvSpPr/>
          <p:nvPr/>
        </p:nvSpPr>
        <p:spPr>
          <a:xfrm>
            <a:off x="9107195" y="1600200"/>
            <a:ext cx="2627300" cy="4343400"/>
          </a:xfrm>
          <a:prstGeom prst="roundRect">
            <a:avLst>
              <a:gd name="adj" fmla="val 2436"/>
            </a:avLst>
          </a:prstGeom>
          <a:solidFill>
            <a:srgbClr val="EEF3F8"/>
          </a:solidFill>
          <a:ln w="9525">
            <a:solidFill>
              <a:srgbClr val="D3E0E9"/>
            </a:solidFill>
            <a:prstDash val="solid"/>
          </a:ln>
        </p:spPr>
        <p:txBody>
          <a:bodyPr/>
          <a:lstStyle/>
          <a:p>
            <a:endParaRPr/>
          </a:p>
        </p:txBody>
      </p:sp>
      <p:sp>
        <p:nvSpPr>
          <p:cNvPr id="20" name="Shape 18"/>
          <p:cNvSpPr/>
          <p:nvPr/>
        </p:nvSpPr>
        <p:spPr>
          <a:xfrm>
            <a:off x="9344939" y="1837944"/>
            <a:ext cx="457200" cy="457200"/>
          </a:xfrm>
          <a:prstGeom prst="ellipse">
            <a:avLst/>
          </a:prstGeom>
          <a:solidFill>
            <a:srgbClr val="1C7293"/>
          </a:solidFill>
          <a:ln/>
        </p:spPr>
        <p:txBody>
          <a:bodyPr/>
          <a:lstStyle/>
          <a:p>
            <a:endParaRPr/>
          </a:p>
        </p:txBody>
      </p:sp>
      <p:sp>
        <p:nvSpPr>
          <p:cNvPr id="21" name="Text 19"/>
          <p:cNvSpPr/>
          <p:nvPr/>
        </p:nvSpPr>
        <p:spPr>
          <a:xfrm>
            <a:off x="9344939"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22" name="Text 20"/>
          <p:cNvSpPr/>
          <p:nvPr/>
        </p:nvSpPr>
        <p:spPr>
          <a:xfrm>
            <a:off x="9344939"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Demographers &amp; planners</a:t>
            </a:r>
            <a:endParaRPr lang="en-US" dirty="0"/>
          </a:p>
        </p:txBody>
      </p:sp>
      <p:sp>
        <p:nvSpPr>
          <p:cNvPr id="23" name="Text 21"/>
          <p:cNvSpPr/>
          <p:nvPr/>
        </p:nvSpPr>
        <p:spPr>
          <a:xfrm>
            <a:off x="9344939"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UN DESA, national statistical offices, and health ministries use life-table survivorship ratios to project future populations and plan hospital, school, and eldercare capacity (Block 3).</a:t>
            </a:r>
            <a:endParaRPr lang="en-US" sz="1400" dirty="0"/>
          </a:p>
        </p:txBody>
      </p:sp>
      <p:sp>
        <p:nvSpPr>
          <p:cNvPr id="24" name="Text 22"/>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5140602 Fundamental Demographic Analysis – Session 5</a:t>
            </a:r>
            <a:endParaRPr lang="en-US" sz="1000" dirty="0"/>
          </a:p>
        </p:txBody>
      </p:sp>
      <p:sp>
        <p:nvSpPr>
          <p:cNvPr id="25" name="Text 23"/>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9 / 80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400" b="1" kern="0" spc="200" dirty="0">
                <a:solidFill>
                  <a:srgbClr val="1C7293"/>
                </a:solidFill>
                <a:latin typeface="Calibri" pitchFamily="34" charset="0"/>
                <a:ea typeface="Calibri" pitchFamily="34" charset="-122"/>
                <a:cs typeface="Calibri" pitchFamily="34" charset="-120"/>
              </a:rPr>
              <a:t>TWO TYPES · PART 1</a:t>
            </a:r>
            <a:endParaRPr lang="en-US" sz="14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3200" b="1" dirty="0">
                <a:solidFill>
                  <a:srgbClr val="0B3D62"/>
                </a:solidFill>
                <a:latin typeface="Cambria" pitchFamily="34" charset="0"/>
                <a:ea typeface="Cambria" pitchFamily="34" charset="-122"/>
                <a:cs typeface="Cambria" pitchFamily="34" charset="-120"/>
              </a:rPr>
              <a:t>Cohort (Generation) vs. Period Life Tables</a:t>
            </a:r>
            <a:endParaRPr lang="en-US" sz="3200" dirty="0"/>
          </a:p>
        </p:txBody>
      </p:sp>
      <p:sp>
        <p:nvSpPr>
          <p:cNvPr id="4" name="Shape 2"/>
          <p:cNvSpPr/>
          <p:nvPr/>
        </p:nvSpPr>
        <p:spPr>
          <a:xfrm>
            <a:off x="457200" y="1600200"/>
            <a:ext cx="5455768" cy="4343400"/>
          </a:xfrm>
          <a:prstGeom prst="roundRect">
            <a:avLst>
              <a:gd name="adj" fmla="val 1474"/>
            </a:avLst>
          </a:prstGeom>
          <a:solidFill>
            <a:srgbClr val="EEF3F8"/>
          </a:solidFill>
          <a:ln w="9525">
            <a:solidFill>
              <a:srgbClr val="D3E0E9"/>
            </a:solidFill>
            <a:prstDash val="solid"/>
          </a:ln>
        </p:spPr>
      </p:sp>
      <p:sp>
        <p:nvSpPr>
          <p:cNvPr id="5" name="Text 3"/>
          <p:cNvSpPr/>
          <p:nvPr/>
        </p:nvSpPr>
        <p:spPr>
          <a:xfrm>
            <a:off x="731520" y="1828800"/>
            <a:ext cx="4907128" cy="365760"/>
          </a:xfrm>
          <a:prstGeom prst="rect">
            <a:avLst/>
          </a:prstGeom>
          <a:noFill/>
          <a:ln/>
        </p:spPr>
        <p:txBody>
          <a:bodyPr wrap="square" lIns="0" tIns="0" rIns="0" bIns="0" rtlCol="0" anchor="ctr"/>
          <a:lstStyle/>
          <a:p>
            <a:pPr marL="0" indent="0">
              <a:buNone/>
            </a:pPr>
            <a:r>
              <a:rPr lang="en-US" sz="1600" b="1" dirty="0">
                <a:solidFill>
                  <a:srgbClr val="0B3D62"/>
                </a:solidFill>
                <a:latin typeface="Calibri" pitchFamily="34" charset="0"/>
                <a:ea typeface="Calibri" pitchFamily="34" charset="-122"/>
                <a:cs typeface="Calibri" pitchFamily="34" charset="-120"/>
              </a:rPr>
              <a:t>COHORT (GENERATION) LIFE TABLE</a:t>
            </a:r>
            <a:endParaRPr lang="en-US" sz="1600" dirty="0"/>
          </a:p>
        </p:txBody>
      </p:sp>
      <p:sp>
        <p:nvSpPr>
          <p:cNvPr id="6" name="Text 4"/>
          <p:cNvSpPr/>
          <p:nvPr/>
        </p:nvSpPr>
        <p:spPr>
          <a:xfrm>
            <a:off x="731520" y="2286000"/>
            <a:ext cx="4907128" cy="3474720"/>
          </a:xfrm>
          <a:prstGeom prst="rect">
            <a:avLst/>
          </a:prstGeom>
          <a:noFill/>
          <a:ln/>
        </p:spPr>
        <p:txBody>
          <a:bodyPr wrap="square" rtlCol="0" anchor="t"/>
          <a:lstStyle/>
          <a:p>
            <a:pPr marL="203200" indent="-203200">
              <a:buSzPct val="100000"/>
              <a:buChar char="•"/>
            </a:pPr>
            <a:r>
              <a:rPr lang="en-US" sz="1600" dirty="0">
                <a:solidFill>
                  <a:srgbClr val="142433"/>
                </a:solidFill>
                <a:latin typeface="Calibri" pitchFamily="34" charset="0"/>
                <a:ea typeface="Calibri" pitchFamily="34" charset="-122"/>
                <a:cs typeface="Calibri" pitchFamily="34" charset="-120"/>
              </a:rPr>
              <a:t>Follows a real birth cohort across its actual lifetime, using the mortality rates that cohort experienced at each age. Requires up to 100+ years of data to complete.</a:t>
            </a:r>
            <a:endParaRPr lang="en-US" sz="1600" dirty="0"/>
          </a:p>
          <a:p>
            <a:pPr marL="203200" indent="-203200">
              <a:buSzPct val="100000"/>
              <a:buChar char="•"/>
            </a:pPr>
            <a:r>
              <a:rPr lang="en-US" sz="1600" dirty="0">
                <a:solidFill>
                  <a:srgbClr val="142433"/>
                </a:solidFill>
                <a:latin typeface="Calibri" pitchFamily="34" charset="0"/>
                <a:ea typeface="Calibri" pitchFamily="34" charset="-122"/>
                <a:cs typeface="Calibri" pitchFamily="34" charset="-120"/>
              </a:rPr>
              <a:t>Rarely usable in real time: only fully observable long after the cohort has died out — useful for historical analysis, not current policy.</a:t>
            </a:r>
            <a:endParaRPr lang="en-US" sz="1600" dirty="0"/>
          </a:p>
        </p:txBody>
      </p:sp>
      <p:sp>
        <p:nvSpPr>
          <p:cNvPr id="7" name="Shape 5"/>
          <p:cNvSpPr/>
          <p:nvPr/>
        </p:nvSpPr>
        <p:spPr>
          <a:xfrm>
            <a:off x="6278728" y="1600200"/>
            <a:ext cx="5455768" cy="4343400"/>
          </a:xfrm>
          <a:prstGeom prst="roundRect">
            <a:avLst>
              <a:gd name="adj" fmla="val 1474"/>
            </a:avLst>
          </a:prstGeom>
          <a:solidFill>
            <a:srgbClr val="E1EAF2"/>
          </a:solidFill>
          <a:ln w="9525">
            <a:solidFill>
              <a:srgbClr val="D3E0E9"/>
            </a:solidFill>
            <a:prstDash val="solid"/>
          </a:ln>
        </p:spPr>
      </p:sp>
      <p:sp>
        <p:nvSpPr>
          <p:cNvPr id="8" name="Text 6"/>
          <p:cNvSpPr/>
          <p:nvPr/>
        </p:nvSpPr>
        <p:spPr>
          <a:xfrm>
            <a:off x="6553048" y="1828800"/>
            <a:ext cx="4907128" cy="365760"/>
          </a:xfrm>
          <a:prstGeom prst="rect">
            <a:avLst/>
          </a:prstGeom>
          <a:noFill/>
          <a:ln/>
        </p:spPr>
        <p:txBody>
          <a:bodyPr wrap="square" lIns="0" tIns="0" rIns="0" bIns="0" rtlCol="0" anchor="ctr"/>
          <a:lstStyle/>
          <a:p>
            <a:pPr marL="0" indent="0">
              <a:buNone/>
            </a:pPr>
            <a:r>
              <a:rPr lang="en-US" sz="1600" b="1" dirty="0">
                <a:solidFill>
                  <a:srgbClr val="0B3D62"/>
                </a:solidFill>
                <a:latin typeface="Calibri" pitchFamily="34" charset="0"/>
                <a:ea typeface="Calibri" pitchFamily="34" charset="-122"/>
                <a:cs typeface="Calibri" pitchFamily="34" charset="-120"/>
              </a:rPr>
              <a:t>PERIOD (CURRENT) LIFE TABLE</a:t>
            </a:r>
            <a:endParaRPr lang="en-US" sz="1600" dirty="0"/>
          </a:p>
        </p:txBody>
      </p:sp>
      <p:sp>
        <p:nvSpPr>
          <p:cNvPr id="9" name="Text 7"/>
          <p:cNvSpPr/>
          <p:nvPr/>
        </p:nvSpPr>
        <p:spPr>
          <a:xfrm>
            <a:off x="6553048" y="2286000"/>
            <a:ext cx="4907128" cy="3474720"/>
          </a:xfrm>
          <a:prstGeom prst="rect">
            <a:avLst/>
          </a:prstGeom>
          <a:noFill/>
          <a:ln/>
        </p:spPr>
        <p:txBody>
          <a:bodyPr wrap="square" rtlCol="0" anchor="t"/>
          <a:lstStyle/>
          <a:p>
            <a:pPr marL="203200" indent="-203200">
              <a:buSzPct val="100000"/>
              <a:buChar char="•"/>
            </a:pPr>
            <a:r>
              <a:rPr lang="en-US" sz="1600" dirty="0">
                <a:solidFill>
                  <a:srgbClr val="142433"/>
                </a:solidFill>
                <a:latin typeface="Calibri" pitchFamily="34" charset="0"/>
                <a:ea typeface="Calibri" pitchFamily="34" charset="-122"/>
                <a:cs typeface="Calibri" pitchFamily="34" charset="-120"/>
              </a:rPr>
              <a:t>Applies the mortality rates observed in a single calendar period (e.g., 2023) across all ages simultaneously, as if one synthetic cohort experienced them all.</a:t>
            </a:r>
            <a:endParaRPr lang="en-US" sz="1600" dirty="0"/>
          </a:p>
          <a:p>
            <a:pPr marL="203200" indent="-203200">
              <a:buSzPct val="100000"/>
              <a:buChar char="•"/>
            </a:pPr>
            <a:r>
              <a:rPr lang="en-US" sz="1600" dirty="0">
                <a:solidFill>
                  <a:srgbClr val="142433"/>
                </a:solidFill>
                <a:latin typeface="Calibri" pitchFamily="34" charset="0"/>
                <a:ea typeface="Calibri" pitchFamily="34" charset="-122"/>
                <a:cs typeface="Calibri" pitchFamily="34" charset="-120"/>
              </a:rPr>
              <a:t>The standard for reporting: this is what "life expectancy at birth, 2023" always means — a snapshot, not a forecast or a real cohort's outcome.</a:t>
            </a:r>
            <a:endParaRPr lang="en-US" sz="1600" dirty="0"/>
          </a:p>
        </p:txBody>
      </p:sp>
      <p:sp>
        <p:nvSpPr>
          <p:cNvPr id="10" name="Text 8"/>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5140602 Fundamental Demographic Analysis – Session 5</a:t>
            </a:r>
            <a:endParaRPr lang="en-US" sz="1000" dirty="0"/>
          </a:p>
        </p:txBody>
      </p:sp>
      <p:sp>
        <p:nvSpPr>
          <p:cNvPr id="11" name="Text 9"/>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10 / 80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b="1" kern="0" spc="200" dirty="0">
                <a:solidFill>
                  <a:srgbClr val="1C7293"/>
                </a:solidFill>
                <a:latin typeface="Calibri" pitchFamily="34" charset="0"/>
                <a:ea typeface="Calibri" pitchFamily="34" charset="-122"/>
                <a:cs typeface="Calibri" pitchFamily="34" charset="-120"/>
              </a:rPr>
              <a:t>TWO TYPES · PART 2</a:t>
            </a:r>
            <a:endParaRPr lang="en-US"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4000" b="1" dirty="0">
                <a:solidFill>
                  <a:srgbClr val="0B3D62"/>
                </a:solidFill>
                <a:latin typeface="Cambria" pitchFamily="34" charset="0"/>
                <a:ea typeface="Cambria" pitchFamily="34" charset="-122"/>
                <a:cs typeface="Cambria" pitchFamily="34" charset="-120"/>
              </a:rPr>
              <a:t>Complete vs. Abridged Life Tables</a:t>
            </a:r>
            <a:endParaRPr lang="en-US" sz="4000" dirty="0"/>
          </a:p>
        </p:txBody>
      </p:sp>
      <p:sp>
        <p:nvSpPr>
          <p:cNvPr id="4" name="Shape 2"/>
          <p:cNvSpPr/>
          <p:nvPr/>
        </p:nvSpPr>
        <p:spPr>
          <a:xfrm>
            <a:off x="457200" y="1600200"/>
            <a:ext cx="5455768" cy="4343400"/>
          </a:xfrm>
          <a:prstGeom prst="roundRect">
            <a:avLst>
              <a:gd name="adj" fmla="val 1474"/>
            </a:avLst>
          </a:prstGeom>
          <a:solidFill>
            <a:srgbClr val="EEF3F8"/>
          </a:solidFill>
          <a:ln w="9525">
            <a:solidFill>
              <a:srgbClr val="D3E0E9"/>
            </a:solidFill>
            <a:prstDash val="solid"/>
          </a:ln>
        </p:spPr>
      </p:sp>
      <p:sp>
        <p:nvSpPr>
          <p:cNvPr id="5" name="Text 3"/>
          <p:cNvSpPr/>
          <p:nvPr/>
        </p:nvSpPr>
        <p:spPr>
          <a:xfrm>
            <a:off x="731520" y="1828800"/>
            <a:ext cx="4907128" cy="365760"/>
          </a:xfrm>
          <a:prstGeom prst="rect">
            <a:avLst/>
          </a:prstGeom>
          <a:noFill/>
          <a:ln/>
        </p:spPr>
        <p:txBody>
          <a:bodyPr wrap="square" lIns="0" tIns="0" rIns="0" bIns="0" rtlCol="0" anchor="ctr"/>
          <a:lstStyle/>
          <a:p>
            <a:pPr marL="0" indent="0">
              <a:buNone/>
            </a:pPr>
            <a:r>
              <a:rPr lang="en-US" sz="2000" b="1" dirty="0">
                <a:solidFill>
                  <a:srgbClr val="0B3D62"/>
                </a:solidFill>
                <a:latin typeface="Calibri" pitchFamily="34" charset="0"/>
                <a:ea typeface="Calibri" pitchFamily="34" charset="-122"/>
                <a:cs typeface="Calibri" pitchFamily="34" charset="-120"/>
              </a:rPr>
              <a:t>COMPLETE LIFE TABLE</a:t>
            </a:r>
            <a:endParaRPr lang="en-US" sz="2000" dirty="0"/>
          </a:p>
        </p:txBody>
      </p:sp>
      <p:sp>
        <p:nvSpPr>
          <p:cNvPr id="6" name="Text 4"/>
          <p:cNvSpPr/>
          <p:nvPr/>
        </p:nvSpPr>
        <p:spPr>
          <a:xfrm>
            <a:off x="731520" y="2286000"/>
            <a:ext cx="4907128" cy="3474720"/>
          </a:xfrm>
          <a:prstGeom prst="rect">
            <a:avLst/>
          </a:prstGeom>
          <a:noFill/>
          <a:ln/>
        </p:spPr>
        <p:txBody>
          <a:bodyPr wrap="square" rtlCol="0" anchor="t"/>
          <a:lstStyle/>
          <a:p>
            <a:pPr marL="203200" indent="-203200">
              <a:buSzPct val="100000"/>
              <a:buChar char="•"/>
            </a:pPr>
            <a:r>
              <a:rPr lang="en-US" sz="2000" dirty="0">
                <a:solidFill>
                  <a:srgbClr val="142433"/>
                </a:solidFill>
                <a:latin typeface="Calibri" pitchFamily="34" charset="0"/>
                <a:ea typeface="Calibri" pitchFamily="34" charset="-122"/>
                <a:cs typeface="Calibri" pitchFamily="34" charset="-120"/>
              </a:rPr>
              <a:t>Single-year age intervals (0, 1, 2, 3, … up to an open-ended terminal group). Needs single-year-of-age death and population data.</a:t>
            </a:r>
            <a:endParaRPr lang="en-US" sz="2000" dirty="0"/>
          </a:p>
          <a:p>
            <a:pPr marL="203200" indent="-203200">
              <a:buSzPct val="100000"/>
              <a:buChar char="•"/>
            </a:pPr>
            <a:r>
              <a:rPr lang="en-US" sz="2000" dirty="0">
                <a:solidFill>
                  <a:srgbClr val="142433"/>
                </a:solidFill>
                <a:latin typeface="Calibri" pitchFamily="34" charset="0"/>
                <a:ea typeface="Calibri" pitchFamily="34" charset="-122"/>
                <a:cs typeface="Calibri" pitchFamily="34" charset="-120"/>
              </a:rPr>
              <a:t>Highest resolution: preferred for detailed mortality research and for countries with high-quality vital registration.</a:t>
            </a:r>
            <a:endParaRPr lang="en-US" sz="2000" dirty="0"/>
          </a:p>
        </p:txBody>
      </p:sp>
      <p:sp>
        <p:nvSpPr>
          <p:cNvPr id="7" name="Shape 5"/>
          <p:cNvSpPr/>
          <p:nvPr/>
        </p:nvSpPr>
        <p:spPr>
          <a:xfrm>
            <a:off x="6278728" y="1600200"/>
            <a:ext cx="5455768" cy="4343400"/>
          </a:xfrm>
          <a:prstGeom prst="roundRect">
            <a:avLst>
              <a:gd name="adj" fmla="val 1474"/>
            </a:avLst>
          </a:prstGeom>
          <a:solidFill>
            <a:srgbClr val="E1EAF2"/>
          </a:solidFill>
          <a:ln w="9525">
            <a:solidFill>
              <a:srgbClr val="D3E0E9"/>
            </a:solidFill>
            <a:prstDash val="solid"/>
          </a:ln>
        </p:spPr>
      </p:sp>
      <p:sp>
        <p:nvSpPr>
          <p:cNvPr id="8" name="Text 6"/>
          <p:cNvSpPr/>
          <p:nvPr/>
        </p:nvSpPr>
        <p:spPr>
          <a:xfrm>
            <a:off x="6553048" y="1828800"/>
            <a:ext cx="4907128" cy="365760"/>
          </a:xfrm>
          <a:prstGeom prst="rect">
            <a:avLst/>
          </a:prstGeom>
          <a:noFill/>
          <a:ln/>
        </p:spPr>
        <p:txBody>
          <a:bodyPr wrap="square" lIns="0" tIns="0" rIns="0" bIns="0" rtlCol="0" anchor="ctr"/>
          <a:lstStyle/>
          <a:p>
            <a:pPr marL="0" indent="0">
              <a:buNone/>
            </a:pPr>
            <a:r>
              <a:rPr lang="en-US" sz="2000" b="1" dirty="0">
                <a:solidFill>
                  <a:srgbClr val="0B3D62"/>
                </a:solidFill>
                <a:latin typeface="Calibri" pitchFamily="34" charset="0"/>
                <a:ea typeface="Calibri" pitchFamily="34" charset="-122"/>
                <a:cs typeface="Calibri" pitchFamily="34" charset="-120"/>
              </a:rPr>
              <a:t>ABRIDGED LIFE TABLE</a:t>
            </a:r>
            <a:endParaRPr lang="en-US" sz="2000" dirty="0"/>
          </a:p>
        </p:txBody>
      </p:sp>
      <p:sp>
        <p:nvSpPr>
          <p:cNvPr id="9" name="Text 7"/>
          <p:cNvSpPr/>
          <p:nvPr/>
        </p:nvSpPr>
        <p:spPr>
          <a:xfrm>
            <a:off x="6553048" y="2286000"/>
            <a:ext cx="4907128" cy="3474720"/>
          </a:xfrm>
          <a:prstGeom prst="rect">
            <a:avLst/>
          </a:prstGeom>
          <a:noFill/>
          <a:ln/>
        </p:spPr>
        <p:txBody>
          <a:bodyPr wrap="square" rtlCol="0" anchor="t"/>
          <a:lstStyle/>
          <a:p>
            <a:pPr marL="203200" indent="-203200">
              <a:buSzPct val="100000"/>
              <a:buChar char="•"/>
            </a:pPr>
            <a:r>
              <a:rPr lang="en-US" sz="2000" dirty="0">
                <a:solidFill>
                  <a:srgbClr val="142433"/>
                </a:solidFill>
                <a:latin typeface="Calibri" pitchFamily="34" charset="0"/>
                <a:ea typeface="Calibri" pitchFamily="34" charset="-122"/>
                <a:cs typeface="Calibri" pitchFamily="34" charset="-120"/>
              </a:rPr>
              <a:t>Wider age intervals: 0, 1–4, then 5-year groups (5–9, 10–14, …) to an open interval (e.g., 85+). Standard n = 5 except the first two groups.</a:t>
            </a:r>
            <a:endParaRPr lang="en-US" sz="2000" dirty="0"/>
          </a:p>
          <a:p>
            <a:pPr marL="203200" indent="-203200">
              <a:buSzPct val="100000"/>
              <a:buChar char="•"/>
            </a:pPr>
            <a:r>
              <a:rPr lang="en-US" sz="2000" dirty="0">
                <a:solidFill>
                  <a:srgbClr val="142433"/>
                </a:solidFill>
                <a:latin typeface="Calibri" pitchFamily="34" charset="0"/>
                <a:ea typeface="Calibri" pitchFamily="34" charset="-122"/>
                <a:cs typeface="Calibri" pitchFamily="34" charset="-120"/>
              </a:rPr>
              <a:t>Practical for most countries: used when only grouped age data are available (most censuses/surveys); today's worked examples build abridged tables.</a:t>
            </a:r>
            <a:endParaRPr lang="en-US" sz="2000" dirty="0"/>
          </a:p>
        </p:txBody>
      </p:sp>
      <p:sp>
        <p:nvSpPr>
          <p:cNvPr id="10" name="Text 8"/>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1100" dirty="0">
                <a:solidFill>
                  <a:srgbClr val="5B6B79"/>
                </a:solidFill>
                <a:latin typeface="Calibri" pitchFamily="34" charset="0"/>
                <a:ea typeface="Calibri" pitchFamily="34" charset="-122"/>
                <a:cs typeface="Calibri" pitchFamily="34" charset="-120"/>
              </a:rPr>
              <a:t>5140602 Fundamental Demographic Analysis – Session 5</a:t>
            </a:r>
            <a:endParaRPr lang="en-US" sz="1100" dirty="0"/>
          </a:p>
        </p:txBody>
      </p:sp>
      <p:sp>
        <p:nvSpPr>
          <p:cNvPr id="11" name="Text 9"/>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1100" dirty="0">
                <a:solidFill>
                  <a:srgbClr val="5B6B79"/>
                </a:solidFill>
                <a:latin typeface="Calibri" pitchFamily="34" charset="0"/>
                <a:ea typeface="Calibri" pitchFamily="34" charset="-122"/>
                <a:cs typeface="Calibri" pitchFamily="34" charset="-120"/>
              </a:rPr>
              <a:t>11 / 80</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NOTATION AT A GLANCE</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Life-Table Notation &amp; Terminology: Full Glossary</a:t>
            </a:r>
            <a:endParaRPr lang="en-US" sz="2700" dirty="0"/>
          </a:p>
        </p:txBody>
      </p:sp>
      <p:graphicFrame>
        <p:nvGraphicFramePr>
          <p:cNvPr id="28" name="Table 0"/>
          <p:cNvGraphicFramePr>
            <a:graphicFrameLocks noGrp="1"/>
          </p:cNvGraphicFramePr>
          <p:nvPr>
            <p:extLst>
              <p:ext uri="{D42A27DB-BD31-4B8C-83A1-F6EECF244321}">
                <p14:modId xmlns:p14="http://schemas.microsoft.com/office/powerpoint/2010/main" val="3400748135"/>
              </p:ext>
            </p:extLst>
          </p:nvPr>
        </p:nvGraphicFramePr>
        <p:xfrm>
          <a:off x="457200" y="1536192"/>
          <a:ext cx="11274552" cy="4500000"/>
        </p:xfrm>
        <a:graphic>
          <a:graphicData uri="http://schemas.openxmlformats.org/drawingml/2006/table">
            <a:tbl>
              <a:tblPr/>
              <a:tblGrid>
                <a:gridCol w="29260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5239512">
                  <a:extLst>
                    <a:ext uri="{9D8B030D-6E8A-4147-A177-3AD203B41FA5}">
                      <a16:colId xmlns:a16="http://schemas.microsoft.com/office/drawing/2014/main" val="20002"/>
                    </a:ext>
                  </a:extLst>
                </a:gridCol>
              </a:tblGrid>
              <a:tr h="562500">
                <a:tc>
                  <a:txBody>
                    <a:bodyPr/>
                    <a:lstStyle/>
                    <a:p>
                      <a:r>
                        <a:rPr sz="1200" b="1" dirty="0">
                          <a:solidFill>
                            <a:srgbClr val="FFFFFF"/>
                          </a:solidFill>
                        </a:rPr>
                        <a:t>Symbol</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tc>
                  <a:txBody>
                    <a:bodyPr/>
                    <a:lstStyle/>
                    <a:p>
                      <a:r>
                        <a:rPr sz="1200" b="1">
                          <a:solidFill>
                            <a:srgbClr val="FFFFFF"/>
                          </a:solidFill>
                        </a:rPr>
                        <a:t>Name</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tc>
                  <a:txBody>
                    <a:bodyPr/>
                    <a:lstStyle/>
                    <a:p>
                      <a:r>
                        <a:rPr sz="1200" b="1">
                          <a:solidFill>
                            <a:srgbClr val="FFFFFF"/>
                          </a:solidFill>
                        </a:rPr>
                        <a:t>Meaning</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extLst>
                  <a:ext uri="{0D108BD9-81ED-4DB2-BD59-A6C34878D82A}">
                    <a16:rowId xmlns:a16="http://schemas.microsoft.com/office/drawing/2014/main" val="10000"/>
                  </a:ext>
                </a:extLst>
              </a:tr>
              <a:tr h="562500">
                <a:tc>
                  <a:txBody>
                    <a:bodyPr/>
                    <a:lstStyle/>
                    <a:p>
                      <a:r>
                        <a:rPr sz="1200"/>
                        <a:t>x, n</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BEAEA"/>
                    </a:solidFill>
                  </a:tcPr>
                </a:tc>
                <a:tc>
                  <a:txBody>
                    <a:bodyPr/>
                    <a:lstStyle/>
                    <a:p>
                      <a:r>
                        <a:rPr sz="1200"/>
                        <a:t>Exact age; interval width</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BEAEA"/>
                    </a:solidFill>
                  </a:tcPr>
                </a:tc>
                <a:tc>
                  <a:txBody>
                    <a:bodyPr/>
                    <a:lstStyle/>
                    <a:p>
                      <a:r>
                        <a:rPr sz="1200"/>
                        <a:t>x marks the start of interval [x, x+n); n=1 for complete tables, n=5 for most abridged groups (n=4 for ages 1–4).</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BEAEA"/>
                    </a:solidFill>
                  </a:tcPr>
                </a:tc>
                <a:extLst>
                  <a:ext uri="{0D108BD9-81ED-4DB2-BD59-A6C34878D82A}">
                    <a16:rowId xmlns:a16="http://schemas.microsoft.com/office/drawing/2014/main" val="10001"/>
                  </a:ext>
                </a:extLst>
              </a:tr>
              <a:tr h="562500">
                <a:tc>
                  <a:txBody>
                    <a:bodyPr/>
                    <a:lstStyle/>
                    <a:p>
                      <a:r>
                        <a:rPr sz="1200"/>
                        <a:t>nMx</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tc>
                  <a:txBody>
                    <a:bodyPr/>
                    <a:lstStyle/>
                    <a:p>
                      <a:r>
                        <a:rPr sz="1200"/>
                        <a:t>Age-specific death rate</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tc>
                  <a:txBody>
                    <a:bodyPr/>
                    <a:lstStyle/>
                    <a:p>
                      <a:r>
                        <a:rPr sz="1200"/>
                        <a:t>nDx / nNx — observed deaths divided by the mid-period population at risk (Slide 17).</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extLst>
                  <a:ext uri="{0D108BD9-81ED-4DB2-BD59-A6C34878D82A}">
                    <a16:rowId xmlns:a16="http://schemas.microsoft.com/office/drawing/2014/main" val="10002"/>
                  </a:ext>
                </a:extLst>
              </a:tr>
              <a:tr h="562500">
                <a:tc>
                  <a:txBody>
                    <a:bodyPr/>
                    <a:lstStyle/>
                    <a:p>
                      <a:r>
                        <a:rPr sz="1200"/>
                        <a:t>nqx, npx</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1EAF2"/>
                    </a:solidFill>
                  </a:tcPr>
                </a:tc>
                <a:tc>
                  <a:txBody>
                    <a:bodyPr/>
                    <a:lstStyle/>
                    <a:p>
                      <a:r>
                        <a:rPr sz="1200" dirty="0"/>
                        <a:t>Probability of dying / surviving</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1EAF2"/>
                    </a:solidFill>
                  </a:tcPr>
                </a:tc>
                <a:tc>
                  <a:txBody>
                    <a:bodyPr/>
                    <a:lstStyle/>
                    <a:p>
                      <a:r>
                        <a:rPr sz="1200"/>
                        <a:t>nqx = probability of dying before x+n; npx = 1 − nqx (Slide 18).</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1EAF2"/>
                    </a:solidFill>
                  </a:tcPr>
                </a:tc>
                <a:extLst>
                  <a:ext uri="{0D108BD9-81ED-4DB2-BD59-A6C34878D82A}">
                    <a16:rowId xmlns:a16="http://schemas.microsoft.com/office/drawing/2014/main" val="10003"/>
                  </a:ext>
                </a:extLst>
              </a:tr>
              <a:tr h="562500">
                <a:tc>
                  <a:txBody>
                    <a:bodyPr/>
                    <a:lstStyle/>
                    <a:p>
                      <a:r>
                        <a:rPr sz="1200"/>
                        <a:t>lx, l0</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tc>
                  <a:txBody>
                    <a:bodyPr/>
                    <a:lstStyle/>
                    <a:p>
                      <a:r>
                        <a:rPr sz="1200"/>
                        <a:t>Survivors; radix</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tc>
                  <a:txBody>
                    <a:bodyPr/>
                    <a:lstStyle/>
                    <a:p>
                      <a:r>
                        <a:rPr sz="1200" dirty="0"/>
                        <a:t>lx = survivors of the cohort to exact age x; l0 = radix, conventionally 100,000 (Slide 19).</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extLst>
                  <a:ext uri="{0D108BD9-81ED-4DB2-BD59-A6C34878D82A}">
                    <a16:rowId xmlns:a16="http://schemas.microsoft.com/office/drawing/2014/main" val="10004"/>
                  </a:ext>
                </a:extLst>
              </a:tr>
              <a:tr h="562500">
                <a:tc>
                  <a:txBody>
                    <a:bodyPr/>
                    <a:lstStyle/>
                    <a:p>
                      <a:r>
                        <a:rPr sz="1200"/>
                        <a:t>ndx</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tc>
                  <a:txBody>
                    <a:bodyPr/>
                    <a:lstStyle/>
                    <a:p>
                      <a:r>
                        <a:rPr sz="1200"/>
                        <a:t>Deaths in the interval</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tc>
                  <a:txBody>
                    <a:bodyPr/>
                    <a:lstStyle/>
                    <a:p>
                      <a:r>
                        <a:rPr sz="1200" dirty="0" err="1"/>
                        <a:t>ndx</a:t>
                      </a:r>
                      <a:r>
                        <a:rPr sz="1200" dirty="0"/>
                        <a:t> = lx − </a:t>
                      </a:r>
                      <a:r>
                        <a:rPr sz="1200" dirty="0" err="1"/>
                        <a:t>lx+n</a:t>
                      </a:r>
                      <a:r>
                        <a:rPr sz="1200" dirty="0"/>
                        <a:t> = lx × </a:t>
                      </a:r>
                      <a:r>
                        <a:rPr sz="1200" dirty="0" err="1"/>
                        <a:t>nqx</a:t>
                      </a:r>
                      <a:r>
                        <a:rPr sz="1200" dirty="0"/>
                        <a:t> (Slide 20).</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extLst>
                  <a:ext uri="{0D108BD9-81ED-4DB2-BD59-A6C34878D82A}">
                    <a16:rowId xmlns:a16="http://schemas.microsoft.com/office/drawing/2014/main" val="2490175010"/>
                  </a:ext>
                </a:extLst>
              </a:tr>
              <a:tr h="562500">
                <a:tc>
                  <a:txBody>
                    <a:bodyPr/>
                    <a:lstStyle/>
                    <a:p>
                      <a:r>
                        <a:rPr sz="1200"/>
                        <a:t>nLx, Tx</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tc>
                  <a:txBody>
                    <a:bodyPr/>
                    <a:lstStyle/>
                    <a:p>
                      <a:r>
                        <a:rPr sz="1200"/>
                        <a:t>Person-years lived / remaining</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tc>
                  <a:txBody>
                    <a:bodyPr/>
                    <a:lstStyle/>
                    <a:p>
                      <a:r>
                        <a:rPr sz="1200" dirty="0" err="1"/>
                        <a:t>nLx</a:t>
                      </a:r>
                      <a:r>
                        <a:rPr sz="1200" dirty="0"/>
                        <a:t> = years lived by the cohort in [x, </a:t>
                      </a:r>
                      <a:r>
                        <a:rPr sz="1200" dirty="0" err="1"/>
                        <a:t>x+n</a:t>
                      </a:r>
                      <a:r>
                        <a:rPr sz="1200" dirty="0"/>
                        <a:t>); Tx = Σ of all </a:t>
                      </a:r>
                      <a:r>
                        <a:rPr sz="1200" dirty="0" err="1"/>
                        <a:t>nLy</a:t>
                      </a:r>
                      <a:r>
                        <a:rPr sz="1200" dirty="0"/>
                        <a:t> for y ≥ x (Slides 21, 23).</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extLst>
                  <a:ext uri="{0D108BD9-81ED-4DB2-BD59-A6C34878D82A}">
                    <a16:rowId xmlns:a16="http://schemas.microsoft.com/office/drawing/2014/main" val="2631895135"/>
                  </a:ext>
                </a:extLst>
              </a:tr>
              <a:tr h="562500">
                <a:tc>
                  <a:txBody>
                    <a:bodyPr/>
                    <a:lstStyle/>
                    <a:p>
                      <a:r>
                        <a:rPr sz="1200"/>
                        <a:t>ex, nax, ω</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tc>
                  <a:txBody>
                    <a:bodyPr/>
                    <a:lstStyle/>
                    <a:p>
                      <a:r>
                        <a:rPr sz="1200"/>
                        <a:t>Life expectancy; separation factor; terminal age</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tc>
                  <a:txBody>
                    <a:bodyPr/>
                    <a:lstStyle/>
                    <a:p>
                      <a:r>
                        <a:rPr sz="1200" dirty="0"/>
                        <a:t>ex = Tx / lx; </a:t>
                      </a:r>
                      <a:r>
                        <a:rPr sz="1200" dirty="0" err="1"/>
                        <a:t>nax</a:t>
                      </a:r>
                      <a:r>
                        <a:rPr sz="1200" dirty="0"/>
                        <a:t> = average years lived in the interval by those who die in it; ω = the open-ended final age group (Slides 24, 26).</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extLst>
                  <a:ext uri="{0D108BD9-81ED-4DB2-BD59-A6C34878D82A}">
                    <a16:rowId xmlns:a16="http://schemas.microsoft.com/office/drawing/2014/main" val="1054094159"/>
                  </a:ext>
                </a:extLst>
              </a:tr>
            </a:tbl>
          </a:graphicData>
        </a:graphic>
      </p:graphicFrame>
      <p:sp>
        <p:nvSpPr>
          <p:cNvPr id="5" name="Text 2"/>
          <p:cNvSpPr/>
          <p:nvPr/>
        </p:nvSpPr>
        <p:spPr>
          <a:xfrm>
            <a:off x="457200" y="6263640"/>
            <a:ext cx="11277295" cy="420624"/>
          </a:xfrm>
          <a:prstGeom prst="rect">
            <a:avLst/>
          </a:prstGeom>
          <a:noFill/>
          <a:ln/>
        </p:spPr>
        <p:txBody>
          <a:bodyPr wrap="square" lIns="0" tIns="0" rIns="0" bIns="0" rtlCol="0" anchor="t"/>
          <a:lstStyle/>
          <a:p>
            <a:pPr marL="0" indent="0" algn="l">
              <a:buNone/>
            </a:pPr>
            <a:r>
              <a:rPr lang="en-US" sz="800" i="1" dirty="0">
                <a:solidFill>
                  <a:srgbClr val="5B6B79"/>
                </a:solidFill>
                <a:latin typeface="Calibri" pitchFamily="34" charset="0"/>
                <a:ea typeface="Calibri" pitchFamily="34" charset="-122"/>
                <a:cs typeface="Calibri" pitchFamily="34" charset="-120"/>
              </a:rPr>
              <a:t>Notation follows Preston, Heuveline &amp; Guillot (2001), the convention adopted in UN DESA and WHO official life-table publications.</a:t>
            </a:r>
            <a:endParaRPr lang="en-US" sz="800" dirty="0"/>
          </a:p>
        </p:txBody>
      </p:sp>
      <p:sp>
        <p:nvSpPr>
          <p:cNvPr id="6" name="Text 3"/>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7" name="Text 4"/>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12 / 80</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400" b="1" kern="0" spc="200" dirty="0">
                <a:solidFill>
                  <a:srgbClr val="1C7293"/>
                </a:solidFill>
                <a:latin typeface="Calibri" pitchFamily="34" charset="0"/>
                <a:ea typeface="Calibri" pitchFamily="34" charset="-122"/>
                <a:cs typeface="Calibri" pitchFamily="34" charset="-120"/>
              </a:rPr>
              <a:t>GROUP WORK 1 · 10–12 MINUTES · BEFORE WE BUILD</a:t>
            </a:r>
            <a:endParaRPr lang="en-US" sz="14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3200" b="1" dirty="0">
                <a:solidFill>
                  <a:srgbClr val="0B3D62"/>
                </a:solidFill>
                <a:latin typeface="Cambria" pitchFamily="34" charset="0"/>
                <a:ea typeface="Cambria" pitchFamily="34" charset="-122"/>
                <a:cs typeface="Cambria" pitchFamily="34" charset="-120"/>
              </a:rPr>
              <a:t>Find and Interpret a Real Official Life Table</a:t>
            </a:r>
            <a:endParaRPr lang="en-US" sz="3200" dirty="0"/>
          </a:p>
        </p:txBody>
      </p:sp>
      <p:sp>
        <p:nvSpPr>
          <p:cNvPr id="4" name="Shape 2"/>
          <p:cNvSpPr/>
          <p:nvPr/>
        </p:nvSpPr>
        <p:spPr>
          <a:xfrm>
            <a:off x="457200" y="1600200"/>
            <a:ext cx="2627300" cy="4343400"/>
          </a:xfrm>
          <a:prstGeom prst="roundRect">
            <a:avLst>
              <a:gd name="adj" fmla="val 2436"/>
            </a:avLst>
          </a:prstGeom>
          <a:solidFill>
            <a:srgbClr val="EEF3F8"/>
          </a:solidFill>
          <a:ln w="9525">
            <a:solidFill>
              <a:srgbClr val="D3E0E9"/>
            </a:solidFill>
            <a:prstDash val="solid"/>
          </a:ln>
        </p:spPr>
      </p:sp>
      <p:sp>
        <p:nvSpPr>
          <p:cNvPr id="5" name="Shape 3"/>
          <p:cNvSpPr/>
          <p:nvPr/>
        </p:nvSpPr>
        <p:spPr>
          <a:xfrm>
            <a:off x="694944" y="1837944"/>
            <a:ext cx="457200" cy="457200"/>
          </a:xfrm>
          <a:prstGeom prst="ellipse">
            <a:avLst/>
          </a:prstGeom>
          <a:solidFill>
            <a:srgbClr val="1C7293"/>
          </a:solidFill>
          <a:ln/>
        </p:spPr>
      </p:sp>
      <p:sp>
        <p:nvSpPr>
          <p:cNvPr id="6" name="Text 4"/>
          <p:cNvSpPr/>
          <p:nvPr/>
        </p:nvSpPr>
        <p:spPr>
          <a:xfrm>
            <a:off x="694944"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7" name="Text 5"/>
          <p:cNvSpPr/>
          <p:nvPr/>
        </p:nvSpPr>
        <p:spPr>
          <a:xfrm>
            <a:off x="694944"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Form groups of 3–4</a:t>
            </a:r>
            <a:endParaRPr lang="en-US" dirty="0"/>
          </a:p>
        </p:txBody>
      </p:sp>
      <p:sp>
        <p:nvSpPr>
          <p:cNvPr id="8" name="Text 6"/>
          <p:cNvSpPr/>
          <p:nvPr/>
        </p:nvSpPr>
        <p:spPr>
          <a:xfrm>
            <a:off x="694944"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Each group opens ONE real official life-table source: Thailand's NSO Statistical Yearbook (nso.go.th), the WHO Global Health Observatory (who.int/data/gho), or the UN World Population Prospects data portal (population.un.org/wpp).</a:t>
            </a:r>
            <a:endParaRPr lang="en-US" sz="1400" dirty="0"/>
          </a:p>
        </p:txBody>
      </p:sp>
      <p:sp>
        <p:nvSpPr>
          <p:cNvPr id="9" name="Shape 7"/>
          <p:cNvSpPr/>
          <p:nvPr/>
        </p:nvSpPr>
        <p:spPr>
          <a:xfrm>
            <a:off x="3340532" y="1600200"/>
            <a:ext cx="2627300" cy="4343400"/>
          </a:xfrm>
          <a:prstGeom prst="roundRect">
            <a:avLst>
              <a:gd name="adj" fmla="val 2436"/>
            </a:avLst>
          </a:prstGeom>
          <a:solidFill>
            <a:srgbClr val="EEF3F8"/>
          </a:solidFill>
          <a:ln w="9525">
            <a:solidFill>
              <a:srgbClr val="D3E0E9"/>
            </a:solidFill>
            <a:prstDash val="solid"/>
          </a:ln>
        </p:spPr>
      </p:sp>
      <p:sp>
        <p:nvSpPr>
          <p:cNvPr id="10" name="Shape 8"/>
          <p:cNvSpPr/>
          <p:nvPr/>
        </p:nvSpPr>
        <p:spPr>
          <a:xfrm>
            <a:off x="3578276" y="1837944"/>
            <a:ext cx="457200" cy="457200"/>
          </a:xfrm>
          <a:prstGeom prst="ellipse">
            <a:avLst/>
          </a:prstGeom>
          <a:solidFill>
            <a:srgbClr val="1C7293"/>
          </a:solidFill>
          <a:ln/>
        </p:spPr>
      </p:sp>
      <p:sp>
        <p:nvSpPr>
          <p:cNvPr id="11" name="Text 9"/>
          <p:cNvSpPr/>
          <p:nvPr/>
        </p:nvSpPr>
        <p:spPr>
          <a:xfrm>
            <a:off x="3578276"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2" name="Text 10"/>
          <p:cNvSpPr/>
          <p:nvPr/>
        </p:nvSpPr>
        <p:spPr>
          <a:xfrm>
            <a:off x="3578276"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Locate three numbers</a:t>
            </a:r>
            <a:endParaRPr lang="en-US" dirty="0"/>
          </a:p>
        </p:txBody>
      </p:sp>
      <p:sp>
        <p:nvSpPr>
          <p:cNvPr id="13" name="Text 11"/>
          <p:cNvSpPr/>
          <p:nvPr/>
        </p:nvSpPr>
        <p:spPr>
          <a:xfrm>
            <a:off x="3578276"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Find e0, e65, and the nqx (or 5q0) for the youngest age group in your chosen table — record the exact source, country, and reference period.</a:t>
            </a:r>
            <a:endParaRPr lang="en-US" sz="1400" dirty="0"/>
          </a:p>
        </p:txBody>
      </p:sp>
      <p:sp>
        <p:nvSpPr>
          <p:cNvPr id="14" name="Shape 12"/>
          <p:cNvSpPr/>
          <p:nvPr/>
        </p:nvSpPr>
        <p:spPr>
          <a:xfrm>
            <a:off x="6223864" y="1600200"/>
            <a:ext cx="2627300" cy="4343400"/>
          </a:xfrm>
          <a:prstGeom prst="roundRect">
            <a:avLst>
              <a:gd name="adj" fmla="val 2436"/>
            </a:avLst>
          </a:prstGeom>
          <a:solidFill>
            <a:srgbClr val="EEF3F8"/>
          </a:solidFill>
          <a:ln w="9525">
            <a:solidFill>
              <a:srgbClr val="D3E0E9"/>
            </a:solidFill>
            <a:prstDash val="solid"/>
          </a:ln>
        </p:spPr>
      </p:sp>
      <p:sp>
        <p:nvSpPr>
          <p:cNvPr id="15" name="Shape 13"/>
          <p:cNvSpPr/>
          <p:nvPr/>
        </p:nvSpPr>
        <p:spPr>
          <a:xfrm>
            <a:off x="6461608" y="1837944"/>
            <a:ext cx="457200" cy="457200"/>
          </a:xfrm>
          <a:prstGeom prst="ellipse">
            <a:avLst/>
          </a:prstGeom>
          <a:solidFill>
            <a:srgbClr val="1C7293"/>
          </a:solidFill>
          <a:ln/>
        </p:spPr>
      </p:sp>
      <p:sp>
        <p:nvSpPr>
          <p:cNvPr id="16" name="Text 14"/>
          <p:cNvSpPr/>
          <p:nvPr/>
        </p:nvSpPr>
        <p:spPr>
          <a:xfrm>
            <a:off x="6461608"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7" name="Text 15"/>
          <p:cNvSpPr/>
          <p:nvPr/>
        </p:nvSpPr>
        <p:spPr>
          <a:xfrm>
            <a:off x="6461608"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Predict, then check</a:t>
            </a:r>
            <a:endParaRPr lang="en-US" dirty="0"/>
          </a:p>
        </p:txBody>
      </p:sp>
      <p:sp>
        <p:nvSpPr>
          <p:cNvPr id="18" name="Text 16"/>
          <p:cNvSpPr/>
          <p:nvPr/>
        </p:nvSpPr>
        <p:spPr>
          <a:xfrm>
            <a:off x="6461608"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Before you build anything yourselves today, discuss: which columns do you think were computed FROM which others? You will find out for certain in the next ten slides.</a:t>
            </a:r>
            <a:endParaRPr lang="en-US" sz="1400" dirty="0"/>
          </a:p>
        </p:txBody>
      </p:sp>
      <p:sp>
        <p:nvSpPr>
          <p:cNvPr id="19" name="Shape 17"/>
          <p:cNvSpPr/>
          <p:nvPr/>
        </p:nvSpPr>
        <p:spPr>
          <a:xfrm>
            <a:off x="9107195" y="1600200"/>
            <a:ext cx="2627300" cy="4343400"/>
          </a:xfrm>
          <a:prstGeom prst="roundRect">
            <a:avLst>
              <a:gd name="adj" fmla="val 2436"/>
            </a:avLst>
          </a:prstGeom>
          <a:solidFill>
            <a:srgbClr val="EEF3F8"/>
          </a:solidFill>
          <a:ln w="9525">
            <a:solidFill>
              <a:srgbClr val="D3E0E9"/>
            </a:solidFill>
            <a:prstDash val="solid"/>
          </a:ln>
        </p:spPr>
      </p:sp>
      <p:sp>
        <p:nvSpPr>
          <p:cNvPr id="20" name="Shape 18"/>
          <p:cNvSpPr/>
          <p:nvPr/>
        </p:nvSpPr>
        <p:spPr>
          <a:xfrm>
            <a:off x="9344939" y="1837944"/>
            <a:ext cx="457200" cy="457200"/>
          </a:xfrm>
          <a:prstGeom prst="ellipse">
            <a:avLst/>
          </a:prstGeom>
          <a:solidFill>
            <a:srgbClr val="1C7293"/>
          </a:solidFill>
          <a:ln/>
        </p:spPr>
      </p:sp>
      <p:sp>
        <p:nvSpPr>
          <p:cNvPr id="21" name="Text 19"/>
          <p:cNvSpPr/>
          <p:nvPr/>
        </p:nvSpPr>
        <p:spPr>
          <a:xfrm>
            <a:off x="9344939"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22" name="Text 20"/>
          <p:cNvSpPr/>
          <p:nvPr/>
        </p:nvSpPr>
        <p:spPr>
          <a:xfrm>
            <a:off x="9344939"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Report back</a:t>
            </a:r>
            <a:endParaRPr lang="en-US" dirty="0"/>
          </a:p>
        </p:txBody>
      </p:sp>
      <p:sp>
        <p:nvSpPr>
          <p:cNvPr id="23" name="Text 21"/>
          <p:cNvSpPr/>
          <p:nvPr/>
        </p:nvSpPr>
        <p:spPr>
          <a:xfrm>
            <a:off x="9344939"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One spokesperson per group states, in one sentence, the country/period chosen and the e0 value found — we will return to these real numbers as we build our own tables.</a:t>
            </a:r>
            <a:endParaRPr lang="en-US" sz="1400" dirty="0"/>
          </a:p>
        </p:txBody>
      </p:sp>
      <p:sp>
        <p:nvSpPr>
          <p:cNvPr id="24" name="Text 22"/>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5140602 Fundamental Demographic Analysis – Session 5</a:t>
            </a:r>
            <a:endParaRPr lang="en-US" sz="1000" dirty="0"/>
          </a:p>
        </p:txBody>
      </p:sp>
      <p:sp>
        <p:nvSpPr>
          <p:cNvPr id="25" name="Text 23"/>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15 / 80</a:t>
            </a:r>
            <a:endParaRPr lang="en-US" sz="1000" dirty="0"/>
          </a:p>
        </p:txBody>
      </p:sp>
      <p:sp>
        <p:nvSpPr>
          <p:cNvPr id="27" name="Text 1">
            <a:extLst>
              <a:ext uri="{FF2B5EF4-FFF2-40B4-BE49-F238E27FC236}">
                <a16:creationId xmlns:a16="http://schemas.microsoft.com/office/drawing/2014/main" id="{40E17CA4-733C-4824-CE97-AFD7C63EA022}"/>
              </a:ext>
            </a:extLst>
          </p:cNvPr>
          <p:cNvSpPr/>
          <p:nvPr/>
        </p:nvSpPr>
        <p:spPr>
          <a:xfrm>
            <a:off x="585216" y="1033272"/>
            <a:ext cx="11274552" cy="640080"/>
          </a:xfrm>
          <a:prstGeom prst="rect">
            <a:avLst/>
          </a:prstGeom>
          <a:noFill/>
          <a:ln/>
        </p:spPr>
        <p:txBody>
          <a:bodyPr wrap="square" lIns="0" tIns="0" rIns="0" bIns="0" rtlCol="0" anchor="t"/>
          <a:lstStyle/>
          <a:p>
            <a:pPr marL="0" indent="0" algn="l">
              <a:buNone/>
            </a:pPr>
            <a:r>
              <a:rPr lang="en-US" sz="2400" b="1" dirty="0">
                <a:solidFill>
                  <a:srgbClr val="FF0000"/>
                </a:solidFill>
                <a:latin typeface="Cambria" pitchFamily="34" charset="0"/>
                <a:ea typeface="Cambria" pitchFamily="34" charset="-122"/>
              </a:rPr>
              <a:t>Working in group– Search for the real life table, Identify the type </a:t>
            </a:r>
            <a:endParaRPr lang="en-US" sz="2400" dirty="0">
              <a:solidFill>
                <a:srgbClr val="FF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400" b="1" kern="0" spc="200" dirty="0">
                <a:solidFill>
                  <a:srgbClr val="1C7293"/>
                </a:solidFill>
                <a:latin typeface="Calibri" pitchFamily="34" charset="0"/>
                <a:ea typeface="Calibri" pitchFamily="34" charset="-122"/>
                <a:cs typeface="Calibri" pitchFamily="34" charset="-120"/>
              </a:rPr>
              <a:t>READING THE NOTATION</a:t>
            </a:r>
            <a:endParaRPr lang="en-US" sz="14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3200" b="1" dirty="0">
                <a:solidFill>
                  <a:srgbClr val="0B3D62"/>
                </a:solidFill>
                <a:latin typeface="Cambria" pitchFamily="34" charset="0"/>
                <a:ea typeface="Cambria" pitchFamily="34" charset="-122"/>
                <a:cs typeface="Cambria" pitchFamily="34" charset="-120"/>
              </a:rPr>
              <a:t>How to Read Expressions Like 5q10 and nMx</a:t>
            </a:r>
            <a:endParaRPr lang="en-US" sz="3200" dirty="0"/>
          </a:p>
        </p:txBody>
      </p:sp>
      <p:sp>
        <p:nvSpPr>
          <p:cNvPr id="4" name="Shape 2"/>
          <p:cNvSpPr/>
          <p:nvPr/>
        </p:nvSpPr>
        <p:spPr>
          <a:xfrm>
            <a:off x="457200" y="1481328"/>
            <a:ext cx="11277295" cy="777240"/>
          </a:xfrm>
          <a:prstGeom prst="roundRect">
            <a:avLst>
              <a:gd name="adj" fmla="val 8235"/>
            </a:avLst>
          </a:prstGeom>
          <a:solidFill>
            <a:srgbClr val="07213A"/>
          </a:solidFill>
          <a:ln/>
        </p:spPr>
      </p:sp>
      <p:sp>
        <p:nvSpPr>
          <p:cNvPr id="5" name="Text 3"/>
          <p:cNvSpPr/>
          <p:nvPr/>
        </p:nvSpPr>
        <p:spPr>
          <a:xfrm>
            <a:off x="685800" y="1481328"/>
            <a:ext cx="10820095"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Courier New" pitchFamily="34" charset="0"/>
                <a:ea typeface="Courier New" pitchFamily="34" charset="-122"/>
                <a:cs typeface="Courier New" pitchFamily="34" charset="-120"/>
              </a:rPr>
              <a:t>5q10 = probability of dying between exact ages 10 and 15 (n=5, x=10)</a:t>
            </a:r>
            <a:endParaRPr lang="en-US" sz="2000" dirty="0"/>
          </a:p>
        </p:txBody>
      </p:sp>
      <p:sp>
        <p:nvSpPr>
          <p:cNvPr id="6" name="Shape 4"/>
          <p:cNvSpPr/>
          <p:nvPr/>
        </p:nvSpPr>
        <p:spPr>
          <a:xfrm>
            <a:off x="457200" y="2487168"/>
            <a:ext cx="3588410" cy="3337560"/>
          </a:xfrm>
          <a:prstGeom prst="roundRect">
            <a:avLst>
              <a:gd name="adj" fmla="val 1918"/>
            </a:avLst>
          </a:prstGeom>
          <a:solidFill>
            <a:srgbClr val="EEF3F8"/>
          </a:solidFill>
          <a:ln w="9525">
            <a:solidFill>
              <a:srgbClr val="D3E0E9"/>
            </a:solidFill>
            <a:prstDash val="solid"/>
          </a:ln>
        </p:spPr>
      </p:sp>
      <p:sp>
        <p:nvSpPr>
          <p:cNvPr id="7" name="Text 5"/>
          <p:cNvSpPr/>
          <p:nvPr/>
        </p:nvSpPr>
        <p:spPr>
          <a:xfrm>
            <a:off x="694944"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Leading subscript = interval width</a:t>
            </a:r>
            <a:endParaRPr lang="en-US" dirty="0"/>
          </a:p>
        </p:txBody>
      </p:sp>
      <p:sp>
        <p:nvSpPr>
          <p:cNvPr id="8" name="Text 6"/>
          <p:cNvSpPr/>
          <p:nvPr/>
        </p:nvSpPr>
        <p:spPr>
          <a:xfrm>
            <a:off x="694944"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The small number written to the left (5 in 5q10) is n, the width of the age interval in years; when it is omitted entirely, a single-year interval (or the open interval) is implied.</a:t>
            </a:r>
            <a:endParaRPr lang="en-US" sz="1400" dirty="0"/>
          </a:p>
        </p:txBody>
      </p:sp>
      <p:sp>
        <p:nvSpPr>
          <p:cNvPr id="9" name="Shape 7"/>
          <p:cNvSpPr/>
          <p:nvPr/>
        </p:nvSpPr>
        <p:spPr>
          <a:xfrm>
            <a:off x="4301642" y="2487168"/>
            <a:ext cx="3588410" cy="3337560"/>
          </a:xfrm>
          <a:prstGeom prst="roundRect">
            <a:avLst>
              <a:gd name="adj" fmla="val 1918"/>
            </a:avLst>
          </a:prstGeom>
          <a:solidFill>
            <a:srgbClr val="EEF3F8"/>
          </a:solidFill>
          <a:ln w="9525">
            <a:solidFill>
              <a:srgbClr val="D3E0E9"/>
            </a:solidFill>
            <a:prstDash val="solid"/>
          </a:ln>
        </p:spPr>
      </p:sp>
      <p:sp>
        <p:nvSpPr>
          <p:cNvPr id="10" name="Text 8"/>
          <p:cNvSpPr/>
          <p:nvPr/>
        </p:nvSpPr>
        <p:spPr>
          <a:xfrm>
            <a:off x="4539386"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Main subscript = starting exact age</a:t>
            </a:r>
            <a:endParaRPr lang="en-US" dirty="0"/>
          </a:p>
        </p:txBody>
      </p:sp>
      <p:sp>
        <p:nvSpPr>
          <p:cNvPr id="11" name="Text 9"/>
          <p:cNvSpPr/>
          <p:nvPr/>
        </p:nvSpPr>
        <p:spPr>
          <a:xfrm>
            <a:off x="4539386"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The number to the right (10 in 5q10) is x, the exact age at which the interval begins — so 5q10 covers ages 10 up to, but not including, 15.</a:t>
            </a:r>
            <a:endParaRPr lang="en-US" sz="1400" dirty="0"/>
          </a:p>
        </p:txBody>
      </p:sp>
      <p:sp>
        <p:nvSpPr>
          <p:cNvPr id="12" name="Shape 10"/>
          <p:cNvSpPr/>
          <p:nvPr/>
        </p:nvSpPr>
        <p:spPr>
          <a:xfrm>
            <a:off x="8146085" y="2487168"/>
            <a:ext cx="3588410" cy="3337560"/>
          </a:xfrm>
          <a:prstGeom prst="roundRect">
            <a:avLst>
              <a:gd name="adj" fmla="val 1918"/>
            </a:avLst>
          </a:prstGeom>
          <a:solidFill>
            <a:srgbClr val="EEF3F8"/>
          </a:solidFill>
          <a:ln w="9525">
            <a:solidFill>
              <a:srgbClr val="D3E0E9"/>
            </a:solidFill>
            <a:prstDash val="solid"/>
          </a:ln>
        </p:spPr>
      </p:sp>
      <p:sp>
        <p:nvSpPr>
          <p:cNvPr id="13" name="Text 11"/>
          <p:cNvSpPr/>
          <p:nvPr/>
        </p:nvSpPr>
        <p:spPr>
          <a:xfrm>
            <a:off x="8383829"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The same rule, every column</a:t>
            </a:r>
            <a:endParaRPr lang="en-US" dirty="0"/>
          </a:p>
        </p:txBody>
      </p:sp>
      <p:sp>
        <p:nvSpPr>
          <p:cNvPr id="14" name="Text 12"/>
          <p:cNvSpPr/>
          <p:nvPr/>
        </p:nvSpPr>
        <p:spPr>
          <a:xfrm>
            <a:off x="8383829"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5L10, 5M10, 5a10, and T10 all follow the identical rule — once you can read one life-table expression, you can read all seven columns fluently.</a:t>
            </a:r>
            <a:endParaRPr lang="en-US" sz="1400" dirty="0"/>
          </a:p>
        </p:txBody>
      </p:sp>
      <p:sp>
        <p:nvSpPr>
          <p:cNvPr id="15" name="Text 13"/>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5140602 Fundamental Demographic Analysis – Session 5</a:t>
            </a:r>
            <a:endParaRPr lang="en-US" sz="1000" dirty="0"/>
          </a:p>
        </p:txBody>
      </p:sp>
      <p:sp>
        <p:nvSpPr>
          <p:cNvPr id="16" name="Text 14"/>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13 / 80</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400" b="1" kern="0" spc="200" dirty="0">
                <a:solidFill>
                  <a:srgbClr val="1C7293"/>
                </a:solidFill>
                <a:latin typeface="Calibri" pitchFamily="34" charset="0"/>
                <a:ea typeface="Calibri" pitchFamily="34" charset="-122"/>
                <a:cs typeface="Calibri" pitchFamily="34" charset="-120"/>
              </a:rPr>
              <a:t>DEFINITION · CONTINUOUS-TIME FOUNDATION</a:t>
            </a:r>
            <a:endParaRPr lang="en-US" sz="14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3200" b="1" dirty="0">
                <a:solidFill>
                  <a:srgbClr val="0B3D62"/>
                </a:solidFill>
                <a:latin typeface="Cambria" pitchFamily="34" charset="0"/>
                <a:ea typeface="Cambria" pitchFamily="34" charset="-122"/>
                <a:cs typeface="Cambria" pitchFamily="34" charset="-120"/>
              </a:rPr>
              <a:t>Force of Mortality μ(x): The Hazard Behind nMx</a:t>
            </a:r>
            <a:endParaRPr lang="en-US" sz="3200" dirty="0"/>
          </a:p>
        </p:txBody>
      </p:sp>
      <p:sp>
        <p:nvSpPr>
          <p:cNvPr id="4" name="Shape 2"/>
          <p:cNvSpPr/>
          <p:nvPr/>
        </p:nvSpPr>
        <p:spPr>
          <a:xfrm>
            <a:off x="457200" y="1481328"/>
            <a:ext cx="11277295" cy="777240"/>
          </a:xfrm>
          <a:prstGeom prst="roundRect">
            <a:avLst>
              <a:gd name="adj" fmla="val 8235"/>
            </a:avLst>
          </a:prstGeom>
          <a:solidFill>
            <a:srgbClr val="07213A"/>
          </a:solidFill>
          <a:ln/>
        </p:spPr>
        <p:txBody>
          <a:bodyPr/>
          <a:lstStyle/>
          <a:p>
            <a:endParaRPr/>
          </a:p>
        </p:txBody>
      </p:sp>
      <p:sp>
        <p:nvSpPr>
          <p:cNvPr id="5" name="Text 3"/>
          <p:cNvSpPr/>
          <p:nvPr/>
        </p:nvSpPr>
        <p:spPr>
          <a:xfrm>
            <a:off x="685800" y="1481328"/>
            <a:ext cx="10820095"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Courier New" pitchFamily="34" charset="0"/>
                <a:ea typeface="Courier New" pitchFamily="34" charset="-122"/>
                <a:cs typeface="Courier New" pitchFamily="34" charset="-120"/>
              </a:rPr>
              <a:t>μ(x) = the instantaneous hazard of death at exact age x</a:t>
            </a:r>
            <a:endParaRPr lang="en-US" sz="2000" dirty="0"/>
          </a:p>
        </p:txBody>
      </p:sp>
      <p:sp>
        <p:nvSpPr>
          <p:cNvPr id="6" name="Shape 4"/>
          <p:cNvSpPr/>
          <p:nvPr/>
        </p:nvSpPr>
        <p:spPr>
          <a:xfrm>
            <a:off x="457200" y="2487168"/>
            <a:ext cx="3588410" cy="3337560"/>
          </a:xfrm>
          <a:prstGeom prst="roundRect">
            <a:avLst>
              <a:gd name="adj" fmla="val 1918"/>
            </a:avLst>
          </a:prstGeom>
          <a:solidFill>
            <a:srgbClr val="EEF3F8"/>
          </a:solidFill>
          <a:ln w="9525">
            <a:solidFill>
              <a:srgbClr val="D3E0E9"/>
            </a:solidFill>
            <a:prstDash val="solid"/>
          </a:ln>
        </p:spPr>
        <p:txBody>
          <a:bodyPr/>
          <a:lstStyle/>
          <a:p>
            <a:endParaRPr/>
          </a:p>
        </p:txBody>
      </p:sp>
      <p:sp>
        <p:nvSpPr>
          <p:cNvPr id="7" name="Text 5"/>
          <p:cNvSpPr/>
          <p:nvPr/>
        </p:nvSpPr>
        <p:spPr>
          <a:xfrm>
            <a:off x="694944"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Why it matters</a:t>
            </a:r>
            <a:endParaRPr lang="en-US" dirty="0"/>
          </a:p>
        </p:txBody>
      </p:sp>
      <p:sp>
        <p:nvSpPr>
          <p:cNvPr id="8" name="Text 6"/>
          <p:cNvSpPr/>
          <p:nvPr/>
        </p:nvSpPr>
        <p:spPr>
          <a:xfrm>
            <a:off x="694944"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μ(x) is the theoretical, continuous-time quantity that nMx approximates over a finite interval — every discrete life-table formula used today is a practical approximation to this underlying hazard function.</a:t>
            </a:r>
            <a:endParaRPr lang="en-US" sz="1400" dirty="0"/>
          </a:p>
        </p:txBody>
      </p:sp>
      <p:sp>
        <p:nvSpPr>
          <p:cNvPr id="9" name="Shape 7"/>
          <p:cNvSpPr/>
          <p:nvPr/>
        </p:nvSpPr>
        <p:spPr>
          <a:xfrm>
            <a:off x="4301642" y="2487168"/>
            <a:ext cx="3588410" cy="3337560"/>
          </a:xfrm>
          <a:prstGeom prst="roundRect">
            <a:avLst>
              <a:gd name="adj" fmla="val 1918"/>
            </a:avLst>
          </a:prstGeom>
          <a:solidFill>
            <a:srgbClr val="EEF3F8"/>
          </a:solidFill>
          <a:ln w="9525">
            <a:solidFill>
              <a:srgbClr val="D3E0E9"/>
            </a:solidFill>
            <a:prstDash val="solid"/>
          </a:ln>
        </p:spPr>
        <p:txBody>
          <a:bodyPr/>
          <a:lstStyle/>
          <a:p>
            <a:endParaRPr/>
          </a:p>
        </p:txBody>
      </p:sp>
      <p:sp>
        <p:nvSpPr>
          <p:cNvPr id="10" name="Text 8"/>
          <p:cNvSpPr/>
          <p:nvPr/>
        </p:nvSpPr>
        <p:spPr>
          <a:xfrm>
            <a:off x="4539386"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Link to nqx</a:t>
            </a:r>
            <a:endParaRPr lang="en-US" dirty="0"/>
          </a:p>
        </p:txBody>
      </p:sp>
      <p:sp>
        <p:nvSpPr>
          <p:cNvPr id="11" name="Text 9"/>
          <p:cNvSpPr/>
          <p:nvPr/>
        </p:nvSpPr>
        <p:spPr>
          <a:xfrm>
            <a:off x="4539386"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Under a constant-hazard assumption within the interval, nqx = 1 − exp(−n·μ(x)); the nax-based formula used in this session is an equivalent, easier-to-compute approximation of the same relationship.</a:t>
            </a:r>
            <a:endParaRPr lang="en-US" sz="1400" dirty="0"/>
          </a:p>
        </p:txBody>
      </p:sp>
      <p:sp>
        <p:nvSpPr>
          <p:cNvPr id="12" name="Shape 10"/>
          <p:cNvSpPr/>
          <p:nvPr/>
        </p:nvSpPr>
        <p:spPr>
          <a:xfrm>
            <a:off x="8146085" y="2487168"/>
            <a:ext cx="3588410" cy="3337560"/>
          </a:xfrm>
          <a:prstGeom prst="roundRect">
            <a:avLst>
              <a:gd name="adj" fmla="val 1918"/>
            </a:avLst>
          </a:prstGeom>
          <a:solidFill>
            <a:srgbClr val="EEF3F8"/>
          </a:solidFill>
          <a:ln w="9525">
            <a:solidFill>
              <a:srgbClr val="D3E0E9"/>
            </a:solidFill>
            <a:prstDash val="solid"/>
          </a:ln>
        </p:spPr>
        <p:txBody>
          <a:bodyPr/>
          <a:lstStyle/>
          <a:p>
            <a:endParaRPr/>
          </a:p>
        </p:txBody>
      </p:sp>
      <p:sp>
        <p:nvSpPr>
          <p:cNvPr id="13" name="Text 11"/>
          <p:cNvSpPr/>
          <p:nvPr/>
        </p:nvSpPr>
        <p:spPr>
          <a:xfrm>
            <a:off x="8383829"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Where it reappears later</a:t>
            </a:r>
            <a:endParaRPr lang="en-US" dirty="0"/>
          </a:p>
        </p:txBody>
      </p:sp>
      <p:sp>
        <p:nvSpPr>
          <p:cNvPr id="14" name="Text 12"/>
          <p:cNvSpPr/>
          <p:nvPr/>
        </p:nvSpPr>
        <p:spPr>
          <a:xfrm>
            <a:off x="8383829"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μ(x) underlies parametric mortality models (e.g., Gompertz, Heligman–Pollard) used for graduation (Slide 39) and for projecting mortality beyond the age range actually observed.</a:t>
            </a:r>
            <a:endParaRPr lang="en-US" sz="1400" dirty="0"/>
          </a:p>
        </p:txBody>
      </p:sp>
      <p:sp>
        <p:nvSpPr>
          <p:cNvPr id="15" name="Text 13"/>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5140602 Fundamental Demographic Analysis – Session 5</a:t>
            </a:r>
            <a:endParaRPr lang="en-US" sz="1000" dirty="0"/>
          </a:p>
        </p:txBody>
      </p:sp>
      <p:sp>
        <p:nvSpPr>
          <p:cNvPr id="16" name="Text 14"/>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14 / 80</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600" b="1" kern="0" spc="200" dirty="0">
                <a:solidFill>
                  <a:srgbClr val="1C7293"/>
                </a:solidFill>
                <a:latin typeface="Calibri" pitchFamily="34" charset="0"/>
                <a:ea typeface="Calibri" pitchFamily="34" charset="-122"/>
                <a:cs typeface="Calibri" pitchFamily="34" charset="-120"/>
              </a:rPr>
              <a:t>HOW THE COLUMNS CONNECT</a:t>
            </a:r>
            <a:endParaRPr lang="en-US" sz="16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3600" b="1" dirty="0">
                <a:solidFill>
                  <a:srgbClr val="0B3D62"/>
                </a:solidFill>
                <a:latin typeface="Cambria" pitchFamily="34" charset="0"/>
                <a:ea typeface="Cambria" pitchFamily="34" charset="-122"/>
                <a:cs typeface="Cambria" pitchFamily="34" charset="-120"/>
              </a:rPr>
              <a:t>The Life Table as a Computational Pipeline</a:t>
            </a:r>
            <a:endParaRPr lang="en-US" sz="3600" dirty="0"/>
          </a:p>
        </p:txBody>
      </p:sp>
      <p:sp>
        <p:nvSpPr>
          <p:cNvPr id="4" name="Shape 2"/>
          <p:cNvSpPr/>
          <p:nvPr/>
        </p:nvSpPr>
        <p:spPr>
          <a:xfrm>
            <a:off x="457200" y="1783080"/>
            <a:ext cx="1325880" cy="914400"/>
          </a:xfrm>
          <a:prstGeom prst="roundRect">
            <a:avLst>
              <a:gd name="adj" fmla="val 8000"/>
            </a:avLst>
          </a:prstGeom>
          <a:solidFill>
            <a:srgbClr val="0B3D62"/>
          </a:solidFill>
          <a:ln/>
        </p:spPr>
      </p:sp>
      <p:sp>
        <p:nvSpPr>
          <p:cNvPr id="5" name="Text 3"/>
          <p:cNvSpPr/>
          <p:nvPr/>
        </p:nvSpPr>
        <p:spPr>
          <a:xfrm>
            <a:off x="457200" y="1783080"/>
            <a:ext cx="1325880" cy="914400"/>
          </a:xfrm>
          <a:prstGeom prst="rect">
            <a:avLst/>
          </a:prstGeom>
          <a:noFill/>
          <a:ln/>
        </p:spPr>
        <p:txBody>
          <a:bodyPr wrap="square" lIns="0" tIns="0" rIns="0" bIns="0" rtlCol="0" anchor="ctr"/>
          <a:lstStyle/>
          <a:p>
            <a:pPr marL="0" indent="0" algn="ctr">
              <a:buNone/>
            </a:pPr>
            <a:r>
              <a:rPr lang="en-US" sz="2400" b="1" dirty="0">
                <a:solidFill>
                  <a:srgbClr val="FFFFFF"/>
                </a:solidFill>
                <a:latin typeface="Courier New" pitchFamily="34" charset="0"/>
                <a:ea typeface="Courier New" pitchFamily="34" charset="-122"/>
                <a:cs typeface="Courier New" pitchFamily="34" charset="-120"/>
              </a:rPr>
              <a:t>nMx</a:t>
            </a:r>
            <a:endParaRPr lang="en-US" sz="2400" dirty="0"/>
          </a:p>
        </p:txBody>
      </p:sp>
      <p:sp>
        <p:nvSpPr>
          <p:cNvPr id="6" name="Text 4"/>
          <p:cNvSpPr/>
          <p:nvPr/>
        </p:nvSpPr>
        <p:spPr>
          <a:xfrm>
            <a:off x="320040" y="2770632"/>
            <a:ext cx="1600200" cy="548640"/>
          </a:xfrm>
          <a:prstGeom prst="rect">
            <a:avLst/>
          </a:prstGeom>
          <a:noFill/>
          <a:ln/>
        </p:spPr>
        <p:txBody>
          <a:bodyPr wrap="square" lIns="0" tIns="0" rIns="0" bIns="0" rtlCol="0" anchor="t"/>
          <a:lstStyle/>
          <a:p>
            <a:pPr marL="0" indent="0" algn="ctr">
              <a:lnSpc>
                <a:spcPct val="100000"/>
              </a:lnSpc>
              <a:buNone/>
            </a:pPr>
            <a:r>
              <a:rPr lang="en-US" sz="1100" dirty="0">
                <a:solidFill>
                  <a:srgbClr val="142433"/>
                </a:solidFill>
                <a:latin typeface="Calibri" pitchFamily="34" charset="0"/>
                <a:ea typeface="Calibri" pitchFamily="34" charset="-122"/>
                <a:cs typeface="Calibri" pitchFamily="34" charset="-120"/>
              </a:rPr>
              <a:t>Observed</a:t>
            </a:r>
            <a:endParaRPr lang="en-US" sz="1100" dirty="0"/>
          </a:p>
          <a:p>
            <a:pPr marL="0" indent="0" algn="ctr">
              <a:lnSpc>
                <a:spcPct val="100000"/>
              </a:lnSpc>
              <a:buNone/>
            </a:pPr>
            <a:r>
              <a:rPr lang="en-US" sz="1100" dirty="0">
                <a:solidFill>
                  <a:srgbClr val="142433"/>
                </a:solidFill>
                <a:latin typeface="Calibri" pitchFamily="34" charset="0"/>
                <a:ea typeface="Calibri" pitchFamily="34" charset="-122"/>
                <a:cs typeface="Calibri" pitchFamily="34" charset="-120"/>
              </a:rPr>
              <a:t>death rate</a:t>
            </a:r>
            <a:endParaRPr lang="en-US" sz="1100" dirty="0"/>
          </a:p>
        </p:txBody>
      </p:sp>
      <p:sp>
        <p:nvSpPr>
          <p:cNvPr id="7" name="Text 5"/>
          <p:cNvSpPr/>
          <p:nvPr/>
        </p:nvSpPr>
        <p:spPr>
          <a:xfrm>
            <a:off x="1783080" y="1783080"/>
            <a:ext cx="332689" cy="914400"/>
          </a:xfrm>
          <a:prstGeom prst="rect">
            <a:avLst/>
          </a:prstGeom>
          <a:noFill/>
          <a:ln/>
        </p:spPr>
        <p:txBody>
          <a:bodyPr wrap="square" lIns="0" tIns="0" rIns="0" bIns="0" rtlCol="0" anchor="ctr"/>
          <a:lstStyle/>
          <a:p>
            <a:pPr marL="0" indent="0" algn="ctr">
              <a:buNone/>
            </a:pPr>
            <a:r>
              <a:rPr lang="en-US" sz="3200" b="1" dirty="0">
                <a:solidFill>
                  <a:srgbClr val="E8A33D"/>
                </a:solidFill>
                <a:latin typeface="Calibri" pitchFamily="34" charset="0"/>
                <a:ea typeface="Calibri" pitchFamily="34" charset="-122"/>
                <a:cs typeface="Calibri" pitchFamily="34" charset="-120"/>
              </a:rPr>
              <a:t>→</a:t>
            </a:r>
            <a:endParaRPr lang="en-US" sz="3200" dirty="0"/>
          </a:p>
        </p:txBody>
      </p:sp>
      <p:sp>
        <p:nvSpPr>
          <p:cNvPr id="8" name="Shape 6"/>
          <p:cNvSpPr/>
          <p:nvPr/>
        </p:nvSpPr>
        <p:spPr>
          <a:xfrm>
            <a:off x="2115769" y="1783080"/>
            <a:ext cx="1325880" cy="914400"/>
          </a:xfrm>
          <a:prstGeom prst="roundRect">
            <a:avLst>
              <a:gd name="adj" fmla="val 8000"/>
            </a:avLst>
          </a:prstGeom>
          <a:solidFill>
            <a:srgbClr val="0B3D62"/>
          </a:solidFill>
          <a:ln/>
        </p:spPr>
      </p:sp>
      <p:sp>
        <p:nvSpPr>
          <p:cNvPr id="9" name="Text 7"/>
          <p:cNvSpPr/>
          <p:nvPr/>
        </p:nvSpPr>
        <p:spPr>
          <a:xfrm>
            <a:off x="2115769" y="1783080"/>
            <a:ext cx="1325880" cy="914400"/>
          </a:xfrm>
          <a:prstGeom prst="rect">
            <a:avLst/>
          </a:prstGeom>
          <a:noFill/>
          <a:ln/>
        </p:spPr>
        <p:txBody>
          <a:bodyPr wrap="square" lIns="0" tIns="0" rIns="0" bIns="0" rtlCol="0" anchor="ctr"/>
          <a:lstStyle/>
          <a:p>
            <a:pPr marL="0" indent="0" algn="ctr">
              <a:buNone/>
            </a:pPr>
            <a:r>
              <a:rPr lang="en-US" sz="2400" b="1" dirty="0">
                <a:solidFill>
                  <a:srgbClr val="FFFFFF"/>
                </a:solidFill>
                <a:latin typeface="Courier New" pitchFamily="34" charset="0"/>
                <a:ea typeface="Courier New" pitchFamily="34" charset="-122"/>
                <a:cs typeface="Courier New" pitchFamily="34" charset="-120"/>
              </a:rPr>
              <a:t>nqx</a:t>
            </a:r>
            <a:endParaRPr lang="en-US" sz="2400" dirty="0"/>
          </a:p>
        </p:txBody>
      </p:sp>
      <p:sp>
        <p:nvSpPr>
          <p:cNvPr id="10" name="Text 8"/>
          <p:cNvSpPr/>
          <p:nvPr/>
        </p:nvSpPr>
        <p:spPr>
          <a:xfrm>
            <a:off x="1978609" y="2770632"/>
            <a:ext cx="1600200" cy="548640"/>
          </a:xfrm>
          <a:prstGeom prst="rect">
            <a:avLst/>
          </a:prstGeom>
          <a:noFill/>
          <a:ln/>
        </p:spPr>
        <p:txBody>
          <a:bodyPr wrap="square" lIns="0" tIns="0" rIns="0" bIns="0" rtlCol="0" anchor="t"/>
          <a:lstStyle/>
          <a:p>
            <a:pPr marL="0" indent="0" algn="ctr">
              <a:lnSpc>
                <a:spcPct val="100000"/>
              </a:lnSpc>
              <a:buNone/>
            </a:pPr>
            <a:r>
              <a:rPr lang="en-US" sz="1100" dirty="0">
                <a:solidFill>
                  <a:srgbClr val="142433"/>
                </a:solidFill>
                <a:latin typeface="Calibri" pitchFamily="34" charset="0"/>
                <a:ea typeface="Calibri" pitchFamily="34" charset="-122"/>
                <a:cs typeface="Calibri" pitchFamily="34" charset="-120"/>
              </a:rPr>
              <a:t>Probability</a:t>
            </a:r>
            <a:endParaRPr lang="en-US" sz="1100" dirty="0"/>
          </a:p>
          <a:p>
            <a:pPr marL="0" indent="0" algn="ctr">
              <a:lnSpc>
                <a:spcPct val="100000"/>
              </a:lnSpc>
              <a:buNone/>
            </a:pPr>
            <a:r>
              <a:rPr lang="en-US" sz="1100" dirty="0">
                <a:solidFill>
                  <a:srgbClr val="142433"/>
                </a:solidFill>
                <a:latin typeface="Calibri" pitchFamily="34" charset="0"/>
                <a:ea typeface="Calibri" pitchFamily="34" charset="-122"/>
                <a:cs typeface="Calibri" pitchFamily="34" charset="-120"/>
              </a:rPr>
              <a:t>of dying</a:t>
            </a:r>
            <a:endParaRPr lang="en-US" sz="1100" dirty="0"/>
          </a:p>
        </p:txBody>
      </p:sp>
      <p:sp>
        <p:nvSpPr>
          <p:cNvPr id="11" name="Text 9"/>
          <p:cNvSpPr/>
          <p:nvPr/>
        </p:nvSpPr>
        <p:spPr>
          <a:xfrm>
            <a:off x="3441649" y="1783080"/>
            <a:ext cx="332689" cy="914400"/>
          </a:xfrm>
          <a:prstGeom prst="rect">
            <a:avLst/>
          </a:prstGeom>
          <a:noFill/>
          <a:ln/>
        </p:spPr>
        <p:txBody>
          <a:bodyPr wrap="square" lIns="0" tIns="0" rIns="0" bIns="0" rtlCol="0" anchor="ctr"/>
          <a:lstStyle/>
          <a:p>
            <a:pPr marL="0" indent="0" algn="ctr">
              <a:buNone/>
            </a:pPr>
            <a:r>
              <a:rPr lang="en-US" sz="3200" b="1" dirty="0">
                <a:solidFill>
                  <a:srgbClr val="E8A33D"/>
                </a:solidFill>
                <a:latin typeface="Calibri" pitchFamily="34" charset="0"/>
                <a:ea typeface="Calibri" pitchFamily="34" charset="-122"/>
                <a:cs typeface="Calibri" pitchFamily="34" charset="-120"/>
              </a:rPr>
              <a:t>→</a:t>
            </a:r>
            <a:endParaRPr lang="en-US" sz="3200" dirty="0"/>
          </a:p>
        </p:txBody>
      </p:sp>
      <p:sp>
        <p:nvSpPr>
          <p:cNvPr id="12" name="Shape 10"/>
          <p:cNvSpPr/>
          <p:nvPr/>
        </p:nvSpPr>
        <p:spPr>
          <a:xfrm>
            <a:off x="3774338" y="1783080"/>
            <a:ext cx="1325880" cy="914400"/>
          </a:xfrm>
          <a:prstGeom prst="roundRect">
            <a:avLst>
              <a:gd name="adj" fmla="val 8000"/>
            </a:avLst>
          </a:prstGeom>
          <a:solidFill>
            <a:srgbClr val="0B3D62"/>
          </a:solidFill>
          <a:ln/>
        </p:spPr>
      </p:sp>
      <p:sp>
        <p:nvSpPr>
          <p:cNvPr id="13" name="Text 11"/>
          <p:cNvSpPr/>
          <p:nvPr/>
        </p:nvSpPr>
        <p:spPr>
          <a:xfrm>
            <a:off x="3774338" y="1783080"/>
            <a:ext cx="1325880" cy="914400"/>
          </a:xfrm>
          <a:prstGeom prst="rect">
            <a:avLst/>
          </a:prstGeom>
          <a:noFill/>
          <a:ln/>
        </p:spPr>
        <p:txBody>
          <a:bodyPr wrap="square" lIns="0" tIns="0" rIns="0" bIns="0" rtlCol="0" anchor="ctr"/>
          <a:lstStyle/>
          <a:p>
            <a:pPr marL="0" indent="0" algn="ctr">
              <a:buNone/>
            </a:pPr>
            <a:r>
              <a:rPr lang="en-US" sz="2400" b="1" dirty="0">
                <a:solidFill>
                  <a:srgbClr val="FFFFFF"/>
                </a:solidFill>
                <a:latin typeface="Courier New" pitchFamily="34" charset="0"/>
                <a:ea typeface="Courier New" pitchFamily="34" charset="-122"/>
                <a:cs typeface="Courier New" pitchFamily="34" charset="-120"/>
              </a:rPr>
              <a:t>lx</a:t>
            </a:r>
            <a:endParaRPr lang="en-US" sz="2400" dirty="0"/>
          </a:p>
        </p:txBody>
      </p:sp>
      <p:sp>
        <p:nvSpPr>
          <p:cNvPr id="14" name="Text 12"/>
          <p:cNvSpPr/>
          <p:nvPr/>
        </p:nvSpPr>
        <p:spPr>
          <a:xfrm>
            <a:off x="3637178" y="2770632"/>
            <a:ext cx="1600200" cy="548640"/>
          </a:xfrm>
          <a:prstGeom prst="rect">
            <a:avLst/>
          </a:prstGeom>
          <a:noFill/>
          <a:ln/>
        </p:spPr>
        <p:txBody>
          <a:bodyPr wrap="square" lIns="0" tIns="0" rIns="0" bIns="0" rtlCol="0" anchor="t"/>
          <a:lstStyle/>
          <a:p>
            <a:pPr marL="0" indent="0" algn="ctr">
              <a:lnSpc>
                <a:spcPct val="100000"/>
              </a:lnSpc>
              <a:buNone/>
            </a:pPr>
            <a:r>
              <a:rPr lang="en-US" sz="1100" dirty="0">
                <a:solidFill>
                  <a:srgbClr val="142433"/>
                </a:solidFill>
                <a:latin typeface="Calibri" pitchFamily="34" charset="0"/>
                <a:ea typeface="Calibri" pitchFamily="34" charset="-122"/>
                <a:cs typeface="Calibri" pitchFamily="34" charset="-120"/>
              </a:rPr>
              <a:t>Survivors</a:t>
            </a:r>
            <a:endParaRPr lang="en-US" sz="1100" dirty="0"/>
          </a:p>
        </p:txBody>
      </p:sp>
      <p:sp>
        <p:nvSpPr>
          <p:cNvPr id="15" name="Text 13"/>
          <p:cNvSpPr/>
          <p:nvPr/>
        </p:nvSpPr>
        <p:spPr>
          <a:xfrm>
            <a:off x="5100218" y="1783080"/>
            <a:ext cx="332689" cy="914400"/>
          </a:xfrm>
          <a:prstGeom prst="rect">
            <a:avLst/>
          </a:prstGeom>
          <a:noFill/>
          <a:ln/>
        </p:spPr>
        <p:txBody>
          <a:bodyPr wrap="square" lIns="0" tIns="0" rIns="0" bIns="0" rtlCol="0" anchor="ctr"/>
          <a:lstStyle/>
          <a:p>
            <a:pPr marL="0" indent="0" algn="ctr">
              <a:buNone/>
            </a:pPr>
            <a:r>
              <a:rPr lang="en-US" sz="3200" b="1" dirty="0">
                <a:solidFill>
                  <a:srgbClr val="E8A33D"/>
                </a:solidFill>
                <a:latin typeface="Calibri" pitchFamily="34" charset="0"/>
                <a:ea typeface="Calibri" pitchFamily="34" charset="-122"/>
                <a:cs typeface="Calibri" pitchFamily="34" charset="-120"/>
              </a:rPr>
              <a:t>→</a:t>
            </a:r>
            <a:endParaRPr lang="en-US" sz="3200" dirty="0"/>
          </a:p>
        </p:txBody>
      </p:sp>
      <p:sp>
        <p:nvSpPr>
          <p:cNvPr id="16" name="Shape 14"/>
          <p:cNvSpPr/>
          <p:nvPr/>
        </p:nvSpPr>
        <p:spPr>
          <a:xfrm>
            <a:off x="5432908" y="1783080"/>
            <a:ext cx="1325880" cy="914400"/>
          </a:xfrm>
          <a:prstGeom prst="roundRect">
            <a:avLst>
              <a:gd name="adj" fmla="val 8000"/>
            </a:avLst>
          </a:prstGeom>
          <a:solidFill>
            <a:srgbClr val="0B3D62"/>
          </a:solidFill>
          <a:ln/>
        </p:spPr>
      </p:sp>
      <p:sp>
        <p:nvSpPr>
          <p:cNvPr id="17" name="Text 15"/>
          <p:cNvSpPr/>
          <p:nvPr/>
        </p:nvSpPr>
        <p:spPr>
          <a:xfrm>
            <a:off x="5432908" y="1783080"/>
            <a:ext cx="1325880" cy="914400"/>
          </a:xfrm>
          <a:prstGeom prst="rect">
            <a:avLst/>
          </a:prstGeom>
          <a:noFill/>
          <a:ln/>
        </p:spPr>
        <p:txBody>
          <a:bodyPr wrap="square" lIns="0" tIns="0" rIns="0" bIns="0" rtlCol="0" anchor="ctr"/>
          <a:lstStyle/>
          <a:p>
            <a:pPr marL="0" indent="0" algn="ctr">
              <a:buNone/>
            </a:pPr>
            <a:r>
              <a:rPr lang="en-US" sz="2400" b="1" dirty="0">
                <a:solidFill>
                  <a:srgbClr val="FFFFFF"/>
                </a:solidFill>
                <a:latin typeface="Courier New" pitchFamily="34" charset="0"/>
                <a:ea typeface="Courier New" pitchFamily="34" charset="-122"/>
                <a:cs typeface="Courier New" pitchFamily="34" charset="-120"/>
              </a:rPr>
              <a:t>ndx</a:t>
            </a:r>
            <a:endParaRPr lang="en-US" sz="2400" dirty="0"/>
          </a:p>
        </p:txBody>
      </p:sp>
      <p:sp>
        <p:nvSpPr>
          <p:cNvPr id="18" name="Text 16"/>
          <p:cNvSpPr/>
          <p:nvPr/>
        </p:nvSpPr>
        <p:spPr>
          <a:xfrm>
            <a:off x="5295748" y="2770632"/>
            <a:ext cx="1600200" cy="548640"/>
          </a:xfrm>
          <a:prstGeom prst="rect">
            <a:avLst/>
          </a:prstGeom>
          <a:noFill/>
          <a:ln/>
        </p:spPr>
        <p:txBody>
          <a:bodyPr wrap="square" lIns="0" tIns="0" rIns="0" bIns="0" rtlCol="0" anchor="t"/>
          <a:lstStyle/>
          <a:p>
            <a:pPr marL="0" indent="0" algn="ctr">
              <a:lnSpc>
                <a:spcPct val="100000"/>
              </a:lnSpc>
              <a:buNone/>
            </a:pPr>
            <a:r>
              <a:rPr lang="en-US" sz="1100" dirty="0">
                <a:solidFill>
                  <a:srgbClr val="142433"/>
                </a:solidFill>
                <a:latin typeface="Calibri" pitchFamily="34" charset="0"/>
                <a:ea typeface="Calibri" pitchFamily="34" charset="-122"/>
                <a:cs typeface="Calibri" pitchFamily="34" charset="-120"/>
              </a:rPr>
              <a:t>Deaths in</a:t>
            </a:r>
            <a:endParaRPr lang="en-US" sz="1100" dirty="0"/>
          </a:p>
          <a:p>
            <a:pPr marL="0" indent="0" algn="ctr">
              <a:lnSpc>
                <a:spcPct val="100000"/>
              </a:lnSpc>
              <a:buNone/>
            </a:pPr>
            <a:r>
              <a:rPr lang="en-US" sz="1100" dirty="0">
                <a:solidFill>
                  <a:srgbClr val="142433"/>
                </a:solidFill>
                <a:latin typeface="Calibri" pitchFamily="34" charset="0"/>
                <a:ea typeface="Calibri" pitchFamily="34" charset="-122"/>
                <a:cs typeface="Calibri" pitchFamily="34" charset="-120"/>
              </a:rPr>
              <a:t>interval</a:t>
            </a:r>
            <a:endParaRPr lang="en-US" sz="1100" dirty="0"/>
          </a:p>
        </p:txBody>
      </p:sp>
      <p:sp>
        <p:nvSpPr>
          <p:cNvPr id="19" name="Text 17"/>
          <p:cNvSpPr/>
          <p:nvPr/>
        </p:nvSpPr>
        <p:spPr>
          <a:xfrm>
            <a:off x="6758788" y="1783080"/>
            <a:ext cx="332689" cy="914400"/>
          </a:xfrm>
          <a:prstGeom prst="rect">
            <a:avLst/>
          </a:prstGeom>
          <a:noFill/>
          <a:ln/>
        </p:spPr>
        <p:txBody>
          <a:bodyPr wrap="square" lIns="0" tIns="0" rIns="0" bIns="0" rtlCol="0" anchor="ctr"/>
          <a:lstStyle/>
          <a:p>
            <a:pPr marL="0" indent="0" algn="ctr">
              <a:buNone/>
            </a:pPr>
            <a:r>
              <a:rPr lang="en-US" sz="3200" b="1" dirty="0">
                <a:solidFill>
                  <a:srgbClr val="E8A33D"/>
                </a:solidFill>
                <a:latin typeface="Calibri" pitchFamily="34" charset="0"/>
                <a:ea typeface="Calibri" pitchFamily="34" charset="-122"/>
                <a:cs typeface="Calibri" pitchFamily="34" charset="-120"/>
              </a:rPr>
              <a:t>→</a:t>
            </a:r>
            <a:endParaRPr lang="en-US" sz="3200" dirty="0"/>
          </a:p>
        </p:txBody>
      </p:sp>
      <p:sp>
        <p:nvSpPr>
          <p:cNvPr id="20" name="Shape 18"/>
          <p:cNvSpPr/>
          <p:nvPr/>
        </p:nvSpPr>
        <p:spPr>
          <a:xfrm>
            <a:off x="7091477" y="1783080"/>
            <a:ext cx="1325880" cy="914400"/>
          </a:xfrm>
          <a:prstGeom prst="roundRect">
            <a:avLst>
              <a:gd name="adj" fmla="val 8000"/>
            </a:avLst>
          </a:prstGeom>
          <a:solidFill>
            <a:srgbClr val="0B3D62"/>
          </a:solidFill>
          <a:ln/>
        </p:spPr>
      </p:sp>
      <p:sp>
        <p:nvSpPr>
          <p:cNvPr id="21" name="Text 19"/>
          <p:cNvSpPr/>
          <p:nvPr/>
        </p:nvSpPr>
        <p:spPr>
          <a:xfrm>
            <a:off x="7091477" y="1783080"/>
            <a:ext cx="1325880" cy="914400"/>
          </a:xfrm>
          <a:prstGeom prst="rect">
            <a:avLst/>
          </a:prstGeom>
          <a:noFill/>
          <a:ln/>
        </p:spPr>
        <p:txBody>
          <a:bodyPr wrap="square" lIns="0" tIns="0" rIns="0" bIns="0" rtlCol="0" anchor="ctr"/>
          <a:lstStyle/>
          <a:p>
            <a:pPr marL="0" indent="0" algn="ctr">
              <a:buNone/>
            </a:pPr>
            <a:r>
              <a:rPr lang="en-US" sz="2400" b="1" dirty="0">
                <a:solidFill>
                  <a:srgbClr val="FFFFFF"/>
                </a:solidFill>
                <a:latin typeface="Courier New" pitchFamily="34" charset="0"/>
                <a:ea typeface="Courier New" pitchFamily="34" charset="-122"/>
                <a:cs typeface="Courier New" pitchFamily="34" charset="-120"/>
              </a:rPr>
              <a:t>nLx</a:t>
            </a:r>
            <a:endParaRPr lang="en-US" sz="2400" dirty="0"/>
          </a:p>
        </p:txBody>
      </p:sp>
      <p:sp>
        <p:nvSpPr>
          <p:cNvPr id="22" name="Text 20"/>
          <p:cNvSpPr/>
          <p:nvPr/>
        </p:nvSpPr>
        <p:spPr>
          <a:xfrm>
            <a:off x="6954317" y="2770632"/>
            <a:ext cx="1600200" cy="548640"/>
          </a:xfrm>
          <a:prstGeom prst="rect">
            <a:avLst/>
          </a:prstGeom>
          <a:noFill/>
          <a:ln/>
        </p:spPr>
        <p:txBody>
          <a:bodyPr wrap="square" lIns="0" tIns="0" rIns="0" bIns="0" rtlCol="0" anchor="t"/>
          <a:lstStyle/>
          <a:p>
            <a:pPr marL="0" indent="0" algn="ctr">
              <a:lnSpc>
                <a:spcPct val="100000"/>
              </a:lnSpc>
              <a:buNone/>
            </a:pPr>
            <a:r>
              <a:rPr lang="en-US" sz="1100" dirty="0">
                <a:solidFill>
                  <a:srgbClr val="142433"/>
                </a:solidFill>
                <a:latin typeface="Calibri" pitchFamily="34" charset="0"/>
                <a:ea typeface="Calibri" pitchFamily="34" charset="-122"/>
                <a:cs typeface="Calibri" pitchFamily="34" charset="-120"/>
              </a:rPr>
              <a:t>Person-years</a:t>
            </a:r>
            <a:endParaRPr lang="en-US" sz="1100" dirty="0"/>
          </a:p>
          <a:p>
            <a:pPr marL="0" indent="0" algn="ctr">
              <a:lnSpc>
                <a:spcPct val="100000"/>
              </a:lnSpc>
              <a:buNone/>
            </a:pPr>
            <a:r>
              <a:rPr lang="en-US" sz="1100" dirty="0">
                <a:solidFill>
                  <a:srgbClr val="142433"/>
                </a:solidFill>
                <a:latin typeface="Calibri" pitchFamily="34" charset="0"/>
                <a:ea typeface="Calibri" pitchFamily="34" charset="-122"/>
                <a:cs typeface="Calibri" pitchFamily="34" charset="-120"/>
              </a:rPr>
              <a:t>lived</a:t>
            </a:r>
            <a:endParaRPr lang="en-US" sz="1100" dirty="0"/>
          </a:p>
        </p:txBody>
      </p:sp>
      <p:sp>
        <p:nvSpPr>
          <p:cNvPr id="23" name="Text 21"/>
          <p:cNvSpPr/>
          <p:nvPr/>
        </p:nvSpPr>
        <p:spPr>
          <a:xfrm>
            <a:off x="8417357" y="1783080"/>
            <a:ext cx="332689" cy="914400"/>
          </a:xfrm>
          <a:prstGeom prst="rect">
            <a:avLst/>
          </a:prstGeom>
          <a:noFill/>
          <a:ln/>
        </p:spPr>
        <p:txBody>
          <a:bodyPr wrap="square" lIns="0" tIns="0" rIns="0" bIns="0" rtlCol="0" anchor="ctr"/>
          <a:lstStyle/>
          <a:p>
            <a:pPr marL="0" indent="0" algn="ctr">
              <a:buNone/>
            </a:pPr>
            <a:r>
              <a:rPr lang="en-US" sz="3200" b="1" dirty="0">
                <a:solidFill>
                  <a:srgbClr val="E8A33D"/>
                </a:solidFill>
                <a:latin typeface="Calibri" pitchFamily="34" charset="0"/>
                <a:ea typeface="Calibri" pitchFamily="34" charset="-122"/>
                <a:cs typeface="Calibri" pitchFamily="34" charset="-120"/>
              </a:rPr>
              <a:t>→</a:t>
            </a:r>
            <a:endParaRPr lang="en-US" sz="3200" dirty="0"/>
          </a:p>
        </p:txBody>
      </p:sp>
      <p:sp>
        <p:nvSpPr>
          <p:cNvPr id="24" name="Shape 22"/>
          <p:cNvSpPr/>
          <p:nvPr/>
        </p:nvSpPr>
        <p:spPr>
          <a:xfrm>
            <a:off x="8750046" y="1783080"/>
            <a:ext cx="1325880" cy="914400"/>
          </a:xfrm>
          <a:prstGeom prst="roundRect">
            <a:avLst>
              <a:gd name="adj" fmla="val 8000"/>
            </a:avLst>
          </a:prstGeom>
          <a:solidFill>
            <a:srgbClr val="0B3D62"/>
          </a:solidFill>
          <a:ln/>
        </p:spPr>
      </p:sp>
      <p:sp>
        <p:nvSpPr>
          <p:cNvPr id="25" name="Text 23"/>
          <p:cNvSpPr/>
          <p:nvPr/>
        </p:nvSpPr>
        <p:spPr>
          <a:xfrm>
            <a:off x="8750046" y="1783080"/>
            <a:ext cx="1325880" cy="914400"/>
          </a:xfrm>
          <a:prstGeom prst="rect">
            <a:avLst/>
          </a:prstGeom>
          <a:noFill/>
          <a:ln/>
        </p:spPr>
        <p:txBody>
          <a:bodyPr wrap="square" lIns="0" tIns="0" rIns="0" bIns="0" rtlCol="0" anchor="ctr"/>
          <a:lstStyle/>
          <a:p>
            <a:pPr marL="0" indent="0" algn="ctr">
              <a:buNone/>
            </a:pPr>
            <a:r>
              <a:rPr lang="en-US" sz="2400" b="1" dirty="0">
                <a:solidFill>
                  <a:srgbClr val="FFFFFF"/>
                </a:solidFill>
                <a:latin typeface="Courier New" pitchFamily="34" charset="0"/>
                <a:ea typeface="Courier New" pitchFamily="34" charset="-122"/>
                <a:cs typeface="Courier New" pitchFamily="34" charset="-120"/>
              </a:rPr>
              <a:t>Tx</a:t>
            </a:r>
            <a:endParaRPr lang="en-US" sz="2400" dirty="0"/>
          </a:p>
        </p:txBody>
      </p:sp>
      <p:sp>
        <p:nvSpPr>
          <p:cNvPr id="26" name="Text 24"/>
          <p:cNvSpPr/>
          <p:nvPr/>
        </p:nvSpPr>
        <p:spPr>
          <a:xfrm>
            <a:off x="8612886" y="2770632"/>
            <a:ext cx="1600200" cy="548640"/>
          </a:xfrm>
          <a:prstGeom prst="rect">
            <a:avLst/>
          </a:prstGeom>
          <a:noFill/>
          <a:ln/>
        </p:spPr>
        <p:txBody>
          <a:bodyPr wrap="square" lIns="0" tIns="0" rIns="0" bIns="0" rtlCol="0" anchor="t"/>
          <a:lstStyle/>
          <a:p>
            <a:pPr marL="0" indent="0" algn="ctr">
              <a:lnSpc>
                <a:spcPct val="100000"/>
              </a:lnSpc>
              <a:buNone/>
            </a:pPr>
            <a:r>
              <a:rPr lang="en-US" sz="1100" dirty="0">
                <a:solidFill>
                  <a:srgbClr val="142433"/>
                </a:solidFill>
                <a:latin typeface="Calibri" pitchFamily="34" charset="0"/>
                <a:ea typeface="Calibri" pitchFamily="34" charset="-122"/>
                <a:cs typeface="Calibri" pitchFamily="34" charset="-120"/>
              </a:rPr>
              <a:t>Years remaining,</a:t>
            </a:r>
            <a:endParaRPr lang="en-US" sz="1100" dirty="0"/>
          </a:p>
          <a:p>
            <a:pPr marL="0" indent="0" algn="ctr">
              <a:lnSpc>
                <a:spcPct val="100000"/>
              </a:lnSpc>
              <a:buNone/>
            </a:pPr>
            <a:r>
              <a:rPr lang="en-US" sz="1100" dirty="0">
                <a:solidFill>
                  <a:srgbClr val="142433"/>
                </a:solidFill>
                <a:latin typeface="Calibri" pitchFamily="34" charset="0"/>
                <a:ea typeface="Calibri" pitchFamily="34" charset="-122"/>
                <a:cs typeface="Calibri" pitchFamily="34" charset="-120"/>
              </a:rPr>
              <a:t>all survivors</a:t>
            </a:r>
            <a:endParaRPr lang="en-US" sz="1100" dirty="0"/>
          </a:p>
        </p:txBody>
      </p:sp>
      <p:sp>
        <p:nvSpPr>
          <p:cNvPr id="27" name="Text 25"/>
          <p:cNvSpPr/>
          <p:nvPr/>
        </p:nvSpPr>
        <p:spPr>
          <a:xfrm>
            <a:off x="10075926" y="1783080"/>
            <a:ext cx="332689" cy="914400"/>
          </a:xfrm>
          <a:prstGeom prst="rect">
            <a:avLst/>
          </a:prstGeom>
          <a:noFill/>
          <a:ln/>
        </p:spPr>
        <p:txBody>
          <a:bodyPr wrap="square" lIns="0" tIns="0" rIns="0" bIns="0" rtlCol="0" anchor="ctr"/>
          <a:lstStyle/>
          <a:p>
            <a:pPr marL="0" indent="0" algn="ctr">
              <a:buNone/>
            </a:pPr>
            <a:r>
              <a:rPr lang="en-US" sz="3200" b="1" dirty="0">
                <a:solidFill>
                  <a:srgbClr val="E8A33D"/>
                </a:solidFill>
                <a:latin typeface="Calibri" pitchFamily="34" charset="0"/>
                <a:ea typeface="Calibri" pitchFamily="34" charset="-122"/>
                <a:cs typeface="Calibri" pitchFamily="34" charset="-120"/>
              </a:rPr>
              <a:t>→</a:t>
            </a:r>
            <a:endParaRPr lang="en-US" sz="3200" dirty="0"/>
          </a:p>
        </p:txBody>
      </p:sp>
      <p:sp>
        <p:nvSpPr>
          <p:cNvPr id="28" name="Shape 26"/>
          <p:cNvSpPr/>
          <p:nvPr/>
        </p:nvSpPr>
        <p:spPr>
          <a:xfrm>
            <a:off x="10408615" y="1783080"/>
            <a:ext cx="1325880" cy="914400"/>
          </a:xfrm>
          <a:prstGeom prst="roundRect">
            <a:avLst>
              <a:gd name="adj" fmla="val 8000"/>
            </a:avLst>
          </a:prstGeom>
          <a:solidFill>
            <a:srgbClr val="0B3D62"/>
          </a:solidFill>
          <a:ln/>
        </p:spPr>
      </p:sp>
      <p:sp>
        <p:nvSpPr>
          <p:cNvPr id="29" name="Text 27"/>
          <p:cNvSpPr/>
          <p:nvPr/>
        </p:nvSpPr>
        <p:spPr>
          <a:xfrm>
            <a:off x="10408615" y="1783080"/>
            <a:ext cx="1325880" cy="914400"/>
          </a:xfrm>
          <a:prstGeom prst="rect">
            <a:avLst/>
          </a:prstGeom>
          <a:noFill/>
          <a:ln/>
        </p:spPr>
        <p:txBody>
          <a:bodyPr wrap="square" lIns="0" tIns="0" rIns="0" bIns="0" rtlCol="0" anchor="ctr"/>
          <a:lstStyle/>
          <a:p>
            <a:pPr marL="0" indent="0" algn="ctr">
              <a:buNone/>
            </a:pPr>
            <a:r>
              <a:rPr lang="en-US" sz="2400" b="1" dirty="0">
                <a:solidFill>
                  <a:srgbClr val="FFFFFF"/>
                </a:solidFill>
                <a:latin typeface="Courier New" pitchFamily="34" charset="0"/>
                <a:ea typeface="Courier New" pitchFamily="34" charset="-122"/>
                <a:cs typeface="Courier New" pitchFamily="34" charset="-120"/>
              </a:rPr>
              <a:t>ex</a:t>
            </a:r>
            <a:endParaRPr lang="en-US" sz="2400" dirty="0"/>
          </a:p>
        </p:txBody>
      </p:sp>
      <p:sp>
        <p:nvSpPr>
          <p:cNvPr id="30" name="Text 28"/>
          <p:cNvSpPr/>
          <p:nvPr/>
        </p:nvSpPr>
        <p:spPr>
          <a:xfrm>
            <a:off x="10271455" y="2770632"/>
            <a:ext cx="1600200" cy="548640"/>
          </a:xfrm>
          <a:prstGeom prst="rect">
            <a:avLst/>
          </a:prstGeom>
          <a:noFill/>
          <a:ln/>
        </p:spPr>
        <p:txBody>
          <a:bodyPr wrap="square" lIns="0" tIns="0" rIns="0" bIns="0" rtlCol="0" anchor="t"/>
          <a:lstStyle/>
          <a:p>
            <a:pPr marL="0" indent="0" algn="ctr">
              <a:lnSpc>
                <a:spcPct val="100000"/>
              </a:lnSpc>
              <a:buNone/>
            </a:pPr>
            <a:r>
              <a:rPr lang="en-US" sz="1100" dirty="0">
                <a:solidFill>
                  <a:srgbClr val="142433"/>
                </a:solidFill>
                <a:latin typeface="Calibri" pitchFamily="34" charset="0"/>
                <a:ea typeface="Calibri" pitchFamily="34" charset="-122"/>
                <a:cs typeface="Calibri" pitchFamily="34" charset="-120"/>
              </a:rPr>
              <a:t>Life</a:t>
            </a:r>
            <a:endParaRPr lang="en-US" sz="1100" dirty="0"/>
          </a:p>
          <a:p>
            <a:pPr marL="0" indent="0" algn="ctr">
              <a:lnSpc>
                <a:spcPct val="100000"/>
              </a:lnSpc>
              <a:buNone/>
            </a:pPr>
            <a:r>
              <a:rPr lang="en-US" sz="1100" dirty="0">
                <a:solidFill>
                  <a:srgbClr val="142433"/>
                </a:solidFill>
                <a:latin typeface="Calibri" pitchFamily="34" charset="0"/>
                <a:ea typeface="Calibri" pitchFamily="34" charset="-122"/>
                <a:cs typeface="Calibri" pitchFamily="34" charset="-120"/>
              </a:rPr>
              <a:t>expectancy</a:t>
            </a:r>
            <a:endParaRPr lang="en-US" sz="1100" dirty="0"/>
          </a:p>
        </p:txBody>
      </p:sp>
      <p:sp>
        <p:nvSpPr>
          <p:cNvPr id="31" name="Shape 29"/>
          <p:cNvSpPr/>
          <p:nvPr/>
        </p:nvSpPr>
        <p:spPr>
          <a:xfrm>
            <a:off x="457200" y="3611880"/>
            <a:ext cx="11277295" cy="2286000"/>
          </a:xfrm>
          <a:prstGeom prst="roundRect">
            <a:avLst>
              <a:gd name="adj" fmla="val 2800"/>
            </a:avLst>
          </a:prstGeom>
          <a:solidFill>
            <a:srgbClr val="EEF3F8"/>
          </a:solidFill>
          <a:ln w="9525">
            <a:solidFill>
              <a:srgbClr val="D3E0E9"/>
            </a:solidFill>
            <a:prstDash val="solid"/>
          </a:ln>
        </p:spPr>
      </p:sp>
      <p:sp>
        <p:nvSpPr>
          <p:cNvPr id="32" name="Text 30"/>
          <p:cNvSpPr/>
          <p:nvPr/>
        </p:nvSpPr>
        <p:spPr>
          <a:xfrm>
            <a:off x="777240" y="3840480"/>
            <a:ext cx="10637215" cy="1828800"/>
          </a:xfrm>
          <a:prstGeom prst="rect">
            <a:avLst/>
          </a:prstGeom>
          <a:noFill/>
          <a:ln/>
        </p:spPr>
        <p:txBody>
          <a:bodyPr wrap="square" lIns="0" tIns="0" rIns="0" bIns="0" rtlCol="0" anchor="t"/>
          <a:lstStyle/>
          <a:p>
            <a:pPr marL="0" indent="0">
              <a:lnSpc>
                <a:spcPct val="125000"/>
              </a:lnSpc>
              <a:buNone/>
            </a:pPr>
            <a:r>
              <a:rPr lang="en-US" sz="2000" dirty="0">
                <a:solidFill>
                  <a:srgbClr val="142433"/>
                </a:solidFill>
                <a:latin typeface="Calibri" pitchFamily="34" charset="0"/>
                <a:ea typeface="Calibri" pitchFamily="34" charset="-122"/>
                <a:cs typeface="Calibri" pitchFamily="34" charset="-120"/>
              </a:rPr>
              <a:t>Each column is computed from the one before it. This is a strictly sequential pipeline — an error in nqx propagates through every downstream column (lx, ndx, nLx, Tx, ex). This is exactly why the verification checklist later in this session matters: a single wrong formula silently corrupts the entire table.</a:t>
            </a:r>
            <a:endParaRPr lang="en-US" sz="2000" dirty="0"/>
          </a:p>
        </p:txBody>
      </p:sp>
      <p:sp>
        <p:nvSpPr>
          <p:cNvPr id="33" name="Text 31"/>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1050" dirty="0">
                <a:solidFill>
                  <a:srgbClr val="5B6B79"/>
                </a:solidFill>
                <a:latin typeface="Calibri" pitchFamily="34" charset="0"/>
                <a:ea typeface="Calibri" pitchFamily="34" charset="-122"/>
                <a:cs typeface="Calibri" pitchFamily="34" charset="-120"/>
              </a:rPr>
              <a:t>5140602 Fundamental Demographic Analysis – Session 5</a:t>
            </a:r>
            <a:endParaRPr lang="en-US" sz="1050" dirty="0"/>
          </a:p>
        </p:txBody>
      </p:sp>
      <p:sp>
        <p:nvSpPr>
          <p:cNvPr id="34" name="Text 32"/>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1050" dirty="0">
                <a:solidFill>
                  <a:srgbClr val="5B6B79"/>
                </a:solidFill>
                <a:latin typeface="Calibri" pitchFamily="34" charset="0"/>
                <a:ea typeface="Calibri" pitchFamily="34" charset="-122"/>
                <a:cs typeface="Calibri" pitchFamily="34" charset="-120"/>
              </a:rPr>
              <a:t>16 / 80</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400" b="1" kern="0" spc="200" dirty="0">
                <a:solidFill>
                  <a:srgbClr val="1C7293"/>
                </a:solidFill>
                <a:latin typeface="Calibri" pitchFamily="34" charset="0"/>
                <a:ea typeface="Calibri" pitchFamily="34" charset="-122"/>
                <a:cs typeface="Calibri" pitchFamily="34" charset="-120"/>
              </a:rPr>
              <a:t>THE INPUT DATA</a:t>
            </a:r>
            <a:endParaRPr lang="en-US" sz="14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3200" b="1" dirty="0">
                <a:solidFill>
                  <a:srgbClr val="0B3D62"/>
                </a:solidFill>
                <a:latin typeface="Cambria" pitchFamily="34" charset="0"/>
                <a:ea typeface="Cambria" pitchFamily="34" charset="-122"/>
                <a:cs typeface="Cambria" pitchFamily="34" charset="-120"/>
              </a:rPr>
              <a:t>Column 1 — nMx: Age-Specific Death Rate</a:t>
            </a:r>
            <a:endParaRPr lang="en-US" sz="3200" dirty="0"/>
          </a:p>
        </p:txBody>
      </p:sp>
      <p:sp>
        <p:nvSpPr>
          <p:cNvPr id="4" name="Shape 2"/>
          <p:cNvSpPr/>
          <p:nvPr/>
        </p:nvSpPr>
        <p:spPr>
          <a:xfrm>
            <a:off x="457200" y="1481328"/>
            <a:ext cx="11277295" cy="777240"/>
          </a:xfrm>
          <a:prstGeom prst="roundRect">
            <a:avLst>
              <a:gd name="adj" fmla="val 8235"/>
            </a:avLst>
          </a:prstGeom>
          <a:solidFill>
            <a:srgbClr val="07213A"/>
          </a:solidFill>
          <a:ln/>
        </p:spPr>
      </p:sp>
      <p:sp>
        <p:nvSpPr>
          <p:cNvPr id="5" name="Text 3"/>
          <p:cNvSpPr/>
          <p:nvPr/>
        </p:nvSpPr>
        <p:spPr>
          <a:xfrm>
            <a:off x="685800" y="1481328"/>
            <a:ext cx="10820095"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Courier New" pitchFamily="34" charset="0"/>
                <a:ea typeface="Courier New" pitchFamily="34" charset="-122"/>
                <a:cs typeface="Courier New" pitchFamily="34" charset="-120"/>
              </a:rPr>
              <a:t>nMx  =  nDx  /  nNx      (deaths in age interval x to x+n, divided by mid-period population)</a:t>
            </a:r>
            <a:endParaRPr lang="en-US" sz="2000" dirty="0"/>
          </a:p>
        </p:txBody>
      </p:sp>
      <p:sp>
        <p:nvSpPr>
          <p:cNvPr id="6" name="Shape 4"/>
          <p:cNvSpPr/>
          <p:nvPr/>
        </p:nvSpPr>
        <p:spPr>
          <a:xfrm>
            <a:off x="457200" y="2487168"/>
            <a:ext cx="3588410" cy="3337560"/>
          </a:xfrm>
          <a:prstGeom prst="roundRect">
            <a:avLst>
              <a:gd name="adj" fmla="val 1918"/>
            </a:avLst>
          </a:prstGeom>
          <a:solidFill>
            <a:srgbClr val="EEF3F8"/>
          </a:solidFill>
          <a:ln w="9525">
            <a:solidFill>
              <a:srgbClr val="D3E0E9"/>
            </a:solidFill>
            <a:prstDash val="solid"/>
          </a:ln>
        </p:spPr>
      </p:sp>
      <p:sp>
        <p:nvSpPr>
          <p:cNvPr id="7" name="Text 5"/>
          <p:cNvSpPr/>
          <p:nvPr/>
        </p:nvSpPr>
        <p:spPr>
          <a:xfrm>
            <a:off x="694944"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Your raw input, not an output</a:t>
            </a:r>
            <a:endParaRPr lang="en-US" dirty="0"/>
          </a:p>
        </p:txBody>
      </p:sp>
      <p:sp>
        <p:nvSpPr>
          <p:cNvPr id="8" name="Text 6"/>
          <p:cNvSpPr/>
          <p:nvPr/>
        </p:nvSpPr>
        <p:spPr>
          <a:xfrm>
            <a:off x="694944"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nMx comes directly from vital registration (deaths) and census / mid-year population estimates — it is observed, not derived.</a:t>
            </a:r>
            <a:endParaRPr lang="en-US" sz="1400" dirty="0"/>
          </a:p>
        </p:txBody>
      </p:sp>
      <p:sp>
        <p:nvSpPr>
          <p:cNvPr id="9" name="Shape 7"/>
          <p:cNvSpPr/>
          <p:nvPr/>
        </p:nvSpPr>
        <p:spPr>
          <a:xfrm>
            <a:off x="4301642" y="2487168"/>
            <a:ext cx="3588410" cy="3337560"/>
          </a:xfrm>
          <a:prstGeom prst="roundRect">
            <a:avLst>
              <a:gd name="adj" fmla="val 1918"/>
            </a:avLst>
          </a:prstGeom>
          <a:solidFill>
            <a:srgbClr val="EEF3F8"/>
          </a:solidFill>
          <a:ln w="9525">
            <a:solidFill>
              <a:srgbClr val="D3E0E9"/>
            </a:solidFill>
            <a:prstDash val="solid"/>
          </a:ln>
        </p:spPr>
      </p:sp>
      <p:sp>
        <p:nvSpPr>
          <p:cNvPr id="10" name="Text 8"/>
          <p:cNvSpPr/>
          <p:nvPr/>
        </p:nvSpPr>
        <p:spPr>
          <a:xfrm>
            <a:off x="4539386"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Denominator is person-time at risk</a:t>
            </a:r>
            <a:endParaRPr lang="en-US" dirty="0"/>
          </a:p>
        </p:txBody>
      </p:sp>
      <p:sp>
        <p:nvSpPr>
          <p:cNvPr id="11" name="Text 9"/>
          <p:cNvSpPr/>
          <p:nvPr/>
        </p:nvSpPr>
        <p:spPr>
          <a:xfrm>
            <a:off x="4539386"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Typically approximated by the mid-year population in the interval; more precise methods use person-years of exposure directly.</a:t>
            </a:r>
            <a:endParaRPr lang="en-US" sz="1400" dirty="0"/>
          </a:p>
        </p:txBody>
      </p:sp>
      <p:sp>
        <p:nvSpPr>
          <p:cNvPr id="12" name="Shape 10"/>
          <p:cNvSpPr/>
          <p:nvPr/>
        </p:nvSpPr>
        <p:spPr>
          <a:xfrm>
            <a:off x="8146085" y="2487168"/>
            <a:ext cx="3588410" cy="3337560"/>
          </a:xfrm>
          <a:prstGeom prst="roundRect">
            <a:avLst>
              <a:gd name="adj" fmla="val 1918"/>
            </a:avLst>
          </a:prstGeom>
          <a:solidFill>
            <a:srgbClr val="EEF3F8"/>
          </a:solidFill>
          <a:ln w="9525">
            <a:solidFill>
              <a:srgbClr val="D3E0E9"/>
            </a:solidFill>
            <a:prstDash val="solid"/>
          </a:ln>
        </p:spPr>
      </p:sp>
      <p:sp>
        <p:nvSpPr>
          <p:cNvPr id="13" name="Text 11"/>
          <p:cNvSpPr/>
          <p:nvPr/>
        </p:nvSpPr>
        <p:spPr>
          <a:xfrm>
            <a:off x="8383829"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Notation convention</a:t>
            </a:r>
            <a:endParaRPr lang="en-US" dirty="0"/>
          </a:p>
        </p:txBody>
      </p:sp>
      <p:sp>
        <p:nvSpPr>
          <p:cNvPr id="14" name="Text 12"/>
          <p:cNvSpPr/>
          <p:nvPr/>
        </p:nvSpPr>
        <p:spPr>
          <a:xfrm>
            <a:off x="8383829"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The leading subscript n denotes interval width (e.g., 5M10 = the rate for ages 10–14); when n is omitted, a single-year or open interval is implied.</a:t>
            </a:r>
            <a:endParaRPr lang="en-US" sz="1400" dirty="0"/>
          </a:p>
        </p:txBody>
      </p:sp>
      <p:sp>
        <p:nvSpPr>
          <p:cNvPr id="15" name="Text 13"/>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5140602 Fundamental Demographic Analysis – Session 5</a:t>
            </a:r>
            <a:endParaRPr lang="en-US" sz="1000" dirty="0"/>
          </a:p>
        </p:txBody>
      </p:sp>
      <p:sp>
        <p:nvSpPr>
          <p:cNvPr id="16" name="Text 14"/>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17 / 80</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THE FIRST DERIVED COLUMN</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Column 2 — nqx: Probability of Dying in the Interval</a:t>
            </a:r>
            <a:endParaRPr lang="en-US" sz="2700" dirty="0"/>
          </a:p>
        </p:txBody>
      </p:sp>
      <p:sp>
        <p:nvSpPr>
          <p:cNvPr id="4" name="Shape 2"/>
          <p:cNvSpPr/>
          <p:nvPr/>
        </p:nvSpPr>
        <p:spPr>
          <a:xfrm>
            <a:off x="457200" y="1481328"/>
            <a:ext cx="11277295" cy="777240"/>
          </a:xfrm>
          <a:prstGeom prst="roundRect">
            <a:avLst>
              <a:gd name="adj" fmla="val 8235"/>
            </a:avLst>
          </a:prstGeom>
          <a:solidFill>
            <a:srgbClr val="07213A"/>
          </a:solidFill>
          <a:ln/>
        </p:spPr>
        <p:txBody>
          <a:bodyPr/>
          <a:lstStyle/>
          <a:p>
            <a:endParaRPr/>
          </a:p>
        </p:txBody>
      </p:sp>
      <p:sp>
        <p:nvSpPr>
          <p:cNvPr id="5" name="Text 3"/>
          <p:cNvSpPr/>
          <p:nvPr/>
        </p:nvSpPr>
        <p:spPr>
          <a:xfrm>
            <a:off x="685800" y="1481328"/>
            <a:ext cx="10820095" cy="777240"/>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nqx  =  (n · nMx) / (1 + (n − nax) · nMx)</a:t>
            </a:r>
            <a:endParaRPr lang="en-US" sz="1700" dirty="0"/>
          </a:p>
        </p:txBody>
      </p:sp>
      <p:sp>
        <p:nvSpPr>
          <p:cNvPr id="6" name="Shape 4"/>
          <p:cNvSpPr/>
          <p:nvPr/>
        </p:nvSpPr>
        <p:spPr>
          <a:xfrm>
            <a:off x="457200" y="2487168"/>
            <a:ext cx="3588410" cy="3337560"/>
          </a:xfrm>
          <a:prstGeom prst="roundRect">
            <a:avLst>
              <a:gd name="adj" fmla="val 1918"/>
            </a:avLst>
          </a:prstGeom>
          <a:solidFill>
            <a:srgbClr val="EEF3F8"/>
          </a:solidFill>
          <a:ln w="9525">
            <a:solidFill>
              <a:srgbClr val="D3E0E9"/>
            </a:solidFill>
            <a:prstDash val="solid"/>
          </a:ln>
        </p:spPr>
        <p:txBody>
          <a:bodyPr/>
          <a:lstStyle/>
          <a:p>
            <a:endParaRPr/>
          </a:p>
        </p:txBody>
      </p:sp>
      <p:sp>
        <p:nvSpPr>
          <p:cNvPr id="7" name="Text 5"/>
          <p:cNvSpPr/>
          <p:nvPr/>
        </p:nvSpPr>
        <p:spPr>
          <a:xfrm>
            <a:off x="694944" y="2798064"/>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Converts a rate into a probability</a:t>
            </a:r>
            <a:endParaRPr lang="en-US" sz="1450" dirty="0"/>
          </a:p>
        </p:txBody>
      </p:sp>
      <p:sp>
        <p:nvSpPr>
          <p:cNvPr id="8" name="Text 6"/>
          <p:cNvSpPr/>
          <p:nvPr/>
        </p:nvSpPr>
        <p:spPr>
          <a:xfrm>
            <a:off x="694944" y="3328416"/>
            <a:ext cx="3112922" cy="2313432"/>
          </a:xfrm>
          <a:prstGeom prst="rect">
            <a:avLst/>
          </a:prstGeom>
          <a:noFill/>
          <a:ln/>
        </p:spPr>
        <p:txBody>
          <a:bodyPr wrap="square" lIns="0" tIns="0" rIns="0" bIns="0" rtlCol="0" anchor="t"/>
          <a:lstStyle/>
          <a:p>
            <a:pPr marL="0" indent="0" algn="l">
              <a:lnSpc>
                <a:spcPct val="112000"/>
              </a:lnSpc>
              <a:buNone/>
            </a:pPr>
            <a:r>
              <a:rPr lang="en-US" sz="1100" dirty="0">
                <a:solidFill>
                  <a:srgbClr val="142433"/>
                </a:solidFill>
                <a:latin typeface="Calibri" pitchFamily="34" charset="0"/>
                <a:ea typeface="Calibri" pitchFamily="34" charset="-122"/>
                <a:cs typeface="Calibri" pitchFamily="34" charset="-120"/>
              </a:rPr>
              <a:t>nMx is a rate (deaths per person-year); nqx is the probability that a person alive at exact age x dies before reaching age x+n.</a:t>
            </a:r>
            <a:endParaRPr lang="en-US" sz="1100" dirty="0"/>
          </a:p>
        </p:txBody>
      </p:sp>
      <p:sp>
        <p:nvSpPr>
          <p:cNvPr id="9" name="Shape 7"/>
          <p:cNvSpPr/>
          <p:nvPr/>
        </p:nvSpPr>
        <p:spPr>
          <a:xfrm>
            <a:off x="4301642" y="2487168"/>
            <a:ext cx="3588410" cy="3337560"/>
          </a:xfrm>
          <a:prstGeom prst="roundRect">
            <a:avLst>
              <a:gd name="adj" fmla="val 1918"/>
            </a:avLst>
          </a:prstGeom>
          <a:solidFill>
            <a:srgbClr val="EEF3F8"/>
          </a:solidFill>
          <a:ln w="9525">
            <a:solidFill>
              <a:srgbClr val="D3E0E9"/>
            </a:solidFill>
            <a:prstDash val="solid"/>
          </a:ln>
        </p:spPr>
        <p:txBody>
          <a:bodyPr/>
          <a:lstStyle/>
          <a:p>
            <a:endParaRPr/>
          </a:p>
        </p:txBody>
      </p:sp>
      <p:sp>
        <p:nvSpPr>
          <p:cNvPr id="10" name="Text 8"/>
          <p:cNvSpPr/>
          <p:nvPr/>
        </p:nvSpPr>
        <p:spPr>
          <a:xfrm>
            <a:off x="4539386" y="2798064"/>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nax is the key adjustment factor</a:t>
            </a:r>
            <a:endParaRPr lang="en-US" sz="1450" dirty="0"/>
          </a:p>
        </p:txBody>
      </p:sp>
      <p:sp>
        <p:nvSpPr>
          <p:cNvPr id="11" name="Text 9"/>
          <p:cNvSpPr/>
          <p:nvPr/>
        </p:nvSpPr>
        <p:spPr>
          <a:xfrm>
            <a:off x="4539386" y="3328416"/>
            <a:ext cx="3112922" cy="2313432"/>
          </a:xfrm>
          <a:prstGeom prst="rect">
            <a:avLst/>
          </a:prstGeom>
          <a:noFill/>
          <a:ln/>
        </p:spPr>
        <p:txBody>
          <a:bodyPr wrap="square" lIns="0" tIns="0" rIns="0" bIns="0" rtlCol="0" anchor="t"/>
          <a:lstStyle/>
          <a:p>
            <a:pPr marL="0" indent="0" algn="l">
              <a:lnSpc>
                <a:spcPct val="112000"/>
              </a:lnSpc>
              <a:buNone/>
            </a:pPr>
            <a:r>
              <a:rPr lang="en-US" sz="1100" dirty="0">
                <a:solidFill>
                  <a:srgbClr val="142433"/>
                </a:solidFill>
                <a:latin typeface="Calibri" pitchFamily="34" charset="0"/>
                <a:ea typeface="Calibri" pitchFamily="34" charset="-122"/>
                <a:cs typeface="Calibri" pitchFamily="34" charset="-120"/>
              </a:rPr>
              <a:t>The average years lived in the interval by those who die in it — corrects for deaths not being evenly spread across the interval (see Slide 26).</a:t>
            </a:r>
            <a:endParaRPr lang="en-US" sz="1100" dirty="0"/>
          </a:p>
        </p:txBody>
      </p:sp>
      <p:sp>
        <p:nvSpPr>
          <p:cNvPr id="12" name="Shape 10"/>
          <p:cNvSpPr/>
          <p:nvPr/>
        </p:nvSpPr>
        <p:spPr>
          <a:xfrm>
            <a:off x="8146085" y="2487168"/>
            <a:ext cx="3588410" cy="3337560"/>
          </a:xfrm>
          <a:prstGeom prst="roundRect">
            <a:avLst>
              <a:gd name="adj" fmla="val 1918"/>
            </a:avLst>
          </a:prstGeom>
          <a:solidFill>
            <a:srgbClr val="EEF3F8"/>
          </a:solidFill>
          <a:ln w="9525">
            <a:solidFill>
              <a:srgbClr val="D3E0E9"/>
            </a:solidFill>
            <a:prstDash val="solid"/>
          </a:ln>
        </p:spPr>
        <p:txBody>
          <a:bodyPr/>
          <a:lstStyle/>
          <a:p>
            <a:endParaRPr/>
          </a:p>
        </p:txBody>
      </p:sp>
      <p:sp>
        <p:nvSpPr>
          <p:cNvPr id="13" name="Text 11"/>
          <p:cNvSpPr/>
          <p:nvPr/>
        </p:nvSpPr>
        <p:spPr>
          <a:xfrm>
            <a:off x="8383829" y="2798064"/>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Sanity check</a:t>
            </a:r>
            <a:endParaRPr lang="en-US" sz="1450" dirty="0"/>
          </a:p>
        </p:txBody>
      </p:sp>
      <p:sp>
        <p:nvSpPr>
          <p:cNvPr id="14" name="Text 12"/>
          <p:cNvSpPr/>
          <p:nvPr/>
        </p:nvSpPr>
        <p:spPr>
          <a:xfrm>
            <a:off x="8383829" y="3328416"/>
            <a:ext cx="3112922" cy="2313432"/>
          </a:xfrm>
          <a:prstGeom prst="rect">
            <a:avLst/>
          </a:prstGeom>
          <a:noFill/>
          <a:ln/>
        </p:spPr>
        <p:txBody>
          <a:bodyPr wrap="square" lIns="0" tIns="0" rIns="0" bIns="0" rtlCol="0" anchor="t"/>
          <a:lstStyle/>
          <a:p>
            <a:pPr marL="0" indent="0" algn="l">
              <a:lnSpc>
                <a:spcPct val="112000"/>
              </a:lnSpc>
              <a:buNone/>
            </a:pPr>
            <a:r>
              <a:rPr lang="en-US" sz="1100" dirty="0">
                <a:solidFill>
                  <a:srgbClr val="142433"/>
                </a:solidFill>
                <a:latin typeface="Calibri" pitchFamily="34" charset="0"/>
                <a:ea typeface="Calibri" pitchFamily="34" charset="-122"/>
                <a:cs typeface="Calibri" pitchFamily="34" charset="-120"/>
              </a:rPr>
              <a:t>nqx must lie between 0 and 1 for every age group, including the final open interval, where ∞qx = 1 by definition.</a:t>
            </a:r>
            <a:endParaRPr lang="en-US" sz="1100" dirty="0"/>
          </a:p>
        </p:txBody>
      </p:sp>
      <p:sp>
        <p:nvSpPr>
          <p:cNvPr id="15" name="Text 13"/>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16" name="Text 14"/>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18 / 80</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THE SURVIVORSHIP FUNCTION</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Column 3 — lx: Survivors to Exact Age x</a:t>
            </a:r>
            <a:endParaRPr lang="en-US" sz="2700" dirty="0"/>
          </a:p>
        </p:txBody>
      </p:sp>
      <p:sp>
        <p:nvSpPr>
          <p:cNvPr id="4" name="Shape 2"/>
          <p:cNvSpPr/>
          <p:nvPr/>
        </p:nvSpPr>
        <p:spPr>
          <a:xfrm>
            <a:off x="457200" y="1481328"/>
            <a:ext cx="11277295" cy="777240"/>
          </a:xfrm>
          <a:prstGeom prst="roundRect">
            <a:avLst>
              <a:gd name="adj" fmla="val 8235"/>
            </a:avLst>
          </a:prstGeom>
          <a:solidFill>
            <a:srgbClr val="07213A"/>
          </a:solidFill>
          <a:ln/>
        </p:spPr>
      </p:sp>
      <p:sp>
        <p:nvSpPr>
          <p:cNvPr id="5" name="Text 3"/>
          <p:cNvSpPr/>
          <p:nvPr/>
        </p:nvSpPr>
        <p:spPr>
          <a:xfrm>
            <a:off x="685800" y="1481328"/>
            <a:ext cx="10820095" cy="777240"/>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l0 = radix (100,000)          lx+n  =  lx · (1 − nqx)  =  lx · npx</a:t>
            </a:r>
            <a:endParaRPr lang="en-US" sz="1700" dirty="0"/>
          </a:p>
        </p:txBody>
      </p:sp>
      <p:sp>
        <p:nvSpPr>
          <p:cNvPr id="6" name="Shape 4"/>
          <p:cNvSpPr/>
          <p:nvPr/>
        </p:nvSpPr>
        <p:spPr>
          <a:xfrm>
            <a:off x="457200" y="2487168"/>
            <a:ext cx="3588410" cy="3337560"/>
          </a:xfrm>
          <a:prstGeom prst="roundRect">
            <a:avLst>
              <a:gd name="adj" fmla="val 1918"/>
            </a:avLst>
          </a:prstGeom>
          <a:solidFill>
            <a:srgbClr val="EEF3F8"/>
          </a:solidFill>
          <a:ln w="9525">
            <a:solidFill>
              <a:srgbClr val="D3E0E9"/>
            </a:solidFill>
            <a:prstDash val="solid"/>
          </a:ln>
        </p:spPr>
      </p:sp>
      <p:sp>
        <p:nvSpPr>
          <p:cNvPr id="7" name="Text 5"/>
          <p:cNvSpPr/>
          <p:nvPr/>
        </p:nvSpPr>
        <p:spPr>
          <a:xfrm>
            <a:off x="694944" y="2798064"/>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Recursive, not independent</a:t>
            </a:r>
            <a:endParaRPr lang="en-US" sz="1450" dirty="0"/>
          </a:p>
        </p:txBody>
      </p:sp>
      <p:sp>
        <p:nvSpPr>
          <p:cNvPr id="8" name="Text 6"/>
          <p:cNvSpPr/>
          <p:nvPr/>
        </p:nvSpPr>
        <p:spPr>
          <a:xfrm>
            <a:off x="694944" y="3328416"/>
            <a:ext cx="3112922" cy="2313432"/>
          </a:xfrm>
          <a:prstGeom prst="rect">
            <a:avLst/>
          </a:prstGeom>
          <a:noFill/>
          <a:ln/>
        </p:spPr>
        <p:txBody>
          <a:bodyPr wrap="square" lIns="0" tIns="0" rIns="0" bIns="0" rtlCol="0" anchor="t"/>
          <a:lstStyle/>
          <a:p>
            <a:pPr marL="0" indent="0" algn="l">
              <a:lnSpc>
                <a:spcPct val="112000"/>
              </a:lnSpc>
              <a:buNone/>
            </a:pPr>
            <a:r>
              <a:rPr lang="en-US" sz="1100" dirty="0">
                <a:solidFill>
                  <a:srgbClr val="142433"/>
                </a:solidFill>
                <a:latin typeface="Calibri" pitchFamily="34" charset="0"/>
                <a:ea typeface="Calibri" pitchFamily="34" charset="-122"/>
                <a:cs typeface="Calibri" pitchFamily="34" charset="-120"/>
              </a:rPr>
              <a:t>Each lx depends on every nqx computed at younger ages — this is why one upstream error propagates through the whole table.</a:t>
            </a:r>
            <a:endParaRPr lang="en-US" sz="1100" dirty="0"/>
          </a:p>
        </p:txBody>
      </p:sp>
      <p:sp>
        <p:nvSpPr>
          <p:cNvPr id="9" name="Shape 7"/>
          <p:cNvSpPr/>
          <p:nvPr/>
        </p:nvSpPr>
        <p:spPr>
          <a:xfrm>
            <a:off x="4301642" y="2487168"/>
            <a:ext cx="3588410" cy="3337560"/>
          </a:xfrm>
          <a:prstGeom prst="roundRect">
            <a:avLst>
              <a:gd name="adj" fmla="val 1918"/>
            </a:avLst>
          </a:prstGeom>
          <a:solidFill>
            <a:srgbClr val="EEF3F8"/>
          </a:solidFill>
          <a:ln w="9525">
            <a:solidFill>
              <a:srgbClr val="D3E0E9"/>
            </a:solidFill>
            <a:prstDash val="solid"/>
          </a:ln>
        </p:spPr>
      </p:sp>
      <p:sp>
        <p:nvSpPr>
          <p:cNvPr id="10" name="Text 8"/>
          <p:cNvSpPr/>
          <p:nvPr/>
        </p:nvSpPr>
        <p:spPr>
          <a:xfrm>
            <a:off x="4539386" y="2798064"/>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Radix is arbitrary but conventional</a:t>
            </a:r>
            <a:endParaRPr lang="en-US" sz="1450" dirty="0"/>
          </a:p>
        </p:txBody>
      </p:sp>
      <p:sp>
        <p:nvSpPr>
          <p:cNvPr id="11" name="Text 9"/>
          <p:cNvSpPr/>
          <p:nvPr/>
        </p:nvSpPr>
        <p:spPr>
          <a:xfrm>
            <a:off x="4539386" y="3328416"/>
            <a:ext cx="3112922" cy="2313432"/>
          </a:xfrm>
          <a:prstGeom prst="rect">
            <a:avLst/>
          </a:prstGeom>
          <a:noFill/>
          <a:ln/>
        </p:spPr>
        <p:txBody>
          <a:bodyPr wrap="square" lIns="0" tIns="0" rIns="0" bIns="0" rtlCol="0" anchor="t"/>
          <a:lstStyle/>
          <a:p>
            <a:pPr marL="0" indent="0" algn="l">
              <a:lnSpc>
                <a:spcPct val="112000"/>
              </a:lnSpc>
              <a:buNone/>
            </a:pPr>
            <a:r>
              <a:rPr lang="en-US" sz="1100" dirty="0">
                <a:solidFill>
                  <a:srgbClr val="142433"/>
                </a:solidFill>
                <a:latin typeface="Calibri" pitchFamily="34" charset="0"/>
                <a:ea typeface="Calibri" pitchFamily="34" charset="-122"/>
                <a:cs typeface="Calibri" pitchFamily="34" charset="-120"/>
              </a:rPr>
              <a:t>100,000 is standard because it turns ndx into whole, readable numbers; the choice does not affect ex, only the scale of lx and ndx.</a:t>
            </a:r>
            <a:endParaRPr lang="en-US" sz="1100" dirty="0"/>
          </a:p>
        </p:txBody>
      </p:sp>
      <p:sp>
        <p:nvSpPr>
          <p:cNvPr id="12" name="Shape 10"/>
          <p:cNvSpPr/>
          <p:nvPr/>
        </p:nvSpPr>
        <p:spPr>
          <a:xfrm>
            <a:off x="8146085" y="2487168"/>
            <a:ext cx="3588410" cy="3337560"/>
          </a:xfrm>
          <a:prstGeom prst="roundRect">
            <a:avLst>
              <a:gd name="adj" fmla="val 1918"/>
            </a:avLst>
          </a:prstGeom>
          <a:solidFill>
            <a:srgbClr val="EEF3F8"/>
          </a:solidFill>
          <a:ln w="9525">
            <a:solidFill>
              <a:srgbClr val="D3E0E9"/>
            </a:solidFill>
            <a:prstDash val="solid"/>
          </a:ln>
        </p:spPr>
      </p:sp>
      <p:sp>
        <p:nvSpPr>
          <p:cNvPr id="13" name="Text 11"/>
          <p:cNvSpPr/>
          <p:nvPr/>
        </p:nvSpPr>
        <p:spPr>
          <a:xfrm>
            <a:off x="8383829" y="2798064"/>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npx = 1 − nqx</a:t>
            </a:r>
            <a:endParaRPr lang="en-US" sz="1450" dirty="0"/>
          </a:p>
        </p:txBody>
      </p:sp>
      <p:sp>
        <p:nvSpPr>
          <p:cNvPr id="14" name="Text 12"/>
          <p:cNvSpPr/>
          <p:nvPr/>
        </p:nvSpPr>
        <p:spPr>
          <a:xfrm>
            <a:off x="8383829" y="3328416"/>
            <a:ext cx="3112922" cy="2313432"/>
          </a:xfrm>
          <a:prstGeom prst="rect">
            <a:avLst/>
          </a:prstGeom>
          <a:noFill/>
          <a:ln/>
        </p:spPr>
        <p:txBody>
          <a:bodyPr wrap="square" lIns="0" tIns="0" rIns="0" bIns="0" rtlCol="0" anchor="t"/>
          <a:lstStyle/>
          <a:p>
            <a:pPr marL="0" indent="0" algn="l">
              <a:lnSpc>
                <a:spcPct val="112000"/>
              </a:lnSpc>
              <a:buNone/>
            </a:pPr>
            <a:r>
              <a:rPr lang="en-US" sz="1100" dirty="0">
                <a:solidFill>
                  <a:srgbClr val="142433"/>
                </a:solidFill>
                <a:latin typeface="Calibri" pitchFamily="34" charset="0"/>
                <a:ea typeface="Calibri" pitchFamily="34" charset="-122"/>
                <a:cs typeface="Calibri" pitchFamily="34" charset="-120"/>
              </a:rPr>
              <a:t>The probability of surviving the interval — a useful complementary column, often shown alongside nqx.</a:t>
            </a:r>
            <a:endParaRPr lang="en-US" sz="1100" dirty="0"/>
          </a:p>
        </p:txBody>
      </p:sp>
      <p:sp>
        <p:nvSpPr>
          <p:cNvPr id="15" name="Text 13"/>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16" name="Text 14"/>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19 / 80</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THE DEATH COUNT COLUMN</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Column 4 — ndx: Deaths in the Interval</a:t>
            </a:r>
            <a:endParaRPr lang="en-US" sz="2700" dirty="0"/>
          </a:p>
        </p:txBody>
      </p:sp>
      <p:sp>
        <p:nvSpPr>
          <p:cNvPr id="4" name="Shape 2"/>
          <p:cNvSpPr/>
          <p:nvPr/>
        </p:nvSpPr>
        <p:spPr>
          <a:xfrm>
            <a:off x="457200" y="1481328"/>
            <a:ext cx="11277295" cy="777240"/>
          </a:xfrm>
          <a:prstGeom prst="roundRect">
            <a:avLst>
              <a:gd name="adj" fmla="val 8235"/>
            </a:avLst>
          </a:prstGeom>
          <a:solidFill>
            <a:srgbClr val="07213A"/>
          </a:solidFill>
          <a:ln/>
        </p:spPr>
      </p:sp>
      <p:sp>
        <p:nvSpPr>
          <p:cNvPr id="5" name="Text 3"/>
          <p:cNvSpPr/>
          <p:nvPr/>
        </p:nvSpPr>
        <p:spPr>
          <a:xfrm>
            <a:off x="685800" y="1481328"/>
            <a:ext cx="10820095" cy="777240"/>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ndx  =  lx − lx+n   =   lx · nqx</a:t>
            </a:r>
            <a:endParaRPr lang="en-US" sz="1700" dirty="0"/>
          </a:p>
        </p:txBody>
      </p:sp>
      <p:sp>
        <p:nvSpPr>
          <p:cNvPr id="6" name="Shape 4"/>
          <p:cNvSpPr/>
          <p:nvPr/>
        </p:nvSpPr>
        <p:spPr>
          <a:xfrm>
            <a:off x="457200" y="2487168"/>
            <a:ext cx="3588410" cy="3337560"/>
          </a:xfrm>
          <a:prstGeom prst="roundRect">
            <a:avLst>
              <a:gd name="adj" fmla="val 1918"/>
            </a:avLst>
          </a:prstGeom>
          <a:solidFill>
            <a:srgbClr val="EEF3F8"/>
          </a:solidFill>
          <a:ln w="9525">
            <a:solidFill>
              <a:srgbClr val="D3E0E9"/>
            </a:solidFill>
            <a:prstDash val="solid"/>
          </a:ln>
        </p:spPr>
      </p:sp>
      <p:sp>
        <p:nvSpPr>
          <p:cNvPr id="7" name="Text 5"/>
          <p:cNvSpPr/>
          <p:nvPr/>
        </p:nvSpPr>
        <p:spPr>
          <a:xfrm>
            <a:off x="694944" y="2798064"/>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Deaths among the synthetic cohort</a:t>
            </a:r>
            <a:endParaRPr lang="en-US" sz="1450" dirty="0"/>
          </a:p>
        </p:txBody>
      </p:sp>
      <p:sp>
        <p:nvSpPr>
          <p:cNvPr id="8" name="Text 6"/>
          <p:cNvSpPr/>
          <p:nvPr/>
        </p:nvSpPr>
        <p:spPr>
          <a:xfrm>
            <a:off x="694944" y="3328416"/>
            <a:ext cx="3112922" cy="2313432"/>
          </a:xfrm>
          <a:prstGeom prst="rect">
            <a:avLst/>
          </a:prstGeom>
          <a:noFill/>
          <a:ln/>
        </p:spPr>
        <p:txBody>
          <a:bodyPr wrap="square" lIns="0" tIns="0" rIns="0" bIns="0" rtlCol="0" anchor="t"/>
          <a:lstStyle/>
          <a:p>
            <a:pPr marL="0" indent="0" algn="l">
              <a:lnSpc>
                <a:spcPct val="112000"/>
              </a:lnSpc>
              <a:buNone/>
            </a:pPr>
            <a:r>
              <a:rPr lang="en-US" sz="1100" dirty="0">
                <a:solidFill>
                  <a:srgbClr val="142433"/>
                </a:solidFill>
                <a:latin typeface="Calibri" pitchFamily="34" charset="0"/>
                <a:ea typeface="Calibri" pitchFamily="34" charset="-122"/>
                <a:cs typeface="Calibri" pitchFamily="34" charset="-120"/>
              </a:rPr>
              <a:t>ndx is how many of the original 100,000 die between exact ages x and x+n, under the assumed mortality schedule.</a:t>
            </a:r>
            <a:endParaRPr lang="en-US" sz="1100" dirty="0"/>
          </a:p>
        </p:txBody>
      </p:sp>
      <p:sp>
        <p:nvSpPr>
          <p:cNvPr id="9" name="Shape 7"/>
          <p:cNvSpPr/>
          <p:nvPr/>
        </p:nvSpPr>
        <p:spPr>
          <a:xfrm>
            <a:off x="4301642" y="2487168"/>
            <a:ext cx="3588410" cy="3337560"/>
          </a:xfrm>
          <a:prstGeom prst="roundRect">
            <a:avLst>
              <a:gd name="adj" fmla="val 1918"/>
            </a:avLst>
          </a:prstGeom>
          <a:solidFill>
            <a:srgbClr val="EEF3F8"/>
          </a:solidFill>
          <a:ln w="9525">
            <a:solidFill>
              <a:srgbClr val="D3E0E9"/>
            </a:solidFill>
            <a:prstDash val="solid"/>
          </a:ln>
        </p:spPr>
      </p:sp>
      <p:sp>
        <p:nvSpPr>
          <p:cNvPr id="10" name="Text 8"/>
          <p:cNvSpPr/>
          <p:nvPr/>
        </p:nvSpPr>
        <p:spPr>
          <a:xfrm>
            <a:off x="4539386" y="2798064"/>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Two equivalent formulas</a:t>
            </a:r>
            <a:endParaRPr lang="en-US" sz="1450" dirty="0"/>
          </a:p>
        </p:txBody>
      </p:sp>
      <p:sp>
        <p:nvSpPr>
          <p:cNvPr id="11" name="Text 9"/>
          <p:cNvSpPr/>
          <p:nvPr/>
        </p:nvSpPr>
        <p:spPr>
          <a:xfrm>
            <a:off x="4539386" y="3328416"/>
            <a:ext cx="3112922" cy="2313432"/>
          </a:xfrm>
          <a:prstGeom prst="rect">
            <a:avLst/>
          </a:prstGeom>
          <a:noFill/>
          <a:ln/>
        </p:spPr>
        <p:txBody>
          <a:bodyPr wrap="square" lIns="0" tIns="0" rIns="0" bIns="0" rtlCol="0" anchor="t"/>
          <a:lstStyle/>
          <a:p>
            <a:pPr marL="0" indent="0" algn="l">
              <a:lnSpc>
                <a:spcPct val="112000"/>
              </a:lnSpc>
              <a:buNone/>
            </a:pPr>
            <a:r>
              <a:rPr lang="en-US" sz="1100" dirty="0">
                <a:solidFill>
                  <a:srgbClr val="142433"/>
                </a:solidFill>
                <a:latin typeface="Calibri" pitchFamily="34" charset="0"/>
                <a:ea typeface="Calibri" pitchFamily="34" charset="-122"/>
                <a:cs typeface="Calibri" pitchFamily="34" charset="-120"/>
              </a:rPr>
              <a:t>lx − lx+n and lx × nqx must give the same answer — a useful built-in check of your spreadsheet or code.</a:t>
            </a:r>
            <a:endParaRPr lang="en-US" sz="1100" dirty="0"/>
          </a:p>
        </p:txBody>
      </p:sp>
      <p:sp>
        <p:nvSpPr>
          <p:cNvPr id="12" name="Shape 10"/>
          <p:cNvSpPr/>
          <p:nvPr/>
        </p:nvSpPr>
        <p:spPr>
          <a:xfrm>
            <a:off x="8146085" y="2487168"/>
            <a:ext cx="3588410" cy="3337560"/>
          </a:xfrm>
          <a:prstGeom prst="roundRect">
            <a:avLst>
              <a:gd name="adj" fmla="val 1918"/>
            </a:avLst>
          </a:prstGeom>
          <a:solidFill>
            <a:srgbClr val="EEF3F8"/>
          </a:solidFill>
          <a:ln w="9525">
            <a:solidFill>
              <a:srgbClr val="D3E0E9"/>
            </a:solidFill>
            <a:prstDash val="solid"/>
          </a:ln>
        </p:spPr>
      </p:sp>
      <p:sp>
        <p:nvSpPr>
          <p:cNvPr id="13" name="Text 11"/>
          <p:cNvSpPr/>
          <p:nvPr/>
        </p:nvSpPr>
        <p:spPr>
          <a:xfrm>
            <a:off x="8383829" y="2798064"/>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Sums to the radix</a:t>
            </a:r>
            <a:endParaRPr lang="en-US" sz="1450" dirty="0"/>
          </a:p>
        </p:txBody>
      </p:sp>
      <p:sp>
        <p:nvSpPr>
          <p:cNvPr id="14" name="Text 12"/>
          <p:cNvSpPr/>
          <p:nvPr/>
        </p:nvSpPr>
        <p:spPr>
          <a:xfrm>
            <a:off x="8383829" y="3328416"/>
            <a:ext cx="3112922" cy="2313432"/>
          </a:xfrm>
          <a:prstGeom prst="rect">
            <a:avLst/>
          </a:prstGeom>
          <a:noFill/>
          <a:ln/>
        </p:spPr>
        <p:txBody>
          <a:bodyPr wrap="square" lIns="0" tIns="0" rIns="0" bIns="0" rtlCol="0" anchor="t"/>
          <a:lstStyle/>
          <a:p>
            <a:pPr marL="0" indent="0" algn="l">
              <a:lnSpc>
                <a:spcPct val="112000"/>
              </a:lnSpc>
              <a:buNone/>
            </a:pPr>
            <a:r>
              <a:rPr lang="en-US" sz="1100" dirty="0">
                <a:solidFill>
                  <a:srgbClr val="142433"/>
                </a:solidFill>
                <a:latin typeface="Calibri" pitchFamily="34" charset="0"/>
                <a:ea typeface="Calibri" pitchFamily="34" charset="-122"/>
                <a:cs typeface="Calibri" pitchFamily="34" charset="-120"/>
              </a:rPr>
              <a:t>Σ ndx across every age interval, including the open interval, must equal l0 exactly (100,000). If not, there is an error upstream.</a:t>
            </a:r>
            <a:endParaRPr lang="en-US" sz="1100" dirty="0"/>
          </a:p>
        </p:txBody>
      </p:sp>
      <p:sp>
        <p:nvSpPr>
          <p:cNvPr id="15" name="Text 13"/>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16" name="Text 14"/>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20 / 80</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THE EXPOSURE COLUMN — HANDLE WITH CARE</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Column 5 — nLx: Person-Years Lived in the Interval</a:t>
            </a:r>
            <a:endParaRPr lang="en-US" sz="2700" dirty="0"/>
          </a:p>
        </p:txBody>
      </p:sp>
      <p:sp>
        <p:nvSpPr>
          <p:cNvPr id="4" name="Shape 2"/>
          <p:cNvSpPr/>
          <p:nvPr/>
        </p:nvSpPr>
        <p:spPr>
          <a:xfrm>
            <a:off x="457200" y="1481328"/>
            <a:ext cx="11277295" cy="777240"/>
          </a:xfrm>
          <a:prstGeom prst="roundRect">
            <a:avLst>
              <a:gd name="adj" fmla="val 8235"/>
            </a:avLst>
          </a:prstGeom>
          <a:solidFill>
            <a:srgbClr val="07213A"/>
          </a:solidFill>
          <a:ln/>
        </p:spPr>
      </p:sp>
      <p:sp>
        <p:nvSpPr>
          <p:cNvPr id="5" name="Text 3"/>
          <p:cNvSpPr/>
          <p:nvPr/>
        </p:nvSpPr>
        <p:spPr>
          <a:xfrm>
            <a:off x="685800" y="1481328"/>
            <a:ext cx="10820095" cy="77724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nLx = n·lx+n + nax·ndx    (age 0: L0 = l1 + a0·d0    |    open: Lω = lω/Mω)</a:t>
            </a:r>
            <a:endParaRPr lang="en-US" sz="1500" dirty="0"/>
          </a:p>
        </p:txBody>
      </p:sp>
      <p:sp>
        <p:nvSpPr>
          <p:cNvPr id="6" name="Shape 4"/>
          <p:cNvSpPr/>
          <p:nvPr/>
        </p:nvSpPr>
        <p:spPr>
          <a:xfrm>
            <a:off x="457200" y="2487168"/>
            <a:ext cx="3588410" cy="3337560"/>
          </a:xfrm>
          <a:prstGeom prst="roundRect">
            <a:avLst>
              <a:gd name="adj" fmla="val 1918"/>
            </a:avLst>
          </a:prstGeom>
          <a:solidFill>
            <a:srgbClr val="EEF3F8"/>
          </a:solidFill>
          <a:ln w="9525">
            <a:solidFill>
              <a:srgbClr val="D3E0E9"/>
            </a:solidFill>
            <a:prstDash val="solid"/>
          </a:ln>
        </p:spPr>
      </p:sp>
      <p:sp>
        <p:nvSpPr>
          <p:cNvPr id="7" name="Text 5"/>
          <p:cNvSpPr/>
          <p:nvPr/>
        </p:nvSpPr>
        <p:spPr>
          <a:xfrm>
            <a:off x="694944" y="2798064"/>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Two components</a:t>
            </a:r>
            <a:endParaRPr lang="en-US" sz="1450" dirty="0"/>
          </a:p>
        </p:txBody>
      </p:sp>
      <p:sp>
        <p:nvSpPr>
          <p:cNvPr id="8" name="Text 6"/>
          <p:cNvSpPr/>
          <p:nvPr/>
        </p:nvSpPr>
        <p:spPr>
          <a:xfrm>
            <a:off x="694944" y="3328416"/>
            <a:ext cx="3112922" cy="2313432"/>
          </a:xfrm>
          <a:prstGeom prst="rect">
            <a:avLst/>
          </a:prstGeom>
          <a:noFill/>
          <a:ln/>
        </p:spPr>
        <p:txBody>
          <a:bodyPr wrap="square" lIns="0" tIns="0" rIns="0" bIns="0" rtlCol="0" anchor="t"/>
          <a:lstStyle/>
          <a:p>
            <a:pPr marL="0" indent="0" algn="l">
              <a:lnSpc>
                <a:spcPct val="112000"/>
              </a:lnSpc>
              <a:buNone/>
            </a:pPr>
            <a:r>
              <a:rPr lang="en-US" sz="1100" dirty="0">
                <a:solidFill>
                  <a:srgbClr val="142433"/>
                </a:solidFill>
                <a:latin typeface="Calibri" pitchFamily="34" charset="0"/>
                <a:ea typeface="Calibri" pitchFamily="34" charset="-122"/>
                <a:cs typeface="Calibri" pitchFamily="34" charset="-120"/>
              </a:rPr>
              <a:t>Survivors to interval-end each contribute n full years; those who died contribute only the average fraction (nax) of the interval they lived.</a:t>
            </a:r>
            <a:endParaRPr lang="en-US" sz="1100" dirty="0"/>
          </a:p>
        </p:txBody>
      </p:sp>
      <p:sp>
        <p:nvSpPr>
          <p:cNvPr id="9" name="Shape 7"/>
          <p:cNvSpPr/>
          <p:nvPr/>
        </p:nvSpPr>
        <p:spPr>
          <a:xfrm>
            <a:off x="4301642" y="2487168"/>
            <a:ext cx="3588410" cy="3337560"/>
          </a:xfrm>
          <a:prstGeom prst="roundRect">
            <a:avLst>
              <a:gd name="adj" fmla="val 1918"/>
            </a:avLst>
          </a:prstGeom>
          <a:solidFill>
            <a:srgbClr val="EEF3F8"/>
          </a:solidFill>
          <a:ln w="9525">
            <a:solidFill>
              <a:srgbClr val="D3E0E9"/>
            </a:solidFill>
            <a:prstDash val="solid"/>
          </a:ln>
        </p:spPr>
      </p:sp>
      <p:sp>
        <p:nvSpPr>
          <p:cNvPr id="10" name="Text 8"/>
          <p:cNvSpPr/>
          <p:nvPr/>
        </p:nvSpPr>
        <p:spPr>
          <a:xfrm>
            <a:off x="4539386" y="2798064"/>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Age 0 needs its own formula</a:t>
            </a:r>
            <a:endParaRPr lang="en-US" sz="1450" dirty="0"/>
          </a:p>
        </p:txBody>
      </p:sp>
      <p:sp>
        <p:nvSpPr>
          <p:cNvPr id="11" name="Text 9"/>
          <p:cNvSpPr/>
          <p:nvPr/>
        </p:nvSpPr>
        <p:spPr>
          <a:xfrm>
            <a:off x="4539386" y="3328416"/>
            <a:ext cx="3112922" cy="2313432"/>
          </a:xfrm>
          <a:prstGeom prst="rect">
            <a:avLst/>
          </a:prstGeom>
          <a:noFill/>
          <a:ln/>
        </p:spPr>
        <p:txBody>
          <a:bodyPr wrap="square" lIns="0" tIns="0" rIns="0" bIns="0" rtlCol="0" anchor="t"/>
          <a:lstStyle/>
          <a:p>
            <a:pPr marL="0" indent="0" algn="l">
              <a:lnSpc>
                <a:spcPct val="112000"/>
              </a:lnSpc>
              <a:buNone/>
            </a:pPr>
            <a:r>
              <a:rPr lang="en-US" sz="1100" dirty="0">
                <a:solidFill>
                  <a:srgbClr val="142433"/>
                </a:solidFill>
                <a:latin typeface="Calibri" pitchFamily="34" charset="0"/>
                <a:ea typeface="Calibri" pitchFamily="34" charset="-122"/>
                <a:cs typeface="Calibri" pitchFamily="34" charset="-120"/>
              </a:rPr>
              <a:t>a0 is very small, not n/2 — infant deaths cluster in the first days/weeks of life. Using n/2 here is a classic error (see checklist).</a:t>
            </a:r>
            <a:endParaRPr lang="en-US" sz="1100" dirty="0"/>
          </a:p>
        </p:txBody>
      </p:sp>
      <p:sp>
        <p:nvSpPr>
          <p:cNvPr id="12" name="Shape 10"/>
          <p:cNvSpPr/>
          <p:nvPr/>
        </p:nvSpPr>
        <p:spPr>
          <a:xfrm>
            <a:off x="8146085" y="2487168"/>
            <a:ext cx="3588410" cy="3337560"/>
          </a:xfrm>
          <a:prstGeom prst="roundRect">
            <a:avLst>
              <a:gd name="adj" fmla="val 1918"/>
            </a:avLst>
          </a:prstGeom>
          <a:solidFill>
            <a:srgbClr val="EEF3F8"/>
          </a:solidFill>
          <a:ln w="9525">
            <a:solidFill>
              <a:srgbClr val="D3E0E9"/>
            </a:solidFill>
            <a:prstDash val="solid"/>
          </a:ln>
        </p:spPr>
      </p:sp>
      <p:sp>
        <p:nvSpPr>
          <p:cNvPr id="13" name="Text 11"/>
          <p:cNvSpPr/>
          <p:nvPr/>
        </p:nvSpPr>
        <p:spPr>
          <a:xfrm>
            <a:off x="8383829" y="2798064"/>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Open interval is different again</a:t>
            </a:r>
            <a:endParaRPr lang="en-US" sz="1450" dirty="0"/>
          </a:p>
        </p:txBody>
      </p:sp>
      <p:sp>
        <p:nvSpPr>
          <p:cNvPr id="14" name="Text 12"/>
          <p:cNvSpPr/>
          <p:nvPr/>
        </p:nvSpPr>
        <p:spPr>
          <a:xfrm>
            <a:off x="8383829" y="3328416"/>
            <a:ext cx="3112922" cy="2313432"/>
          </a:xfrm>
          <a:prstGeom prst="rect">
            <a:avLst/>
          </a:prstGeom>
          <a:noFill/>
          <a:ln/>
        </p:spPr>
        <p:txBody>
          <a:bodyPr wrap="square" lIns="0" tIns="0" rIns="0" bIns="0" rtlCol="0" anchor="t"/>
          <a:lstStyle/>
          <a:p>
            <a:pPr marL="0" indent="0" algn="l">
              <a:lnSpc>
                <a:spcPct val="112000"/>
              </a:lnSpc>
              <a:buNone/>
            </a:pPr>
            <a:r>
              <a:rPr lang="en-US" sz="1100" dirty="0">
                <a:solidFill>
                  <a:srgbClr val="142433"/>
                </a:solidFill>
                <a:latin typeface="Calibri" pitchFamily="34" charset="0"/>
                <a:ea typeface="Calibri" pitchFamily="34" charset="-122"/>
                <a:cs typeface="Calibri" pitchFamily="34" charset="-120"/>
              </a:rPr>
              <a:t>For the final group ω+, Lω = lω / Mω — there is no upper bound n, so the n×lx+n term does not apply.</a:t>
            </a:r>
            <a:endParaRPr lang="en-US" sz="1100" dirty="0"/>
          </a:p>
        </p:txBody>
      </p:sp>
      <p:sp>
        <p:nvSpPr>
          <p:cNvPr id="15" name="Text 13"/>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16" name="Text 14"/>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21 / 80</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MINI WORKED EXAMPLE</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nLx in Practice: an Ordinary Interval vs. the Open Interval</a:t>
            </a:r>
            <a:endParaRPr lang="en-US" sz="2700" dirty="0"/>
          </a:p>
        </p:txBody>
      </p:sp>
      <p:sp>
        <p:nvSpPr>
          <p:cNvPr id="4" name="Shape 2"/>
          <p:cNvSpPr/>
          <p:nvPr/>
        </p:nvSpPr>
        <p:spPr>
          <a:xfrm>
            <a:off x="457200" y="1600200"/>
            <a:ext cx="5455768" cy="4343400"/>
          </a:xfrm>
          <a:prstGeom prst="roundRect">
            <a:avLst>
              <a:gd name="adj" fmla="val 1474"/>
            </a:avLst>
          </a:prstGeom>
          <a:solidFill>
            <a:srgbClr val="EEF3F8"/>
          </a:solidFill>
          <a:ln w="9525">
            <a:solidFill>
              <a:srgbClr val="D3E0E9"/>
            </a:solidFill>
            <a:prstDash val="solid"/>
          </a:ln>
        </p:spPr>
      </p:sp>
      <p:sp>
        <p:nvSpPr>
          <p:cNvPr id="5" name="Text 3"/>
          <p:cNvSpPr/>
          <p:nvPr/>
        </p:nvSpPr>
        <p:spPr>
          <a:xfrm>
            <a:off x="731520" y="1828800"/>
            <a:ext cx="4907128" cy="320040"/>
          </a:xfrm>
          <a:prstGeom prst="rect">
            <a:avLst/>
          </a:prstGeom>
          <a:noFill/>
          <a:ln/>
        </p:spPr>
        <p:txBody>
          <a:bodyPr wrap="square" lIns="0" tIns="0" rIns="0" bIns="0" rtlCol="0" anchor="ctr"/>
          <a:lstStyle/>
          <a:p>
            <a:pPr marL="0" indent="0">
              <a:buNone/>
            </a:pPr>
            <a:r>
              <a:rPr lang="en-US" sz="1250" b="1" dirty="0">
                <a:solidFill>
                  <a:srgbClr val="0B3D62"/>
                </a:solidFill>
                <a:latin typeface="Calibri" pitchFamily="34" charset="0"/>
                <a:ea typeface="Calibri" pitchFamily="34" charset="-122"/>
                <a:cs typeface="Calibri" pitchFamily="34" charset="-120"/>
              </a:rPr>
              <a:t>ORDINARY INTERVAL: AGES 10–14</a:t>
            </a:r>
            <a:endParaRPr lang="en-US" sz="1250" dirty="0"/>
          </a:p>
        </p:txBody>
      </p:sp>
      <p:sp>
        <p:nvSpPr>
          <p:cNvPr id="6" name="Shape 4"/>
          <p:cNvSpPr/>
          <p:nvPr/>
        </p:nvSpPr>
        <p:spPr>
          <a:xfrm>
            <a:off x="731520" y="2212848"/>
            <a:ext cx="4907128" cy="548640"/>
          </a:xfrm>
          <a:prstGeom prst="roundRect">
            <a:avLst>
              <a:gd name="adj" fmla="val 11667"/>
            </a:avLst>
          </a:prstGeom>
          <a:solidFill>
            <a:srgbClr val="07213A"/>
          </a:solidFill>
          <a:ln/>
        </p:spPr>
      </p:sp>
      <p:sp>
        <p:nvSpPr>
          <p:cNvPr id="7" name="Text 5"/>
          <p:cNvSpPr/>
          <p:nvPr/>
        </p:nvSpPr>
        <p:spPr>
          <a:xfrm>
            <a:off x="960120" y="2212848"/>
            <a:ext cx="4449928"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nLx = n·lx+n + nax·ndx</a:t>
            </a:r>
            <a:endParaRPr lang="en-US" sz="1300" dirty="0"/>
          </a:p>
        </p:txBody>
      </p:sp>
      <p:sp>
        <p:nvSpPr>
          <p:cNvPr id="8" name="Text 6"/>
          <p:cNvSpPr/>
          <p:nvPr/>
        </p:nvSpPr>
        <p:spPr>
          <a:xfrm>
            <a:off x="731520" y="2880360"/>
            <a:ext cx="4907128" cy="2926080"/>
          </a:xfrm>
          <a:prstGeom prst="rect">
            <a:avLst/>
          </a:prstGeom>
          <a:noFill/>
          <a:ln/>
        </p:spPr>
        <p:txBody>
          <a:bodyPr wrap="square" rtlCol="0" anchor="t"/>
          <a:lstStyle/>
          <a:p>
            <a:pPr marL="203200" indent="-203200">
              <a:buSzPct val="100000"/>
              <a:buChar char="•"/>
            </a:pPr>
            <a:r>
              <a:rPr lang="en-US" sz="1200" dirty="0">
                <a:solidFill>
                  <a:srgbClr val="142433"/>
                </a:solidFill>
                <a:latin typeface="Calibri" pitchFamily="34" charset="0"/>
                <a:ea typeface="Calibri" pitchFamily="34" charset="-122"/>
                <a:cs typeface="Calibri" pitchFamily="34" charset="-120"/>
              </a:rPr>
              <a:t>Given: l10 = 97,053, l15 = 96,714, n = 5, nax = 2.5</a:t>
            </a:r>
            <a:endParaRPr lang="en-US" sz="1200" dirty="0"/>
          </a:p>
          <a:p>
            <a:pPr marL="203200" indent="-203200">
              <a:buSzPct val="100000"/>
              <a:buChar char="•"/>
            </a:pPr>
            <a:r>
              <a:rPr lang="en-US" sz="1200" dirty="0">
                <a:solidFill>
                  <a:srgbClr val="142433"/>
                </a:solidFill>
                <a:latin typeface="Calibri" pitchFamily="34" charset="0"/>
                <a:ea typeface="Calibri" pitchFamily="34" charset="-122"/>
                <a:cs typeface="Calibri" pitchFamily="34" charset="-120"/>
              </a:rPr>
              <a:t>ndx = l10 − l15 = 339</a:t>
            </a:r>
            <a:endParaRPr lang="en-US" sz="1200" dirty="0"/>
          </a:p>
          <a:p>
            <a:pPr marL="203200" indent="-203200">
              <a:buSzPct val="100000"/>
              <a:buChar char="•"/>
            </a:pPr>
            <a:r>
              <a:rPr lang="en-US" sz="1200" dirty="0">
                <a:solidFill>
                  <a:srgbClr val="142433"/>
                </a:solidFill>
                <a:latin typeface="Calibri" pitchFamily="34" charset="0"/>
                <a:ea typeface="Calibri" pitchFamily="34" charset="-122"/>
                <a:cs typeface="Calibri" pitchFamily="34" charset="-120"/>
              </a:rPr>
              <a:t>nLx = 5 × 96,714 + 2.5 × 339 = 483,570 + 848</a:t>
            </a:r>
            <a:endParaRPr lang="en-US" sz="1200" dirty="0"/>
          </a:p>
          <a:p>
            <a:pPr marL="203200" indent="-203200">
              <a:buSzPct val="100000"/>
              <a:buChar char="•"/>
            </a:pPr>
            <a:r>
              <a:rPr lang="en-US" sz="1200" b="1" dirty="0">
                <a:solidFill>
                  <a:srgbClr val="142433"/>
                </a:solidFill>
                <a:latin typeface="Calibri" pitchFamily="34" charset="0"/>
                <a:ea typeface="Calibri" pitchFamily="34" charset="-122"/>
                <a:cs typeface="Calibri" pitchFamily="34" charset="-120"/>
              </a:rPr>
              <a:t>nLx = 484,418 person-years</a:t>
            </a:r>
            <a:endParaRPr lang="en-US" sz="1200" dirty="0"/>
          </a:p>
        </p:txBody>
      </p:sp>
      <p:sp>
        <p:nvSpPr>
          <p:cNvPr id="9" name="Shape 7"/>
          <p:cNvSpPr/>
          <p:nvPr/>
        </p:nvSpPr>
        <p:spPr>
          <a:xfrm>
            <a:off x="6278728" y="1600200"/>
            <a:ext cx="5455768" cy="4343400"/>
          </a:xfrm>
          <a:prstGeom prst="roundRect">
            <a:avLst>
              <a:gd name="adj" fmla="val 1474"/>
            </a:avLst>
          </a:prstGeom>
          <a:solidFill>
            <a:srgbClr val="E1EAF2"/>
          </a:solidFill>
          <a:ln w="9525">
            <a:solidFill>
              <a:srgbClr val="D3E0E9"/>
            </a:solidFill>
            <a:prstDash val="solid"/>
          </a:ln>
        </p:spPr>
      </p:sp>
      <p:sp>
        <p:nvSpPr>
          <p:cNvPr id="10" name="Text 8"/>
          <p:cNvSpPr/>
          <p:nvPr/>
        </p:nvSpPr>
        <p:spPr>
          <a:xfrm>
            <a:off x="6553048" y="1828800"/>
            <a:ext cx="4907128" cy="320040"/>
          </a:xfrm>
          <a:prstGeom prst="rect">
            <a:avLst/>
          </a:prstGeom>
          <a:noFill/>
          <a:ln/>
        </p:spPr>
        <p:txBody>
          <a:bodyPr wrap="square" lIns="0" tIns="0" rIns="0" bIns="0" rtlCol="0" anchor="ctr"/>
          <a:lstStyle/>
          <a:p>
            <a:pPr marL="0" indent="0">
              <a:buNone/>
            </a:pPr>
            <a:r>
              <a:rPr lang="en-US" sz="1250" b="1" dirty="0">
                <a:solidFill>
                  <a:srgbClr val="0B3D62"/>
                </a:solidFill>
                <a:latin typeface="Calibri" pitchFamily="34" charset="0"/>
                <a:ea typeface="Calibri" pitchFamily="34" charset="-122"/>
                <a:cs typeface="Calibri" pitchFamily="34" charset="-120"/>
              </a:rPr>
              <a:t>OPEN INTERVAL: AGE 85+</a:t>
            </a:r>
            <a:endParaRPr lang="en-US" sz="1250" dirty="0"/>
          </a:p>
        </p:txBody>
      </p:sp>
      <p:sp>
        <p:nvSpPr>
          <p:cNvPr id="11" name="Shape 9"/>
          <p:cNvSpPr/>
          <p:nvPr/>
        </p:nvSpPr>
        <p:spPr>
          <a:xfrm>
            <a:off x="6553048" y="2212848"/>
            <a:ext cx="4907128" cy="548640"/>
          </a:xfrm>
          <a:prstGeom prst="roundRect">
            <a:avLst>
              <a:gd name="adj" fmla="val 11667"/>
            </a:avLst>
          </a:prstGeom>
          <a:solidFill>
            <a:srgbClr val="07213A"/>
          </a:solidFill>
          <a:ln/>
        </p:spPr>
      </p:sp>
      <p:sp>
        <p:nvSpPr>
          <p:cNvPr id="12" name="Text 10"/>
          <p:cNvSpPr/>
          <p:nvPr/>
        </p:nvSpPr>
        <p:spPr>
          <a:xfrm>
            <a:off x="6781648" y="2212848"/>
            <a:ext cx="4449928"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Lω = lω / Mω</a:t>
            </a:r>
            <a:endParaRPr lang="en-US" sz="1300" dirty="0"/>
          </a:p>
        </p:txBody>
      </p:sp>
      <p:sp>
        <p:nvSpPr>
          <p:cNvPr id="13" name="Text 11"/>
          <p:cNvSpPr/>
          <p:nvPr/>
        </p:nvSpPr>
        <p:spPr>
          <a:xfrm>
            <a:off x="6553048" y="2880360"/>
            <a:ext cx="4907128" cy="2926080"/>
          </a:xfrm>
          <a:prstGeom prst="rect">
            <a:avLst/>
          </a:prstGeom>
          <a:noFill/>
          <a:ln/>
        </p:spPr>
        <p:txBody>
          <a:bodyPr wrap="square" rtlCol="0" anchor="t"/>
          <a:lstStyle/>
          <a:p>
            <a:pPr marL="203200" indent="-203200">
              <a:buSzPct val="100000"/>
              <a:buChar char="•"/>
            </a:pPr>
            <a:r>
              <a:rPr lang="en-US" sz="1200" dirty="0">
                <a:solidFill>
                  <a:srgbClr val="142433"/>
                </a:solidFill>
                <a:latin typeface="Calibri" pitchFamily="34" charset="0"/>
                <a:ea typeface="Calibri" pitchFamily="34" charset="-122"/>
                <a:cs typeface="Calibri" pitchFamily="34" charset="-120"/>
              </a:rPr>
              <a:t>Given: l85 = 12,063, M85+ = 0.2162 (observed rate)</a:t>
            </a:r>
            <a:endParaRPr lang="en-US" sz="1200" dirty="0"/>
          </a:p>
          <a:p>
            <a:pPr marL="203200" indent="-203200">
              <a:buSzPct val="100000"/>
              <a:buChar char="•"/>
            </a:pPr>
            <a:r>
              <a:rPr lang="en-US" sz="1200" dirty="0">
                <a:solidFill>
                  <a:srgbClr val="142433"/>
                </a:solidFill>
                <a:latin typeface="Calibri" pitchFamily="34" charset="0"/>
                <a:ea typeface="Calibri" pitchFamily="34" charset="-122"/>
                <a:cs typeface="Calibri" pitchFamily="34" charset="-120"/>
              </a:rPr>
              <a:t>There is no lx+n and no fixed n — everyone left dies in this interval eventually.</a:t>
            </a:r>
            <a:endParaRPr lang="en-US" sz="1200" dirty="0"/>
          </a:p>
          <a:p>
            <a:pPr marL="203200" indent="-203200">
              <a:buSzPct val="100000"/>
              <a:buChar char="•"/>
            </a:pPr>
            <a:r>
              <a:rPr lang="en-US" sz="1200" b="1" dirty="0">
                <a:solidFill>
                  <a:srgbClr val="142433"/>
                </a:solidFill>
                <a:latin typeface="Calibri" pitchFamily="34" charset="0"/>
                <a:ea typeface="Calibri" pitchFamily="34" charset="-122"/>
                <a:cs typeface="Calibri" pitchFamily="34" charset="-120"/>
              </a:rPr>
              <a:t>L85+ = 12,063 / 0.2162 = 55,796 person-years</a:t>
            </a:r>
            <a:endParaRPr lang="en-US" sz="1200" dirty="0"/>
          </a:p>
          <a:p>
            <a:pPr marL="203200" indent="-203200">
              <a:buSzPct val="100000"/>
              <a:buChar char="•"/>
            </a:pPr>
            <a:r>
              <a:rPr lang="en-US" sz="1200" dirty="0">
                <a:solidFill>
                  <a:srgbClr val="C0433A"/>
                </a:solidFill>
                <a:latin typeface="Calibri" pitchFamily="34" charset="0"/>
                <a:ea typeface="Calibri" pitchFamily="34" charset="-122"/>
                <a:cs typeface="Calibri" pitchFamily="34" charset="-120"/>
              </a:rPr>
              <a:t>Using the ORDINARY formula here (with a guessed n) is a common construction bug — flag it in code review.</a:t>
            </a:r>
            <a:endParaRPr lang="en-US" sz="1200" dirty="0"/>
          </a:p>
        </p:txBody>
      </p:sp>
      <p:sp>
        <p:nvSpPr>
          <p:cNvPr id="14" name="Text 12"/>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15" name="Text 13"/>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22 / 80</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THE CUMULATIVE COLUMN</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Column 6 — Tx: Total Person-Years Remaining</a:t>
            </a:r>
            <a:endParaRPr lang="en-US" sz="2700" dirty="0"/>
          </a:p>
        </p:txBody>
      </p:sp>
      <p:sp>
        <p:nvSpPr>
          <p:cNvPr id="4" name="Shape 2"/>
          <p:cNvSpPr/>
          <p:nvPr/>
        </p:nvSpPr>
        <p:spPr>
          <a:xfrm>
            <a:off x="457200" y="1481328"/>
            <a:ext cx="11277295" cy="777240"/>
          </a:xfrm>
          <a:prstGeom prst="roundRect">
            <a:avLst>
              <a:gd name="adj" fmla="val 8235"/>
            </a:avLst>
          </a:prstGeom>
          <a:solidFill>
            <a:srgbClr val="07213A"/>
          </a:solidFill>
          <a:ln/>
        </p:spPr>
      </p:sp>
      <p:sp>
        <p:nvSpPr>
          <p:cNvPr id="5" name="Text 3"/>
          <p:cNvSpPr/>
          <p:nvPr/>
        </p:nvSpPr>
        <p:spPr>
          <a:xfrm>
            <a:off x="685800" y="1481328"/>
            <a:ext cx="10820095" cy="77724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Tx = nLx + L(x+n) + L(x+2n) + … + Lω   =   Σ (all nLy for y ≥ x)</a:t>
            </a:r>
            <a:endParaRPr lang="en-US" sz="1500" dirty="0"/>
          </a:p>
        </p:txBody>
      </p:sp>
      <p:sp>
        <p:nvSpPr>
          <p:cNvPr id="6" name="Shape 4"/>
          <p:cNvSpPr/>
          <p:nvPr/>
        </p:nvSpPr>
        <p:spPr>
          <a:xfrm>
            <a:off x="457200" y="2487168"/>
            <a:ext cx="3588410" cy="3337560"/>
          </a:xfrm>
          <a:prstGeom prst="roundRect">
            <a:avLst>
              <a:gd name="adj" fmla="val 1918"/>
            </a:avLst>
          </a:prstGeom>
          <a:solidFill>
            <a:srgbClr val="EEF3F8"/>
          </a:solidFill>
          <a:ln w="9525">
            <a:solidFill>
              <a:srgbClr val="D3E0E9"/>
            </a:solidFill>
            <a:prstDash val="solid"/>
          </a:ln>
        </p:spPr>
      </p:sp>
      <p:sp>
        <p:nvSpPr>
          <p:cNvPr id="7" name="Text 5"/>
          <p:cNvSpPr/>
          <p:nvPr/>
        </p:nvSpPr>
        <p:spPr>
          <a:xfrm>
            <a:off x="694944" y="2798064"/>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Sum from oldest downward</a:t>
            </a:r>
            <a:endParaRPr lang="en-US" sz="1450" dirty="0"/>
          </a:p>
        </p:txBody>
      </p:sp>
      <p:sp>
        <p:nvSpPr>
          <p:cNvPr id="8" name="Text 6"/>
          <p:cNvSpPr/>
          <p:nvPr/>
        </p:nvSpPr>
        <p:spPr>
          <a:xfrm>
            <a:off x="694944" y="3328416"/>
            <a:ext cx="3112922" cy="2313432"/>
          </a:xfrm>
          <a:prstGeom prst="rect">
            <a:avLst/>
          </a:prstGeom>
          <a:noFill/>
          <a:ln/>
        </p:spPr>
        <p:txBody>
          <a:bodyPr wrap="square" lIns="0" tIns="0" rIns="0" bIns="0" rtlCol="0" anchor="t"/>
          <a:lstStyle/>
          <a:p>
            <a:pPr marL="0" indent="0" algn="l">
              <a:lnSpc>
                <a:spcPct val="112000"/>
              </a:lnSpc>
              <a:buNone/>
            </a:pPr>
            <a:r>
              <a:rPr lang="en-US" sz="1100" dirty="0">
                <a:solidFill>
                  <a:srgbClr val="142433"/>
                </a:solidFill>
                <a:latin typeface="Calibri" pitchFamily="34" charset="0"/>
                <a:ea typeface="Calibri" pitchFamily="34" charset="-122"/>
                <a:cs typeface="Calibri" pitchFamily="34" charset="-120"/>
              </a:rPr>
              <a:t>Computed as a reverse cumulative sum: start at the open interval (Tω = Lω) and add nLx moving toward age 0.</a:t>
            </a:r>
            <a:endParaRPr lang="en-US" sz="1100" dirty="0"/>
          </a:p>
        </p:txBody>
      </p:sp>
      <p:sp>
        <p:nvSpPr>
          <p:cNvPr id="9" name="Shape 7"/>
          <p:cNvSpPr/>
          <p:nvPr/>
        </p:nvSpPr>
        <p:spPr>
          <a:xfrm>
            <a:off x="4301642" y="2487168"/>
            <a:ext cx="3588410" cy="3337560"/>
          </a:xfrm>
          <a:prstGeom prst="roundRect">
            <a:avLst>
              <a:gd name="adj" fmla="val 1918"/>
            </a:avLst>
          </a:prstGeom>
          <a:solidFill>
            <a:srgbClr val="EEF3F8"/>
          </a:solidFill>
          <a:ln w="9525">
            <a:solidFill>
              <a:srgbClr val="D3E0E9"/>
            </a:solidFill>
            <a:prstDash val="solid"/>
          </a:ln>
        </p:spPr>
      </p:sp>
      <p:sp>
        <p:nvSpPr>
          <p:cNvPr id="10" name="Text 8"/>
          <p:cNvSpPr/>
          <p:nvPr/>
        </p:nvSpPr>
        <p:spPr>
          <a:xfrm>
            <a:off x="4539386" y="2798064"/>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Total future person-years</a:t>
            </a:r>
            <a:endParaRPr lang="en-US" sz="1450" dirty="0"/>
          </a:p>
        </p:txBody>
      </p:sp>
      <p:sp>
        <p:nvSpPr>
          <p:cNvPr id="11" name="Text 9"/>
          <p:cNvSpPr/>
          <p:nvPr/>
        </p:nvSpPr>
        <p:spPr>
          <a:xfrm>
            <a:off x="4539386" y="3328416"/>
            <a:ext cx="3112922" cy="2313432"/>
          </a:xfrm>
          <a:prstGeom prst="rect">
            <a:avLst/>
          </a:prstGeom>
          <a:noFill/>
          <a:ln/>
        </p:spPr>
        <p:txBody>
          <a:bodyPr wrap="square" lIns="0" tIns="0" rIns="0" bIns="0" rtlCol="0" anchor="t"/>
          <a:lstStyle/>
          <a:p>
            <a:pPr marL="0" indent="0" algn="l">
              <a:lnSpc>
                <a:spcPct val="112000"/>
              </a:lnSpc>
              <a:buNone/>
            </a:pPr>
            <a:r>
              <a:rPr lang="en-US" sz="1100" dirty="0">
                <a:solidFill>
                  <a:srgbClr val="142433"/>
                </a:solidFill>
                <a:latin typeface="Calibri" pitchFamily="34" charset="0"/>
                <a:ea typeface="Calibri" pitchFamily="34" charset="-122"/>
                <a:cs typeface="Calibri" pitchFamily="34" charset="-120"/>
              </a:rPr>
              <a:t>Tx is the total number of years the entire lx cohort still alive at age x is expected to live, combined, under the current schedule.</a:t>
            </a:r>
            <a:endParaRPr lang="en-US" sz="1100" dirty="0"/>
          </a:p>
        </p:txBody>
      </p:sp>
      <p:sp>
        <p:nvSpPr>
          <p:cNvPr id="12" name="Shape 10"/>
          <p:cNvSpPr/>
          <p:nvPr/>
        </p:nvSpPr>
        <p:spPr>
          <a:xfrm>
            <a:off x="8146085" y="2487168"/>
            <a:ext cx="3588410" cy="3337560"/>
          </a:xfrm>
          <a:prstGeom prst="roundRect">
            <a:avLst>
              <a:gd name="adj" fmla="val 1918"/>
            </a:avLst>
          </a:prstGeom>
          <a:solidFill>
            <a:srgbClr val="EEF3F8"/>
          </a:solidFill>
          <a:ln w="9525">
            <a:solidFill>
              <a:srgbClr val="D3E0E9"/>
            </a:solidFill>
            <a:prstDash val="solid"/>
          </a:ln>
        </p:spPr>
      </p:sp>
      <p:sp>
        <p:nvSpPr>
          <p:cNvPr id="13" name="Text 11"/>
          <p:cNvSpPr/>
          <p:nvPr/>
        </p:nvSpPr>
        <p:spPr>
          <a:xfrm>
            <a:off x="8383829" y="2798064"/>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Common spreadsheet bug</a:t>
            </a:r>
            <a:endParaRPr lang="en-US" sz="1450" dirty="0"/>
          </a:p>
        </p:txBody>
      </p:sp>
      <p:sp>
        <p:nvSpPr>
          <p:cNvPr id="14" name="Text 12"/>
          <p:cNvSpPr/>
          <p:nvPr/>
        </p:nvSpPr>
        <p:spPr>
          <a:xfrm>
            <a:off x="8383829" y="3328416"/>
            <a:ext cx="3112922" cy="2313432"/>
          </a:xfrm>
          <a:prstGeom prst="rect">
            <a:avLst/>
          </a:prstGeom>
          <a:noFill/>
          <a:ln/>
        </p:spPr>
        <p:txBody>
          <a:bodyPr wrap="square" lIns="0" tIns="0" rIns="0" bIns="0" rtlCol="0" anchor="t"/>
          <a:lstStyle/>
          <a:p>
            <a:pPr marL="0" indent="0" algn="l">
              <a:lnSpc>
                <a:spcPct val="112000"/>
              </a:lnSpc>
              <a:buNone/>
            </a:pPr>
            <a:r>
              <a:rPr lang="en-US" sz="1100" dirty="0">
                <a:solidFill>
                  <a:srgbClr val="142433"/>
                </a:solidFill>
                <a:latin typeface="Calibri" pitchFamily="34" charset="0"/>
                <a:ea typeface="Calibri" pitchFamily="34" charset="-122"/>
                <a:cs typeface="Calibri" pitchFamily="34" charset="-120"/>
              </a:rPr>
              <a:t>Summing forward (top-down) instead of backward (bottom-up) — Tx must decrease as age increases, never increase.</a:t>
            </a:r>
            <a:endParaRPr lang="en-US" sz="1100" dirty="0"/>
          </a:p>
        </p:txBody>
      </p:sp>
      <p:sp>
        <p:nvSpPr>
          <p:cNvPr id="15" name="Text 13"/>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16" name="Text 14"/>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23 / 80</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THE HEADLINE INDICATOR</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Column 7 — ex: Life Expectancy at Age x</a:t>
            </a:r>
            <a:endParaRPr lang="en-US" sz="2700" dirty="0"/>
          </a:p>
        </p:txBody>
      </p:sp>
      <p:sp>
        <p:nvSpPr>
          <p:cNvPr id="4" name="Shape 2"/>
          <p:cNvSpPr/>
          <p:nvPr/>
        </p:nvSpPr>
        <p:spPr>
          <a:xfrm>
            <a:off x="457200" y="1481328"/>
            <a:ext cx="11277295" cy="777240"/>
          </a:xfrm>
          <a:prstGeom prst="roundRect">
            <a:avLst>
              <a:gd name="adj" fmla="val 8235"/>
            </a:avLst>
          </a:prstGeom>
          <a:solidFill>
            <a:srgbClr val="07213A"/>
          </a:solidFill>
          <a:ln/>
        </p:spPr>
      </p:sp>
      <p:sp>
        <p:nvSpPr>
          <p:cNvPr id="5" name="Text 3"/>
          <p:cNvSpPr/>
          <p:nvPr/>
        </p:nvSpPr>
        <p:spPr>
          <a:xfrm>
            <a:off x="685800" y="1481328"/>
            <a:ext cx="10820095" cy="77724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ex  =  Tx / lx      (e0 = life expectancy at birth — the most widely reported mortality measure)</a:t>
            </a:r>
            <a:endParaRPr lang="en-US" sz="1500" dirty="0"/>
          </a:p>
        </p:txBody>
      </p:sp>
      <p:sp>
        <p:nvSpPr>
          <p:cNvPr id="6" name="Shape 4"/>
          <p:cNvSpPr/>
          <p:nvPr/>
        </p:nvSpPr>
        <p:spPr>
          <a:xfrm>
            <a:off x="457200" y="2487168"/>
            <a:ext cx="3588410" cy="3337560"/>
          </a:xfrm>
          <a:prstGeom prst="roundRect">
            <a:avLst>
              <a:gd name="adj" fmla="val 1918"/>
            </a:avLst>
          </a:prstGeom>
          <a:solidFill>
            <a:srgbClr val="EEF3F8"/>
          </a:solidFill>
          <a:ln w="9525">
            <a:solidFill>
              <a:srgbClr val="D3E0E9"/>
            </a:solidFill>
            <a:prstDash val="solid"/>
          </a:ln>
        </p:spPr>
      </p:sp>
      <p:sp>
        <p:nvSpPr>
          <p:cNvPr id="7" name="Text 5"/>
          <p:cNvSpPr/>
          <p:nvPr/>
        </p:nvSpPr>
        <p:spPr>
          <a:xfrm>
            <a:off x="694944" y="2798064"/>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Average remaining years</a:t>
            </a:r>
            <a:endParaRPr lang="en-US" sz="1450" dirty="0"/>
          </a:p>
        </p:txBody>
      </p:sp>
      <p:sp>
        <p:nvSpPr>
          <p:cNvPr id="8" name="Text 6"/>
          <p:cNvSpPr/>
          <p:nvPr/>
        </p:nvSpPr>
        <p:spPr>
          <a:xfrm>
            <a:off x="694944" y="3328416"/>
            <a:ext cx="3112922" cy="2313432"/>
          </a:xfrm>
          <a:prstGeom prst="rect">
            <a:avLst/>
          </a:prstGeom>
          <a:noFill/>
          <a:ln/>
        </p:spPr>
        <p:txBody>
          <a:bodyPr wrap="square" lIns="0" tIns="0" rIns="0" bIns="0" rtlCol="0" anchor="t"/>
          <a:lstStyle/>
          <a:p>
            <a:pPr marL="0" indent="0" algn="l">
              <a:lnSpc>
                <a:spcPct val="112000"/>
              </a:lnSpc>
              <a:buNone/>
            </a:pPr>
            <a:r>
              <a:rPr lang="en-US" sz="1100" dirty="0">
                <a:solidFill>
                  <a:srgbClr val="142433"/>
                </a:solidFill>
                <a:latin typeface="Calibri" pitchFamily="34" charset="0"/>
                <a:ea typeface="Calibri" pitchFamily="34" charset="-122"/>
                <a:cs typeface="Calibri" pitchFamily="34" charset="-120"/>
              </a:rPr>
              <a:t>For those alive at age x, under the period mortality schedule embedded in the life table — not a prediction for any individual.</a:t>
            </a:r>
            <a:endParaRPr lang="en-US" sz="1100" dirty="0"/>
          </a:p>
        </p:txBody>
      </p:sp>
      <p:sp>
        <p:nvSpPr>
          <p:cNvPr id="9" name="Shape 7"/>
          <p:cNvSpPr/>
          <p:nvPr/>
        </p:nvSpPr>
        <p:spPr>
          <a:xfrm>
            <a:off x="4301642" y="2487168"/>
            <a:ext cx="3588410" cy="3337560"/>
          </a:xfrm>
          <a:prstGeom prst="roundRect">
            <a:avLst>
              <a:gd name="adj" fmla="val 1918"/>
            </a:avLst>
          </a:prstGeom>
          <a:solidFill>
            <a:srgbClr val="EEF3F8"/>
          </a:solidFill>
          <a:ln w="9525">
            <a:solidFill>
              <a:srgbClr val="D3E0E9"/>
            </a:solidFill>
            <a:prstDash val="solid"/>
          </a:ln>
        </p:spPr>
      </p:sp>
      <p:sp>
        <p:nvSpPr>
          <p:cNvPr id="10" name="Text 8"/>
          <p:cNvSpPr/>
          <p:nvPr/>
        </p:nvSpPr>
        <p:spPr>
          <a:xfrm>
            <a:off x="4539386" y="2798064"/>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e0 vs. e1: a classic teaching point</a:t>
            </a:r>
            <a:endParaRPr lang="en-US" sz="1450" dirty="0"/>
          </a:p>
        </p:txBody>
      </p:sp>
      <p:sp>
        <p:nvSpPr>
          <p:cNvPr id="11" name="Text 9"/>
          <p:cNvSpPr/>
          <p:nvPr/>
        </p:nvSpPr>
        <p:spPr>
          <a:xfrm>
            <a:off x="4539386" y="3328416"/>
            <a:ext cx="3112922" cy="2313432"/>
          </a:xfrm>
          <a:prstGeom prst="rect">
            <a:avLst/>
          </a:prstGeom>
          <a:noFill/>
          <a:ln/>
        </p:spPr>
        <p:txBody>
          <a:bodyPr wrap="square" lIns="0" tIns="0" rIns="0" bIns="0" rtlCol="0" anchor="t"/>
          <a:lstStyle/>
          <a:p>
            <a:pPr marL="0" indent="0" algn="l">
              <a:lnSpc>
                <a:spcPct val="112000"/>
              </a:lnSpc>
              <a:buNone/>
            </a:pPr>
            <a:r>
              <a:rPr lang="en-US" sz="1100" dirty="0">
                <a:solidFill>
                  <a:srgbClr val="142433"/>
                </a:solidFill>
                <a:latin typeface="Calibri" pitchFamily="34" charset="0"/>
                <a:ea typeface="Calibri" pitchFamily="34" charset="-122"/>
                <a:cs typeface="Calibri" pitchFamily="34" charset="-120"/>
              </a:rPr>
              <a:t>e1 is often higher than e0 in high-infant-mortality populations, because surviving the risky first year removes that risk from the denominator.</a:t>
            </a:r>
            <a:endParaRPr lang="en-US" sz="1100" dirty="0"/>
          </a:p>
        </p:txBody>
      </p:sp>
      <p:sp>
        <p:nvSpPr>
          <p:cNvPr id="12" name="Shape 10"/>
          <p:cNvSpPr/>
          <p:nvPr/>
        </p:nvSpPr>
        <p:spPr>
          <a:xfrm>
            <a:off x="8146085" y="2487168"/>
            <a:ext cx="3588410" cy="3337560"/>
          </a:xfrm>
          <a:prstGeom prst="roundRect">
            <a:avLst>
              <a:gd name="adj" fmla="val 1918"/>
            </a:avLst>
          </a:prstGeom>
          <a:solidFill>
            <a:srgbClr val="EEF3F8"/>
          </a:solidFill>
          <a:ln w="9525">
            <a:solidFill>
              <a:srgbClr val="D3E0E9"/>
            </a:solidFill>
            <a:prstDash val="solid"/>
          </a:ln>
        </p:spPr>
      </p:sp>
      <p:sp>
        <p:nvSpPr>
          <p:cNvPr id="13" name="Text 11"/>
          <p:cNvSpPr/>
          <p:nvPr/>
        </p:nvSpPr>
        <p:spPr>
          <a:xfrm>
            <a:off x="8383829" y="2798064"/>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Comparable across time and place</a:t>
            </a:r>
            <a:endParaRPr lang="en-US" sz="1450" dirty="0"/>
          </a:p>
        </p:txBody>
      </p:sp>
      <p:sp>
        <p:nvSpPr>
          <p:cNvPr id="14" name="Text 12"/>
          <p:cNvSpPr/>
          <p:nvPr/>
        </p:nvSpPr>
        <p:spPr>
          <a:xfrm>
            <a:off x="8383829" y="3328416"/>
            <a:ext cx="3112922" cy="2313432"/>
          </a:xfrm>
          <a:prstGeom prst="rect">
            <a:avLst/>
          </a:prstGeom>
          <a:noFill/>
          <a:ln/>
        </p:spPr>
        <p:txBody>
          <a:bodyPr wrap="square" lIns="0" tIns="0" rIns="0" bIns="0" rtlCol="0" anchor="t"/>
          <a:lstStyle/>
          <a:p>
            <a:pPr marL="0" indent="0" algn="l">
              <a:lnSpc>
                <a:spcPct val="112000"/>
              </a:lnSpc>
              <a:buNone/>
            </a:pPr>
            <a:r>
              <a:rPr lang="en-US" sz="1100" dirty="0">
                <a:solidFill>
                  <a:srgbClr val="142433"/>
                </a:solidFill>
                <a:latin typeface="Calibri" pitchFamily="34" charset="0"/>
                <a:ea typeface="Calibri" pitchFamily="34" charset="-122"/>
                <a:cs typeface="Calibri" pitchFamily="34" charset="-120"/>
              </a:rPr>
              <a:t>Because it is a single derived number, ex is the standard basis for cross-country and cross-period mortality comparisons.</a:t>
            </a:r>
            <a:endParaRPr lang="en-US" sz="1100" dirty="0"/>
          </a:p>
        </p:txBody>
      </p:sp>
      <p:sp>
        <p:nvSpPr>
          <p:cNvPr id="15" name="Text 13"/>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16" name="Text 14"/>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24 / 80</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400" b="1" kern="0" spc="200" dirty="0">
                <a:solidFill>
                  <a:srgbClr val="1C7293"/>
                </a:solidFill>
                <a:latin typeface="Calibri" pitchFamily="34" charset="0"/>
                <a:ea typeface="Calibri" pitchFamily="34" charset="-122"/>
                <a:cs typeface="Calibri" pitchFamily="34" charset="-120"/>
              </a:rPr>
              <a:t>DEFINITION · BEYOND ex</a:t>
            </a:r>
            <a:endParaRPr lang="en-US" sz="14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3200" b="1" dirty="0">
                <a:solidFill>
                  <a:srgbClr val="0B3D62"/>
                </a:solidFill>
                <a:latin typeface="Cambria" pitchFamily="34" charset="0"/>
                <a:ea typeface="Cambria" pitchFamily="34" charset="-122"/>
                <a:cs typeface="Cambria" pitchFamily="34" charset="-120"/>
              </a:rPr>
              <a:t>Other Life-Table-Derived Summary Measures</a:t>
            </a:r>
            <a:endParaRPr lang="en-US" sz="3200" dirty="0"/>
          </a:p>
        </p:txBody>
      </p:sp>
      <p:sp>
        <p:nvSpPr>
          <p:cNvPr id="4" name="Shape 2"/>
          <p:cNvSpPr/>
          <p:nvPr/>
        </p:nvSpPr>
        <p:spPr>
          <a:xfrm>
            <a:off x="457200" y="1481328"/>
            <a:ext cx="11277295" cy="777240"/>
          </a:xfrm>
          <a:prstGeom prst="roundRect">
            <a:avLst>
              <a:gd name="adj" fmla="val 8235"/>
            </a:avLst>
          </a:prstGeom>
          <a:solidFill>
            <a:srgbClr val="07213A"/>
          </a:solidFill>
          <a:ln/>
        </p:spPr>
      </p:sp>
      <p:sp>
        <p:nvSpPr>
          <p:cNvPr id="5" name="Text 3"/>
          <p:cNvSpPr/>
          <p:nvPr/>
        </p:nvSpPr>
        <p:spPr>
          <a:xfrm>
            <a:off x="685800" y="1481328"/>
            <a:ext cx="10820095"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Courier New" pitchFamily="34" charset="0"/>
                <a:ea typeface="Courier New" pitchFamily="34" charset="-122"/>
                <a:cs typeface="Courier New" pitchFamily="34" charset="-120"/>
              </a:rPr>
              <a:t>Median: lx = l0/2   |   Modal (M): age of max ndx   |   Mean age at death = e0</a:t>
            </a:r>
            <a:endParaRPr lang="en-US" sz="2000" dirty="0"/>
          </a:p>
        </p:txBody>
      </p:sp>
      <p:sp>
        <p:nvSpPr>
          <p:cNvPr id="6" name="Shape 4"/>
          <p:cNvSpPr/>
          <p:nvPr/>
        </p:nvSpPr>
        <p:spPr>
          <a:xfrm>
            <a:off x="457200" y="2487168"/>
            <a:ext cx="3588410" cy="3337560"/>
          </a:xfrm>
          <a:prstGeom prst="roundRect">
            <a:avLst>
              <a:gd name="adj" fmla="val 1918"/>
            </a:avLst>
          </a:prstGeom>
          <a:solidFill>
            <a:srgbClr val="EEF3F8"/>
          </a:solidFill>
          <a:ln w="9525">
            <a:solidFill>
              <a:srgbClr val="D3E0E9"/>
            </a:solidFill>
            <a:prstDash val="solid"/>
          </a:ln>
        </p:spPr>
      </p:sp>
      <p:sp>
        <p:nvSpPr>
          <p:cNvPr id="7" name="Text 5"/>
          <p:cNvSpPr/>
          <p:nvPr/>
        </p:nvSpPr>
        <p:spPr>
          <a:xfrm>
            <a:off x="694944"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Median age at death</a:t>
            </a:r>
            <a:endParaRPr lang="en-US" dirty="0"/>
          </a:p>
        </p:txBody>
      </p:sp>
      <p:sp>
        <p:nvSpPr>
          <p:cNvPr id="8" name="Text 6"/>
          <p:cNvSpPr/>
          <p:nvPr/>
        </p:nvSpPr>
        <p:spPr>
          <a:xfrm>
            <a:off x="694944"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The exact age at which lx first falls to half the radix — read directly off the lx column; less sensitive than e0 to a small number of very long lifespans.</a:t>
            </a:r>
            <a:endParaRPr lang="en-US" sz="1400" dirty="0"/>
          </a:p>
        </p:txBody>
      </p:sp>
      <p:sp>
        <p:nvSpPr>
          <p:cNvPr id="9" name="Shape 7"/>
          <p:cNvSpPr/>
          <p:nvPr/>
        </p:nvSpPr>
        <p:spPr>
          <a:xfrm>
            <a:off x="4301642" y="2487168"/>
            <a:ext cx="3588410" cy="3337560"/>
          </a:xfrm>
          <a:prstGeom prst="roundRect">
            <a:avLst>
              <a:gd name="adj" fmla="val 1918"/>
            </a:avLst>
          </a:prstGeom>
          <a:solidFill>
            <a:srgbClr val="EEF3F8"/>
          </a:solidFill>
          <a:ln w="9525">
            <a:solidFill>
              <a:srgbClr val="D3E0E9"/>
            </a:solidFill>
            <a:prstDash val="solid"/>
          </a:ln>
        </p:spPr>
      </p:sp>
      <p:sp>
        <p:nvSpPr>
          <p:cNvPr id="10" name="Text 8"/>
          <p:cNvSpPr/>
          <p:nvPr/>
        </p:nvSpPr>
        <p:spPr>
          <a:xfrm>
            <a:off x="4539386"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Modal age at death (adult mode)</a:t>
            </a:r>
            <a:endParaRPr lang="en-US" dirty="0"/>
          </a:p>
        </p:txBody>
      </p:sp>
      <p:sp>
        <p:nvSpPr>
          <p:cNvPr id="11" name="Text 9"/>
          <p:cNvSpPr/>
          <p:nvPr/>
        </p:nvSpPr>
        <p:spPr>
          <a:xfrm>
            <a:off x="4539386"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The age at which ndx peaks among adult ages — a measure of the 'typical' age of death, increasingly used in ageing research because it is not distorted by infant mortality or a long right tail.</a:t>
            </a:r>
            <a:endParaRPr lang="en-US" sz="1400" dirty="0"/>
          </a:p>
        </p:txBody>
      </p:sp>
      <p:sp>
        <p:nvSpPr>
          <p:cNvPr id="12" name="Shape 10"/>
          <p:cNvSpPr/>
          <p:nvPr/>
        </p:nvSpPr>
        <p:spPr>
          <a:xfrm>
            <a:off x="8146085" y="2487168"/>
            <a:ext cx="3588410" cy="3337560"/>
          </a:xfrm>
          <a:prstGeom prst="roundRect">
            <a:avLst>
              <a:gd name="adj" fmla="val 1918"/>
            </a:avLst>
          </a:prstGeom>
          <a:solidFill>
            <a:srgbClr val="EEF3F8"/>
          </a:solidFill>
          <a:ln w="9525">
            <a:solidFill>
              <a:srgbClr val="D3E0E9"/>
            </a:solidFill>
            <a:prstDash val="solid"/>
          </a:ln>
        </p:spPr>
      </p:sp>
      <p:sp>
        <p:nvSpPr>
          <p:cNvPr id="13" name="Text 11"/>
          <p:cNvSpPr/>
          <p:nvPr/>
        </p:nvSpPr>
        <p:spPr>
          <a:xfrm>
            <a:off x="8383829"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Why report more than one</a:t>
            </a:r>
            <a:endParaRPr lang="en-US" dirty="0"/>
          </a:p>
        </p:txBody>
      </p:sp>
      <p:sp>
        <p:nvSpPr>
          <p:cNvPr id="14" name="Text 12"/>
          <p:cNvSpPr/>
          <p:nvPr/>
        </p:nvSpPr>
        <p:spPr>
          <a:xfrm>
            <a:off x="8383829"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In low-mortality, ageing populations, e0, the median, and the modal age at death can diverge meaningfully — reporting only e0 can understate how compressed mortality has become at older ages.</a:t>
            </a:r>
            <a:endParaRPr lang="en-US" sz="1400" dirty="0"/>
          </a:p>
        </p:txBody>
      </p:sp>
      <p:sp>
        <p:nvSpPr>
          <p:cNvPr id="15" name="Text 13"/>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5140602 Fundamental Demographic Analysis – Session 5</a:t>
            </a:r>
            <a:endParaRPr lang="en-US" sz="1000" dirty="0"/>
          </a:p>
        </p:txBody>
      </p:sp>
      <p:sp>
        <p:nvSpPr>
          <p:cNvPr id="16" name="Text 14"/>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25 / 80</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THE MOST MISUNDERSTOOD PARAMETER</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The Separation Factor: nax</a:t>
            </a:r>
            <a:endParaRPr lang="en-US" sz="2700" dirty="0"/>
          </a:p>
        </p:txBody>
      </p:sp>
      <p:sp>
        <p:nvSpPr>
          <p:cNvPr id="4" name="Shape 2"/>
          <p:cNvSpPr/>
          <p:nvPr/>
        </p:nvSpPr>
        <p:spPr>
          <a:xfrm>
            <a:off x="457200" y="1481328"/>
            <a:ext cx="3588410" cy="2331720"/>
          </a:xfrm>
          <a:prstGeom prst="roundRect">
            <a:avLst>
              <a:gd name="adj" fmla="val 2745"/>
            </a:avLst>
          </a:prstGeom>
          <a:solidFill>
            <a:srgbClr val="EEF3F8"/>
          </a:solidFill>
          <a:ln w="9525">
            <a:solidFill>
              <a:srgbClr val="D3E0E9"/>
            </a:solidFill>
            <a:prstDash val="solid"/>
          </a:ln>
        </p:spPr>
      </p:sp>
      <p:sp>
        <p:nvSpPr>
          <p:cNvPr id="5" name="Text 3"/>
          <p:cNvSpPr/>
          <p:nvPr/>
        </p:nvSpPr>
        <p:spPr>
          <a:xfrm>
            <a:off x="694944" y="1792224"/>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Definition</a:t>
            </a:r>
            <a:endParaRPr lang="en-US" sz="1450" dirty="0"/>
          </a:p>
        </p:txBody>
      </p:sp>
      <p:sp>
        <p:nvSpPr>
          <p:cNvPr id="6" name="Text 4"/>
          <p:cNvSpPr/>
          <p:nvPr/>
        </p:nvSpPr>
        <p:spPr>
          <a:xfrm>
            <a:off x="694944" y="2322576"/>
            <a:ext cx="3112922" cy="1307592"/>
          </a:xfrm>
          <a:prstGeom prst="rect">
            <a:avLst/>
          </a:prstGeom>
          <a:noFill/>
          <a:ln/>
        </p:spPr>
        <p:txBody>
          <a:bodyPr wrap="square" lIns="0" tIns="0" rIns="0" bIns="0" rtlCol="0" anchor="t"/>
          <a:lstStyle/>
          <a:p>
            <a:pPr marL="0" indent="0" algn="l">
              <a:lnSpc>
                <a:spcPct val="112000"/>
              </a:lnSpc>
              <a:buNone/>
            </a:pPr>
            <a:r>
              <a:rPr lang="en-US" sz="1050" dirty="0">
                <a:solidFill>
                  <a:srgbClr val="142433"/>
                </a:solidFill>
                <a:latin typeface="Calibri" pitchFamily="34" charset="0"/>
                <a:ea typeface="Calibri" pitchFamily="34" charset="-122"/>
                <a:cs typeface="Calibri" pitchFamily="34" charset="-120"/>
              </a:rPr>
              <a:t>nax is the average number of years lived in the interval [x, x+n) by those who die within it — it "separates" the interval into lived and not-lived portions for the dying.</a:t>
            </a:r>
            <a:endParaRPr lang="en-US" sz="1050" dirty="0"/>
          </a:p>
        </p:txBody>
      </p:sp>
      <p:sp>
        <p:nvSpPr>
          <p:cNvPr id="7" name="Shape 5"/>
          <p:cNvSpPr/>
          <p:nvPr/>
        </p:nvSpPr>
        <p:spPr>
          <a:xfrm>
            <a:off x="4301642" y="1481328"/>
            <a:ext cx="3588410" cy="2331720"/>
          </a:xfrm>
          <a:prstGeom prst="roundRect">
            <a:avLst>
              <a:gd name="adj" fmla="val 2745"/>
            </a:avLst>
          </a:prstGeom>
          <a:solidFill>
            <a:srgbClr val="EEF3F8"/>
          </a:solidFill>
          <a:ln w="9525">
            <a:solidFill>
              <a:srgbClr val="D3E0E9"/>
            </a:solidFill>
            <a:prstDash val="solid"/>
          </a:ln>
        </p:spPr>
      </p:sp>
      <p:sp>
        <p:nvSpPr>
          <p:cNvPr id="8" name="Text 6"/>
          <p:cNvSpPr/>
          <p:nvPr/>
        </p:nvSpPr>
        <p:spPr>
          <a:xfrm>
            <a:off x="4539386" y="1792224"/>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Convenience approximation: nax ≈ n/2</a:t>
            </a:r>
            <a:endParaRPr lang="en-US" sz="1450" dirty="0"/>
          </a:p>
        </p:txBody>
      </p:sp>
      <p:sp>
        <p:nvSpPr>
          <p:cNvPr id="9" name="Text 7"/>
          <p:cNvSpPr/>
          <p:nvPr/>
        </p:nvSpPr>
        <p:spPr>
          <a:xfrm>
            <a:off x="4539386" y="2322576"/>
            <a:ext cx="3112922" cy="1307592"/>
          </a:xfrm>
          <a:prstGeom prst="rect">
            <a:avLst/>
          </a:prstGeom>
          <a:noFill/>
          <a:ln/>
        </p:spPr>
        <p:txBody>
          <a:bodyPr wrap="square" lIns="0" tIns="0" rIns="0" bIns="0" rtlCol="0" anchor="t"/>
          <a:lstStyle/>
          <a:p>
            <a:pPr marL="0" indent="0" algn="l">
              <a:lnSpc>
                <a:spcPct val="112000"/>
              </a:lnSpc>
              <a:buNone/>
            </a:pPr>
            <a:r>
              <a:rPr lang="en-US" sz="1050" dirty="0">
                <a:solidFill>
                  <a:srgbClr val="142433"/>
                </a:solidFill>
                <a:latin typeface="Calibri" pitchFamily="34" charset="0"/>
                <a:ea typeface="Calibri" pitchFamily="34" charset="-122"/>
                <a:cs typeface="Calibri" pitchFamily="34" charset="-120"/>
              </a:rPr>
              <a:t>Reasonable when deaths are roughly evenly spread across the interval — true for most ages 10 and above in low-mortality populations.</a:t>
            </a:r>
            <a:endParaRPr lang="en-US" sz="1050" dirty="0"/>
          </a:p>
        </p:txBody>
      </p:sp>
      <p:sp>
        <p:nvSpPr>
          <p:cNvPr id="10" name="Shape 8"/>
          <p:cNvSpPr/>
          <p:nvPr/>
        </p:nvSpPr>
        <p:spPr>
          <a:xfrm>
            <a:off x="8146085" y="1481328"/>
            <a:ext cx="3588410" cy="2331720"/>
          </a:xfrm>
          <a:prstGeom prst="roundRect">
            <a:avLst>
              <a:gd name="adj" fmla="val 2745"/>
            </a:avLst>
          </a:prstGeom>
          <a:solidFill>
            <a:srgbClr val="EEF3F8"/>
          </a:solidFill>
          <a:ln w="9525">
            <a:solidFill>
              <a:srgbClr val="D3E0E9"/>
            </a:solidFill>
            <a:prstDash val="solid"/>
          </a:ln>
        </p:spPr>
      </p:sp>
      <p:sp>
        <p:nvSpPr>
          <p:cNvPr id="11" name="Text 9"/>
          <p:cNvSpPr/>
          <p:nvPr/>
        </p:nvSpPr>
        <p:spPr>
          <a:xfrm>
            <a:off x="8383829" y="1792224"/>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Age 0 is the critical exception</a:t>
            </a:r>
            <a:endParaRPr lang="en-US" sz="1450" dirty="0"/>
          </a:p>
        </p:txBody>
      </p:sp>
      <p:sp>
        <p:nvSpPr>
          <p:cNvPr id="12" name="Text 10"/>
          <p:cNvSpPr/>
          <p:nvPr/>
        </p:nvSpPr>
        <p:spPr>
          <a:xfrm>
            <a:off x="8383829" y="2322576"/>
            <a:ext cx="3112922" cy="1307592"/>
          </a:xfrm>
          <a:prstGeom prst="rect">
            <a:avLst/>
          </a:prstGeom>
          <a:noFill/>
          <a:ln/>
        </p:spPr>
        <p:txBody>
          <a:bodyPr wrap="square" lIns="0" tIns="0" rIns="0" bIns="0" rtlCol="0" anchor="t"/>
          <a:lstStyle/>
          <a:p>
            <a:pPr marL="0" indent="0" algn="l">
              <a:lnSpc>
                <a:spcPct val="112000"/>
              </a:lnSpc>
              <a:buNone/>
            </a:pPr>
            <a:r>
              <a:rPr lang="en-US" sz="1050" dirty="0">
                <a:solidFill>
                  <a:srgbClr val="142433"/>
                </a:solidFill>
                <a:latin typeface="Calibri" pitchFamily="34" charset="0"/>
                <a:ea typeface="Calibri" pitchFamily="34" charset="-122"/>
                <a:cs typeface="Calibri" pitchFamily="34" charset="-120"/>
              </a:rPr>
              <a:t>Infant deaths cluster very early in life. a0 ≈ 0.1–0.3 in low-mortality populations, rising toward 0.35–0.5 in high-mortality populations (Coale–Demeny / UN conventions).</a:t>
            </a:r>
            <a:endParaRPr lang="en-US" sz="1050" dirty="0"/>
          </a:p>
        </p:txBody>
      </p:sp>
      <p:sp>
        <p:nvSpPr>
          <p:cNvPr id="13" name="Shape 11"/>
          <p:cNvSpPr/>
          <p:nvPr/>
        </p:nvSpPr>
        <p:spPr>
          <a:xfrm>
            <a:off x="457200" y="3977640"/>
            <a:ext cx="5510632" cy="1874520"/>
          </a:xfrm>
          <a:prstGeom prst="roundRect">
            <a:avLst>
              <a:gd name="adj" fmla="val 3415"/>
            </a:avLst>
          </a:prstGeom>
          <a:solidFill>
            <a:srgbClr val="EEF3F8"/>
          </a:solidFill>
          <a:ln w="9525">
            <a:solidFill>
              <a:srgbClr val="D3E0E9"/>
            </a:solidFill>
            <a:prstDash val="solid"/>
          </a:ln>
        </p:spPr>
      </p:sp>
      <p:sp>
        <p:nvSpPr>
          <p:cNvPr id="14" name="Text 12"/>
          <p:cNvSpPr/>
          <p:nvPr/>
        </p:nvSpPr>
        <p:spPr>
          <a:xfrm>
            <a:off x="694944" y="4288536"/>
            <a:ext cx="5035144"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Ages 1–4 also need adjustment</a:t>
            </a:r>
            <a:endParaRPr lang="en-US" sz="1450" dirty="0"/>
          </a:p>
        </p:txBody>
      </p:sp>
      <p:sp>
        <p:nvSpPr>
          <p:cNvPr id="15" name="Text 13"/>
          <p:cNvSpPr/>
          <p:nvPr/>
        </p:nvSpPr>
        <p:spPr>
          <a:xfrm>
            <a:off x="694944" y="4818888"/>
            <a:ext cx="5035144" cy="850392"/>
          </a:xfrm>
          <a:prstGeom prst="rect">
            <a:avLst/>
          </a:prstGeom>
          <a:noFill/>
          <a:ln/>
        </p:spPr>
        <p:txBody>
          <a:bodyPr wrap="square" lIns="0" tIns="0" rIns="0" bIns="0" rtlCol="0" anchor="t"/>
          <a:lstStyle/>
          <a:p>
            <a:pPr marL="0" indent="0" algn="l">
              <a:lnSpc>
                <a:spcPct val="112000"/>
              </a:lnSpc>
              <a:buNone/>
            </a:pPr>
            <a:r>
              <a:rPr lang="en-US" sz="1050" dirty="0">
                <a:solidFill>
                  <a:srgbClr val="142433"/>
                </a:solidFill>
                <a:latin typeface="Calibri" pitchFamily="34" charset="0"/>
                <a:ea typeface="Calibri" pitchFamily="34" charset="-122"/>
                <a:cs typeface="Calibri" pitchFamily="34" charset="-120"/>
              </a:rPr>
              <a:t>Typically a(1–4) ≈ 1.5 (deaths concentrated toward the younger end of the interval), not the naive n/2 = 2.0.</a:t>
            </a:r>
            <a:endParaRPr lang="en-US" sz="1050" dirty="0"/>
          </a:p>
        </p:txBody>
      </p:sp>
      <p:sp>
        <p:nvSpPr>
          <p:cNvPr id="16" name="Shape 14"/>
          <p:cNvSpPr/>
          <p:nvPr/>
        </p:nvSpPr>
        <p:spPr>
          <a:xfrm>
            <a:off x="6223864" y="3977640"/>
            <a:ext cx="5510632" cy="1874520"/>
          </a:xfrm>
          <a:prstGeom prst="roundRect">
            <a:avLst>
              <a:gd name="adj" fmla="val 3415"/>
            </a:avLst>
          </a:prstGeom>
          <a:solidFill>
            <a:srgbClr val="EEF3F8"/>
          </a:solidFill>
          <a:ln w="9525">
            <a:solidFill>
              <a:srgbClr val="D3E0E9"/>
            </a:solidFill>
            <a:prstDash val="solid"/>
          </a:ln>
        </p:spPr>
      </p:sp>
      <p:sp>
        <p:nvSpPr>
          <p:cNvPr id="17" name="Text 15"/>
          <p:cNvSpPr/>
          <p:nvPr/>
        </p:nvSpPr>
        <p:spPr>
          <a:xfrm>
            <a:off x="6461608" y="4288536"/>
            <a:ext cx="5035144"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Open interval (ω+)</a:t>
            </a:r>
            <a:endParaRPr lang="en-US" sz="1450" dirty="0"/>
          </a:p>
        </p:txBody>
      </p:sp>
      <p:sp>
        <p:nvSpPr>
          <p:cNvPr id="18" name="Text 16"/>
          <p:cNvSpPr/>
          <p:nvPr/>
        </p:nvSpPr>
        <p:spPr>
          <a:xfrm>
            <a:off x="6461608" y="4818888"/>
            <a:ext cx="5035144" cy="850392"/>
          </a:xfrm>
          <a:prstGeom prst="rect">
            <a:avLst/>
          </a:prstGeom>
          <a:noFill/>
          <a:ln/>
        </p:spPr>
        <p:txBody>
          <a:bodyPr wrap="square" lIns="0" tIns="0" rIns="0" bIns="0" rtlCol="0" anchor="t"/>
          <a:lstStyle/>
          <a:p>
            <a:pPr marL="0" indent="0" algn="l">
              <a:lnSpc>
                <a:spcPct val="112000"/>
              </a:lnSpc>
              <a:buNone/>
            </a:pPr>
            <a:r>
              <a:rPr lang="en-US" sz="1050" dirty="0">
                <a:solidFill>
                  <a:srgbClr val="142433"/>
                </a:solidFill>
                <a:latin typeface="Calibri" pitchFamily="34" charset="0"/>
                <a:ea typeface="Calibri" pitchFamily="34" charset="-122"/>
                <a:cs typeface="Calibri" pitchFamily="34" charset="-120"/>
              </a:rPr>
              <a:t>Not an "nax" in the usual sense — the open-interval Lx is computed directly as lω / Mω, bypassing nax entirely.</a:t>
            </a:r>
            <a:endParaRPr lang="en-US" sz="1050" dirty="0"/>
          </a:p>
        </p:txBody>
      </p:sp>
      <p:sp>
        <p:nvSpPr>
          <p:cNvPr id="19" name="Text 17"/>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20" name="Text 18"/>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26 / 80</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400" b="1" kern="0" spc="200" dirty="0">
                <a:solidFill>
                  <a:srgbClr val="1C7293"/>
                </a:solidFill>
                <a:latin typeface="Calibri" pitchFamily="34" charset="0"/>
                <a:ea typeface="Calibri" pitchFamily="34" charset="-122"/>
                <a:cs typeface="Calibri" pitchFamily="34" charset="-120"/>
              </a:rPr>
              <a:t>DEFINITION</a:t>
            </a:r>
            <a:endParaRPr lang="en-US" sz="14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3200" b="1" dirty="0">
                <a:solidFill>
                  <a:srgbClr val="0B3D62"/>
                </a:solidFill>
                <a:latin typeface="Cambria" pitchFamily="34" charset="0"/>
                <a:ea typeface="Cambria" pitchFamily="34" charset="-122"/>
                <a:cs typeface="Cambria" pitchFamily="34" charset="-120"/>
              </a:rPr>
              <a:t>The Life Table as a Stationary Population</a:t>
            </a:r>
            <a:endParaRPr lang="en-US" sz="3200" dirty="0"/>
          </a:p>
        </p:txBody>
      </p:sp>
      <p:sp>
        <p:nvSpPr>
          <p:cNvPr id="4" name="Shape 2"/>
          <p:cNvSpPr/>
          <p:nvPr/>
        </p:nvSpPr>
        <p:spPr>
          <a:xfrm>
            <a:off x="457200" y="1481328"/>
            <a:ext cx="11277295" cy="777240"/>
          </a:xfrm>
          <a:prstGeom prst="roundRect">
            <a:avLst>
              <a:gd name="adj" fmla="val 8235"/>
            </a:avLst>
          </a:prstGeom>
          <a:solidFill>
            <a:srgbClr val="07213A"/>
          </a:solidFill>
          <a:ln/>
        </p:spPr>
      </p:sp>
      <p:sp>
        <p:nvSpPr>
          <p:cNvPr id="5" name="Text 3"/>
          <p:cNvSpPr/>
          <p:nvPr/>
        </p:nvSpPr>
        <p:spPr>
          <a:xfrm>
            <a:off x="685800" y="1481328"/>
            <a:ext cx="10820095"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Courier New" pitchFamily="34" charset="0"/>
                <a:ea typeface="Courier New" pitchFamily="34" charset="-122"/>
                <a:cs typeface="Courier New" pitchFamily="34" charset="-120"/>
              </a:rPr>
              <a:t>Stationary population: constant annual births = lx alive at every age, zero growth (r=0)</a:t>
            </a:r>
            <a:endParaRPr lang="en-US" sz="2000" dirty="0"/>
          </a:p>
        </p:txBody>
      </p:sp>
      <p:sp>
        <p:nvSpPr>
          <p:cNvPr id="6" name="Shape 4"/>
          <p:cNvSpPr/>
          <p:nvPr/>
        </p:nvSpPr>
        <p:spPr>
          <a:xfrm>
            <a:off x="457200" y="2487168"/>
            <a:ext cx="3588410" cy="3337560"/>
          </a:xfrm>
          <a:prstGeom prst="roundRect">
            <a:avLst>
              <a:gd name="adj" fmla="val 1918"/>
            </a:avLst>
          </a:prstGeom>
          <a:solidFill>
            <a:srgbClr val="EEF3F8"/>
          </a:solidFill>
          <a:ln w="9525">
            <a:solidFill>
              <a:srgbClr val="D3E0E9"/>
            </a:solidFill>
            <a:prstDash val="solid"/>
          </a:ln>
        </p:spPr>
      </p:sp>
      <p:sp>
        <p:nvSpPr>
          <p:cNvPr id="7" name="Text 5"/>
          <p:cNvSpPr/>
          <p:nvPr/>
        </p:nvSpPr>
        <p:spPr>
          <a:xfrm>
            <a:off x="694944"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nLx = a real population count</a:t>
            </a:r>
            <a:endParaRPr lang="en-US" dirty="0"/>
          </a:p>
        </p:txBody>
      </p:sp>
      <p:sp>
        <p:nvSpPr>
          <p:cNvPr id="8" name="Text 6"/>
          <p:cNvSpPr/>
          <p:nvPr/>
        </p:nvSpPr>
        <p:spPr>
          <a:xfrm>
            <a:off x="694944"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If 100,000 births occurred every year and everyone always experienced today's nqx schedule, nLx is literally how many people would be alive in age group [x, x+n) at any moment.</a:t>
            </a:r>
            <a:endParaRPr lang="en-US" sz="1400" dirty="0"/>
          </a:p>
        </p:txBody>
      </p:sp>
      <p:sp>
        <p:nvSpPr>
          <p:cNvPr id="9" name="Shape 7"/>
          <p:cNvSpPr/>
          <p:nvPr/>
        </p:nvSpPr>
        <p:spPr>
          <a:xfrm>
            <a:off x="4301642" y="2487168"/>
            <a:ext cx="3588410" cy="3337560"/>
          </a:xfrm>
          <a:prstGeom prst="roundRect">
            <a:avLst>
              <a:gd name="adj" fmla="val 1918"/>
            </a:avLst>
          </a:prstGeom>
          <a:solidFill>
            <a:srgbClr val="EEF3F8"/>
          </a:solidFill>
          <a:ln w="9525">
            <a:solidFill>
              <a:srgbClr val="D3E0E9"/>
            </a:solidFill>
            <a:prstDash val="solid"/>
          </a:ln>
        </p:spPr>
      </p:sp>
      <p:sp>
        <p:nvSpPr>
          <p:cNvPr id="10" name="Text 8"/>
          <p:cNvSpPr/>
          <p:nvPr/>
        </p:nvSpPr>
        <p:spPr>
          <a:xfrm>
            <a:off x="4539386"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Tx = stationary population aged x+</a:t>
            </a:r>
            <a:endParaRPr lang="en-US" dirty="0"/>
          </a:p>
        </p:txBody>
      </p:sp>
      <p:sp>
        <p:nvSpPr>
          <p:cNvPr id="11" name="Text 9"/>
          <p:cNvSpPr/>
          <p:nvPr/>
        </p:nvSpPr>
        <p:spPr>
          <a:xfrm>
            <a:off x="4539386"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This is why nLx and Tx are used directly in real planning: they estimate demand for age-specific services (schools, maternal care, eldercare) under current mortality, holding births constant.</a:t>
            </a:r>
            <a:endParaRPr lang="en-US" sz="1400" dirty="0"/>
          </a:p>
        </p:txBody>
      </p:sp>
      <p:sp>
        <p:nvSpPr>
          <p:cNvPr id="12" name="Shape 10"/>
          <p:cNvSpPr/>
          <p:nvPr/>
        </p:nvSpPr>
        <p:spPr>
          <a:xfrm>
            <a:off x="8146085" y="2487168"/>
            <a:ext cx="3588410" cy="3337560"/>
          </a:xfrm>
          <a:prstGeom prst="roundRect">
            <a:avLst>
              <a:gd name="adj" fmla="val 1918"/>
            </a:avLst>
          </a:prstGeom>
          <a:solidFill>
            <a:srgbClr val="EEF3F8"/>
          </a:solidFill>
          <a:ln w="9525">
            <a:solidFill>
              <a:srgbClr val="D3E0E9"/>
            </a:solidFill>
            <a:prstDash val="solid"/>
          </a:ln>
        </p:spPr>
      </p:sp>
      <p:sp>
        <p:nvSpPr>
          <p:cNvPr id="13" name="Text 11"/>
          <p:cNvSpPr/>
          <p:nvPr/>
        </p:nvSpPr>
        <p:spPr>
          <a:xfrm>
            <a:off x="8383829"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e0 = mean age at death, stationary pop.</a:t>
            </a:r>
            <a:endParaRPr lang="en-US" dirty="0"/>
          </a:p>
        </p:txBody>
      </p:sp>
      <p:sp>
        <p:nvSpPr>
          <p:cNvPr id="14" name="Text 12"/>
          <p:cNvSpPr/>
          <p:nvPr/>
        </p:nvSpPr>
        <p:spPr>
          <a:xfrm>
            <a:off x="8383829"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Equivalently, e0 equals the total stationary population (T0) divided by the number of annual births (l0) — one of several valid interpretations of life expectancy.</a:t>
            </a:r>
            <a:endParaRPr lang="en-US" sz="1400" dirty="0"/>
          </a:p>
        </p:txBody>
      </p:sp>
      <p:sp>
        <p:nvSpPr>
          <p:cNvPr id="15" name="Text 13"/>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5140602 Fundamental Demographic Analysis – Session 5</a:t>
            </a:r>
            <a:endParaRPr lang="en-US" sz="1000" dirty="0"/>
          </a:p>
        </p:txBody>
      </p:sp>
      <p:sp>
        <p:nvSpPr>
          <p:cNvPr id="16" name="Text 14"/>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27 / 80</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400" b="1" kern="0" spc="200" dirty="0">
                <a:solidFill>
                  <a:srgbClr val="1C7293"/>
                </a:solidFill>
                <a:latin typeface="Calibri" pitchFamily="34" charset="0"/>
                <a:ea typeface="Calibri" pitchFamily="34" charset="-122"/>
                <a:cs typeface="Calibri" pitchFamily="34" charset="-120"/>
              </a:rPr>
              <a:t>REAL APPLICATION · ACTUARIAL SCIENCE</a:t>
            </a:r>
            <a:endParaRPr lang="en-US" sz="14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3200" b="1" dirty="0">
                <a:solidFill>
                  <a:srgbClr val="0B3D62"/>
                </a:solidFill>
                <a:latin typeface="Cambria" pitchFamily="34" charset="0"/>
                <a:ea typeface="Cambria" pitchFamily="34" charset="-122"/>
                <a:cs typeface="Cambria" pitchFamily="34" charset="-120"/>
              </a:rPr>
              <a:t>How Insurers and Pension Funds Actually Use nqx</a:t>
            </a:r>
            <a:endParaRPr lang="en-US" sz="3200" dirty="0"/>
          </a:p>
        </p:txBody>
      </p:sp>
      <p:sp>
        <p:nvSpPr>
          <p:cNvPr id="4" name="Shape 2"/>
          <p:cNvSpPr/>
          <p:nvPr/>
        </p:nvSpPr>
        <p:spPr>
          <a:xfrm>
            <a:off x="457200" y="1481328"/>
            <a:ext cx="11277295" cy="777240"/>
          </a:xfrm>
          <a:prstGeom prst="roundRect">
            <a:avLst>
              <a:gd name="adj" fmla="val 8235"/>
            </a:avLst>
          </a:prstGeom>
          <a:solidFill>
            <a:srgbClr val="07213A"/>
          </a:solidFill>
          <a:ln/>
        </p:spPr>
      </p:sp>
      <p:sp>
        <p:nvSpPr>
          <p:cNvPr id="5" name="Text 3"/>
          <p:cNvSpPr/>
          <p:nvPr/>
        </p:nvSpPr>
        <p:spPr>
          <a:xfrm>
            <a:off x="685800" y="1481328"/>
            <a:ext cx="10820095"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Courier New" pitchFamily="34" charset="0"/>
                <a:ea typeface="Courier New" pitchFamily="34" charset="-122"/>
                <a:cs typeface="Courier New" pitchFamily="34" charset="-120"/>
              </a:rPr>
              <a:t>Pure premium, 1-year term policy ≈ nqx(age) × sum insured</a:t>
            </a:r>
            <a:endParaRPr lang="en-US" sz="2000" dirty="0"/>
          </a:p>
        </p:txBody>
      </p:sp>
      <p:sp>
        <p:nvSpPr>
          <p:cNvPr id="6" name="Shape 4"/>
          <p:cNvSpPr/>
          <p:nvPr/>
        </p:nvSpPr>
        <p:spPr>
          <a:xfrm>
            <a:off x="457200" y="2487168"/>
            <a:ext cx="3588410" cy="3337560"/>
          </a:xfrm>
          <a:prstGeom prst="roundRect">
            <a:avLst>
              <a:gd name="adj" fmla="val 1918"/>
            </a:avLst>
          </a:prstGeom>
          <a:solidFill>
            <a:srgbClr val="EEF3F8"/>
          </a:solidFill>
          <a:ln w="9525">
            <a:solidFill>
              <a:srgbClr val="D3E0E9"/>
            </a:solidFill>
            <a:prstDash val="solid"/>
          </a:ln>
        </p:spPr>
      </p:sp>
      <p:sp>
        <p:nvSpPr>
          <p:cNvPr id="7" name="Text 5"/>
          <p:cNvSpPr/>
          <p:nvPr/>
        </p:nvSpPr>
        <p:spPr>
          <a:xfrm>
            <a:off x="694944"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Life tables price mortality risk</a:t>
            </a:r>
            <a:endParaRPr lang="en-US" dirty="0"/>
          </a:p>
        </p:txBody>
      </p:sp>
      <p:sp>
        <p:nvSpPr>
          <p:cNvPr id="8" name="Text 6"/>
          <p:cNvSpPr/>
          <p:nvPr/>
        </p:nvSpPr>
        <p:spPr>
          <a:xfrm>
            <a:off x="694944"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Insurers build, or license, mortality tables essentially identical in structure to today's — often 'select' tables reflecting insured lives, adjusted for underwriting class, smoking status, and sex.</a:t>
            </a:r>
            <a:endParaRPr lang="en-US" sz="1400" dirty="0"/>
          </a:p>
        </p:txBody>
      </p:sp>
      <p:sp>
        <p:nvSpPr>
          <p:cNvPr id="9" name="Shape 7"/>
          <p:cNvSpPr/>
          <p:nvPr/>
        </p:nvSpPr>
        <p:spPr>
          <a:xfrm>
            <a:off x="4301642" y="2487168"/>
            <a:ext cx="3588410" cy="3337560"/>
          </a:xfrm>
          <a:prstGeom prst="roundRect">
            <a:avLst>
              <a:gd name="adj" fmla="val 1918"/>
            </a:avLst>
          </a:prstGeom>
          <a:solidFill>
            <a:srgbClr val="EEF3F8"/>
          </a:solidFill>
          <a:ln w="9525">
            <a:solidFill>
              <a:srgbClr val="D3E0E9"/>
            </a:solidFill>
            <a:prstDash val="solid"/>
          </a:ln>
        </p:spPr>
      </p:sp>
      <p:sp>
        <p:nvSpPr>
          <p:cNvPr id="10" name="Text 8"/>
          <p:cNvSpPr/>
          <p:nvPr/>
        </p:nvSpPr>
        <p:spPr>
          <a:xfrm>
            <a:off x="4539386"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Annuities use the same table, inverted</a:t>
            </a:r>
            <a:endParaRPr lang="en-US" dirty="0"/>
          </a:p>
        </p:txBody>
      </p:sp>
      <p:sp>
        <p:nvSpPr>
          <p:cNvPr id="11" name="Text 9"/>
          <p:cNvSpPr/>
          <p:nvPr/>
        </p:nvSpPr>
        <p:spPr>
          <a:xfrm>
            <a:off x="4539386"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A pension annuity's cost depends on npx and ex — how long the insurer expects to keep paying; systematically underestimating ex is a real solvency risk known as longevity risk.</a:t>
            </a:r>
            <a:endParaRPr lang="en-US" sz="1400" dirty="0"/>
          </a:p>
        </p:txBody>
      </p:sp>
      <p:sp>
        <p:nvSpPr>
          <p:cNvPr id="12" name="Shape 10"/>
          <p:cNvSpPr/>
          <p:nvPr/>
        </p:nvSpPr>
        <p:spPr>
          <a:xfrm>
            <a:off x="8146085" y="2487168"/>
            <a:ext cx="3588410" cy="3337560"/>
          </a:xfrm>
          <a:prstGeom prst="roundRect">
            <a:avLst>
              <a:gd name="adj" fmla="val 1918"/>
            </a:avLst>
          </a:prstGeom>
          <a:solidFill>
            <a:srgbClr val="EEF3F8"/>
          </a:solidFill>
          <a:ln w="9525">
            <a:solidFill>
              <a:srgbClr val="D3E0E9"/>
            </a:solidFill>
            <a:prstDash val="solid"/>
          </a:ln>
        </p:spPr>
      </p:sp>
      <p:sp>
        <p:nvSpPr>
          <p:cNvPr id="13" name="Text 11"/>
          <p:cNvSpPr/>
          <p:nvPr/>
        </p:nvSpPr>
        <p:spPr>
          <a:xfrm>
            <a:off x="8383829"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Regulatory life tables</a:t>
            </a:r>
            <a:endParaRPr lang="en-US" dirty="0"/>
          </a:p>
        </p:txBody>
      </p:sp>
      <p:sp>
        <p:nvSpPr>
          <p:cNvPr id="14" name="Text 12"/>
          <p:cNvSpPr/>
          <p:nvPr/>
        </p:nvSpPr>
        <p:spPr>
          <a:xfrm>
            <a:off x="8383829"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Regulators such as the U.S. Society of Actuaries publish standardized experience-study mortality tables that insurers must use for statutory reserve calculations (Society of Actuaries, n.d.) — the same nMx → ex pipeline built today, at industrial scale.</a:t>
            </a:r>
            <a:endParaRPr lang="en-US" sz="1400" dirty="0"/>
          </a:p>
        </p:txBody>
      </p:sp>
      <p:sp>
        <p:nvSpPr>
          <p:cNvPr id="15" name="Text 13"/>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5140602 Fundamental Demographic Analysis – Session 5</a:t>
            </a:r>
            <a:endParaRPr lang="en-US" sz="1000" dirty="0"/>
          </a:p>
        </p:txBody>
      </p:sp>
      <p:sp>
        <p:nvSpPr>
          <p:cNvPr id="16" name="Text 14"/>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28 / 80</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400" b="1" kern="0" spc="200" dirty="0">
                <a:solidFill>
                  <a:srgbClr val="1C7293"/>
                </a:solidFill>
                <a:latin typeface="Calibri" pitchFamily="34" charset="0"/>
                <a:ea typeface="Calibri" pitchFamily="34" charset="-122"/>
                <a:cs typeface="Calibri" pitchFamily="34" charset="-120"/>
              </a:rPr>
              <a:t>REAL APPLICATION · PUBLIC HEALTH</a:t>
            </a:r>
            <a:endParaRPr lang="en-US" sz="14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3200" b="1" dirty="0">
                <a:solidFill>
                  <a:srgbClr val="0B3D62"/>
                </a:solidFill>
                <a:latin typeface="Cambria" pitchFamily="34" charset="0"/>
                <a:ea typeface="Cambria" pitchFamily="34" charset="-122"/>
                <a:cs typeface="Cambria" pitchFamily="34" charset="-120"/>
              </a:rPr>
              <a:t>From Life Tables to Health-Adjusted Life Expectancy (HALE)</a:t>
            </a:r>
            <a:endParaRPr lang="en-US" sz="3200" dirty="0"/>
          </a:p>
        </p:txBody>
      </p:sp>
      <p:sp>
        <p:nvSpPr>
          <p:cNvPr id="4" name="Shape 2"/>
          <p:cNvSpPr/>
          <p:nvPr/>
        </p:nvSpPr>
        <p:spPr>
          <a:xfrm>
            <a:off x="457200" y="1481328"/>
            <a:ext cx="11277295" cy="777240"/>
          </a:xfrm>
          <a:prstGeom prst="roundRect">
            <a:avLst>
              <a:gd name="adj" fmla="val 8235"/>
            </a:avLst>
          </a:prstGeom>
          <a:solidFill>
            <a:srgbClr val="07213A"/>
          </a:solidFill>
          <a:ln/>
        </p:spPr>
        <p:txBody>
          <a:bodyPr/>
          <a:lstStyle/>
          <a:p>
            <a:endParaRPr/>
          </a:p>
        </p:txBody>
      </p:sp>
      <p:sp>
        <p:nvSpPr>
          <p:cNvPr id="5" name="Text 3"/>
          <p:cNvSpPr/>
          <p:nvPr/>
        </p:nvSpPr>
        <p:spPr>
          <a:xfrm>
            <a:off x="685800" y="1481328"/>
            <a:ext cx="10820095"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Courier New" pitchFamily="34" charset="0"/>
                <a:ea typeface="Courier New" pitchFamily="34" charset="-122"/>
                <a:cs typeface="Courier New" pitchFamily="34" charset="-120"/>
              </a:rPr>
              <a:t>HALE ≈ Σ [ nLx × (1 − disability weight) ] / l0</a:t>
            </a:r>
            <a:endParaRPr lang="en-US" sz="2000" dirty="0"/>
          </a:p>
        </p:txBody>
      </p:sp>
      <p:sp>
        <p:nvSpPr>
          <p:cNvPr id="6" name="Shape 4"/>
          <p:cNvSpPr/>
          <p:nvPr/>
        </p:nvSpPr>
        <p:spPr>
          <a:xfrm>
            <a:off x="457200" y="2487168"/>
            <a:ext cx="3588410" cy="3337560"/>
          </a:xfrm>
          <a:prstGeom prst="roundRect">
            <a:avLst>
              <a:gd name="adj" fmla="val 1918"/>
            </a:avLst>
          </a:prstGeom>
          <a:solidFill>
            <a:srgbClr val="EEF3F8"/>
          </a:solidFill>
          <a:ln w="9525">
            <a:solidFill>
              <a:srgbClr val="D3E0E9"/>
            </a:solidFill>
            <a:prstDash val="solid"/>
          </a:ln>
        </p:spPr>
        <p:txBody>
          <a:bodyPr/>
          <a:lstStyle/>
          <a:p>
            <a:endParaRPr/>
          </a:p>
        </p:txBody>
      </p:sp>
      <p:sp>
        <p:nvSpPr>
          <p:cNvPr id="7" name="Text 5"/>
          <p:cNvSpPr/>
          <p:nvPr/>
        </p:nvSpPr>
        <p:spPr>
          <a:xfrm>
            <a:off x="694944"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The Global Burden of Disease framework</a:t>
            </a:r>
            <a:endParaRPr lang="en-US" dirty="0"/>
          </a:p>
        </p:txBody>
      </p:sp>
      <p:sp>
        <p:nvSpPr>
          <p:cNvPr id="8" name="Text 6"/>
          <p:cNvSpPr/>
          <p:nvPr/>
        </p:nvSpPr>
        <p:spPr>
          <a:xfrm>
            <a:off x="694944"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WHO and the Institute for Health Metrics and Evaluation's Global Burden of Disease project use a life-table backbone identical to today's session, then subtract years lost to disability using survey-based disability weights for hundreds of conditions (IHME, n.d.).</a:t>
            </a:r>
            <a:endParaRPr lang="en-US" sz="1400" dirty="0"/>
          </a:p>
        </p:txBody>
      </p:sp>
      <p:sp>
        <p:nvSpPr>
          <p:cNvPr id="9" name="Shape 7"/>
          <p:cNvSpPr/>
          <p:nvPr/>
        </p:nvSpPr>
        <p:spPr>
          <a:xfrm>
            <a:off x="4301642" y="2487168"/>
            <a:ext cx="3588410" cy="3337560"/>
          </a:xfrm>
          <a:prstGeom prst="roundRect">
            <a:avLst>
              <a:gd name="adj" fmla="val 1918"/>
            </a:avLst>
          </a:prstGeom>
          <a:solidFill>
            <a:srgbClr val="EEF3F8"/>
          </a:solidFill>
          <a:ln w="9525">
            <a:solidFill>
              <a:srgbClr val="D3E0E9"/>
            </a:solidFill>
            <a:prstDash val="solid"/>
          </a:ln>
        </p:spPr>
        <p:txBody>
          <a:bodyPr/>
          <a:lstStyle/>
          <a:p>
            <a:endParaRPr/>
          </a:p>
        </p:txBody>
      </p:sp>
      <p:sp>
        <p:nvSpPr>
          <p:cNvPr id="10" name="Text 8"/>
          <p:cNvSpPr/>
          <p:nvPr/>
        </p:nvSpPr>
        <p:spPr>
          <a:xfrm>
            <a:off x="4539386"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Cause-deleted life tables</a:t>
            </a:r>
            <a:endParaRPr lang="en-US" dirty="0"/>
          </a:p>
        </p:txBody>
      </p:sp>
      <p:sp>
        <p:nvSpPr>
          <p:cNvPr id="11" name="Text 9"/>
          <p:cNvSpPr/>
          <p:nvPr/>
        </p:nvSpPr>
        <p:spPr>
          <a:xfrm>
            <a:off x="4539386"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Public health analysts ask, 'what would e0 be if cause X (e.g., road-traffic injury, cardiovascular disease) were eliminated?' by recomputing lx with that cause's nqx contribution removed — a direct extension of the pipeline on Slide 16.</a:t>
            </a:r>
            <a:endParaRPr lang="en-US" sz="1400" dirty="0"/>
          </a:p>
        </p:txBody>
      </p:sp>
      <p:sp>
        <p:nvSpPr>
          <p:cNvPr id="12" name="Shape 10"/>
          <p:cNvSpPr/>
          <p:nvPr/>
        </p:nvSpPr>
        <p:spPr>
          <a:xfrm>
            <a:off x="8146085" y="2487168"/>
            <a:ext cx="3588410" cy="3337560"/>
          </a:xfrm>
          <a:prstGeom prst="roundRect">
            <a:avLst>
              <a:gd name="adj" fmla="val 1918"/>
            </a:avLst>
          </a:prstGeom>
          <a:solidFill>
            <a:srgbClr val="EEF3F8"/>
          </a:solidFill>
          <a:ln w="9525">
            <a:solidFill>
              <a:srgbClr val="D3E0E9"/>
            </a:solidFill>
            <a:prstDash val="solid"/>
          </a:ln>
        </p:spPr>
        <p:txBody>
          <a:bodyPr/>
          <a:lstStyle/>
          <a:p>
            <a:endParaRPr/>
          </a:p>
        </p:txBody>
      </p:sp>
      <p:sp>
        <p:nvSpPr>
          <p:cNvPr id="13" name="Text 11"/>
          <p:cNvSpPr/>
          <p:nvPr/>
        </p:nvSpPr>
        <p:spPr>
          <a:xfrm>
            <a:off x="8383829"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Why this matters for policy</a:t>
            </a:r>
            <a:endParaRPr lang="en-US" dirty="0"/>
          </a:p>
        </p:txBody>
      </p:sp>
      <p:sp>
        <p:nvSpPr>
          <p:cNvPr id="14" name="Text 12"/>
          <p:cNvSpPr/>
          <p:nvPr/>
        </p:nvSpPr>
        <p:spPr>
          <a:xfrm>
            <a:off x="8383829"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HALE and cause-deleted e0 gains are the standard evidence base for prioritizing public-health interventions and for tracking Sustainable Development Goal 3 (health) targets.</a:t>
            </a:r>
            <a:endParaRPr lang="en-US" sz="1400" dirty="0"/>
          </a:p>
        </p:txBody>
      </p:sp>
      <p:sp>
        <p:nvSpPr>
          <p:cNvPr id="15" name="Text 13"/>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5140602 Fundamental Demographic Analysis – Session 5</a:t>
            </a:r>
            <a:endParaRPr lang="en-US" sz="1000" dirty="0"/>
          </a:p>
        </p:txBody>
      </p:sp>
      <p:sp>
        <p:nvSpPr>
          <p:cNvPr id="16" name="Text 14"/>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29 / 80</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COMMON MISCONCEPTIONS</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Four Things Students (and Journalists) Get Wrong About Life Tables</a:t>
            </a:r>
            <a:endParaRPr lang="en-US" sz="2700" dirty="0"/>
          </a:p>
        </p:txBody>
      </p:sp>
      <p:sp>
        <p:nvSpPr>
          <p:cNvPr id="4" name="Shape 2"/>
          <p:cNvSpPr/>
          <p:nvPr/>
        </p:nvSpPr>
        <p:spPr>
          <a:xfrm>
            <a:off x="457200" y="1554480"/>
            <a:ext cx="5501488" cy="2148840"/>
          </a:xfrm>
          <a:prstGeom prst="roundRect">
            <a:avLst>
              <a:gd name="adj" fmla="val 2979"/>
            </a:avLst>
          </a:prstGeom>
          <a:solidFill>
            <a:srgbClr val="EEF3F8"/>
          </a:solidFill>
          <a:ln w="9525">
            <a:solidFill>
              <a:srgbClr val="D3E0E9"/>
            </a:solidFill>
            <a:prstDash val="solid"/>
          </a:ln>
        </p:spPr>
      </p:sp>
      <p:sp>
        <p:nvSpPr>
          <p:cNvPr id="5" name="Text 3"/>
          <p:cNvSpPr/>
          <p:nvPr/>
        </p:nvSpPr>
        <p:spPr>
          <a:xfrm>
            <a:off x="640080" y="1737360"/>
            <a:ext cx="457200" cy="457200"/>
          </a:xfrm>
          <a:prstGeom prst="rect">
            <a:avLst/>
          </a:prstGeom>
          <a:noFill/>
          <a:ln/>
        </p:spPr>
        <p:txBody>
          <a:bodyPr wrap="square" lIns="0" tIns="0" rIns="0" bIns="0" rtlCol="0" anchor="ctr"/>
          <a:lstStyle/>
          <a:p>
            <a:pPr marL="0" indent="0" algn="ctr">
              <a:buNone/>
            </a:pPr>
            <a:r>
              <a:rPr lang="en-US" sz="2000" b="1" dirty="0">
                <a:solidFill>
                  <a:srgbClr val="C0433A"/>
                </a:solidFill>
                <a:latin typeface="Calibri" pitchFamily="34" charset="0"/>
                <a:ea typeface="Calibri" pitchFamily="34" charset="-122"/>
                <a:cs typeface="Calibri" pitchFamily="34" charset="-120"/>
              </a:rPr>
              <a:t>✕</a:t>
            </a:r>
            <a:endParaRPr lang="en-US" sz="2000" dirty="0"/>
          </a:p>
        </p:txBody>
      </p:sp>
      <p:sp>
        <p:nvSpPr>
          <p:cNvPr id="6" name="Text 4"/>
          <p:cNvSpPr/>
          <p:nvPr/>
        </p:nvSpPr>
        <p:spPr>
          <a:xfrm>
            <a:off x="1143000" y="1737360"/>
            <a:ext cx="4587088" cy="548640"/>
          </a:xfrm>
          <a:prstGeom prst="rect">
            <a:avLst/>
          </a:prstGeom>
          <a:noFill/>
          <a:ln/>
        </p:spPr>
        <p:txBody>
          <a:bodyPr wrap="square" lIns="0" tIns="0" rIns="0" bIns="0" rtlCol="0" anchor="t"/>
          <a:lstStyle/>
          <a:p>
            <a:pPr marL="0" indent="0">
              <a:buNone/>
            </a:pPr>
            <a:r>
              <a:rPr lang="en-US" sz="1300" b="1" dirty="0">
                <a:solidFill>
                  <a:srgbClr val="0B3D62"/>
                </a:solidFill>
                <a:latin typeface="Calibri" pitchFamily="34" charset="0"/>
                <a:ea typeface="Calibri" pitchFamily="34" charset="-122"/>
                <a:cs typeface="Calibri" pitchFamily="34" charset="-120"/>
              </a:rPr>
              <a:t>e0 ≠ how long a real birth cohort will live</a:t>
            </a:r>
            <a:endParaRPr lang="en-US" sz="1300" dirty="0"/>
          </a:p>
        </p:txBody>
      </p:sp>
      <p:sp>
        <p:nvSpPr>
          <p:cNvPr id="7" name="Text 5"/>
          <p:cNvSpPr/>
          <p:nvPr/>
        </p:nvSpPr>
        <p:spPr>
          <a:xfrm>
            <a:off x="731520" y="2331720"/>
            <a:ext cx="4952848" cy="1234440"/>
          </a:xfrm>
          <a:prstGeom prst="rect">
            <a:avLst/>
          </a:prstGeom>
          <a:noFill/>
          <a:ln/>
        </p:spPr>
        <p:txBody>
          <a:bodyPr wrap="square" lIns="0" tIns="0" rIns="0" bIns="0" rtlCol="0" anchor="t"/>
          <a:lstStyle/>
          <a:p>
            <a:pPr marL="0" indent="0">
              <a:lnSpc>
                <a:spcPct val="112000"/>
              </a:lnSpc>
              <a:buNone/>
            </a:pPr>
            <a:r>
              <a:rPr lang="en-US" sz="1080" dirty="0">
                <a:solidFill>
                  <a:srgbClr val="142433"/>
                </a:solidFill>
                <a:latin typeface="Calibri" pitchFamily="34" charset="0"/>
                <a:ea typeface="Calibri" pitchFamily="34" charset="-122"/>
                <a:cs typeface="Calibri" pitchFamily="34" charset="-120"/>
              </a:rPr>
              <a:t>A period e0 describes a hypothetical cohort experiencing today's mortality rates for its entire life. A baby born today will very likely live LONGER than e0, because mortality tends to keep improving over their lifetime.</a:t>
            </a:r>
            <a:endParaRPr lang="en-US" sz="1080" dirty="0"/>
          </a:p>
        </p:txBody>
      </p:sp>
      <p:sp>
        <p:nvSpPr>
          <p:cNvPr id="8" name="Shape 6"/>
          <p:cNvSpPr/>
          <p:nvPr/>
        </p:nvSpPr>
        <p:spPr>
          <a:xfrm>
            <a:off x="6233008" y="1554480"/>
            <a:ext cx="5501488" cy="2148840"/>
          </a:xfrm>
          <a:prstGeom prst="roundRect">
            <a:avLst>
              <a:gd name="adj" fmla="val 2979"/>
            </a:avLst>
          </a:prstGeom>
          <a:solidFill>
            <a:srgbClr val="EEF3F8"/>
          </a:solidFill>
          <a:ln w="9525">
            <a:solidFill>
              <a:srgbClr val="D3E0E9"/>
            </a:solidFill>
            <a:prstDash val="solid"/>
          </a:ln>
        </p:spPr>
      </p:sp>
      <p:sp>
        <p:nvSpPr>
          <p:cNvPr id="9" name="Text 7"/>
          <p:cNvSpPr/>
          <p:nvPr/>
        </p:nvSpPr>
        <p:spPr>
          <a:xfrm>
            <a:off x="6415888" y="1737360"/>
            <a:ext cx="457200" cy="457200"/>
          </a:xfrm>
          <a:prstGeom prst="rect">
            <a:avLst/>
          </a:prstGeom>
          <a:noFill/>
          <a:ln/>
        </p:spPr>
        <p:txBody>
          <a:bodyPr wrap="square" lIns="0" tIns="0" rIns="0" bIns="0" rtlCol="0" anchor="ctr"/>
          <a:lstStyle/>
          <a:p>
            <a:pPr marL="0" indent="0" algn="ctr">
              <a:buNone/>
            </a:pPr>
            <a:r>
              <a:rPr lang="en-US" sz="2000" b="1" dirty="0">
                <a:solidFill>
                  <a:srgbClr val="C0433A"/>
                </a:solidFill>
                <a:latin typeface="Calibri" pitchFamily="34" charset="0"/>
                <a:ea typeface="Calibri" pitchFamily="34" charset="-122"/>
                <a:cs typeface="Calibri" pitchFamily="34" charset="-120"/>
              </a:rPr>
              <a:t>✕</a:t>
            </a:r>
            <a:endParaRPr lang="en-US" sz="2000" dirty="0"/>
          </a:p>
        </p:txBody>
      </p:sp>
      <p:sp>
        <p:nvSpPr>
          <p:cNvPr id="10" name="Text 8"/>
          <p:cNvSpPr/>
          <p:nvPr/>
        </p:nvSpPr>
        <p:spPr>
          <a:xfrm>
            <a:off x="6918808" y="1737360"/>
            <a:ext cx="4587088" cy="548640"/>
          </a:xfrm>
          <a:prstGeom prst="rect">
            <a:avLst/>
          </a:prstGeom>
          <a:noFill/>
          <a:ln/>
        </p:spPr>
        <p:txBody>
          <a:bodyPr wrap="square" lIns="0" tIns="0" rIns="0" bIns="0" rtlCol="0" anchor="t"/>
          <a:lstStyle/>
          <a:p>
            <a:pPr marL="0" indent="0">
              <a:buNone/>
            </a:pPr>
            <a:r>
              <a:rPr lang="en-US" sz="1300" b="1" dirty="0">
                <a:solidFill>
                  <a:srgbClr val="0B3D62"/>
                </a:solidFill>
                <a:latin typeface="Calibri" pitchFamily="34" charset="0"/>
                <a:ea typeface="Calibri" pitchFamily="34" charset="-122"/>
                <a:cs typeface="Calibri" pitchFamily="34" charset="-120"/>
              </a:rPr>
              <a:t>The radix (100,000) is not a real population count</a:t>
            </a:r>
            <a:endParaRPr lang="en-US" sz="1300" dirty="0"/>
          </a:p>
        </p:txBody>
      </p:sp>
      <p:sp>
        <p:nvSpPr>
          <p:cNvPr id="11" name="Text 9"/>
          <p:cNvSpPr/>
          <p:nvPr/>
        </p:nvSpPr>
        <p:spPr>
          <a:xfrm>
            <a:off x="6507328" y="2331720"/>
            <a:ext cx="4952848" cy="1234440"/>
          </a:xfrm>
          <a:prstGeom prst="rect">
            <a:avLst/>
          </a:prstGeom>
          <a:noFill/>
          <a:ln/>
        </p:spPr>
        <p:txBody>
          <a:bodyPr wrap="square" lIns="0" tIns="0" rIns="0" bIns="0" rtlCol="0" anchor="t"/>
          <a:lstStyle/>
          <a:p>
            <a:pPr marL="0" indent="0">
              <a:lnSpc>
                <a:spcPct val="112000"/>
              </a:lnSpc>
              <a:buNone/>
            </a:pPr>
            <a:r>
              <a:rPr lang="en-US" sz="1080" dirty="0">
                <a:solidFill>
                  <a:srgbClr val="142433"/>
                </a:solidFill>
                <a:latin typeface="Calibri" pitchFamily="34" charset="0"/>
                <a:ea typeface="Calibri" pitchFamily="34" charset="-122"/>
                <a:cs typeface="Calibri" pitchFamily="34" charset="-120"/>
              </a:rPr>
              <a:t>It is an arbitrary starting number chosen purely for computational convenience — it does not mean "100,000 people were actually studied." Changing the radix rescales lx and ndx but leaves every ex identical.</a:t>
            </a:r>
            <a:endParaRPr lang="en-US" sz="1080" dirty="0"/>
          </a:p>
        </p:txBody>
      </p:sp>
      <p:sp>
        <p:nvSpPr>
          <p:cNvPr id="12" name="Shape 10"/>
          <p:cNvSpPr/>
          <p:nvPr/>
        </p:nvSpPr>
        <p:spPr>
          <a:xfrm>
            <a:off x="457200" y="3931920"/>
            <a:ext cx="5501488" cy="2148840"/>
          </a:xfrm>
          <a:prstGeom prst="roundRect">
            <a:avLst>
              <a:gd name="adj" fmla="val 2979"/>
            </a:avLst>
          </a:prstGeom>
          <a:solidFill>
            <a:srgbClr val="E1EAF2"/>
          </a:solidFill>
          <a:ln w="9525">
            <a:solidFill>
              <a:srgbClr val="D3E0E9"/>
            </a:solidFill>
            <a:prstDash val="solid"/>
          </a:ln>
        </p:spPr>
      </p:sp>
      <p:sp>
        <p:nvSpPr>
          <p:cNvPr id="13" name="Text 11"/>
          <p:cNvSpPr/>
          <p:nvPr/>
        </p:nvSpPr>
        <p:spPr>
          <a:xfrm>
            <a:off x="640080" y="4114800"/>
            <a:ext cx="457200" cy="457200"/>
          </a:xfrm>
          <a:prstGeom prst="rect">
            <a:avLst/>
          </a:prstGeom>
          <a:noFill/>
          <a:ln/>
        </p:spPr>
        <p:txBody>
          <a:bodyPr wrap="square" lIns="0" tIns="0" rIns="0" bIns="0" rtlCol="0" anchor="ctr"/>
          <a:lstStyle/>
          <a:p>
            <a:pPr marL="0" indent="0" algn="ctr">
              <a:buNone/>
            </a:pPr>
            <a:r>
              <a:rPr lang="en-US" sz="2000" b="1" dirty="0">
                <a:solidFill>
                  <a:srgbClr val="C0433A"/>
                </a:solidFill>
                <a:latin typeface="Calibri" pitchFamily="34" charset="0"/>
                <a:ea typeface="Calibri" pitchFamily="34" charset="-122"/>
                <a:cs typeface="Calibri" pitchFamily="34" charset="-120"/>
              </a:rPr>
              <a:t>✕</a:t>
            </a:r>
            <a:endParaRPr lang="en-US" sz="2000" dirty="0"/>
          </a:p>
        </p:txBody>
      </p:sp>
      <p:sp>
        <p:nvSpPr>
          <p:cNvPr id="14" name="Text 12"/>
          <p:cNvSpPr/>
          <p:nvPr/>
        </p:nvSpPr>
        <p:spPr>
          <a:xfrm>
            <a:off x="1143000" y="4114800"/>
            <a:ext cx="4587088" cy="548640"/>
          </a:xfrm>
          <a:prstGeom prst="rect">
            <a:avLst/>
          </a:prstGeom>
          <a:noFill/>
          <a:ln/>
        </p:spPr>
        <p:txBody>
          <a:bodyPr wrap="square" lIns="0" tIns="0" rIns="0" bIns="0" rtlCol="0" anchor="t"/>
          <a:lstStyle/>
          <a:p>
            <a:pPr marL="0" indent="0">
              <a:buNone/>
            </a:pPr>
            <a:r>
              <a:rPr lang="en-US" sz="1300" b="1" dirty="0">
                <a:solidFill>
                  <a:srgbClr val="0B3D62"/>
                </a:solidFill>
                <a:latin typeface="Calibri" pitchFamily="34" charset="0"/>
                <a:ea typeface="Calibri" pitchFamily="34" charset="-122"/>
                <a:cs typeface="Calibri" pitchFamily="34" charset="-120"/>
              </a:rPr>
              <a:t>"Life expectancy" is not a promise about any individual</a:t>
            </a:r>
            <a:endParaRPr lang="en-US" sz="1300" dirty="0"/>
          </a:p>
        </p:txBody>
      </p:sp>
      <p:sp>
        <p:nvSpPr>
          <p:cNvPr id="15" name="Text 13"/>
          <p:cNvSpPr/>
          <p:nvPr/>
        </p:nvSpPr>
        <p:spPr>
          <a:xfrm>
            <a:off x="731520" y="4709160"/>
            <a:ext cx="4952848" cy="1234440"/>
          </a:xfrm>
          <a:prstGeom prst="rect">
            <a:avLst/>
          </a:prstGeom>
          <a:noFill/>
          <a:ln/>
        </p:spPr>
        <p:txBody>
          <a:bodyPr wrap="square" lIns="0" tIns="0" rIns="0" bIns="0" rtlCol="0" anchor="t"/>
          <a:lstStyle/>
          <a:p>
            <a:pPr marL="0" indent="0">
              <a:lnSpc>
                <a:spcPct val="112000"/>
              </a:lnSpc>
              <a:buNone/>
            </a:pPr>
            <a:r>
              <a:rPr lang="en-US" sz="1080" dirty="0">
                <a:solidFill>
                  <a:srgbClr val="142433"/>
                </a:solidFill>
                <a:latin typeface="Calibri" pitchFamily="34" charset="0"/>
                <a:ea typeface="Calibri" pitchFamily="34" charset="-122"/>
                <a:cs typeface="Calibri" pitchFamily="34" charset="-120"/>
              </a:rPr>
              <a:t>ex is an average across the synthetic cohort. Half of that cohort, by construction, will live past ex and half will not — it says nothing about one specific person's fate.</a:t>
            </a:r>
            <a:endParaRPr lang="en-US" sz="1080" dirty="0"/>
          </a:p>
        </p:txBody>
      </p:sp>
      <p:sp>
        <p:nvSpPr>
          <p:cNvPr id="16" name="Shape 14"/>
          <p:cNvSpPr/>
          <p:nvPr/>
        </p:nvSpPr>
        <p:spPr>
          <a:xfrm>
            <a:off x="6233008" y="3931920"/>
            <a:ext cx="5501488" cy="2148840"/>
          </a:xfrm>
          <a:prstGeom prst="roundRect">
            <a:avLst>
              <a:gd name="adj" fmla="val 2979"/>
            </a:avLst>
          </a:prstGeom>
          <a:solidFill>
            <a:srgbClr val="E1EAF2"/>
          </a:solidFill>
          <a:ln w="9525">
            <a:solidFill>
              <a:srgbClr val="D3E0E9"/>
            </a:solidFill>
            <a:prstDash val="solid"/>
          </a:ln>
        </p:spPr>
      </p:sp>
      <p:sp>
        <p:nvSpPr>
          <p:cNvPr id="17" name="Text 15"/>
          <p:cNvSpPr/>
          <p:nvPr/>
        </p:nvSpPr>
        <p:spPr>
          <a:xfrm>
            <a:off x="6415888" y="4114800"/>
            <a:ext cx="457200" cy="457200"/>
          </a:xfrm>
          <a:prstGeom prst="rect">
            <a:avLst/>
          </a:prstGeom>
          <a:noFill/>
          <a:ln/>
        </p:spPr>
        <p:txBody>
          <a:bodyPr wrap="square" lIns="0" tIns="0" rIns="0" bIns="0" rtlCol="0" anchor="ctr"/>
          <a:lstStyle/>
          <a:p>
            <a:pPr marL="0" indent="0" algn="ctr">
              <a:buNone/>
            </a:pPr>
            <a:r>
              <a:rPr lang="en-US" sz="2000" b="1" dirty="0">
                <a:solidFill>
                  <a:srgbClr val="C0433A"/>
                </a:solidFill>
                <a:latin typeface="Calibri" pitchFamily="34" charset="0"/>
                <a:ea typeface="Calibri" pitchFamily="34" charset="-122"/>
                <a:cs typeface="Calibri" pitchFamily="34" charset="-120"/>
              </a:rPr>
              <a:t>✕</a:t>
            </a:r>
            <a:endParaRPr lang="en-US" sz="2000" dirty="0"/>
          </a:p>
        </p:txBody>
      </p:sp>
      <p:sp>
        <p:nvSpPr>
          <p:cNvPr id="18" name="Text 16"/>
          <p:cNvSpPr/>
          <p:nvPr/>
        </p:nvSpPr>
        <p:spPr>
          <a:xfrm>
            <a:off x="6918808" y="4114800"/>
            <a:ext cx="4587088" cy="548640"/>
          </a:xfrm>
          <a:prstGeom prst="rect">
            <a:avLst/>
          </a:prstGeom>
          <a:noFill/>
          <a:ln/>
        </p:spPr>
        <p:txBody>
          <a:bodyPr wrap="square" lIns="0" tIns="0" rIns="0" bIns="0" rtlCol="0" anchor="t"/>
          <a:lstStyle/>
          <a:p>
            <a:pPr marL="0" indent="0">
              <a:buNone/>
            </a:pPr>
            <a:r>
              <a:rPr lang="en-US" sz="1300" b="1" dirty="0">
                <a:solidFill>
                  <a:srgbClr val="0B3D62"/>
                </a:solidFill>
                <a:latin typeface="Calibri" pitchFamily="34" charset="0"/>
                <a:ea typeface="Calibri" pitchFamily="34" charset="-122"/>
                <a:cs typeface="Calibri" pitchFamily="34" charset="-120"/>
              </a:rPr>
              <a:t>A higher e0 does not always mean lower infant mortality</a:t>
            </a:r>
            <a:endParaRPr lang="en-US" sz="1300" dirty="0"/>
          </a:p>
        </p:txBody>
      </p:sp>
      <p:sp>
        <p:nvSpPr>
          <p:cNvPr id="19" name="Text 17"/>
          <p:cNvSpPr/>
          <p:nvPr/>
        </p:nvSpPr>
        <p:spPr>
          <a:xfrm>
            <a:off x="6507328" y="4709160"/>
            <a:ext cx="4952848" cy="1234440"/>
          </a:xfrm>
          <a:prstGeom prst="rect">
            <a:avLst/>
          </a:prstGeom>
          <a:noFill/>
          <a:ln/>
        </p:spPr>
        <p:txBody>
          <a:bodyPr wrap="square" lIns="0" tIns="0" rIns="0" bIns="0" rtlCol="0" anchor="t"/>
          <a:lstStyle/>
          <a:p>
            <a:pPr marL="0" indent="0">
              <a:lnSpc>
                <a:spcPct val="112000"/>
              </a:lnSpc>
              <a:buNone/>
            </a:pPr>
            <a:r>
              <a:rPr lang="en-US" sz="1080" dirty="0">
                <a:solidFill>
                  <a:srgbClr val="142433"/>
                </a:solidFill>
                <a:latin typeface="Calibri" pitchFamily="34" charset="0"/>
                <a:ea typeface="Calibri" pitchFamily="34" charset="-122"/>
                <a:cs typeface="Calibri" pitchFamily="34" charset="-120"/>
              </a:rPr>
              <a:t>Two populations can share similar e0 with very different age patterns of death — one driven by high infant mortality, another by high old-age mortality. Always inspect the full nqx / ex-by-age profile, not just e0.</a:t>
            </a:r>
            <a:endParaRPr lang="en-US" sz="1080" dirty="0"/>
          </a:p>
        </p:txBody>
      </p:sp>
      <p:sp>
        <p:nvSpPr>
          <p:cNvPr id="20" name="Text 18"/>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21" name="Text 19"/>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30 / 80</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07213A"/>
        </a:solidFill>
        <a:effectLst/>
      </p:bgPr>
    </p:bg>
    <p:spTree>
      <p:nvGrpSpPr>
        <p:cNvPr id="1" name=""/>
        <p:cNvGrpSpPr/>
        <p:nvPr/>
      </p:nvGrpSpPr>
      <p:grpSpPr>
        <a:xfrm>
          <a:off x="0" y="0"/>
          <a:ext cx="0" cy="0"/>
          <a:chOff x="0" y="0"/>
          <a:chExt cx="0" cy="0"/>
        </a:xfrm>
      </p:grpSpPr>
      <p:sp>
        <p:nvSpPr>
          <p:cNvPr id="3" name="Text 1"/>
          <p:cNvSpPr/>
          <p:nvPr/>
        </p:nvSpPr>
        <p:spPr>
          <a:xfrm>
            <a:off x="457200" y="2286000"/>
            <a:ext cx="10058400" cy="365760"/>
          </a:xfrm>
          <a:prstGeom prst="rect">
            <a:avLst/>
          </a:prstGeom>
          <a:noFill/>
          <a:ln/>
        </p:spPr>
        <p:txBody>
          <a:bodyPr wrap="square" lIns="0" tIns="0" rIns="0" bIns="0" rtlCol="0" anchor="ctr"/>
          <a:lstStyle/>
          <a:p>
            <a:pPr marL="0" indent="0">
              <a:buNone/>
            </a:pPr>
            <a:r>
              <a:rPr lang="en-US" sz="1400" b="1" kern="0" spc="200" dirty="0">
                <a:solidFill>
                  <a:srgbClr val="E8A33D"/>
                </a:solidFill>
                <a:latin typeface="Calibri" pitchFamily="34" charset="0"/>
                <a:ea typeface="Calibri" pitchFamily="34" charset="-122"/>
                <a:cs typeface="Calibri" pitchFamily="34" charset="-120"/>
              </a:rPr>
              <a:t>BLOCK 2</a:t>
            </a:r>
            <a:endParaRPr lang="en-US" sz="1400" dirty="0"/>
          </a:p>
        </p:txBody>
      </p:sp>
      <p:sp>
        <p:nvSpPr>
          <p:cNvPr id="4" name="Text 2"/>
          <p:cNvSpPr/>
          <p:nvPr/>
        </p:nvSpPr>
        <p:spPr>
          <a:xfrm>
            <a:off x="457200" y="2697480"/>
            <a:ext cx="10789920" cy="1554480"/>
          </a:xfrm>
          <a:prstGeom prst="rect">
            <a:avLst/>
          </a:prstGeom>
          <a:noFill/>
          <a:ln/>
        </p:spPr>
        <p:txBody>
          <a:bodyPr wrap="square" lIns="0" tIns="0" rIns="0" bIns="0" rtlCol="0" anchor="ctr"/>
          <a:lstStyle/>
          <a:p>
            <a:pPr marL="0" indent="0">
              <a:lnSpc>
                <a:spcPct val="105000"/>
              </a:lnSpc>
              <a:buNone/>
            </a:pPr>
            <a:r>
              <a:rPr lang="en-US" sz="3400" b="1" dirty="0">
                <a:solidFill>
                  <a:srgbClr val="FFFFFF"/>
                </a:solidFill>
                <a:latin typeface="Cambria" pitchFamily="34" charset="0"/>
                <a:ea typeface="Cambria" pitchFamily="34" charset="-122"/>
                <a:cs typeface="Cambria" pitchFamily="34" charset="-120"/>
              </a:rPr>
              <a:t>Worked Examples: Building Life Tables Step by Step</a:t>
            </a:r>
            <a:endParaRPr lang="en-US" sz="3400" dirty="0"/>
          </a:p>
        </p:txBody>
      </p:sp>
      <p:sp>
        <p:nvSpPr>
          <p:cNvPr id="5" name="Text 3"/>
          <p:cNvSpPr/>
          <p:nvPr/>
        </p:nvSpPr>
        <p:spPr>
          <a:xfrm>
            <a:off x="457200" y="4023360"/>
            <a:ext cx="9601200" cy="914400"/>
          </a:xfrm>
          <a:prstGeom prst="rect">
            <a:avLst/>
          </a:prstGeom>
          <a:noFill/>
          <a:ln/>
        </p:spPr>
        <p:txBody>
          <a:bodyPr wrap="square" lIns="0" tIns="0" rIns="0" bIns="0" rtlCol="0" anchor="t"/>
          <a:lstStyle/>
          <a:p>
            <a:pPr marL="0" indent="0">
              <a:buNone/>
            </a:pPr>
            <a:r>
              <a:rPr lang="en-US" sz="1500" i="1" dirty="0">
                <a:solidFill>
                  <a:srgbClr val="B9CEE0"/>
                </a:solidFill>
                <a:latin typeface="Calibri" pitchFamily="34" charset="0"/>
                <a:ea typeface="Calibri" pitchFamily="34" charset="-122"/>
                <a:cs typeface="Calibri" pitchFamily="34" charset="-120"/>
              </a:rPr>
              <a:t>Two small, fully worked abridged life tables — one low-mortality, one high-mortality — from raw age-specific death rates through to life expectancy.</a:t>
            </a:r>
            <a:endParaRPr lang="en-US" sz="1500" dirty="0"/>
          </a:p>
        </p:txBody>
      </p:sp>
      <p:sp>
        <p:nvSpPr>
          <p:cNvPr id="6" name="Text 4"/>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7" name="Text 5"/>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44 / 80</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CHEAT SHEET</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The Seven Core Formulas at a Glance</a:t>
            </a:r>
            <a:endParaRPr lang="en-US" sz="2700" dirty="0"/>
          </a:p>
        </p:txBody>
      </p:sp>
      <p:graphicFrame>
        <p:nvGraphicFramePr>
          <p:cNvPr id="28" name="Table 0"/>
          <p:cNvGraphicFramePr>
            <a:graphicFrameLocks noGrp="1"/>
          </p:cNvGraphicFramePr>
          <p:nvPr>
            <p:extLst>
              <p:ext uri="{D42A27DB-BD31-4B8C-83A1-F6EECF244321}">
                <p14:modId xmlns:p14="http://schemas.microsoft.com/office/powerpoint/2010/main" val="987641589"/>
              </p:ext>
            </p:extLst>
          </p:nvPr>
        </p:nvGraphicFramePr>
        <p:xfrm>
          <a:off x="457200" y="1536192"/>
          <a:ext cx="11274552" cy="4500000"/>
        </p:xfrm>
        <a:graphic>
          <a:graphicData uri="http://schemas.openxmlformats.org/drawingml/2006/table">
            <a:tbl>
              <a:tblPr/>
              <a:tblGrid>
                <a:gridCol w="29260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5239512">
                  <a:extLst>
                    <a:ext uri="{9D8B030D-6E8A-4147-A177-3AD203B41FA5}">
                      <a16:colId xmlns:a16="http://schemas.microsoft.com/office/drawing/2014/main" val="20002"/>
                    </a:ext>
                  </a:extLst>
                </a:gridCol>
              </a:tblGrid>
              <a:tr h="562500">
                <a:tc>
                  <a:txBody>
                    <a:bodyPr/>
                    <a:lstStyle/>
                    <a:p>
                      <a:r>
                        <a:rPr sz="1400" b="1">
                          <a:solidFill>
                            <a:srgbClr val="FFFFFF"/>
                          </a:solidFill>
                        </a:rPr>
                        <a:t>Column</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tc>
                  <a:txBody>
                    <a:bodyPr/>
                    <a:lstStyle/>
                    <a:p>
                      <a:r>
                        <a:rPr sz="1400" b="1">
                          <a:solidFill>
                            <a:srgbClr val="FFFFFF"/>
                          </a:solidFill>
                        </a:rPr>
                        <a:t>Formula</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tc>
                  <a:txBody>
                    <a:bodyPr/>
                    <a:lstStyle/>
                    <a:p>
                      <a:r>
                        <a:rPr sz="1400" b="1">
                          <a:solidFill>
                            <a:srgbClr val="FFFFFF"/>
                          </a:solidFill>
                        </a:rPr>
                        <a:t>One-line meaning</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extLst>
                  <a:ext uri="{0D108BD9-81ED-4DB2-BD59-A6C34878D82A}">
                    <a16:rowId xmlns:a16="http://schemas.microsoft.com/office/drawing/2014/main" val="10000"/>
                  </a:ext>
                </a:extLst>
              </a:tr>
              <a:tr h="562500">
                <a:tc>
                  <a:txBody>
                    <a:bodyPr/>
                    <a:lstStyle/>
                    <a:p>
                      <a:r>
                        <a:rPr sz="1400" dirty="0" err="1"/>
                        <a:t>nMx</a:t>
                      </a:r>
                      <a:endParaRPr sz="1400" dirty="0"/>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BEAEA"/>
                    </a:solidFill>
                  </a:tcPr>
                </a:tc>
                <a:tc>
                  <a:txBody>
                    <a:bodyPr/>
                    <a:lstStyle/>
                    <a:p>
                      <a:r>
                        <a:rPr sz="1400"/>
                        <a:t>nDx / nNx</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BEAEA"/>
                    </a:solidFill>
                  </a:tcPr>
                </a:tc>
                <a:tc>
                  <a:txBody>
                    <a:bodyPr/>
                    <a:lstStyle/>
                    <a:p>
                      <a:r>
                        <a:rPr sz="1400"/>
                        <a:t>Observed age-specific death rate — your raw input.</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BEAEA"/>
                    </a:solidFill>
                  </a:tcPr>
                </a:tc>
                <a:extLst>
                  <a:ext uri="{0D108BD9-81ED-4DB2-BD59-A6C34878D82A}">
                    <a16:rowId xmlns:a16="http://schemas.microsoft.com/office/drawing/2014/main" val="10001"/>
                  </a:ext>
                </a:extLst>
              </a:tr>
              <a:tr h="562500">
                <a:tc>
                  <a:txBody>
                    <a:bodyPr/>
                    <a:lstStyle/>
                    <a:p>
                      <a:r>
                        <a:rPr sz="1400"/>
                        <a:t>nqx</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tc>
                  <a:txBody>
                    <a:bodyPr/>
                    <a:lstStyle/>
                    <a:p>
                      <a:r>
                        <a:rPr sz="1400"/>
                        <a:t>(n·nMx) / (1+(n−nax)·nMx)</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tc>
                  <a:txBody>
                    <a:bodyPr/>
                    <a:lstStyle/>
                    <a:p>
                      <a:r>
                        <a:rPr sz="1400"/>
                        <a:t>Probability of dying in the interval, given the rate.</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extLst>
                  <a:ext uri="{0D108BD9-81ED-4DB2-BD59-A6C34878D82A}">
                    <a16:rowId xmlns:a16="http://schemas.microsoft.com/office/drawing/2014/main" val="10002"/>
                  </a:ext>
                </a:extLst>
              </a:tr>
              <a:tr h="562500">
                <a:tc>
                  <a:txBody>
                    <a:bodyPr/>
                    <a:lstStyle/>
                    <a:p>
                      <a:r>
                        <a:rPr sz="1400"/>
                        <a:t>lx</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1EAF2"/>
                    </a:solidFill>
                  </a:tcPr>
                </a:tc>
                <a:tc>
                  <a:txBody>
                    <a:bodyPr/>
                    <a:lstStyle/>
                    <a:p>
                      <a:r>
                        <a:rPr sz="1400"/>
                        <a:t>l0=100,000; lx+n = lx·(1−nqx)</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1EAF2"/>
                    </a:solidFill>
                  </a:tcPr>
                </a:tc>
                <a:tc>
                  <a:txBody>
                    <a:bodyPr/>
                    <a:lstStyle/>
                    <a:p>
                      <a:r>
                        <a:rPr sz="1400"/>
                        <a:t>Survivors to exact age x — recursive.</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1EAF2"/>
                    </a:solidFill>
                  </a:tcPr>
                </a:tc>
                <a:extLst>
                  <a:ext uri="{0D108BD9-81ED-4DB2-BD59-A6C34878D82A}">
                    <a16:rowId xmlns:a16="http://schemas.microsoft.com/office/drawing/2014/main" val="10003"/>
                  </a:ext>
                </a:extLst>
              </a:tr>
              <a:tr h="562500">
                <a:tc>
                  <a:txBody>
                    <a:bodyPr/>
                    <a:lstStyle/>
                    <a:p>
                      <a:r>
                        <a:rPr sz="1400"/>
                        <a:t>ndx</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tc>
                  <a:txBody>
                    <a:bodyPr/>
                    <a:lstStyle/>
                    <a:p>
                      <a:r>
                        <a:rPr sz="1400"/>
                        <a:t>lx − lx+n = lx·nqx</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tc>
                  <a:txBody>
                    <a:bodyPr/>
                    <a:lstStyle/>
                    <a:p>
                      <a:r>
                        <a:rPr sz="1400"/>
                        <a:t>Deaths among the synthetic cohort in the interval.</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extLst>
                  <a:ext uri="{0D108BD9-81ED-4DB2-BD59-A6C34878D82A}">
                    <a16:rowId xmlns:a16="http://schemas.microsoft.com/office/drawing/2014/main" val="10004"/>
                  </a:ext>
                </a:extLst>
              </a:tr>
              <a:tr h="562500">
                <a:tc>
                  <a:txBody>
                    <a:bodyPr/>
                    <a:lstStyle/>
                    <a:p>
                      <a:r>
                        <a:rPr sz="1400"/>
                        <a:t>nLx</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tc>
                  <a:txBody>
                    <a:bodyPr/>
                    <a:lstStyle/>
                    <a:p>
                      <a:r>
                        <a:rPr sz="1400"/>
                        <a:t>n·lx+n + nax·ndx  (open: lω/Mω)</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tc>
                  <a:txBody>
                    <a:bodyPr/>
                    <a:lstStyle/>
                    <a:p>
                      <a:r>
                        <a:rPr sz="1400"/>
                        <a:t>Person-years lived in the interval.</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extLst>
                  <a:ext uri="{0D108BD9-81ED-4DB2-BD59-A6C34878D82A}">
                    <a16:rowId xmlns:a16="http://schemas.microsoft.com/office/drawing/2014/main" val="3432720618"/>
                  </a:ext>
                </a:extLst>
              </a:tr>
              <a:tr h="562500">
                <a:tc>
                  <a:txBody>
                    <a:bodyPr/>
                    <a:lstStyle/>
                    <a:p>
                      <a:r>
                        <a:rPr sz="1400"/>
                        <a:t>Tx</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tc>
                  <a:txBody>
                    <a:bodyPr/>
                    <a:lstStyle/>
                    <a:p>
                      <a:r>
                        <a:rPr sz="1400"/>
                        <a:t>Σ nLy for all y ≥ x (bottom-up)</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tc>
                  <a:txBody>
                    <a:bodyPr/>
                    <a:lstStyle/>
                    <a:p>
                      <a:r>
                        <a:rPr sz="1400"/>
                        <a:t>Total person-years remaining, all survivors.</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extLst>
                  <a:ext uri="{0D108BD9-81ED-4DB2-BD59-A6C34878D82A}">
                    <a16:rowId xmlns:a16="http://schemas.microsoft.com/office/drawing/2014/main" val="790361918"/>
                  </a:ext>
                </a:extLst>
              </a:tr>
              <a:tr h="562500">
                <a:tc>
                  <a:txBody>
                    <a:bodyPr/>
                    <a:lstStyle/>
                    <a:p>
                      <a:r>
                        <a:rPr sz="1400" dirty="0"/>
                        <a:t>ex</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tc>
                  <a:txBody>
                    <a:bodyPr/>
                    <a:lstStyle/>
                    <a:p>
                      <a:r>
                        <a:rPr sz="1400"/>
                        <a:t>Tx / lx</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tc>
                  <a:txBody>
                    <a:bodyPr/>
                    <a:lstStyle/>
                    <a:p>
                      <a:r>
                        <a:rPr sz="1400" dirty="0"/>
                        <a:t>Life expectancy at exact age x.</a:t>
                      </a: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extLst>
                  <a:ext uri="{0D108BD9-81ED-4DB2-BD59-A6C34878D82A}">
                    <a16:rowId xmlns:a16="http://schemas.microsoft.com/office/drawing/2014/main" val="2947756244"/>
                  </a:ext>
                </a:extLst>
              </a:tr>
            </a:tbl>
          </a:graphicData>
        </a:graphic>
      </p:graphicFrame>
      <p:sp>
        <p:nvSpPr>
          <p:cNvPr id="5" name="Text 2"/>
          <p:cNvSpPr/>
          <p:nvPr/>
        </p:nvSpPr>
        <p:spPr>
          <a:xfrm>
            <a:off x="457200" y="6263640"/>
            <a:ext cx="11277295" cy="420624"/>
          </a:xfrm>
          <a:prstGeom prst="rect">
            <a:avLst/>
          </a:prstGeom>
          <a:noFill/>
          <a:ln/>
        </p:spPr>
        <p:txBody>
          <a:bodyPr wrap="square" lIns="0" tIns="0" rIns="0" bIns="0" rtlCol="0" anchor="t"/>
          <a:lstStyle/>
          <a:p>
            <a:pPr marL="0" indent="0" algn="l">
              <a:buNone/>
            </a:pPr>
            <a:r>
              <a:rPr lang="en-US" sz="800" i="1" dirty="0">
                <a:solidFill>
                  <a:srgbClr val="5B6B79"/>
                </a:solidFill>
                <a:latin typeface="Calibri" pitchFamily="34" charset="0"/>
                <a:ea typeface="Calibri" pitchFamily="34" charset="-122"/>
                <a:cs typeface="Calibri" pitchFamily="34" charset="-120"/>
              </a:rPr>
              <a:t>Keep this slide open while you work through Worked Examples 1 and 2 on the next slides.</a:t>
            </a:r>
            <a:endParaRPr lang="en-US" sz="800" dirty="0"/>
          </a:p>
        </p:txBody>
      </p:sp>
      <p:sp>
        <p:nvSpPr>
          <p:cNvPr id="6" name="Text 3"/>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7" name="Text 4"/>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45 / 80</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WORKED EXAMPLE 1 · SETUP (ILLUSTRATIVE COHORT A)</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Step 0 — The Raw Input Data</a:t>
            </a:r>
            <a:endParaRPr lang="en-US" sz="2700" dirty="0"/>
          </a:p>
        </p:txBody>
      </p:sp>
      <p:graphicFrame>
        <p:nvGraphicFramePr>
          <p:cNvPr id="32" name="Table 0"/>
          <p:cNvGraphicFramePr>
            <a:graphicFrameLocks noGrp="1"/>
          </p:cNvGraphicFramePr>
          <p:nvPr>
            <p:extLst>
              <p:ext uri="{D42A27DB-BD31-4B8C-83A1-F6EECF244321}">
                <p14:modId xmlns:p14="http://schemas.microsoft.com/office/powerpoint/2010/main" val="3429572737"/>
              </p:ext>
            </p:extLst>
          </p:nvPr>
        </p:nvGraphicFramePr>
        <p:xfrm>
          <a:off x="457200" y="1554480"/>
          <a:ext cx="7315200" cy="3520440"/>
        </p:xfrm>
        <a:graphic>
          <a:graphicData uri="http://schemas.openxmlformats.org/drawingml/2006/table">
            <a:tbl>
              <a:tblPr/>
              <a:tblGrid>
                <a:gridCol w="20116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502920">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Age interval</a:t>
                      </a:r>
                      <a:endParaRPr lang="en-US" sz="18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n</a:t>
                      </a:r>
                      <a:endParaRPr lang="en-US" sz="18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nMx (rate)</a:t>
                      </a:r>
                      <a:endParaRPr lang="en-US" sz="18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nax</a:t>
                      </a:r>
                      <a:endParaRPr lang="en-US" sz="18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extLst>
                  <a:ext uri="{0D108BD9-81ED-4DB2-BD59-A6C34878D82A}">
                    <a16:rowId xmlns:a16="http://schemas.microsoft.com/office/drawing/2014/main" val="10000"/>
                  </a:ext>
                </a:extLst>
              </a:tr>
              <a:tr h="502920">
                <a:tc>
                  <a:txBody>
                    <a:bodyPr/>
                    <a:lstStyle/>
                    <a:p>
                      <a:pPr marL="0" indent="0" algn="l">
                        <a:buNone/>
                      </a:pPr>
                      <a:r>
                        <a:rPr lang="en-US" sz="1800" dirty="0">
                          <a:solidFill>
                            <a:srgbClr val="142433"/>
                          </a:solidFill>
                          <a:latin typeface="Calibri" pitchFamily="34" charset="0"/>
                          <a:ea typeface="Calibri" pitchFamily="34" charset="-122"/>
                          <a:cs typeface="Calibri" pitchFamily="34" charset="-120"/>
                        </a:rPr>
                        <a:t>0–1</a:t>
                      </a:r>
                      <a:endParaRPr lang="en-US" sz="18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42433"/>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42433"/>
                          </a:solidFill>
                          <a:latin typeface="Calibri" pitchFamily="34" charset="0"/>
                          <a:ea typeface="Calibri" pitchFamily="34" charset="-122"/>
                          <a:cs typeface="Calibri" pitchFamily="34" charset="-120"/>
                        </a:rPr>
                        <a:t>0.0200</a:t>
                      </a:r>
                      <a:endParaRPr lang="en-US" sz="18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42433"/>
                          </a:solidFill>
                          <a:latin typeface="Calibri" pitchFamily="34" charset="0"/>
                          <a:ea typeface="Calibri" pitchFamily="34" charset="-122"/>
                          <a:cs typeface="Calibri" pitchFamily="34" charset="-120"/>
                        </a:rPr>
                        <a:t>0.30</a:t>
                      </a:r>
                      <a:endParaRPr lang="en-US" sz="18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800" dirty="0">
                          <a:solidFill>
                            <a:srgbClr val="142433"/>
                          </a:solidFill>
                          <a:latin typeface="Calibri" pitchFamily="34" charset="0"/>
                          <a:ea typeface="Calibri" pitchFamily="34" charset="-122"/>
                          <a:cs typeface="Calibri" pitchFamily="34" charset="-120"/>
                        </a:rPr>
                        <a:t>1–4</a:t>
                      </a:r>
                      <a:endParaRPr lang="en-US" sz="18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42433"/>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42433"/>
                          </a:solidFill>
                          <a:latin typeface="Calibri" pitchFamily="34" charset="0"/>
                          <a:ea typeface="Calibri" pitchFamily="34" charset="-122"/>
                          <a:cs typeface="Calibri" pitchFamily="34" charset="-120"/>
                        </a:rPr>
                        <a:t>0.0015</a:t>
                      </a:r>
                      <a:endParaRPr lang="en-US" sz="18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42433"/>
                          </a:solidFill>
                          <a:latin typeface="Calibri" pitchFamily="34" charset="0"/>
                          <a:ea typeface="Calibri" pitchFamily="34" charset="-122"/>
                          <a:cs typeface="Calibri" pitchFamily="34" charset="-120"/>
                        </a:rPr>
                        <a:t>1.50</a:t>
                      </a:r>
                      <a:endParaRPr lang="en-US" sz="18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l">
                        <a:buNone/>
                      </a:pPr>
                      <a:r>
                        <a:rPr lang="en-US" sz="1800" dirty="0">
                          <a:solidFill>
                            <a:srgbClr val="142433"/>
                          </a:solidFill>
                          <a:latin typeface="Calibri" pitchFamily="34" charset="0"/>
                          <a:ea typeface="Calibri" pitchFamily="34" charset="-122"/>
                          <a:cs typeface="Calibri" pitchFamily="34" charset="-120"/>
                        </a:rPr>
                        <a:t>5–9</a:t>
                      </a:r>
                      <a:endParaRPr lang="en-US" sz="18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42433"/>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42433"/>
                          </a:solidFill>
                          <a:latin typeface="Calibri" pitchFamily="34" charset="0"/>
                          <a:ea typeface="Calibri" pitchFamily="34" charset="-122"/>
                          <a:cs typeface="Calibri" pitchFamily="34" charset="-120"/>
                        </a:rPr>
                        <a:t>0.0008</a:t>
                      </a:r>
                      <a:endParaRPr lang="en-US" sz="18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42433"/>
                          </a:solidFill>
                          <a:latin typeface="Calibri" pitchFamily="34" charset="0"/>
                          <a:ea typeface="Calibri" pitchFamily="34" charset="-122"/>
                          <a:cs typeface="Calibri" pitchFamily="34" charset="-120"/>
                        </a:rPr>
                        <a:t>2.50</a:t>
                      </a:r>
                      <a:endParaRPr lang="en-US" sz="18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800" dirty="0">
                          <a:solidFill>
                            <a:srgbClr val="142433"/>
                          </a:solidFill>
                          <a:latin typeface="Calibri" pitchFamily="34" charset="0"/>
                          <a:ea typeface="Calibri" pitchFamily="34" charset="-122"/>
                          <a:cs typeface="Calibri" pitchFamily="34" charset="-120"/>
                        </a:rPr>
                        <a:t>10–14</a:t>
                      </a:r>
                      <a:endParaRPr lang="en-US" sz="18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42433"/>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42433"/>
                          </a:solidFill>
                          <a:latin typeface="Calibri" pitchFamily="34" charset="0"/>
                          <a:ea typeface="Calibri" pitchFamily="34" charset="-122"/>
                          <a:cs typeface="Calibri" pitchFamily="34" charset="-120"/>
                        </a:rPr>
                        <a:t>0.0007</a:t>
                      </a:r>
                      <a:endParaRPr lang="en-US" sz="18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42433"/>
                          </a:solidFill>
                          <a:latin typeface="Calibri" pitchFamily="34" charset="0"/>
                          <a:ea typeface="Calibri" pitchFamily="34" charset="-122"/>
                          <a:cs typeface="Calibri" pitchFamily="34" charset="-120"/>
                        </a:rPr>
                        <a:t>2.50</a:t>
                      </a:r>
                      <a:endParaRPr lang="en-US" sz="18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lgn="l">
                        <a:buNone/>
                      </a:pPr>
                      <a:r>
                        <a:rPr lang="en-US" sz="1800" dirty="0">
                          <a:solidFill>
                            <a:srgbClr val="142433"/>
                          </a:solidFill>
                          <a:latin typeface="Calibri" pitchFamily="34" charset="0"/>
                          <a:ea typeface="Calibri" pitchFamily="34" charset="-122"/>
                          <a:cs typeface="Calibri" pitchFamily="34" charset="-120"/>
                        </a:rPr>
                        <a:t>15–19</a:t>
                      </a:r>
                      <a:endParaRPr lang="en-US" sz="18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42433"/>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42433"/>
                          </a:solidFill>
                          <a:latin typeface="Calibri" pitchFamily="34" charset="0"/>
                          <a:ea typeface="Calibri" pitchFamily="34" charset="-122"/>
                          <a:cs typeface="Calibri" pitchFamily="34" charset="-120"/>
                        </a:rPr>
                        <a:t>0.0012</a:t>
                      </a:r>
                      <a:endParaRPr lang="en-US" sz="18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42433"/>
                          </a:solidFill>
                          <a:latin typeface="Calibri" pitchFamily="34" charset="0"/>
                          <a:ea typeface="Calibri" pitchFamily="34" charset="-122"/>
                          <a:cs typeface="Calibri" pitchFamily="34" charset="-120"/>
                        </a:rPr>
                        <a:t>2.50</a:t>
                      </a:r>
                      <a:endParaRPr lang="en-US" sz="18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l">
                        <a:buNone/>
                      </a:pPr>
                      <a:r>
                        <a:rPr lang="en-US" sz="1800" dirty="0">
                          <a:solidFill>
                            <a:srgbClr val="142433"/>
                          </a:solidFill>
                          <a:latin typeface="Calibri" pitchFamily="34" charset="0"/>
                          <a:ea typeface="Calibri" pitchFamily="34" charset="-122"/>
                          <a:cs typeface="Calibri" pitchFamily="34" charset="-120"/>
                        </a:rPr>
                        <a:t>20+ (open)</a:t>
                      </a:r>
                      <a:endParaRPr lang="en-US" sz="18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4243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42433"/>
                          </a:solidFill>
                          <a:latin typeface="Calibri" pitchFamily="34" charset="0"/>
                          <a:ea typeface="Calibri" pitchFamily="34" charset="-122"/>
                          <a:cs typeface="Calibri" pitchFamily="34" charset="-120"/>
                        </a:rPr>
                        <a:t>0.0200</a:t>
                      </a:r>
                      <a:endParaRPr lang="en-US" sz="18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4243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Shape 2"/>
          <p:cNvSpPr/>
          <p:nvPr/>
        </p:nvSpPr>
        <p:spPr>
          <a:xfrm>
            <a:off x="8229600" y="1554480"/>
            <a:ext cx="3502152" cy="3520440"/>
          </a:xfrm>
          <a:prstGeom prst="roundRect">
            <a:avLst>
              <a:gd name="adj" fmla="val 1828"/>
            </a:avLst>
          </a:prstGeom>
          <a:solidFill>
            <a:srgbClr val="EEF3F8"/>
          </a:solidFill>
          <a:ln w="9525">
            <a:solidFill>
              <a:srgbClr val="D3E0E9"/>
            </a:solidFill>
            <a:prstDash val="solid"/>
          </a:ln>
        </p:spPr>
        <p:txBody>
          <a:bodyPr/>
          <a:lstStyle/>
          <a:p>
            <a:endParaRPr/>
          </a:p>
        </p:txBody>
      </p:sp>
      <p:sp>
        <p:nvSpPr>
          <p:cNvPr id="6" name="Text 3"/>
          <p:cNvSpPr/>
          <p:nvPr/>
        </p:nvSpPr>
        <p:spPr>
          <a:xfrm>
            <a:off x="8458200" y="1737360"/>
            <a:ext cx="3063240" cy="3108960"/>
          </a:xfrm>
          <a:prstGeom prst="rect">
            <a:avLst/>
          </a:prstGeom>
          <a:noFill/>
          <a:ln/>
        </p:spPr>
        <p:txBody>
          <a:bodyPr wrap="square" lIns="0" tIns="0" rIns="0" bIns="0" rtlCol="0" anchor="t"/>
          <a:lstStyle/>
          <a:p>
            <a:pPr marL="0" indent="0">
              <a:lnSpc>
                <a:spcPct val="125000"/>
              </a:lnSpc>
              <a:buNone/>
            </a:pPr>
            <a:r>
              <a:rPr lang="en-US" sz="1250" dirty="0">
                <a:solidFill>
                  <a:srgbClr val="142433"/>
                </a:solidFill>
                <a:latin typeface="Calibri" pitchFamily="34" charset="0"/>
                <a:ea typeface="Calibri" pitchFamily="34" charset="-122"/>
                <a:cs typeface="Calibri" pitchFamily="34" charset="-120"/>
              </a:rPr>
              <a:t>Illustrative hypothetical cohort A (not a real country) chosen so the arithmetic is easy to follow. nax uses the standard convenience values discussed on Slide 26. We will now compute every column live.</a:t>
            </a:r>
            <a:endParaRPr lang="en-US" sz="1250" dirty="0"/>
          </a:p>
        </p:txBody>
      </p:sp>
      <p:sp>
        <p:nvSpPr>
          <p:cNvPr id="7" name="Text 4"/>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8" name="Text 5"/>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46 / 80</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WORKED EXAMPLE 1 · CALCULATION</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Steps 1–2 — Compute nqx, Then lx</a:t>
            </a:r>
            <a:endParaRPr lang="en-US" sz="2700" dirty="0"/>
          </a:p>
        </p:txBody>
      </p:sp>
      <p:graphicFrame>
        <p:nvGraphicFramePr>
          <p:cNvPr id="33" name="Table 0"/>
          <p:cNvGraphicFramePr>
            <a:graphicFrameLocks noGrp="1"/>
          </p:cNvGraphicFramePr>
          <p:nvPr>
            <p:extLst>
              <p:ext uri="{D42A27DB-BD31-4B8C-83A1-F6EECF244321}">
                <p14:modId xmlns:p14="http://schemas.microsoft.com/office/powerpoint/2010/main" val="3641031558"/>
              </p:ext>
            </p:extLst>
          </p:nvPr>
        </p:nvGraphicFramePr>
        <p:xfrm>
          <a:off x="457200" y="1536192"/>
          <a:ext cx="10360152" cy="3968496"/>
        </p:xfrm>
        <a:graphic>
          <a:graphicData uri="http://schemas.openxmlformats.org/drawingml/2006/table">
            <a:tbl>
              <a:tblPr/>
              <a:tblGrid>
                <a:gridCol w="1554480">
                  <a:extLst>
                    <a:ext uri="{9D8B030D-6E8A-4147-A177-3AD203B41FA5}">
                      <a16:colId xmlns:a16="http://schemas.microsoft.com/office/drawing/2014/main" val="20000"/>
                    </a:ext>
                  </a:extLst>
                </a:gridCol>
                <a:gridCol w="6976872">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566928">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Age</a:t>
                      </a:r>
                      <a:endParaRPr lang="en-US" sz="16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nqx = n·nMx / (1+(n−nax)·nMx)</a:t>
                      </a:r>
                      <a:endParaRPr lang="en-US" sz="16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lx</a:t>
                      </a:r>
                      <a:endParaRPr lang="en-US" sz="16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extLst>
                  <a:ext uri="{0D108BD9-81ED-4DB2-BD59-A6C34878D82A}">
                    <a16:rowId xmlns:a16="http://schemas.microsoft.com/office/drawing/2014/main" val="10000"/>
                  </a:ext>
                </a:extLst>
              </a:tr>
              <a:tr h="566928">
                <a:tc>
                  <a:txBody>
                    <a:bodyPr/>
                    <a:lstStyle/>
                    <a:p>
                      <a:pPr marL="0" indent="0" algn="l">
                        <a:buNone/>
                      </a:pPr>
                      <a:r>
                        <a:rPr lang="en-US" sz="1600" dirty="0">
                          <a:solidFill>
                            <a:srgbClr val="142433"/>
                          </a:solidFill>
                          <a:latin typeface="Calibri" pitchFamily="34" charset="0"/>
                          <a:ea typeface="Calibri" pitchFamily="34" charset="-122"/>
                          <a:cs typeface="Calibri" pitchFamily="34" charset="-120"/>
                        </a:rPr>
                        <a:t>0–1</a:t>
                      </a:r>
                      <a:endParaRPr lang="en-US" sz="16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42433"/>
                          </a:solidFill>
                          <a:latin typeface="Calibri" pitchFamily="34" charset="0"/>
                          <a:ea typeface="Calibri" pitchFamily="34" charset="-122"/>
                          <a:cs typeface="Calibri" pitchFamily="34" charset="-120"/>
                        </a:rPr>
                        <a:t>(1×0.0200)/(1+0.70×0.0200) = 0.0197</a:t>
                      </a:r>
                      <a:endParaRPr lang="en-US" sz="16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42433"/>
                          </a:solidFill>
                          <a:latin typeface="Calibri" pitchFamily="34" charset="0"/>
                          <a:ea typeface="Calibri" pitchFamily="34" charset="-122"/>
                          <a:cs typeface="Calibri" pitchFamily="34" charset="-120"/>
                        </a:rPr>
                        <a:t>100,000</a:t>
                      </a:r>
                      <a:endParaRPr lang="en-US" sz="16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600" dirty="0">
                          <a:solidFill>
                            <a:srgbClr val="142433"/>
                          </a:solidFill>
                          <a:latin typeface="Calibri" pitchFamily="34" charset="0"/>
                          <a:ea typeface="Calibri" pitchFamily="34" charset="-122"/>
                          <a:cs typeface="Calibri" pitchFamily="34" charset="-120"/>
                        </a:rPr>
                        <a:t>1–4</a:t>
                      </a:r>
                      <a:endParaRPr lang="en-US" sz="16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42433"/>
                          </a:solidFill>
                          <a:latin typeface="Calibri" pitchFamily="34" charset="0"/>
                          <a:ea typeface="Calibri" pitchFamily="34" charset="-122"/>
                          <a:cs typeface="Calibri" pitchFamily="34" charset="-120"/>
                        </a:rPr>
                        <a:t>(4×0.0015)/(1+2.50×0.0015) = 0.0060</a:t>
                      </a:r>
                      <a:endParaRPr lang="en-US" sz="16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42433"/>
                          </a:solidFill>
                          <a:latin typeface="Calibri" pitchFamily="34" charset="0"/>
                          <a:ea typeface="Calibri" pitchFamily="34" charset="-122"/>
                          <a:cs typeface="Calibri" pitchFamily="34" charset="-120"/>
                        </a:rPr>
                        <a:t>98,028</a:t>
                      </a:r>
                      <a:endParaRPr lang="en-US" sz="16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lgn="l">
                        <a:buNone/>
                      </a:pPr>
                      <a:r>
                        <a:rPr lang="en-US" sz="1600" dirty="0">
                          <a:solidFill>
                            <a:srgbClr val="142433"/>
                          </a:solidFill>
                          <a:latin typeface="Calibri" pitchFamily="34" charset="0"/>
                          <a:ea typeface="Calibri" pitchFamily="34" charset="-122"/>
                          <a:cs typeface="Calibri" pitchFamily="34" charset="-120"/>
                        </a:rPr>
                        <a:t>5–9</a:t>
                      </a:r>
                      <a:endParaRPr lang="en-US" sz="16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42433"/>
                          </a:solidFill>
                          <a:latin typeface="Calibri" pitchFamily="34" charset="0"/>
                          <a:ea typeface="Calibri" pitchFamily="34" charset="-122"/>
                          <a:cs typeface="Calibri" pitchFamily="34" charset="-120"/>
                        </a:rPr>
                        <a:t>(5×0.0008)/(1+2.50×0.0008) = 0.0040</a:t>
                      </a:r>
                      <a:endParaRPr lang="en-US" sz="16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42433"/>
                          </a:solidFill>
                          <a:latin typeface="Calibri" pitchFamily="34" charset="0"/>
                          <a:ea typeface="Calibri" pitchFamily="34" charset="-122"/>
                          <a:cs typeface="Calibri" pitchFamily="34" charset="-120"/>
                        </a:rPr>
                        <a:t>97,442</a:t>
                      </a:r>
                      <a:endParaRPr lang="en-US" sz="16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600" dirty="0">
                          <a:solidFill>
                            <a:srgbClr val="142433"/>
                          </a:solidFill>
                          <a:latin typeface="Calibri" pitchFamily="34" charset="0"/>
                          <a:ea typeface="Calibri" pitchFamily="34" charset="-122"/>
                          <a:cs typeface="Calibri" pitchFamily="34" charset="-120"/>
                        </a:rPr>
                        <a:t>10–14</a:t>
                      </a:r>
                      <a:endParaRPr lang="en-US" sz="16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42433"/>
                          </a:solidFill>
                          <a:latin typeface="Calibri" pitchFamily="34" charset="0"/>
                          <a:ea typeface="Calibri" pitchFamily="34" charset="-122"/>
                          <a:cs typeface="Calibri" pitchFamily="34" charset="-120"/>
                        </a:rPr>
                        <a:t>(5×0.0007)/(1+2.50×0.0007) = 0.0035</a:t>
                      </a:r>
                      <a:endParaRPr lang="en-US" sz="16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42433"/>
                          </a:solidFill>
                          <a:latin typeface="Calibri" pitchFamily="34" charset="0"/>
                          <a:ea typeface="Calibri" pitchFamily="34" charset="-122"/>
                          <a:cs typeface="Calibri" pitchFamily="34" charset="-120"/>
                        </a:rPr>
                        <a:t>97,053</a:t>
                      </a:r>
                      <a:endParaRPr lang="en-US" sz="16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lgn="l">
                        <a:buNone/>
                      </a:pPr>
                      <a:r>
                        <a:rPr lang="en-US" sz="1600" dirty="0">
                          <a:solidFill>
                            <a:srgbClr val="142433"/>
                          </a:solidFill>
                          <a:latin typeface="Calibri" pitchFamily="34" charset="0"/>
                          <a:ea typeface="Calibri" pitchFamily="34" charset="-122"/>
                          <a:cs typeface="Calibri" pitchFamily="34" charset="-120"/>
                        </a:rPr>
                        <a:t>15–19</a:t>
                      </a:r>
                      <a:endParaRPr lang="en-US" sz="16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42433"/>
                          </a:solidFill>
                          <a:latin typeface="Calibri" pitchFamily="34" charset="0"/>
                          <a:ea typeface="Calibri" pitchFamily="34" charset="-122"/>
                          <a:cs typeface="Calibri" pitchFamily="34" charset="-120"/>
                        </a:rPr>
                        <a:t>(5×0.0012)/(1+2.50×0.0012) = 0.0060</a:t>
                      </a:r>
                      <a:endParaRPr lang="en-US" sz="16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42433"/>
                          </a:solidFill>
                          <a:latin typeface="Calibri" pitchFamily="34" charset="0"/>
                          <a:ea typeface="Calibri" pitchFamily="34" charset="-122"/>
                          <a:cs typeface="Calibri" pitchFamily="34" charset="-120"/>
                        </a:rPr>
                        <a:t>96,714</a:t>
                      </a:r>
                      <a:endParaRPr lang="en-US" sz="16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lgn="l">
                        <a:buNone/>
                      </a:pPr>
                      <a:r>
                        <a:rPr lang="en-US" sz="1600" dirty="0">
                          <a:solidFill>
                            <a:srgbClr val="142433"/>
                          </a:solidFill>
                          <a:latin typeface="Calibri" pitchFamily="34" charset="0"/>
                          <a:ea typeface="Calibri" pitchFamily="34" charset="-122"/>
                          <a:cs typeface="Calibri" pitchFamily="34" charset="-120"/>
                        </a:rPr>
                        <a:t>20+</a:t>
                      </a:r>
                      <a:endParaRPr lang="en-US" sz="16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42433"/>
                          </a:solidFill>
                          <a:latin typeface="Calibri" pitchFamily="34" charset="0"/>
                          <a:ea typeface="Calibri" pitchFamily="34" charset="-122"/>
                          <a:cs typeface="Calibri" pitchFamily="34" charset="-120"/>
                        </a:rPr>
                        <a:t>1.0000 (by definition of the open interval)</a:t>
                      </a:r>
                      <a:endParaRPr lang="en-US" sz="16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42433"/>
                          </a:solidFill>
                          <a:latin typeface="Calibri" pitchFamily="34" charset="0"/>
                          <a:ea typeface="Calibri" pitchFamily="34" charset="-122"/>
                          <a:cs typeface="Calibri" pitchFamily="34" charset="-120"/>
                        </a:rPr>
                        <a:t>96,135</a:t>
                      </a:r>
                      <a:endParaRPr lang="en-US" sz="16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Shape 2"/>
          <p:cNvSpPr/>
          <p:nvPr/>
        </p:nvSpPr>
        <p:spPr>
          <a:xfrm>
            <a:off x="457200" y="5532120"/>
            <a:ext cx="11277295" cy="502920"/>
          </a:xfrm>
          <a:prstGeom prst="roundRect">
            <a:avLst>
              <a:gd name="adj" fmla="val 12727"/>
            </a:avLst>
          </a:prstGeom>
          <a:solidFill>
            <a:srgbClr val="EEF3F8"/>
          </a:solidFill>
          <a:ln w="9525">
            <a:solidFill>
              <a:srgbClr val="D3E0E9"/>
            </a:solidFill>
            <a:prstDash val="solid"/>
          </a:ln>
        </p:spPr>
      </p:sp>
      <p:sp>
        <p:nvSpPr>
          <p:cNvPr id="6" name="Text 3"/>
          <p:cNvSpPr/>
          <p:nvPr/>
        </p:nvSpPr>
        <p:spPr>
          <a:xfrm>
            <a:off x="685800" y="5532120"/>
            <a:ext cx="10820095" cy="502920"/>
          </a:xfrm>
          <a:prstGeom prst="rect">
            <a:avLst/>
          </a:prstGeom>
          <a:noFill/>
          <a:ln/>
        </p:spPr>
        <p:txBody>
          <a:bodyPr wrap="square" lIns="0" tIns="0" rIns="0" bIns="0" rtlCol="0" anchor="ctr"/>
          <a:lstStyle/>
          <a:p>
            <a:pPr marL="0" indent="0">
              <a:buNone/>
            </a:pPr>
            <a:r>
              <a:rPr lang="en-US" sz="1150" dirty="0">
                <a:solidFill>
                  <a:srgbClr val="142433"/>
                </a:solidFill>
                <a:latin typeface="Calibri" pitchFamily="34" charset="0"/>
                <a:ea typeface="Calibri" pitchFamily="34" charset="-122"/>
                <a:cs typeface="Calibri" pitchFamily="34" charset="-120"/>
              </a:rPr>
              <a:t>l0 = radix = 100,000.  Each lx+n = lx × (1 − nqx): e.g., l1 = 100,000 × (1 − 0.0197) = 98,028.</a:t>
            </a:r>
            <a:endParaRPr lang="en-US" sz="1150" dirty="0"/>
          </a:p>
        </p:txBody>
      </p:sp>
      <p:sp>
        <p:nvSpPr>
          <p:cNvPr id="7" name="Text 4"/>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8" name="Text 5"/>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47 / 80</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WORKED EXAMPLE 1 · CALCULATION</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Steps 3–4 — Compute ndx, Then nLx</a:t>
            </a:r>
            <a:endParaRPr lang="en-US" sz="27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1536192"/>
          <a:ext cx="10360152" cy="3968496"/>
        </p:xfrm>
        <a:graphic>
          <a:graphicData uri="http://schemas.openxmlformats.org/drawingml/2006/table">
            <a:tbl>
              <a:tblPr/>
              <a:tblGrid>
                <a:gridCol w="15544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5696712">
                  <a:extLst>
                    <a:ext uri="{9D8B030D-6E8A-4147-A177-3AD203B41FA5}">
                      <a16:colId xmlns:a16="http://schemas.microsoft.com/office/drawing/2014/main" val="20002"/>
                    </a:ext>
                  </a:extLst>
                </a:gridCol>
              </a:tblGrid>
              <a:tr h="566928">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Age</a:t>
                      </a:r>
                      <a:endParaRPr lang="en-US" sz="115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ndx = lx − lx+n</a:t>
                      </a:r>
                      <a:endParaRPr lang="en-US" sz="115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nLx</a:t>
                      </a:r>
                      <a:endParaRPr lang="en-US" sz="115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extLst>
                  <a:ext uri="{0D108BD9-81ED-4DB2-BD59-A6C34878D82A}">
                    <a16:rowId xmlns:a16="http://schemas.microsoft.com/office/drawing/2014/main" val="10000"/>
                  </a:ext>
                </a:extLst>
              </a:tr>
              <a:tr h="566928">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0–1</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100,000 − 98,028 = 1,972</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L0 = 98,028 + 0.30×1,972 = 98,619</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98,028 − 97,442 = 586</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4×97,442 + 1.5×586 = 390,646</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5–9</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97,442 − 97,053 = 389</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5×97,053 + 2.5×389 = 486,236</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10–14</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97,053 − 96,714 = 339</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5×96,714 + 2.5×339 = 484,416</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15–19</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96,714 − 96,135 = 579</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5×96,135 + 2.5×579 = 482,121</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96,135 (all remaining die eventually)</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Lω = 96,135/0.0200 = 4,806,750</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Shape 2"/>
          <p:cNvSpPr/>
          <p:nvPr/>
        </p:nvSpPr>
        <p:spPr>
          <a:xfrm>
            <a:off x="457200" y="5532120"/>
            <a:ext cx="11277295" cy="548640"/>
          </a:xfrm>
          <a:prstGeom prst="roundRect">
            <a:avLst>
              <a:gd name="adj" fmla="val 11667"/>
            </a:avLst>
          </a:prstGeom>
          <a:solidFill>
            <a:srgbClr val="EEF3F8"/>
          </a:solidFill>
          <a:ln w="9525">
            <a:solidFill>
              <a:srgbClr val="D3E0E9"/>
            </a:solidFill>
            <a:prstDash val="solid"/>
          </a:ln>
        </p:spPr>
      </p:sp>
      <p:sp>
        <p:nvSpPr>
          <p:cNvPr id="6" name="Text 3"/>
          <p:cNvSpPr/>
          <p:nvPr/>
        </p:nvSpPr>
        <p:spPr>
          <a:xfrm>
            <a:off x="685800" y="5532120"/>
            <a:ext cx="10820095" cy="548640"/>
          </a:xfrm>
          <a:prstGeom prst="rect">
            <a:avLst/>
          </a:prstGeom>
          <a:noFill/>
          <a:ln/>
        </p:spPr>
        <p:txBody>
          <a:bodyPr wrap="square" lIns="0" tIns="0" rIns="0" bIns="0" rtlCol="0" anchor="ctr"/>
          <a:lstStyle/>
          <a:p>
            <a:pPr marL="0" indent="0">
              <a:buNone/>
            </a:pPr>
            <a:r>
              <a:rPr lang="en-US" sz="1150" dirty="0">
                <a:solidFill>
                  <a:srgbClr val="142433"/>
                </a:solidFill>
                <a:latin typeface="Calibri" pitchFamily="34" charset="0"/>
                <a:ea typeface="Calibri" pitchFamily="34" charset="-122"/>
                <a:cs typeface="Calibri" pitchFamily="34" charset="-120"/>
              </a:rPr>
              <a:t>Note the age-0 special case (L0 = l1 + a0·d0) and the open-interval special case (Lω = lω/Mω) — both differ from the general formula.</a:t>
            </a:r>
            <a:endParaRPr lang="en-US" sz="1150" dirty="0"/>
          </a:p>
        </p:txBody>
      </p:sp>
      <p:sp>
        <p:nvSpPr>
          <p:cNvPr id="7" name="Text 4"/>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8" name="Text 5"/>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48 / 80</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WORKED EXAMPLE 1 · RESULT</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Steps 5–6 — Compute Tx, Then ex — The Completed Table</a:t>
            </a:r>
            <a:endParaRPr lang="en-US" sz="27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1536192"/>
          <a:ext cx="10360152" cy="3840480"/>
        </p:xfrm>
        <a:graphic>
          <a:graphicData uri="http://schemas.openxmlformats.org/drawingml/2006/table">
            <a:tbl>
              <a:tblPr/>
              <a:tblGrid>
                <a:gridCol w="15544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gridCol w="2039112">
                  <a:extLst>
                    <a:ext uri="{9D8B030D-6E8A-4147-A177-3AD203B41FA5}">
                      <a16:colId xmlns:a16="http://schemas.microsoft.com/office/drawing/2014/main" val="20003"/>
                    </a:ext>
                  </a:extLst>
                </a:gridCol>
              </a:tblGrid>
              <a:tr h="548640">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Age</a:t>
                      </a:r>
                      <a:endParaRPr lang="en-US" sz="115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nLx</a:t>
                      </a:r>
                      <a:endParaRPr lang="en-US" sz="115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Tx (Σ nLx, oldest→youngest)</a:t>
                      </a:r>
                      <a:endParaRPr lang="en-US" sz="115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ex = Tx / lx</a:t>
                      </a:r>
                      <a:endParaRPr lang="en-US" sz="115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extLst>
                  <a:ext uri="{0D108BD9-81ED-4DB2-BD59-A6C34878D82A}">
                    <a16:rowId xmlns:a16="http://schemas.microsoft.com/office/drawing/2014/main" val="10000"/>
                  </a:ext>
                </a:extLst>
              </a:tr>
              <a:tr h="548640">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0–1</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98,619</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6,748,788</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67.49</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390,646</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6,650,169</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67.84</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5–9</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486,236</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6,259,523</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64.24</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10–14</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484,416</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5,773,287</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59.48</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15–19</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482,121</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5,288,871</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54.69</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4,806,750</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4,806,750</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50.00</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Shape 2"/>
          <p:cNvSpPr/>
          <p:nvPr/>
        </p:nvSpPr>
        <p:spPr>
          <a:xfrm>
            <a:off x="457200" y="5440680"/>
            <a:ext cx="11277295" cy="640080"/>
          </a:xfrm>
          <a:prstGeom prst="roundRect">
            <a:avLst>
              <a:gd name="adj" fmla="val 10000"/>
            </a:avLst>
          </a:prstGeom>
          <a:solidFill>
            <a:srgbClr val="EEF3F8"/>
          </a:solidFill>
          <a:ln w="9525">
            <a:solidFill>
              <a:srgbClr val="D3E0E9"/>
            </a:solidFill>
            <a:prstDash val="solid"/>
          </a:ln>
        </p:spPr>
      </p:sp>
      <p:sp>
        <p:nvSpPr>
          <p:cNvPr id="6" name="Text 3"/>
          <p:cNvSpPr/>
          <p:nvPr/>
        </p:nvSpPr>
        <p:spPr>
          <a:xfrm>
            <a:off x="685800" y="5440680"/>
            <a:ext cx="10820095" cy="640080"/>
          </a:xfrm>
          <a:prstGeom prst="rect">
            <a:avLst/>
          </a:prstGeom>
          <a:noFill/>
          <a:ln/>
        </p:spPr>
        <p:txBody>
          <a:bodyPr wrap="square" lIns="0" tIns="0" rIns="0" bIns="0" rtlCol="0" anchor="ctr"/>
          <a:lstStyle/>
          <a:p>
            <a:pPr marL="0" indent="0">
              <a:buNone/>
            </a:pPr>
            <a:r>
              <a:rPr lang="en-US" sz="1150" dirty="0">
                <a:solidFill>
                  <a:srgbClr val="142433"/>
                </a:solidFill>
                <a:latin typeface="Calibri" pitchFamily="34" charset="0"/>
                <a:ea typeface="Calibri" pitchFamily="34" charset="-122"/>
                <a:cs typeface="Calibri" pitchFamily="34" charset="-120"/>
              </a:rPr>
              <a:t>Life expectancy at birth: e0 = 67.49 years. Notice e1 &gt; e0 — surviving infancy raises expected remaining years, a classic life-table pattern in populations with non-trivial infant mortality.</a:t>
            </a:r>
            <a:endParaRPr lang="en-US" sz="1150" dirty="0"/>
          </a:p>
        </p:txBody>
      </p:sp>
      <p:sp>
        <p:nvSpPr>
          <p:cNvPr id="7" name="Text 4"/>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8" name="Text 5"/>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49 / 80</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WORKED EXAMPLE 1 · VISUALIZATION</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Visualizing the Result: Survivorship by Age</a:t>
            </a:r>
            <a:endParaRPr lang="en-US" sz="2700" dirty="0"/>
          </a:p>
        </p:txBody>
      </p:sp>
      <p:graphicFrame>
        <p:nvGraphicFramePr>
          <p:cNvPr id="4" name="Chart 0"/>
          <p:cNvGraphicFramePr/>
          <p:nvPr/>
        </p:nvGraphicFramePr>
        <p:xfrm>
          <a:off x="457200" y="1508760"/>
          <a:ext cx="694944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178040" y="1508760"/>
            <a:ext cx="4553712" cy="4480560"/>
          </a:xfrm>
          <a:prstGeom prst="roundRect">
            <a:avLst>
              <a:gd name="adj" fmla="val 1429"/>
            </a:avLst>
          </a:prstGeom>
          <a:solidFill>
            <a:srgbClr val="EEF3F8"/>
          </a:solidFill>
          <a:ln w="9525">
            <a:solidFill>
              <a:srgbClr val="D3E0E9"/>
            </a:solidFill>
            <a:prstDash val="solid"/>
          </a:ln>
        </p:spPr>
      </p:sp>
      <p:sp>
        <p:nvSpPr>
          <p:cNvPr id="6" name="Text 3"/>
          <p:cNvSpPr/>
          <p:nvPr/>
        </p:nvSpPr>
        <p:spPr>
          <a:xfrm>
            <a:off x="7406640" y="1737360"/>
            <a:ext cx="4114800" cy="4023360"/>
          </a:xfrm>
          <a:prstGeom prst="rect">
            <a:avLst/>
          </a:prstGeom>
          <a:noFill/>
          <a:ln/>
        </p:spPr>
        <p:txBody>
          <a:bodyPr wrap="square" lIns="0" tIns="0" rIns="0" bIns="0" rtlCol="0" anchor="t"/>
          <a:lstStyle/>
          <a:p>
            <a:pPr marL="0" indent="0">
              <a:lnSpc>
                <a:spcPct val="120000"/>
              </a:lnSpc>
              <a:buNone/>
            </a:pPr>
            <a:r>
              <a:rPr lang="en-US" sz="1300" b="1" dirty="0">
                <a:solidFill>
                  <a:srgbClr val="0B3D62"/>
                </a:solidFill>
                <a:latin typeface="Calibri" pitchFamily="34" charset="0"/>
                <a:ea typeface="Calibri" pitchFamily="34" charset="-122"/>
                <a:cs typeface="Calibri" pitchFamily="34" charset="-120"/>
              </a:rPr>
              <a:t>lx declines monotonically
</a:t>
            </a:r>
            <a:r>
              <a:rPr lang="en-US" sz="1150" dirty="0">
                <a:solidFill>
                  <a:srgbClr val="142433"/>
                </a:solidFill>
                <a:latin typeface="Calibri" pitchFamily="34" charset="0"/>
                <a:ea typeface="Calibri" pitchFamily="34" charset="-122"/>
                <a:cs typeface="Calibri" pitchFamily="34" charset="-120"/>
              </a:rPr>
              <a:t>By construction — the survivorship curve can never increase with age.
</a:t>
            </a:r>
            <a:r>
              <a:rPr lang="en-US" sz="1300" b="1" dirty="0">
                <a:solidFill>
                  <a:srgbClr val="0B3D62"/>
                </a:solidFill>
                <a:latin typeface="Calibri" pitchFamily="34" charset="0"/>
                <a:ea typeface="Calibri" pitchFamily="34" charset="-122"/>
                <a:cs typeface="Calibri" pitchFamily="34" charset="-120"/>
              </a:rPr>
              <a:t>Steepest drop: age 0–1
</a:t>
            </a:r>
            <a:r>
              <a:rPr lang="en-US" sz="1150" dirty="0">
                <a:solidFill>
                  <a:srgbClr val="142433"/>
                </a:solidFill>
                <a:latin typeface="Calibri" pitchFamily="34" charset="0"/>
                <a:ea typeface="Calibri" pitchFamily="34" charset="-122"/>
                <a:cs typeface="Calibri" pitchFamily="34" charset="-120"/>
              </a:rPr>
              <a:t>Reflects the elevated infant mortality rate (nM0 = 0.0200) relative to childhood ages.
</a:t>
            </a:r>
            <a:r>
              <a:rPr lang="en-US" sz="1300" b="1" dirty="0">
                <a:solidFill>
                  <a:srgbClr val="0B3D62"/>
                </a:solidFill>
                <a:latin typeface="Calibri" pitchFamily="34" charset="0"/>
                <a:ea typeface="Calibri" pitchFamily="34" charset="-122"/>
                <a:cs typeface="Calibri" pitchFamily="34" charset="-120"/>
              </a:rPr>
              <a:t>ex(x) at right
</a:t>
            </a:r>
            <a:r>
              <a:rPr lang="en-US" sz="1150" dirty="0">
                <a:solidFill>
                  <a:srgbClr val="142433"/>
                </a:solidFill>
                <a:latin typeface="Calibri" pitchFamily="34" charset="0"/>
                <a:ea typeface="Calibri" pitchFamily="34" charset="-122"/>
                <a:cs typeface="Calibri" pitchFamily="34" charset="-120"/>
              </a:rPr>
              <a:t>e0=67.5, e1=67.8, e5=64.2, e10=59.5, e15=54.7, e20=50.0 — declining steadily after early childhood, as expected.</a:t>
            </a:r>
            <a:endParaRPr lang="en-US" sz="1300" dirty="0"/>
          </a:p>
        </p:txBody>
      </p:sp>
      <p:sp>
        <p:nvSpPr>
          <p:cNvPr id="7" name="Text 4"/>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8" name="Text 5"/>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50 / 80</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A BRIEF NOTE</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From Abridged to Complete: Interpolation Methods</a:t>
            </a:r>
            <a:endParaRPr lang="en-US" sz="2700" dirty="0"/>
          </a:p>
        </p:txBody>
      </p:sp>
      <p:sp>
        <p:nvSpPr>
          <p:cNvPr id="4" name="Shape 2"/>
          <p:cNvSpPr/>
          <p:nvPr/>
        </p:nvSpPr>
        <p:spPr>
          <a:xfrm>
            <a:off x="457200" y="1554480"/>
            <a:ext cx="3588410" cy="2880360"/>
          </a:xfrm>
          <a:prstGeom prst="roundRect">
            <a:avLst>
              <a:gd name="adj" fmla="val 2222"/>
            </a:avLst>
          </a:prstGeom>
          <a:solidFill>
            <a:srgbClr val="EEF3F8"/>
          </a:solidFill>
          <a:ln w="9525">
            <a:solidFill>
              <a:srgbClr val="D3E0E9"/>
            </a:solidFill>
            <a:prstDash val="solid"/>
          </a:ln>
        </p:spPr>
      </p:sp>
      <p:sp>
        <p:nvSpPr>
          <p:cNvPr id="5" name="Text 3"/>
          <p:cNvSpPr/>
          <p:nvPr/>
        </p:nvSpPr>
        <p:spPr>
          <a:xfrm>
            <a:off x="694944" y="1865376"/>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Why interpolate at all?</a:t>
            </a:r>
            <a:endParaRPr lang="en-US" sz="1450" dirty="0"/>
          </a:p>
        </p:txBody>
      </p:sp>
      <p:sp>
        <p:nvSpPr>
          <p:cNvPr id="6" name="Text 4"/>
          <p:cNvSpPr/>
          <p:nvPr/>
        </p:nvSpPr>
        <p:spPr>
          <a:xfrm>
            <a:off x="694944" y="2395728"/>
            <a:ext cx="3112922" cy="1856232"/>
          </a:xfrm>
          <a:prstGeom prst="rect">
            <a:avLst/>
          </a:prstGeom>
          <a:noFill/>
          <a:ln/>
        </p:spPr>
        <p:txBody>
          <a:bodyPr wrap="square" lIns="0" tIns="0" rIns="0" bIns="0" rtlCol="0" anchor="t"/>
          <a:lstStyle/>
          <a:p>
            <a:pPr marL="0" indent="0" algn="l">
              <a:lnSpc>
                <a:spcPct val="112000"/>
              </a:lnSpc>
              <a:buNone/>
            </a:pPr>
            <a:r>
              <a:rPr lang="en-US" sz="1130" dirty="0">
                <a:solidFill>
                  <a:srgbClr val="142433"/>
                </a:solidFill>
                <a:latin typeface="Calibri" pitchFamily="34" charset="0"/>
                <a:ea typeface="Calibri" pitchFamily="34" charset="-122"/>
                <a:cs typeface="Calibri" pitchFamily="34" charset="-120"/>
              </a:rPr>
              <a:t>Complete (single-year) life tables give finer resolution, but many countries only publish 5-year age-grouped death and population data.</a:t>
            </a:r>
            <a:endParaRPr lang="en-US" sz="1130" dirty="0"/>
          </a:p>
        </p:txBody>
      </p:sp>
      <p:sp>
        <p:nvSpPr>
          <p:cNvPr id="7" name="Shape 5"/>
          <p:cNvSpPr/>
          <p:nvPr/>
        </p:nvSpPr>
        <p:spPr>
          <a:xfrm>
            <a:off x="4301642" y="1554480"/>
            <a:ext cx="3588410" cy="2880360"/>
          </a:xfrm>
          <a:prstGeom prst="roundRect">
            <a:avLst>
              <a:gd name="adj" fmla="val 2222"/>
            </a:avLst>
          </a:prstGeom>
          <a:solidFill>
            <a:srgbClr val="EEF3F8"/>
          </a:solidFill>
          <a:ln w="9525">
            <a:solidFill>
              <a:srgbClr val="D3E0E9"/>
            </a:solidFill>
            <a:prstDash val="solid"/>
          </a:ln>
        </p:spPr>
      </p:sp>
      <p:sp>
        <p:nvSpPr>
          <p:cNvPr id="8" name="Text 6"/>
          <p:cNvSpPr/>
          <p:nvPr/>
        </p:nvSpPr>
        <p:spPr>
          <a:xfrm>
            <a:off x="4539386" y="1865376"/>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Common interpolation approaches</a:t>
            </a:r>
            <a:endParaRPr lang="en-US" sz="1450" dirty="0"/>
          </a:p>
        </p:txBody>
      </p:sp>
      <p:sp>
        <p:nvSpPr>
          <p:cNvPr id="9" name="Text 7"/>
          <p:cNvSpPr/>
          <p:nvPr/>
        </p:nvSpPr>
        <p:spPr>
          <a:xfrm>
            <a:off x="4539386" y="2395728"/>
            <a:ext cx="3112922" cy="1856232"/>
          </a:xfrm>
          <a:prstGeom prst="rect">
            <a:avLst/>
          </a:prstGeom>
          <a:noFill/>
          <a:ln/>
        </p:spPr>
        <p:txBody>
          <a:bodyPr wrap="square" lIns="0" tIns="0" rIns="0" bIns="0" rtlCol="0" anchor="t"/>
          <a:lstStyle/>
          <a:p>
            <a:pPr marL="0" indent="0" algn="l">
              <a:lnSpc>
                <a:spcPct val="112000"/>
              </a:lnSpc>
              <a:buNone/>
            </a:pPr>
            <a:r>
              <a:rPr lang="en-US" sz="1130" dirty="0">
                <a:solidFill>
                  <a:srgbClr val="142433"/>
                </a:solidFill>
                <a:latin typeface="Calibri" pitchFamily="34" charset="0"/>
                <a:ea typeface="Calibri" pitchFamily="34" charset="-122"/>
                <a:cs typeface="Calibri" pitchFamily="34" charset="-120"/>
              </a:rPr>
              <a:t>Reed–Merrell method, Greville's method, and osculatory interpolation split abridged nqx or nMx into single-year values while preserving the overall mortality pattern.</a:t>
            </a:r>
            <a:endParaRPr lang="en-US" sz="1130" dirty="0"/>
          </a:p>
        </p:txBody>
      </p:sp>
      <p:sp>
        <p:nvSpPr>
          <p:cNvPr id="10" name="Shape 8"/>
          <p:cNvSpPr/>
          <p:nvPr/>
        </p:nvSpPr>
        <p:spPr>
          <a:xfrm>
            <a:off x="8146085" y="1554480"/>
            <a:ext cx="3588410" cy="2880360"/>
          </a:xfrm>
          <a:prstGeom prst="roundRect">
            <a:avLst>
              <a:gd name="adj" fmla="val 2222"/>
            </a:avLst>
          </a:prstGeom>
          <a:solidFill>
            <a:srgbClr val="EEF3F8"/>
          </a:solidFill>
          <a:ln w="9525">
            <a:solidFill>
              <a:srgbClr val="D3E0E9"/>
            </a:solidFill>
            <a:prstDash val="solid"/>
          </a:ln>
        </p:spPr>
      </p:sp>
      <p:sp>
        <p:nvSpPr>
          <p:cNvPr id="11" name="Text 9"/>
          <p:cNvSpPr/>
          <p:nvPr/>
        </p:nvSpPr>
        <p:spPr>
          <a:xfrm>
            <a:off x="8383829" y="1865376"/>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Model life tables as an alternative</a:t>
            </a:r>
            <a:endParaRPr lang="en-US" sz="1450" dirty="0"/>
          </a:p>
        </p:txBody>
      </p:sp>
      <p:sp>
        <p:nvSpPr>
          <p:cNvPr id="12" name="Text 10"/>
          <p:cNvSpPr/>
          <p:nvPr/>
        </p:nvSpPr>
        <p:spPr>
          <a:xfrm>
            <a:off x="8383829" y="2395728"/>
            <a:ext cx="3112922" cy="1856232"/>
          </a:xfrm>
          <a:prstGeom prst="rect">
            <a:avLst/>
          </a:prstGeom>
          <a:noFill/>
          <a:ln/>
        </p:spPr>
        <p:txBody>
          <a:bodyPr wrap="square" lIns="0" tIns="0" rIns="0" bIns="0" rtlCol="0" anchor="t"/>
          <a:lstStyle/>
          <a:p>
            <a:pPr marL="0" indent="0" algn="l">
              <a:lnSpc>
                <a:spcPct val="112000"/>
              </a:lnSpc>
              <a:buNone/>
            </a:pPr>
            <a:r>
              <a:rPr lang="en-US" sz="1130" dirty="0">
                <a:solidFill>
                  <a:srgbClr val="142433"/>
                </a:solidFill>
                <a:latin typeface="Calibri" pitchFamily="34" charset="0"/>
                <a:ea typeface="Calibri" pitchFamily="34" charset="-122"/>
                <a:cs typeface="Calibri" pitchFamily="34" charset="-120"/>
              </a:rPr>
              <a:t>When data are sparse or unreliable, Coale–Demeny or UN model life table families let you generate a plausible complete table from a single input, such as e0 or 5q0.</a:t>
            </a:r>
            <a:endParaRPr lang="en-US" sz="1130" dirty="0"/>
          </a:p>
        </p:txBody>
      </p:sp>
      <p:sp>
        <p:nvSpPr>
          <p:cNvPr id="13" name="Shape 11"/>
          <p:cNvSpPr/>
          <p:nvPr/>
        </p:nvSpPr>
        <p:spPr>
          <a:xfrm>
            <a:off x="457200" y="4617720"/>
            <a:ext cx="11277295" cy="1234440"/>
          </a:xfrm>
          <a:prstGeom prst="roundRect">
            <a:avLst>
              <a:gd name="adj" fmla="val 5185"/>
            </a:avLst>
          </a:prstGeom>
          <a:solidFill>
            <a:srgbClr val="E1EAF2"/>
          </a:solidFill>
          <a:ln w="9525">
            <a:solidFill>
              <a:srgbClr val="D3E0E9"/>
            </a:solidFill>
            <a:prstDash val="solid"/>
          </a:ln>
        </p:spPr>
      </p:sp>
      <p:sp>
        <p:nvSpPr>
          <p:cNvPr id="14" name="Text 12"/>
          <p:cNvSpPr/>
          <p:nvPr/>
        </p:nvSpPr>
        <p:spPr>
          <a:xfrm>
            <a:off x="731520" y="4773168"/>
            <a:ext cx="10728655" cy="960120"/>
          </a:xfrm>
          <a:prstGeom prst="rect">
            <a:avLst/>
          </a:prstGeom>
          <a:noFill/>
          <a:ln/>
        </p:spPr>
        <p:txBody>
          <a:bodyPr wrap="square" lIns="0" tIns="0" rIns="0" bIns="0" rtlCol="0" anchor="t"/>
          <a:lstStyle/>
          <a:p>
            <a:pPr marL="0" indent="0">
              <a:lnSpc>
                <a:spcPct val="120000"/>
              </a:lnSpc>
              <a:buNone/>
            </a:pPr>
            <a:r>
              <a:rPr lang="en-US" sz="1250" dirty="0">
                <a:solidFill>
                  <a:srgbClr val="142433"/>
                </a:solidFill>
                <a:latin typeface="Calibri" pitchFamily="34" charset="0"/>
                <a:ea typeface="Calibri" pitchFamily="34" charset="-122"/>
                <a:cs typeface="Calibri" pitchFamily="34" charset="-120"/>
              </a:rPr>
              <a:t>Today's focus: we build the abridged table directly from data (the more common real-world task, as Block 2 showed); interpolation to single-year detail is a natural extension exercise (see Practice Exercises).</a:t>
            </a:r>
            <a:endParaRPr lang="en-US" sz="1250" dirty="0"/>
          </a:p>
        </p:txBody>
      </p:sp>
      <p:sp>
        <p:nvSpPr>
          <p:cNvPr id="15" name="Text 13"/>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16" name="Text 14"/>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51 / 80</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400" b="1" kern="0" spc="200" dirty="0">
                <a:solidFill>
                  <a:srgbClr val="1C7293"/>
                </a:solidFill>
                <a:latin typeface="Calibri" pitchFamily="34" charset="0"/>
                <a:ea typeface="Calibri" pitchFamily="34" charset="-122"/>
                <a:cs typeface="Calibri" pitchFamily="34" charset="-120"/>
              </a:rPr>
              <a:t>REAL APPLICATION · ADVANCED EXTENSIONS</a:t>
            </a:r>
            <a:endParaRPr lang="en-US" sz="14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3200" b="1" dirty="0">
                <a:solidFill>
                  <a:srgbClr val="0B3D62"/>
                </a:solidFill>
                <a:latin typeface="Cambria" pitchFamily="34" charset="0"/>
                <a:ea typeface="Cambria" pitchFamily="34" charset="-122"/>
                <a:cs typeface="Cambria" pitchFamily="34" charset="-120"/>
              </a:rPr>
              <a:t>Beyond a Single Schedule: Cause-Deleted &amp; Multistate Life Tables</a:t>
            </a:r>
            <a:endParaRPr lang="en-US" sz="3200" dirty="0"/>
          </a:p>
        </p:txBody>
      </p:sp>
      <p:sp>
        <p:nvSpPr>
          <p:cNvPr id="4" name="Shape 2"/>
          <p:cNvSpPr/>
          <p:nvPr/>
        </p:nvSpPr>
        <p:spPr>
          <a:xfrm>
            <a:off x="457200" y="1481328"/>
            <a:ext cx="11277295" cy="777240"/>
          </a:xfrm>
          <a:prstGeom prst="roundRect">
            <a:avLst>
              <a:gd name="adj" fmla="val 8235"/>
            </a:avLst>
          </a:prstGeom>
          <a:solidFill>
            <a:srgbClr val="07213A"/>
          </a:solidFill>
          <a:ln/>
        </p:spPr>
        <p:txBody>
          <a:bodyPr/>
          <a:lstStyle/>
          <a:p>
            <a:endParaRPr/>
          </a:p>
        </p:txBody>
      </p:sp>
      <p:sp>
        <p:nvSpPr>
          <p:cNvPr id="5" name="Text 3"/>
          <p:cNvSpPr/>
          <p:nvPr/>
        </p:nvSpPr>
        <p:spPr>
          <a:xfrm>
            <a:off x="685800" y="1481328"/>
            <a:ext cx="10820095"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Courier New" pitchFamily="34" charset="0"/>
                <a:ea typeface="Courier New" pitchFamily="34" charset="-122"/>
                <a:cs typeface="Courier New" pitchFamily="34" charset="-120"/>
              </a:rPr>
              <a:t>Multistate table: healthy ↔ disabled ↔ dead, each transition its own age-specific rate</a:t>
            </a:r>
            <a:endParaRPr lang="en-US" sz="2000" dirty="0"/>
          </a:p>
        </p:txBody>
      </p:sp>
      <p:sp>
        <p:nvSpPr>
          <p:cNvPr id="6" name="Shape 4"/>
          <p:cNvSpPr/>
          <p:nvPr/>
        </p:nvSpPr>
        <p:spPr>
          <a:xfrm>
            <a:off x="457200" y="2487168"/>
            <a:ext cx="3588410" cy="3337560"/>
          </a:xfrm>
          <a:prstGeom prst="roundRect">
            <a:avLst>
              <a:gd name="adj" fmla="val 1918"/>
            </a:avLst>
          </a:prstGeom>
          <a:solidFill>
            <a:srgbClr val="EEF3F8"/>
          </a:solidFill>
          <a:ln w="9525">
            <a:solidFill>
              <a:srgbClr val="D3E0E9"/>
            </a:solidFill>
            <a:prstDash val="solid"/>
          </a:ln>
        </p:spPr>
        <p:txBody>
          <a:bodyPr/>
          <a:lstStyle/>
          <a:p>
            <a:endParaRPr/>
          </a:p>
        </p:txBody>
      </p:sp>
      <p:sp>
        <p:nvSpPr>
          <p:cNvPr id="7" name="Text 5"/>
          <p:cNvSpPr/>
          <p:nvPr/>
        </p:nvSpPr>
        <p:spPr>
          <a:xfrm>
            <a:off x="694944"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Cause-deleted life tables</a:t>
            </a:r>
            <a:endParaRPr lang="en-US" dirty="0"/>
          </a:p>
        </p:txBody>
      </p:sp>
      <p:sp>
        <p:nvSpPr>
          <p:cNvPr id="8" name="Text 6"/>
          <p:cNvSpPr/>
          <p:nvPr/>
        </p:nvSpPr>
        <p:spPr>
          <a:xfrm>
            <a:off x="694944"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Removes one cause of death's contribution to nqx and recomputes the full lx → ex pipeline, answering 'how much would e0 rise if cause X were eliminated?' — used to rank public-health priorities.</a:t>
            </a:r>
            <a:endParaRPr lang="en-US" sz="1400" dirty="0"/>
          </a:p>
        </p:txBody>
      </p:sp>
      <p:sp>
        <p:nvSpPr>
          <p:cNvPr id="9" name="Shape 7"/>
          <p:cNvSpPr/>
          <p:nvPr/>
        </p:nvSpPr>
        <p:spPr>
          <a:xfrm>
            <a:off x="4301642" y="2487168"/>
            <a:ext cx="3588410" cy="3337560"/>
          </a:xfrm>
          <a:prstGeom prst="roundRect">
            <a:avLst>
              <a:gd name="adj" fmla="val 1918"/>
            </a:avLst>
          </a:prstGeom>
          <a:solidFill>
            <a:srgbClr val="EEF3F8"/>
          </a:solidFill>
          <a:ln w="9525">
            <a:solidFill>
              <a:srgbClr val="D3E0E9"/>
            </a:solidFill>
            <a:prstDash val="solid"/>
          </a:ln>
        </p:spPr>
        <p:txBody>
          <a:bodyPr/>
          <a:lstStyle/>
          <a:p>
            <a:endParaRPr/>
          </a:p>
        </p:txBody>
      </p:sp>
      <p:sp>
        <p:nvSpPr>
          <p:cNvPr id="10" name="Text 8"/>
          <p:cNvSpPr/>
          <p:nvPr/>
        </p:nvSpPr>
        <p:spPr>
          <a:xfrm>
            <a:off x="4539386"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Multistate life tables</a:t>
            </a:r>
            <a:endParaRPr lang="en-US" dirty="0"/>
          </a:p>
        </p:txBody>
      </p:sp>
      <p:sp>
        <p:nvSpPr>
          <p:cNvPr id="11" name="Text 9"/>
          <p:cNvSpPr/>
          <p:nvPr/>
        </p:nvSpPr>
        <p:spPr>
          <a:xfrm>
            <a:off x="4539386"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Track transitions among multiple living states, not just alive/dead — e.g., disability-free life expectancy, marital-status life tables, or working-life tables used in labor-force planning.</a:t>
            </a:r>
            <a:endParaRPr lang="en-US" sz="1400" dirty="0"/>
          </a:p>
        </p:txBody>
      </p:sp>
      <p:sp>
        <p:nvSpPr>
          <p:cNvPr id="12" name="Shape 10"/>
          <p:cNvSpPr/>
          <p:nvPr/>
        </p:nvSpPr>
        <p:spPr>
          <a:xfrm>
            <a:off x="8146085" y="2487168"/>
            <a:ext cx="3588410" cy="3337560"/>
          </a:xfrm>
          <a:prstGeom prst="roundRect">
            <a:avLst>
              <a:gd name="adj" fmla="val 1918"/>
            </a:avLst>
          </a:prstGeom>
          <a:solidFill>
            <a:srgbClr val="EEF3F8"/>
          </a:solidFill>
          <a:ln w="9525">
            <a:solidFill>
              <a:srgbClr val="D3E0E9"/>
            </a:solidFill>
            <a:prstDash val="solid"/>
          </a:ln>
        </p:spPr>
        <p:txBody>
          <a:bodyPr/>
          <a:lstStyle/>
          <a:p>
            <a:endParaRPr/>
          </a:p>
        </p:txBody>
      </p:sp>
      <p:sp>
        <p:nvSpPr>
          <p:cNvPr id="13" name="Text 11"/>
          <p:cNvSpPr/>
          <p:nvPr/>
        </p:nvSpPr>
        <p:spPr>
          <a:xfrm>
            <a:off x="8383829"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Same seven-column logic, more dimensions</a:t>
            </a:r>
            <a:endParaRPr lang="en-US" dirty="0"/>
          </a:p>
        </p:txBody>
      </p:sp>
      <p:sp>
        <p:nvSpPr>
          <p:cNvPr id="14" name="Text 12"/>
          <p:cNvSpPr/>
          <p:nvPr/>
        </p:nvSpPr>
        <p:spPr>
          <a:xfrm>
            <a:off x="8383829"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Every one of these extensions still rests on the nMx → nqx → lx → ex pipeline from Slide 16; they add more transition types, not a different mathematical framework.</a:t>
            </a:r>
            <a:endParaRPr lang="en-US" sz="1400" dirty="0"/>
          </a:p>
        </p:txBody>
      </p:sp>
      <p:sp>
        <p:nvSpPr>
          <p:cNvPr id="15" name="Text 13"/>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5140602 Fundamental Demographic Analysis – Session 5</a:t>
            </a:r>
            <a:endParaRPr lang="en-US" sz="1000" dirty="0"/>
          </a:p>
        </p:txBody>
      </p:sp>
      <p:sp>
        <p:nvSpPr>
          <p:cNvPr id="16" name="Text 14"/>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52 / 80</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WORKED EXAMPLE 2 · SETUP (ILLUSTRATIVE COHORT B)</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A Second, Higher-Mortality Dataset — Same Method, Different Numbers</a:t>
            </a:r>
            <a:endParaRPr lang="en-US" sz="27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7315200" cy="3520440"/>
        </p:xfrm>
        <a:graphic>
          <a:graphicData uri="http://schemas.openxmlformats.org/drawingml/2006/table">
            <a:tbl>
              <a:tblPr/>
              <a:tblGrid>
                <a:gridCol w="20116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502920">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Age interval</a:t>
                      </a:r>
                      <a:endParaRPr lang="en-US" sz="115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n</a:t>
                      </a:r>
                      <a:endParaRPr lang="en-US" sz="115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nMx (rate)</a:t>
                      </a:r>
                      <a:endParaRPr lang="en-US" sz="115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nax</a:t>
                      </a:r>
                      <a:endParaRPr lang="en-US" sz="115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extLst>
                  <a:ext uri="{0D108BD9-81ED-4DB2-BD59-A6C34878D82A}">
                    <a16:rowId xmlns:a16="http://schemas.microsoft.com/office/drawing/2014/main" val="10000"/>
                  </a:ext>
                </a:extLst>
              </a:tr>
              <a:tr h="502920">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0–1</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0.0650</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0.35</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0.0120</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1.60</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5–9</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0.0035</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2.50</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10–14</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0.0030</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2.50</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15–19</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0.0060</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2.50</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20+ (open)</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0.0450</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Shape 2"/>
          <p:cNvSpPr/>
          <p:nvPr/>
        </p:nvSpPr>
        <p:spPr>
          <a:xfrm>
            <a:off x="8229600" y="1554480"/>
            <a:ext cx="3502152" cy="3520440"/>
          </a:xfrm>
          <a:prstGeom prst="roundRect">
            <a:avLst>
              <a:gd name="adj" fmla="val 1828"/>
            </a:avLst>
          </a:prstGeom>
          <a:solidFill>
            <a:srgbClr val="E1EAF2"/>
          </a:solidFill>
          <a:ln w="9525">
            <a:solidFill>
              <a:srgbClr val="D3E0E9"/>
            </a:solidFill>
            <a:prstDash val="solid"/>
          </a:ln>
        </p:spPr>
      </p:sp>
      <p:sp>
        <p:nvSpPr>
          <p:cNvPr id="6" name="Text 3"/>
          <p:cNvSpPr/>
          <p:nvPr/>
        </p:nvSpPr>
        <p:spPr>
          <a:xfrm>
            <a:off x="8458200" y="1737360"/>
            <a:ext cx="3063240" cy="3108960"/>
          </a:xfrm>
          <a:prstGeom prst="rect">
            <a:avLst/>
          </a:prstGeom>
          <a:noFill/>
          <a:ln/>
        </p:spPr>
        <p:txBody>
          <a:bodyPr wrap="square" lIns="0" tIns="0" rIns="0" bIns="0" rtlCol="0" anchor="t"/>
          <a:lstStyle/>
          <a:p>
            <a:pPr marL="0" indent="0">
              <a:lnSpc>
                <a:spcPct val="122000"/>
              </a:lnSpc>
              <a:buNone/>
            </a:pPr>
            <a:r>
              <a:rPr lang="en-US" sz="1200" dirty="0">
                <a:solidFill>
                  <a:srgbClr val="142433"/>
                </a:solidFill>
                <a:latin typeface="Calibri" pitchFamily="34" charset="0"/>
                <a:ea typeface="Calibri" pitchFamily="34" charset="-122"/>
                <a:cs typeface="Calibri" pitchFamily="34" charset="-120"/>
              </a:rPr>
              <a:t>Illustrative Cohort B represents a higher-mortality population — roughly 3× the infant mortality rate and 2× the open-interval rate of Cohort A. Watching the SAME seven formulas produce a very different, much lower e0 is the point of repeating the method on new numbers.</a:t>
            </a:r>
            <a:endParaRPr lang="en-US" sz="1200" dirty="0"/>
          </a:p>
        </p:txBody>
      </p:sp>
      <p:sp>
        <p:nvSpPr>
          <p:cNvPr id="7" name="Text 4"/>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8" name="Text 5"/>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53 / 80</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WORKED EXAMPLE 2 · CALCULATION</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Steps 1–2 — Compute nqx, Then lx</a:t>
            </a:r>
            <a:endParaRPr lang="en-US" sz="27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1536192"/>
          <a:ext cx="10360152" cy="3968496"/>
        </p:xfrm>
        <a:graphic>
          <a:graphicData uri="http://schemas.openxmlformats.org/drawingml/2006/table">
            <a:tbl>
              <a:tblPr/>
              <a:tblGrid>
                <a:gridCol w="1554480">
                  <a:extLst>
                    <a:ext uri="{9D8B030D-6E8A-4147-A177-3AD203B41FA5}">
                      <a16:colId xmlns:a16="http://schemas.microsoft.com/office/drawing/2014/main" val="20000"/>
                    </a:ext>
                  </a:extLst>
                </a:gridCol>
                <a:gridCol w="6976872">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566928">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Age</a:t>
                      </a:r>
                      <a:endParaRPr lang="en-US" sz="115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nqx = n·nMx / (1+(n−nax)·nMx)</a:t>
                      </a:r>
                      <a:endParaRPr lang="en-US" sz="115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lx</a:t>
                      </a:r>
                      <a:endParaRPr lang="en-US" sz="115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extLst>
                  <a:ext uri="{0D108BD9-81ED-4DB2-BD59-A6C34878D82A}">
                    <a16:rowId xmlns:a16="http://schemas.microsoft.com/office/drawing/2014/main" val="10000"/>
                  </a:ext>
                </a:extLst>
              </a:tr>
              <a:tr h="566928">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0–1</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(1×0.0650)/(1+0.65×0.0650) = 0.0624</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100,000</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(4×0.0120)/(1+2.40×0.0120) = 0.0467</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93,763</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5–9</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(5×0.0035)/(1+2.50×0.0035) = 0.0173</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89,389</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10–14</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(5×0.0030)/(1+2.50×0.0030) = 0.0149</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87,838</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15–19</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(5×0.0060)/(1+2.50×0.0060) = 0.0296</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86,530</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1.0000 (by definition of the open interval)</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83,973</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Shape 2"/>
          <p:cNvSpPr/>
          <p:nvPr/>
        </p:nvSpPr>
        <p:spPr>
          <a:xfrm>
            <a:off x="457200" y="5532120"/>
            <a:ext cx="11277295" cy="502920"/>
          </a:xfrm>
          <a:prstGeom prst="roundRect">
            <a:avLst>
              <a:gd name="adj" fmla="val 12727"/>
            </a:avLst>
          </a:prstGeom>
          <a:solidFill>
            <a:srgbClr val="E1EAF2"/>
          </a:solidFill>
          <a:ln w="9525">
            <a:solidFill>
              <a:srgbClr val="D3E0E9"/>
            </a:solidFill>
            <a:prstDash val="solid"/>
          </a:ln>
        </p:spPr>
      </p:sp>
      <p:sp>
        <p:nvSpPr>
          <p:cNvPr id="6" name="Text 3"/>
          <p:cNvSpPr/>
          <p:nvPr/>
        </p:nvSpPr>
        <p:spPr>
          <a:xfrm>
            <a:off x="685800" y="5532120"/>
            <a:ext cx="10820095" cy="502920"/>
          </a:xfrm>
          <a:prstGeom prst="rect">
            <a:avLst/>
          </a:prstGeom>
          <a:noFill/>
          <a:ln/>
        </p:spPr>
        <p:txBody>
          <a:bodyPr wrap="square" lIns="0" tIns="0" rIns="0" bIns="0" rtlCol="0" anchor="ctr"/>
          <a:lstStyle/>
          <a:p>
            <a:pPr marL="0" indent="0">
              <a:buNone/>
            </a:pPr>
            <a:r>
              <a:rPr lang="en-US" sz="1150" dirty="0">
                <a:solidFill>
                  <a:srgbClr val="142433"/>
                </a:solidFill>
                <a:latin typeface="Calibri" pitchFamily="34" charset="0"/>
                <a:ea typeface="Calibri" pitchFamily="34" charset="-122"/>
                <a:cs typeface="Calibri" pitchFamily="34" charset="-120"/>
              </a:rPr>
              <a:t>Compare to Cohort A: nq(0–1) is more than 3× higher (0.0624 vs. 0.0197) — a realistic gap between a high- and a low-mortality population.</a:t>
            </a:r>
            <a:endParaRPr lang="en-US" sz="1150" dirty="0"/>
          </a:p>
        </p:txBody>
      </p:sp>
      <p:sp>
        <p:nvSpPr>
          <p:cNvPr id="7" name="Text 4"/>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8" name="Text 5"/>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54 / 80</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WORKED EXAMPLE 2 · CALCULATION</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Steps 3–4 — Compute ndx, Then nLx</a:t>
            </a:r>
            <a:endParaRPr lang="en-US" sz="27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 y="1536192"/>
          <a:ext cx="10360152" cy="3968496"/>
        </p:xfrm>
        <a:graphic>
          <a:graphicData uri="http://schemas.openxmlformats.org/drawingml/2006/table">
            <a:tbl>
              <a:tblPr/>
              <a:tblGrid>
                <a:gridCol w="15544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5696712">
                  <a:extLst>
                    <a:ext uri="{9D8B030D-6E8A-4147-A177-3AD203B41FA5}">
                      <a16:colId xmlns:a16="http://schemas.microsoft.com/office/drawing/2014/main" val="20002"/>
                    </a:ext>
                  </a:extLst>
                </a:gridCol>
              </a:tblGrid>
              <a:tr h="566928">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Age</a:t>
                      </a:r>
                      <a:endParaRPr lang="en-US" sz="115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ndx = lx − lx+n</a:t>
                      </a:r>
                      <a:endParaRPr lang="en-US" sz="115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nLx</a:t>
                      </a:r>
                      <a:endParaRPr lang="en-US" sz="115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extLst>
                  <a:ext uri="{0D108BD9-81ED-4DB2-BD59-A6C34878D82A}">
                    <a16:rowId xmlns:a16="http://schemas.microsoft.com/office/drawing/2014/main" val="10000"/>
                  </a:ext>
                </a:extLst>
              </a:tr>
              <a:tr h="566928">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0–1</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100,000 − 93,763 = 6,237</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L0 = 93,763 + 0.35×6,237 = 95,946</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93,763 − 89,389 = 4,375</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4×89,389 + 1.6×4,375 = 364,555</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5–9</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89,389 − 87,838 = 1,551</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5×87,838 + 2.5×1,551 = 443,067</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10–14</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87,838 − 86,530 = 1,308</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5×86,530 + 2.5×1,308 = 435,921</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15–19</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86,530 − 83,973 = 2,558</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5×83,973 + 2.5×2,558 = 426,258</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83,973 (all remaining die eventually)</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Lω = 83,973/0.0450 = 1,866,062</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Shape 2"/>
          <p:cNvSpPr/>
          <p:nvPr/>
        </p:nvSpPr>
        <p:spPr>
          <a:xfrm>
            <a:off x="457200" y="5532120"/>
            <a:ext cx="11277295" cy="548640"/>
          </a:xfrm>
          <a:prstGeom prst="roundRect">
            <a:avLst>
              <a:gd name="adj" fmla="val 11667"/>
            </a:avLst>
          </a:prstGeom>
          <a:solidFill>
            <a:srgbClr val="E1EAF2"/>
          </a:solidFill>
          <a:ln w="9525">
            <a:solidFill>
              <a:srgbClr val="D3E0E9"/>
            </a:solidFill>
            <a:prstDash val="solid"/>
          </a:ln>
        </p:spPr>
        <p:txBody>
          <a:bodyPr/>
          <a:lstStyle/>
          <a:p>
            <a:endParaRPr/>
          </a:p>
        </p:txBody>
      </p:sp>
      <p:sp>
        <p:nvSpPr>
          <p:cNvPr id="6" name="Text 3"/>
          <p:cNvSpPr/>
          <p:nvPr/>
        </p:nvSpPr>
        <p:spPr>
          <a:xfrm>
            <a:off x="685800" y="5532120"/>
            <a:ext cx="10820095" cy="548640"/>
          </a:xfrm>
          <a:prstGeom prst="rect">
            <a:avLst/>
          </a:prstGeom>
          <a:noFill/>
          <a:ln/>
        </p:spPr>
        <p:txBody>
          <a:bodyPr wrap="square" lIns="0" tIns="0" rIns="0" bIns="0" rtlCol="0" anchor="ctr"/>
          <a:lstStyle/>
          <a:p>
            <a:pPr marL="0" indent="0">
              <a:buNone/>
            </a:pPr>
            <a:r>
              <a:rPr lang="en-US" sz="1150" dirty="0">
                <a:solidFill>
                  <a:srgbClr val="142433"/>
                </a:solidFill>
                <a:latin typeface="Calibri" pitchFamily="34" charset="0"/>
                <a:ea typeface="Calibri" pitchFamily="34" charset="-122"/>
                <a:cs typeface="Calibri" pitchFamily="34" charset="-120"/>
              </a:rPr>
              <a:t>Σ ndx = 6,237+4,375+1,551+1,308+2,558+83,973 = 100,002 ≈ 100,000 (rounding) — the built-in check from Slide 20 holds.</a:t>
            </a:r>
            <a:endParaRPr lang="en-US" sz="1150" dirty="0"/>
          </a:p>
        </p:txBody>
      </p:sp>
      <p:sp>
        <p:nvSpPr>
          <p:cNvPr id="7" name="Text 4"/>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8" name="Text 5"/>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55 / 80</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WORKED EXAMPLE 2 · RESULT &amp; COMPARISON</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Steps 5–6 — Tx, ex, and Comparing the Two Cohorts</a:t>
            </a:r>
            <a:endParaRPr lang="en-US" sz="27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7178040" cy="3520440"/>
        </p:xfrm>
        <a:graphic>
          <a:graphicData uri="http://schemas.openxmlformats.org/drawingml/2006/table">
            <a:tbl>
              <a:tblPr/>
              <a:tblGrid>
                <a:gridCol w="12344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502920">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Age</a:t>
                      </a:r>
                      <a:endParaRPr lang="en-US" sz="115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nLx</a:t>
                      </a:r>
                      <a:endParaRPr lang="en-US" sz="115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Tx</a:t>
                      </a:r>
                      <a:endParaRPr lang="en-US" sz="115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ex</a:t>
                      </a:r>
                      <a:endParaRPr lang="en-US" sz="115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extLst>
                  <a:ext uri="{0D108BD9-81ED-4DB2-BD59-A6C34878D82A}">
                    <a16:rowId xmlns:a16="http://schemas.microsoft.com/office/drawing/2014/main" val="10000"/>
                  </a:ext>
                </a:extLst>
              </a:tr>
              <a:tr h="502920">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0–1</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95,946</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3,631,809</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36.32</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364,555</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3,535,863</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37.71</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5–9</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443,067</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3,171,308</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35.48</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10–14</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435,921</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2,728,241</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31.06</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15–19</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426,258</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2,292,320</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26.49</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1,866,062</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1,866,062</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22.22</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Shape 2"/>
          <p:cNvSpPr/>
          <p:nvPr/>
        </p:nvSpPr>
        <p:spPr>
          <a:xfrm>
            <a:off x="7818120" y="1508760"/>
            <a:ext cx="3913632" cy="4343400"/>
          </a:xfrm>
          <a:prstGeom prst="roundRect">
            <a:avLst>
              <a:gd name="adj" fmla="val 1636"/>
            </a:avLst>
          </a:prstGeom>
          <a:solidFill>
            <a:srgbClr val="EEF3F8"/>
          </a:solidFill>
          <a:ln w="9525">
            <a:solidFill>
              <a:srgbClr val="D3E0E9"/>
            </a:solidFill>
            <a:prstDash val="solid"/>
          </a:ln>
        </p:spPr>
        <p:txBody>
          <a:bodyPr/>
          <a:lstStyle/>
          <a:p>
            <a:endParaRPr/>
          </a:p>
        </p:txBody>
      </p:sp>
      <p:sp>
        <p:nvSpPr>
          <p:cNvPr id="6" name="Text 3"/>
          <p:cNvSpPr/>
          <p:nvPr/>
        </p:nvSpPr>
        <p:spPr>
          <a:xfrm>
            <a:off x="8046720" y="1737360"/>
            <a:ext cx="3474720" cy="3931920"/>
          </a:xfrm>
          <a:prstGeom prst="rect">
            <a:avLst/>
          </a:prstGeom>
          <a:noFill/>
          <a:ln/>
        </p:spPr>
        <p:txBody>
          <a:bodyPr wrap="square" lIns="0" tIns="0" rIns="0" bIns="0" rtlCol="0" anchor="t"/>
          <a:lstStyle/>
          <a:p>
            <a:pPr marL="0" indent="0">
              <a:lnSpc>
                <a:spcPct val="120000"/>
              </a:lnSpc>
              <a:buNone/>
            </a:pPr>
            <a:r>
              <a:rPr lang="en-US" sz="1500" b="1" dirty="0">
                <a:solidFill>
                  <a:srgbClr val="0B3D62"/>
                </a:solidFill>
                <a:latin typeface="Calibri" pitchFamily="34" charset="0"/>
                <a:ea typeface="Calibri" pitchFamily="34" charset="-122"/>
                <a:cs typeface="Calibri" pitchFamily="34" charset="-120"/>
              </a:rPr>
              <a:t>Cohort A  e0 = 67.49 yrs
</a:t>
            </a:r>
            <a:r>
              <a:rPr lang="en-US" sz="1500" b="1" dirty="0">
                <a:solidFill>
                  <a:srgbClr val="C0433A"/>
                </a:solidFill>
                <a:latin typeface="Calibri" pitchFamily="34" charset="0"/>
                <a:ea typeface="Calibri" pitchFamily="34" charset="-122"/>
                <a:cs typeface="Calibri" pitchFamily="34" charset="-120"/>
              </a:rPr>
              <a:t>Cohort B  e0 = 36.32 yrs
</a:t>
            </a:r>
            <a:r>
              <a:rPr lang="en-US" sz="1200" dirty="0">
                <a:solidFill>
                  <a:srgbClr val="142433"/>
                </a:solidFill>
                <a:latin typeface="Calibri" pitchFamily="34" charset="0"/>
                <a:ea typeface="Calibri" pitchFamily="34" charset="-122"/>
                <a:cs typeface="Calibri" pitchFamily="34" charset="-120"/>
              </a:rPr>
              <a:t>Same seven formulas, same seven-column pipeline (Slide 16) — but a roughly threefold difference in infant and open-interval mortality rates translates into a 31-year gap in life expectancy at birth.
</a:t>
            </a:r>
            <a:r>
              <a:rPr lang="en-US" sz="1250" b="1" dirty="0">
                <a:solidFill>
                  <a:srgbClr val="142433"/>
                </a:solidFill>
                <a:latin typeface="Calibri" pitchFamily="34" charset="0"/>
                <a:ea typeface="Calibri" pitchFamily="34" charset="-122"/>
                <a:cs typeface="Calibri" pitchFamily="34" charset="-120"/>
              </a:rPr>
              <a:t>Note e1 &gt; e0 in BOTH cohorts</a:t>
            </a:r>
            <a:r>
              <a:rPr lang="en-US" sz="1200" dirty="0">
                <a:solidFill>
                  <a:srgbClr val="142433"/>
                </a:solidFill>
                <a:latin typeface="Calibri" pitchFamily="34" charset="0"/>
                <a:ea typeface="Calibri" pitchFamily="34" charset="-122"/>
                <a:cs typeface="Calibri" pitchFamily="34" charset="-120"/>
              </a:rPr>
              <a:t> — the "surviving infancy raises ex" pattern from Slide 49 holds regardless of the overall mortality level.</a:t>
            </a:r>
            <a:endParaRPr lang="en-US" sz="1500" dirty="0"/>
          </a:p>
        </p:txBody>
      </p:sp>
      <p:sp>
        <p:nvSpPr>
          <p:cNvPr id="7" name="Text 4"/>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8" name="Text 5"/>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56 / 80</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400" b="1" kern="0" spc="200" dirty="0">
                <a:solidFill>
                  <a:srgbClr val="1C7293"/>
                </a:solidFill>
                <a:latin typeface="Calibri" pitchFamily="34" charset="0"/>
                <a:ea typeface="Calibri" pitchFamily="34" charset="-122"/>
                <a:cs typeface="Calibri" pitchFamily="34" charset="-120"/>
              </a:rPr>
              <a:t>REAL APPLICATION · PLANNING</a:t>
            </a:r>
            <a:endParaRPr lang="en-US" sz="14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3200" b="1" dirty="0">
                <a:solidFill>
                  <a:srgbClr val="0B3D62"/>
                </a:solidFill>
                <a:latin typeface="Cambria" pitchFamily="34" charset="0"/>
                <a:ea typeface="Cambria" pitchFamily="34" charset="-122"/>
                <a:cs typeface="Cambria" pitchFamily="34" charset="-120"/>
              </a:rPr>
              <a:t>nLx as the Engine of Population Projections and Service Planning</a:t>
            </a:r>
            <a:endParaRPr lang="en-US" sz="3200" dirty="0"/>
          </a:p>
        </p:txBody>
      </p:sp>
      <p:sp>
        <p:nvSpPr>
          <p:cNvPr id="4" name="Shape 2"/>
          <p:cNvSpPr/>
          <p:nvPr/>
        </p:nvSpPr>
        <p:spPr>
          <a:xfrm>
            <a:off x="457200" y="1481328"/>
            <a:ext cx="11277295" cy="777240"/>
          </a:xfrm>
          <a:prstGeom prst="roundRect">
            <a:avLst>
              <a:gd name="adj" fmla="val 8235"/>
            </a:avLst>
          </a:prstGeom>
          <a:solidFill>
            <a:srgbClr val="07213A"/>
          </a:solidFill>
          <a:ln/>
        </p:spPr>
        <p:txBody>
          <a:bodyPr/>
          <a:lstStyle/>
          <a:p>
            <a:endParaRPr/>
          </a:p>
        </p:txBody>
      </p:sp>
      <p:sp>
        <p:nvSpPr>
          <p:cNvPr id="5" name="Text 3"/>
          <p:cNvSpPr/>
          <p:nvPr/>
        </p:nvSpPr>
        <p:spPr>
          <a:xfrm>
            <a:off x="685800" y="1481328"/>
            <a:ext cx="10820095"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Courier New" pitchFamily="34" charset="0"/>
                <a:ea typeface="Courier New" pitchFamily="34" charset="-122"/>
                <a:cs typeface="Courier New" pitchFamily="34" charset="-120"/>
              </a:rPr>
              <a:t>Pop(x+n, t+n) = Pop(x,t) × [ nLx+n / nLx ]  — the survivorship ratio</a:t>
            </a:r>
            <a:endParaRPr lang="en-US" sz="2000" dirty="0"/>
          </a:p>
        </p:txBody>
      </p:sp>
      <p:sp>
        <p:nvSpPr>
          <p:cNvPr id="6" name="Shape 4"/>
          <p:cNvSpPr/>
          <p:nvPr/>
        </p:nvSpPr>
        <p:spPr>
          <a:xfrm>
            <a:off x="457200" y="2487168"/>
            <a:ext cx="3588410" cy="3337560"/>
          </a:xfrm>
          <a:prstGeom prst="roundRect">
            <a:avLst>
              <a:gd name="adj" fmla="val 1918"/>
            </a:avLst>
          </a:prstGeom>
          <a:solidFill>
            <a:srgbClr val="EEF3F8"/>
          </a:solidFill>
          <a:ln w="9525">
            <a:solidFill>
              <a:srgbClr val="D3E0E9"/>
            </a:solidFill>
            <a:prstDash val="solid"/>
          </a:ln>
        </p:spPr>
        <p:txBody>
          <a:bodyPr/>
          <a:lstStyle/>
          <a:p>
            <a:endParaRPr/>
          </a:p>
        </p:txBody>
      </p:sp>
      <p:sp>
        <p:nvSpPr>
          <p:cNvPr id="7" name="Text 5"/>
          <p:cNvSpPr/>
          <p:nvPr/>
        </p:nvSpPr>
        <p:spPr>
          <a:xfrm>
            <a:off x="694944"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Every official projection uses this</a:t>
            </a:r>
            <a:endParaRPr lang="en-US" dirty="0"/>
          </a:p>
        </p:txBody>
      </p:sp>
      <p:sp>
        <p:nvSpPr>
          <p:cNvPr id="8" name="Text 6"/>
          <p:cNvSpPr/>
          <p:nvPr/>
        </p:nvSpPr>
        <p:spPr>
          <a:xfrm>
            <a:off x="694944"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UN WPP, national statistical office projections, and World Bank population forecasts all propagate each age group forward using life-table survivorship ratios nearly identical to the nLx you built today.</a:t>
            </a:r>
            <a:endParaRPr lang="en-US" sz="1400" dirty="0"/>
          </a:p>
        </p:txBody>
      </p:sp>
      <p:sp>
        <p:nvSpPr>
          <p:cNvPr id="9" name="Shape 7"/>
          <p:cNvSpPr/>
          <p:nvPr/>
        </p:nvSpPr>
        <p:spPr>
          <a:xfrm>
            <a:off x="4301642" y="2487168"/>
            <a:ext cx="3588410" cy="3337560"/>
          </a:xfrm>
          <a:prstGeom prst="roundRect">
            <a:avLst>
              <a:gd name="adj" fmla="val 1918"/>
            </a:avLst>
          </a:prstGeom>
          <a:solidFill>
            <a:srgbClr val="EEF3F8"/>
          </a:solidFill>
          <a:ln w="9525">
            <a:solidFill>
              <a:srgbClr val="D3E0E9"/>
            </a:solidFill>
            <a:prstDash val="solid"/>
          </a:ln>
        </p:spPr>
        <p:txBody>
          <a:bodyPr/>
          <a:lstStyle/>
          <a:p>
            <a:endParaRPr/>
          </a:p>
        </p:txBody>
      </p:sp>
      <p:sp>
        <p:nvSpPr>
          <p:cNvPr id="10" name="Text 8"/>
          <p:cNvSpPr/>
          <p:nvPr/>
        </p:nvSpPr>
        <p:spPr>
          <a:xfrm>
            <a:off x="4539386"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Health &amp; social-service planning</a:t>
            </a:r>
            <a:endParaRPr lang="en-US" dirty="0"/>
          </a:p>
        </p:txBody>
      </p:sp>
      <p:sp>
        <p:nvSpPr>
          <p:cNvPr id="11" name="Text 9"/>
          <p:cNvSpPr/>
          <p:nvPr/>
        </p:nvSpPr>
        <p:spPr>
          <a:xfrm>
            <a:off x="4539386"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Ministries of health project future hospital-bed, maternal-care, and eldercare needs by combining population projections — which use nLx — with age-specific service-utilization rates.</a:t>
            </a:r>
            <a:endParaRPr lang="en-US" sz="1400" dirty="0"/>
          </a:p>
        </p:txBody>
      </p:sp>
      <p:sp>
        <p:nvSpPr>
          <p:cNvPr id="12" name="Shape 10"/>
          <p:cNvSpPr/>
          <p:nvPr/>
        </p:nvSpPr>
        <p:spPr>
          <a:xfrm>
            <a:off x="8146085" y="2487168"/>
            <a:ext cx="3588410" cy="3337560"/>
          </a:xfrm>
          <a:prstGeom prst="roundRect">
            <a:avLst>
              <a:gd name="adj" fmla="val 1918"/>
            </a:avLst>
          </a:prstGeom>
          <a:solidFill>
            <a:srgbClr val="EEF3F8"/>
          </a:solidFill>
          <a:ln w="9525">
            <a:solidFill>
              <a:srgbClr val="D3E0E9"/>
            </a:solidFill>
            <a:prstDash val="solid"/>
          </a:ln>
        </p:spPr>
        <p:txBody>
          <a:bodyPr/>
          <a:lstStyle/>
          <a:p>
            <a:endParaRPr/>
          </a:p>
        </p:txBody>
      </p:sp>
      <p:sp>
        <p:nvSpPr>
          <p:cNvPr id="13" name="Text 11"/>
          <p:cNvSpPr/>
          <p:nvPr/>
        </p:nvSpPr>
        <p:spPr>
          <a:xfrm>
            <a:off x="8383829"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Errors compound forward in time</a:t>
            </a:r>
            <a:endParaRPr lang="en-US" dirty="0"/>
          </a:p>
        </p:txBody>
      </p:sp>
      <p:sp>
        <p:nvSpPr>
          <p:cNvPr id="14" name="Text 12"/>
          <p:cNvSpPr/>
          <p:nvPr/>
        </p:nvSpPr>
        <p:spPr>
          <a:xfrm>
            <a:off x="8383829"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Because projections repeatedly apply survivorship ratios, a nax or open-interval error made today (Slide 64's checklist) does not just corrupt one year's ex — it silently biases every future projected age structure.</a:t>
            </a:r>
            <a:endParaRPr lang="en-US" sz="1400" dirty="0"/>
          </a:p>
        </p:txBody>
      </p:sp>
      <p:sp>
        <p:nvSpPr>
          <p:cNvPr id="15" name="Text 13"/>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5140602 Fundamental Demographic Analysis – Session 5</a:t>
            </a:r>
            <a:endParaRPr lang="en-US" sz="1000" dirty="0"/>
          </a:p>
        </p:txBody>
      </p:sp>
      <p:sp>
        <p:nvSpPr>
          <p:cNvPr id="16" name="Text 14"/>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57 / 80</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REAL APPLICATION · GLOBAL MONITORING</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Comparing Countries and Tracking Progress with Life-Table Indicators</a:t>
            </a:r>
            <a:endParaRPr lang="en-US" sz="2700" dirty="0"/>
          </a:p>
        </p:txBody>
      </p:sp>
      <p:sp>
        <p:nvSpPr>
          <p:cNvPr id="4" name="Text 2"/>
          <p:cNvSpPr/>
          <p:nvPr/>
        </p:nvSpPr>
        <p:spPr>
          <a:xfrm>
            <a:off x="457200" y="1737360"/>
            <a:ext cx="3576218" cy="822960"/>
          </a:xfrm>
          <a:prstGeom prst="rect">
            <a:avLst/>
          </a:prstGeom>
          <a:noFill/>
          <a:ln/>
        </p:spPr>
        <p:txBody>
          <a:bodyPr wrap="square" lIns="0" tIns="0" rIns="0" bIns="0" rtlCol="0" anchor="ctr"/>
          <a:lstStyle/>
          <a:p>
            <a:pPr marL="0" indent="0" algn="ctr">
              <a:buNone/>
            </a:pPr>
            <a:r>
              <a:rPr lang="en-US" sz="4400" b="1" dirty="0">
                <a:solidFill>
                  <a:srgbClr val="E8A33D"/>
                </a:solidFill>
                <a:latin typeface="Cambria" pitchFamily="34" charset="0"/>
                <a:ea typeface="Cambria" pitchFamily="34" charset="-122"/>
                <a:cs typeface="Cambria" pitchFamily="34" charset="-120"/>
              </a:rPr>
              <a:t>25</a:t>
            </a:r>
            <a:endParaRPr lang="en-US" sz="4400" dirty="0"/>
          </a:p>
        </p:txBody>
      </p:sp>
      <p:sp>
        <p:nvSpPr>
          <p:cNvPr id="5" name="Text 3"/>
          <p:cNvSpPr/>
          <p:nvPr/>
        </p:nvSpPr>
        <p:spPr>
          <a:xfrm>
            <a:off x="457200" y="2514600"/>
            <a:ext cx="3576218" cy="548640"/>
          </a:xfrm>
          <a:prstGeom prst="rect">
            <a:avLst/>
          </a:prstGeom>
          <a:noFill/>
          <a:ln/>
        </p:spPr>
        <p:txBody>
          <a:bodyPr wrap="square" lIns="0" tIns="0" rIns="0" bIns="0" rtlCol="0" anchor="t"/>
          <a:lstStyle/>
          <a:p>
            <a:pPr marL="0" indent="0" algn="ctr">
              <a:buNone/>
            </a:pPr>
            <a:r>
              <a:rPr lang="en-US" sz="1100" dirty="0">
                <a:solidFill>
                  <a:srgbClr val="142433"/>
                </a:solidFill>
                <a:latin typeface="Calibri" pitchFamily="34" charset="0"/>
                <a:ea typeface="Calibri" pitchFamily="34" charset="-122"/>
                <a:cs typeface="Calibri" pitchFamily="34" charset="-120"/>
              </a:rPr>
              <a:t>SDG Target 3.2 — global under-5 mortality rate target, per 1,000 live births, by 2030 (United Nations, 2015; UN Statistics Division, 2026) — directly a life-table quantity (5q0)</a:t>
            </a:r>
            <a:endParaRPr lang="en-US" sz="1100" dirty="0"/>
          </a:p>
        </p:txBody>
      </p:sp>
      <p:sp>
        <p:nvSpPr>
          <p:cNvPr id="6" name="Text 4"/>
          <p:cNvSpPr/>
          <p:nvPr/>
        </p:nvSpPr>
        <p:spPr>
          <a:xfrm>
            <a:off x="4307738" y="1737360"/>
            <a:ext cx="3576218" cy="822960"/>
          </a:xfrm>
          <a:prstGeom prst="rect">
            <a:avLst/>
          </a:prstGeom>
          <a:noFill/>
          <a:ln/>
        </p:spPr>
        <p:txBody>
          <a:bodyPr wrap="square" lIns="0" tIns="0" rIns="0" bIns="0" rtlCol="0" anchor="ctr"/>
          <a:lstStyle/>
          <a:p>
            <a:pPr marL="0" indent="0" algn="ctr">
              <a:buNone/>
            </a:pPr>
            <a:r>
              <a:rPr lang="en-US" sz="4400" b="1" dirty="0">
                <a:solidFill>
                  <a:srgbClr val="2E7D5B"/>
                </a:solidFill>
                <a:latin typeface="Cambria" pitchFamily="34" charset="0"/>
                <a:ea typeface="Cambria" pitchFamily="34" charset="-122"/>
                <a:cs typeface="Cambria" pitchFamily="34" charset="-120"/>
              </a:rPr>
              <a:t>70</a:t>
            </a:r>
            <a:endParaRPr lang="en-US" sz="4400" dirty="0"/>
          </a:p>
        </p:txBody>
      </p:sp>
      <p:sp>
        <p:nvSpPr>
          <p:cNvPr id="7" name="Text 5"/>
          <p:cNvSpPr/>
          <p:nvPr/>
        </p:nvSpPr>
        <p:spPr>
          <a:xfrm>
            <a:off x="4307738" y="2514600"/>
            <a:ext cx="3576218" cy="548640"/>
          </a:xfrm>
          <a:prstGeom prst="rect">
            <a:avLst/>
          </a:prstGeom>
          <a:noFill/>
          <a:ln/>
        </p:spPr>
        <p:txBody>
          <a:bodyPr wrap="square" lIns="0" tIns="0" rIns="0" bIns="0" rtlCol="0" anchor="t"/>
          <a:lstStyle/>
          <a:p>
            <a:pPr marL="0" indent="0" algn="ctr">
              <a:buNone/>
            </a:pPr>
            <a:r>
              <a:rPr lang="en-US" sz="1100" dirty="0">
                <a:solidFill>
                  <a:srgbClr val="142433"/>
                </a:solidFill>
                <a:latin typeface="Calibri" pitchFamily="34" charset="0"/>
                <a:ea typeface="Calibri" pitchFamily="34" charset="-122"/>
                <a:cs typeface="Calibri" pitchFamily="34" charset="-120"/>
              </a:rPr>
              <a:t>SDG Target 3.1 — global maternal mortality ratio target, per 100,000 live births, by 2030 (World Health Organization, n.d.-a)</a:t>
            </a:r>
            <a:endParaRPr lang="en-US" sz="1100" dirty="0"/>
          </a:p>
        </p:txBody>
      </p:sp>
      <p:sp>
        <p:nvSpPr>
          <p:cNvPr id="8" name="Text 6"/>
          <p:cNvSpPr/>
          <p:nvPr/>
        </p:nvSpPr>
        <p:spPr>
          <a:xfrm>
            <a:off x="8158277" y="1737360"/>
            <a:ext cx="3576218" cy="822960"/>
          </a:xfrm>
          <a:prstGeom prst="rect">
            <a:avLst/>
          </a:prstGeom>
          <a:noFill/>
          <a:ln/>
        </p:spPr>
        <p:txBody>
          <a:bodyPr wrap="square" lIns="0" tIns="0" rIns="0" bIns="0" rtlCol="0" anchor="ctr"/>
          <a:lstStyle/>
          <a:p>
            <a:pPr marL="0" indent="0" algn="ctr">
              <a:buNone/>
            </a:pPr>
            <a:r>
              <a:rPr lang="en-US" sz="4400" b="1" dirty="0">
                <a:solidFill>
                  <a:srgbClr val="1C7293"/>
                </a:solidFill>
                <a:latin typeface="Cambria" pitchFamily="34" charset="0"/>
                <a:ea typeface="Cambria" pitchFamily="34" charset="-122"/>
                <a:cs typeface="Cambria" pitchFamily="34" charset="-120"/>
              </a:rPr>
              <a:t>193</a:t>
            </a:r>
            <a:endParaRPr lang="en-US" sz="4400" dirty="0"/>
          </a:p>
        </p:txBody>
      </p:sp>
      <p:sp>
        <p:nvSpPr>
          <p:cNvPr id="9" name="Text 7"/>
          <p:cNvSpPr/>
          <p:nvPr/>
        </p:nvSpPr>
        <p:spPr>
          <a:xfrm>
            <a:off x="8158277" y="2514600"/>
            <a:ext cx="3576218" cy="548640"/>
          </a:xfrm>
          <a:prstGeom prst="rect">
            <a:avLst/>
          </a:prstGeom>
          <a:noFill/>
          <a:ln/>
        </p:spPr>
        <p:txBody>
          <a:bodyPr wrap="square" lIns="0" tIns="0" rIns="0" bIns="0" rtlCol="0" anchor="t"/>
          <a:lstStyle/>
          <a:p>
            <a:pPr marL="0" indent="0" algn="ctr">
              <a:buNone/>
            </a:pPr>
            <a:r>
              <a:rPr lang="en-US" sz="1100" dirty="0">
                <a:solidFill>
                  <a:srgbClr val="142433"/>
                </a:solidFill>
                <a:latin typeface="Calibri" pitchFamily="34" charset="0"/>
                <a:ea typeface="Calibri" pitchFamily="34" charset="-122"/>
                <a:cs typeface="Calibri" pitchFamily="34" charset="-120"/>
              </a:rPr>
              <a:t>UN member states each reporting comparable life-table-based mortality indicators to track these targets</a:t>
            </a:r>
            <a:endParaRPr lang="en-US" sz="1100" dirty="0"/>
          </a:p>
        </p:txBody>
      </p:sp>
      <p:sp>
        <p:nvSpPr>
          <p:cNvPr id="10" name="Shape 8"/>
          <p:cNvSpPr/>
          <p:nvPr/>
        </p:nvSpPr>
        <p:spPr>
          <a:xfrm>
            <a:off x="457200" y="3063240"/>
            <a:ext cx="11277295" cy="2651760"/>
          </a:xfrm>
          <a:prstGeom prst="roundRect">
            <a:avLst>
              <a:gd name="adj" fmla="val 2414"/>
            </a:avLst>
          </a:prstGeom>
          <a:solidFill>
            <a:srgbClr val="EEF3F8"/>
          </a:solidFill>
          <a:ln w="9525">
            <a:solidFill>
              <a:srgbClr val="D3E0E9"/>
            </a:solidFill>
            <a:prstDash val="solid"/>
          </a:ln>
        </p:spPr>
        <p:txBody>
          <a:bodyPr/>
          <a:lstStyle/>
          <a:p>
            <a:endParaRPr/>
          </a:p>
        </p:txBody>
      </p:sp>
      <p:sp>
        <p:nvSpPr>
          <p:cNvPr id="11" name="Text 9"/>
          <p:cNvSpPr/>
          <p:nvPr/>
        </p:nvSpPr>
        <p:spPr>
          <a:xfrm>
            <a:off x="777240" y="3291840"/>
            <a:ext cx="10637215" cy="2194560"/>
          </a:xfrm>
          <a:prstGeom prst="rect">
            <a:avLst/>
          </a:prstGeom>
          <a:noFill/>
          <a:ln/>
        </p:spPr>
        <p:txBody>
          <a:bodyPr wrap="square" lIns="0" tIns="0" rIns="0" bIns="0" rtlCol="0" anchor="t"/>
          <a:lstStyle/>
          <a:p>
            <a:pPr marL="0" indent="0">
              <a:lnSpc>
                <a:spcPct val="125000"/>
              </a:lnSpc>
              <a:buNone/>
            </a:pPr>
            <a:r>
              <a:rPr lang="en-US" sz="1450" dirty="0">
                <a:solidFill>
                  <a:srgbClr val="142433"/>
                </a:solidFill>
                <a:latin typeface="Calibri" pitchFamily="34" charset="0"/>
                <a:ea typeface="Calibri" pitchFamily="34" charset="-122"/>
                <a:cs typeface="Calibri" pitchFamily="34" charset="-120"/>
              </a:rPr>
              <a:t>5q0 (the probability of dying before age 5) and e0 are the two life-table indicators most used to compare countries and track progress toward the SDGs. Because every country's 5q0 and e0 come from the same nMx → nqx → lx pipeline built today, they are directly comparable across very different national data systems — one reason international agencies invest heavily in standardizing the construction method (Slide 38).</a:t>
            </a:r>
            <a:endParaRPr lang="en-US" sz="1450" dirty="0"/>
          </a:p>
        </p:txBody>
      </p:sp>
      <p:sp>
        <p:nvSpPr>
          <p:cNvPr id="12" name="Text 10"/>
          <p:cNvSpPr/>
          <p:nvPr/>
        </p:nvSpPr>
        <p:spPr>
          <a:xfrm>
            <a:off x="457200" y="6053328"/>
            <a:ext cx="11277295" cy="420624"/>
          </a:xfrm>
          <a:prstGeom prst="rect">
            <a:avLst/>
          </a:prstGeom>
          <a:noFill/>
          <a:ln/>
        </p:spPr>
        <p:txBody>
          <a:bodyPr wrap="square" lIns="0" tIns="0" rIns="0" bIns="0" rtlCol="0" anchor="t"/>
          <a:lstStyle/>
          <a:p>
            <a:pPr marL="0" indent="0" algn="l">
              <a:buNone/>
            </a:pPr>
            <a:r>
              <a:rPr lang="en-US" sz="800" i="1" dirty="0">
                <a:solidFill>
                  <a:srgbClr val="5B6B79"/>
                </a:solidFill>
                <a:latin typeface="Calibri" pitchFamily="34" charset="0"/>
                <a:ea typeface="Calibri" pitchFamily="34" charset="-122"/>
                <a:cs typeface="Calibri" pitchFamily="34" charset="-120"/>
              </a:rPr>
              <a:t>Sources: United Nations. (2015). Transforming our world: The 2030 Agenda for Sustainable Development (A/RES/70/1). https://sdgs.un.org/2030agenda ; verify current progress figures against the UN SDG Indicators Database, https://unstats.un.org/sdgs/ , before citing in coursework.</a:t>
            </a:r>
            <a:endParaRPr lang="en-US" sz="800" dirty="0"/>
          </a:p>
        </p:txBody>
      </p:sp>
      <p:sp>
        <p:nvSpPr>
          <p:cNvPr id="13" name="Text 11"/>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14" name="Text 12"/>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58 / 80</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400" b="1" kern="0" spc="200" dirty="0">
                <a:solidFill>
                  <a:srgbClr val="1C7293"/>
                </a:solidFill>
                <a:latin typeface="Calibri" pitchFamily="34" charset="0"/>
                <a:ea typeface="Calibri" pitchFamily="34" charset="-122"/>
                <a:cs typeface="Calibri" pitchFamily="34" charset="-120"/>
              </a:rPr>
              <a:t>GROUP WORK 3 · 10–12 MINUTES</a:t>
            </a:r>
            <a:endParaRPr lang="en-US" sz="14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3200" b="1" dirty="0">
                <a:solidFill>
                  <a:srgbClr val="0B3D62"/>
                </a:solidFill>
                <a:latin typeface="Cambria" pitchFamily="34" charset="0"/>
                <a:ea typeface="Cambria" pitchFamily="34" charset="-122"/>
                <a:cs typeface="Cambria" pitchFamily="34" charset="-120"/>
              </a:rPr>
              <a:t>Compare Two Countries' Life-Table Indicators</a:t>
            </a:r>
            <a:endParaRPr lang="en-US" sz="3200" dirty="0"/>
          </a:p>
        </p:txBody>
      </p:sp>
      <p:sp>
        <p:nvSpPr>
          <p:cNvPr id="4" name="Shape 2"/>
          <p:cNvSpPr/>
          <p:nvPr/>
        </p:nvSpPr>
        <p:spPr>
          <a:xfrm>
            <a:off x="457200" y="1600200"/>
            <a:ext cx="2627300" cy="4343400"/>
          </a:xfrm>
          <a:prstGeom prst="roundRect">
            <a:avLst>
              <a:gd name="adj" fmla="val 2436"/>
            </a:avLst>
          </a:prstGeom>
          <a:solidFill>
            <a:srgbClr val="EEF3F8"/>
          </a:solidFill>
          <a:ln w="9525">
            <a:solidFill>
              <a:srgbClr val="D3E0E9"/>
            </a:solidFill>
            <a:prstDash val="solid"/>
          </a:ln>
        </p:spPr>
      </p:sp>
      <p:sp>
        <p:nvSpPr>
          <p:cNvPr id="5" name="Shape 3"/>
          <p:cNvSpPr/>
          <p:nvPr/>
        </p:nvSpPr>
        <p:spPr>
          <a:xfrm>
            <a:off x="694944" y="1837944"/>
            <a:ext cx="457200" cy="457200"/>
          </a:xfrm>
          <a:prstGeom prst="ellipse">
            <a:avLst/>
          </a:prstGeom>
          <a:solidFill>
            <a:srgbClr val="1C7293"/>
          </a:solidFill>
          <a:ln/>
        </p:spPr>
      </p:sp>
      <p:sp>
        <p:nvSpPr>
          <p:cNvPr id="6" name="Text 4"/>
          <p:cNvSpPr/>
          <p:nvPr/>
        </p:nvSpPr>
        <p:spPr>
          <a:xfrm>
            <a:off x="694944"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7" name="Text 5"/>
          <p:cNvSpPr/>
          <p:nvPr/>
        </p:nvSpPr>
        <p:spPr>
          <a:xfrm>
            <a:off x="694944"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Form new groups of 3–4</a:t>
            </a:r>
            <a:endParaRPr lang="en-US" dirty="0"/>
          </a:p>
        </p:txBody>
      </p:sp>
      <p:sp>
        <p:nvSpPr>
          <p:cNvPr id="8" name="Text 6"/>
          <p:cNvSpPr/>
          <p:nvPr/>
        </p:nvSpPr>
        <p:spPr>
          <a:xfrm>
            <a:off x="694944"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Each group selects TWO countries with contrasting income levels or regions from the UN World Population Prospects data portal (population.un.org/wpp) or the WHO Global Health Observatory (who.int/data/gho).</a:t>
            </a:r>
            <a:endParaRPr lang="en-US" sz="1400" dirty="0"/>
          </a:p>
        </p:txBody>
      </p:sp>
      <p:sp>
        <p:nvSpPr>
          <p:cNvPr id="9" name="Shape 7"/>
          <p:cNvSpPr/>
          <p:nvPr/>
        </p:nvSpPr>
        <p:spPr>
          <a:xfrm>
            <a:off x="3340532" y="1600200"/>
            <a:ext cx="2627300" cy="4343400"/>
          </a:xfrm>
          <a:prstGeom prst="roundRect">
            <a:avLst>
              <a:gd name="adj" fmla="val 2436"/>
            </a:avLst>
          </a:prstGeom>
          <a:solidFill>
            <a:srgbClr val="EEF3F8"/>
          </a:solidFill>
          <a:ln w="9525">
            <a:solidFill>
              <a:srgbClr val="D3E0E9"/>
            </a:solidFill>
            <a:prstDash val="solid"/>
          </a:ln>
        </p:spPr>
      </p:sp>
      <p:sp>
        <p:nvSpPr>
          <p:cNvPr id="10" name="Shape 8"/>
          <p:cNvSpPr/>
          <p:nvPr/>
        </p:nvSpPr>
        <p:spPr>
          <a:xfrm>
            <a:off x="3578276" y="1837944"/>
            <a:ext cx="457200" cy="457200"/>
          </a:xfrm>
          <a:prstGeom prst="ellipse">
            <a:avLst/>
          </a:prstGeom>
          <a:solidFill>
            <a:srgbClr val="1C7293"/>
          </a:solidFill>
          <a:ln/>
        </p:spPr>
      </p:sp>
      <p:sp>
        <p:nvSpPr>
          <p:cNvPr id="11" name="Text 9"/>
          <p:cNvSpPr/>
          <p:nvPr/>
        </p:nvSpPr>
        <p:spPr>
          <a:xfrm>
            <a:off x="3578276"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2" name="Text 10"/>
          <p:cNvSpPr/>
          <p:nvPr/>
        </p:nvSpPr>
        <p:spPr>
          <a:xfrm>
            <a:off x="3578276"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Locate e0 and 5q0</a:t>
            </a:r>
            <a:endParaRPr lang="en-US" dirty="0"/>
          </a:p>
        </p:txBody>
      </p:sp>
      <p:sp>
        <p:nvSpPr>
          <p:cNvPr id="13" name="Text 11"/>
          <p:cNvSpPr/>
          <p:nvPr/>
        </p:nvSpPr>
        <p:spPr>
          <a:xfrm>
            <a:off x="3578276"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Using each country's most recent published life table, record e0 and 5q0 (or the closest available under-5 mortality measure) for both selected countries.</a:t>
            </a:r>
            <a:endParaRPr lang="en-US" sz="1400" dirty="0"/>
          </a:p>
        </p:txBody>
      </p:sp>
      <p:sp>
        <p:nvSpPr>
          <p:cNvPr id="14" name="Shape 12"/>
          <p:cNvSpPr/>
          <p:nvPr/>
        </p:nvSpPr>
        <p:spPr>
          <a:xfrm>
            <a:off x="6223864" y="1600200"/>
            <a:ext cx="2627300" cy="4343400"/>
          </a:xfrm>
          <a:prstGeom prst="roundRect">
            <a:avLst>
              <a:gd name="adj" fmla="val 2436"/>
            </a:avLst>
          </a:prstGeom>
          <a:solidFill>
            <a:srgbClr val="EEF3F8"/>
          </a:solidFill>
          <a:ln w="9525">
            <a:solidFill>
              <a:srgbClr val="D3E0E9"/>
            </a:solidFill>
            <a:prstDash val="solid"/>
          </a:ln>
        </p:spPr>
      </p:sp>
      <p:sp>
        <p:nvSpPr>
          <p:cNvPr id="15" name="Shape 13"/>
          <p:cNvSpPr/>
          <p:nvPr/>
        </p:nvSpPr>
        <p:spPr>
          <a:xfrm>
            <a:off x="6461608" y="1837944"/>
            <a:ext cx="457200" cy="457200"/>
          </a:xfrm>
          <a:prstGeom prst="ellipse">
            <a:avLst/>
          </a:prstGeom>
          <a:solidFill>
            <a:srgbClr val="1C7293"/>
          </a:solidFill>
          <a:ln/>
        </p:spPr>
      </p:sp>
      <p:sp>
        <p:nvSpPr>
          <p:cNvPr id="16" name="Text 14"/>
          <p:cNvSpPr/>
          <p:nvPr/>
        </p:nvSpPr>
        <p:spPr>
          <a:xfrm>
            <a:off x="6461608"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7" name="Text 15"/>
          <p:cNvSpPr/>
          <p:nvPr/>
        </p:nvSpPr>
        <p:spPr>
          <a:xfrm>
            <a:off x="6461608"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Discuss the gap</a:t>
            </a:r>
            <a:endParaRPr lang="en-US" dirty="0"/>
          </a:p>
        </p:txBody>
      </p:sp>
      <p:sp>
        <p:nvSpPr>
          <p:cNvPr id="18" name="Text 16"/>
          <p:cNvSpPr/>
          <p:nvPr/>
        </p:nvSpPr>
        <p:spPr>
          <a:xfrm>
            <a:off x="6461608"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How large is the e0 gap between your two countries? Which single age range (infancy, young-adult, old-age) do you suspect drives most of it, and why?</a:t>
            </a:r>
            <a:endParaRPr lang="en-US" sz="1400" dirty="0"/>
          </a:p>
        </p:txBody>
      </p:sp>
      <p:sp>
        <p:nvSpPr>
          <p:cNvPr id="19" name="Shape 17"/>
          <p:cNvSpPr/>
          <p:nvPr/>
        </p:nvSpPr>
        <p:spPr>
          <a:xfrm>
            <a:off x="9107195" y="1600200"/>
            <a:ext cx="2627300" cy="4343400"/>
          </a:xfrm>
          <a:prstGeom prst="roundRect">
            <a:avLst>
              <a:gd name="adj" fmla="val 2436"/>
            </a:avLst>
          </a:prstGeom>
          <a:solidFill>
            <a:srgbClr val="EEF3F8"/>
          </a:solidFill>
          <a:ln w="9525">
            <a:solidFill>
              <a:srgbClr val="D3E0E9"/>
            </a:solidFill>
            <a:prstDash val="solid"/>
          </a:ln>
        </p:spPr>
      </p:sp>
      <p:sp>
        <p:nvSpPr>
          <p:cNvPr id="20" name="Shape 18"/>
          <p:cNvSpPr/>
          <p:nvPr/>
        </p:nvSpPr>
        <p:spPr>
          <a:xfrm>
            <a:off x="9344939" y="1837944"/>
            <a:ext cx="457200" cy="457200"/>
          </a:xfrm>
          <a:prstGeom prst="ellipse">
            <a:avLst/>
          </a:prstGeom>
          <a:solidFill>
            <a:srgbClr val="1C7293"/>
          </a:solidFill>
          <a:ln/>
        </p:spPr>
      </p:sp>
      <p:sp>
        <p:nvSpPr>
          <p:cNvPr id="21" name="Text 19"/>
          <p:cNvSpPr/>
          <p:nvPr/>
        </p:nvSpPr>
        <p:spPr>
          <a:xfrm>
            <a:off x="9344939"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22" name="Text 20"/>
          <p:cNvSpPr/>
          <p:nvPr/>
        </p:nvSpPr>
        <p:spPr>
          <a:xfrm>
            <a:off x="9344939"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Report back</a:t>
            </a:r>
            <a:endParaRPr lang="en-US" dirty="0"/>
          </a:p>
        </p:txBody>
      </p:sp>
      <p:sp>
        <p:nvSpPr>
          <p:cNvPr id="23" name="Text 21"/>
          <p:cNvSpPr/>
          <p:nvPr/>
        </p:nvSpPr>
        <p:spPr>
          <a:xfrm>
            <a:off x="9344939"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State the two countries, their e0 and 5q0 values, your source and reference period, and the group's hypothesis about what drives the gap.</a:t>
            </a:r>
            <a:endParaRPr lang="en-US" sz="1400" dirty="0"/>
          </a:p>
        </p:txBody>
      </p:sp>
      <p:sp>
        <p:nvSpPr>
          <p:cNvPr id="24" name="Text 22"/>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5140602 Fundamental Demographic Analysis – Session 5</a:t>
            </a:r>
            <a:endParaRPr lang="en-US" sz="1000" dirty="0"/>
          </a:p>
        </p:txBody>
      </p:sp>
      <p:sp>
        <p:nvSpPr>
          <p:cNvPr id="25" name="Text 23"/>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59 / 80</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400" b="1" kern="0" spc="200" dirty="0">
                <a:solidFill>
                  <a:srgbClr val="1C7293"/>
                </a:solidFill>
                <a:latin typeface="Calibri" pitchFamily="34" charset="0"/>
                <a:ea typeface="Calibri" pitchFamily="34" charset="-122"/>
                <a:cs typeface="Calibri" pitchFamily="34" charset="-120"/>
              </a:rPr>
              <a:t>CHECKPOINT</a:t>
            </a:r>
            <a:endParaRPr lang="en-US" sz="14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3200" b="1" dirty="0">
                <a:solidFill>
                  <a:srgbClr val="0B3D62"/>
                </a:solidFill>
                <a:latin typeface="Cambria" pitchFamily="34" charset="0"/>
                <a:ea typeface="Cambria" pitchFamily="34" charset="-122"/>
                <a:cs typeface="Cambria" pitchFamily="34" charset="-120"/>
              </a:rPr>
              <a:t>Recap: What We've Built So Far (Blocks 1–3)</a:t>
            </a:r>
            <a:endParaRPr lang="en-US" sz="3200" dirty="0"/>
          </a:p>
        </p:txBody>
      </p:sp>
      <p:sp>
        <p:nvSpPr>
          <p:cNvPr id="4" name="Shape 2"/>
          <p:cNvSpPr/>
          <p:nvPr/>
        </p:nvSpPr>
        <p:spPr>
          <a:xfrm>
            <a:off x="457200" y="1600200"/>
            <a:ext cx="2627300" cy="4343400"/>
          </a:xfrm>
          <a:prstGeom prst="roundRect">
            <a:avLst>
              <a:gd name="adj" fmla="val 2436"/>
            </a:avLst>
          </a:prstGeom>
          <a:solidFill>
            <a:srgbClr val="EEF3F8"/>
          </a:solidFill>
          <a:ln w="9525">
            <a:solidFill>
              <a:srgbClr val="D3E0E9"/>
            </a:solidFill>
            <a:prstDash val="solid"/>
          </a:ln>
        </p:spPr>
      </p:sp>
      <p:sp>
        <p:nvSpPr>
          <p:cNvPr id="5" name="Shape 3"/>
          <p:cNvSpPr/>
          <p:nvPr/>
        </p:nvSpPr>
        <p:spPr>
          <a:xfrm>
            <a:off x="694944" y="1837944"/>
            <a:ext cx="457200" cy="457200"/>
          </a:xfrm>
          <a:prstGeom prst="ellipse">
            <a:avLst/>
          </a:prstGeom>
          <a:solidFill>
            <a:srgbClr val="1C7293"/>
          </a:solidFill>
          <a:ln/>
        </p:spPr>
      </p:sp>
      <p:sp>
        <p:nvSpPr>
          <p:cNvPr id="6" name="Text 4"/>
          <p:cNvSpPr/>
          <p:nvPr/>
        </p:nvSpPr>
        <p:spPr>
          <a:xfrm>
            <a:off x="694944"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7" name="Text 5"/>
          <p:cNvSpPr/>
          <p:nvPr/>
        </p:nvSpPr>
        <p:spPr>
          <a:xfrm>
            <a:off x="694944"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The seven-column pipeline</a:t>
            </a:r>
            <a:endParaRPr lang="en-US" dirty="0"/>
          </a:p>
        </p:txBody>
      </p:sp>
      <p:sp>
        <p:nvSpPr>
          <p:cNvPr id="8" name="Text 6"/>
          <p:cNvSpPr/>
          <p:nvPr/>
        </p:nvSpPr>
        <p:spPr>
          <a:xfrm>
            <a:off x="694944"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nMx → nqx → lx → ndx → nLx → Tx → ex — you have now built this pipeline twice, by hand, on two independently different mortality schedules.</a:t>
            </a:r>
            <a:endParaRPr lang="en-US" sz="1400" dirty="0"/>
          </a:p>
        </p:txBody>
      </p:sp>
      <p:sp>
        <p:nvSpPr>
          <p:cNvPr id="9" name="Shape 7"/>
          <p:cNvSpPr/>
          <p:nvPr/>
        </p:nvSpPr>
        <p:spPr>
          <a:xfrm>
            <a:off x="3340532" y="1600200"/>
            <a:ext cx="2627300" cy="4343400"/>
          </a:xfrm>
          <a:prstGeom prst="roundRect">
            <a:avLst>
              <a:gd name="adj" fmla="val 2436"/>
            </a:avLst>
          </a:prstGeom>
          <a:solidFill>
            <a:srgbClr val="EEF3F8"/>
          </a:solidFill>
          <a:ln w="9525">
            <a:solidFill>
              <a:srgbClr val="D3E0E9"/>
            </a:solidFill>
            <a:prstDash val="solid"/>
          </a:ln>
        </p:spPr>
      </p:sp>
      <p:sp>
        <p:nvSpPr>
          <p:cNvPr id="10" name="Shape 8"/>
          <p:cNvSpPr/>
          <p:nvPr/>
        </p:nvSpPr>
        <p:spPr>
          <a:xfrm>
            <a:off x="3578276" y="1837944"/>
            <a:ext cx="457200" cy="457200"/>
          </a:xfrm>
          <a:prstGeom prst="ellipse">
            <a:avLst/>
          </a:prstGeom>
          <a:solidFill>
            <a:srgbClr val="1C7293"/>
          </a:solidFill>
          <a:ln/>
        </p:spPr>
      </p:sp>
      <p:sp>
        <p:nvSpPr>
          <p:cNvPr id="11" name="Text 9"/>
          <p:cNvSpPr/>
          <p:nvPr/>
        </p:nvSpPr>
        <p:spPr>
          <a:xfrm>
            <a:off x="3578276"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12" name="Text 10"/>
          <p:cNvSpPr/>
          <p:nvPr/>
        </p:nvSpPr>
        <p:spPr>
          <a:xfrm>
            <a:off x="3578276"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Real construction is messier</a:t>
            </a:r>
            <a:endParaRPr lang="en-US" dirty="0"/>
          </a:p>
        </p:txBody>
      </p:sp>
      <p:sp>
        <p:nvSpPr>
          <p:cNvPr id="13" name="Text 11"/>
          <p:cNvSpPr/>
          <p:nvPr/>
        </p:nvSpPr>
        <p:spPr>
          <a:xfrm>
            <a:off x="3578276"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Official life tables reconcile CRVS deaths, census population, and cause-of-death data across separate institutions — not a single clean input file.</a:t>
            </a:r>
            <a:endParaRPr lang="en-US" sz="1400" dirty="0"/>
          </a:p>
        </p:txBody>
      </p:sp>
      <p:sp>
        <p:nvSpPr>
          <p:cNvPr id="14" name="Shape 12"/>
          <p:cNvSpPr/>
          <p:nvPr/>
        </p:nvSpPr>
        <p:spPr>
          <a:xfrm>
            <a:off x="6223864" y="1600200"/>
            <a:ext cx="2627300" cy="4343400"/>
          </a:xfrm>
          <a:prstGeom prst="roundRect">
            <a:avLst>
              <a:gd name="adj" fmla="val 2436"/>
            </a:avLst>
          </a:prstGeom>
          <a:solidFill>
            <a:srgbClr val="EEF3F8"/>
          </a:solidFill>
          <a:ln w="9525">
            <a:solidFill>
              <a:srgbClr val="D3E0E9"/>
            </a:solidFill>
            <a:prstDash val="solid"/>
          </a:ln>
        </p:spPr>
      </p:sp>
      <p:sp>
        <p:nvSpPr>
          <p:cNvPr id="15" name="Shape 13"/>
          <p:cNvSpPr/>
          <p:nvPr/>
        </p:nvSpPr>
        <p:spPr>
          <a:xfrm>
            <a:off x="6461608" y="1837944"/>
            <a:ext cx="457200" cy="457200"/>
          </a:xfrm>
          <a:prstGeom prst="ellipse">
            <a:avLst/>
          </a:prstGeom>
          <a:solidFill>
            <a:srgbClr val="1C7293"/>
          </a:solidFill>
          <a:ln/>
        </p:spPr>
      </p:sp>
      <p:sp>
        <p:nvSpPr>
          <p:cNvPr id="16" name="Text 14"/>
          <p:cNvSpPr/>
          <p:nvPr/>
        </p:nvSpPr>
        <p:spPr>
          <a:xfrm>
            <a:off x="6461608"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17" name="Text 15"/>
          <p:cNvSpPr/>
          <p:nvPr/>
        </p:nvSpPr>
        <p:spPr>
          <a:xfrm>
            <a:off x="6461608"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The two classic error sites</a:t>
            </a:r>
            <a:endParaRPr lang="en-US" dirty="0"/>
          </a:p>
        </p:txBody>
      </p:sp>
      <p:sp>
        <p:nvSpPr>
          <p:cNvPr id="18" name="Text 16"/>
          <p:cNvSpPr/>
          <p:nvPr/>
        </p:nvSpPr>
        <p:spPr>
          <a:xfrm>
            <a:off x="6461608"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Age 0 (a0 ≠ n/2) and the open interval (Lω = lω/Mω) are where most construction bugs hide — and where the verification checklist in Block 4 focuses first.</a:t>
            </a:r>
            <a:endParaRPr lang="en-US" sz="1400" dirty="0"/>
          </a:p>
        </p:txBody>
      </p:sp>
      <p:sp>
        <p:nvSpPr>
          <p:cNvPr id="19" name="Shape 17"/>
          <p:cNvSpPr/>
          <p:nvPr/>
        </p:nvSpPr>
        <p:spPr>
          <a:xfrm>
            <a:off x="9107195" y="1600200"/>
            <a:ext cx="2627300" cy="4343400"/>
          </a:xfrm>
          <a:prstGeom prst="roundRect">
            <a:avLst>
              <a:gd name="adj" fmla="val 2436"/>
            </a:avLst>
          </a:prstGeom>
          <a:solidFill>
            <a:srgbClr val="EEF3F8"/>
          </a:solidFill>
          <a:ln w="9525">
            <a:solidFill>
              <a:srgbClr val="D3E0E9"/>
            </a:solidFill>
            <a:prstDash val="solid"/>
          </a:ln>
        </p:spPr>
      </p:sp>
      <p:sp>
        <p:nvSpPr>
          <p:cNvPr id="20" name="Shape 18"/>
          <p:cNvSpPr/>
          <p:nvPr/>
        </p:nvSpPr>
        <p:spPr>
          <a:xfrm>
            <a:off x="9344939" y="1837944"/>
            <a:ext cx="457200" cy="457200"/>
          </a:xfrm>
          <a:prstGeom prst="ellipse">
            <a:avLst/>
          </a:prstGeom>
          <a:solidFill>
            <a:srgbClr val="1C7293"/>
          </a:solidFill>
          <a:ln/>
        </p:spPr>
      </p:sp>
      <p:sp>
        <p:nvSpPr>
          <p:cNvPr id="21" name="Text 19"/>
          <p:cNvSpPr/>
          <p:nvPr/>
        </p:nvSpPr>
        <p:spPr>
          <a:xfrm>
            <a:off x="9344939"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22" name="Text 20"/>
          <p:cNvSpPr/>
          <p:nvPr/>
        </p:nvSpPr>
        <p:spPr>
          <a:xfrm>
            <a:off x="9344939"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Not just an academic exercise</a:t>
            </a:r>
            <a:endParaRPr lang="en-US" dirty="0"/>
          </a:p>
        </p:txBody>
      </p:sp>
      <p:sp>
        <p:nvSpPr>
          <p:cNvPr id="23" name="Text 21"/>
          <p:cNvSpPr/>
          <p:nvPr/>
        </p:nvSpPr>
        <p:spPr>
          <a:xfrm>
            <a:off x="9344939"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Actuarial pricing, HALE, pension design, and population projections — just covered — all run on exactly this pipeline; Block 4 now turns to building it with modern tools.</a:t>
            </a:r>
            <a:endParaRPr lang="en-US" sz="1400" dirty="0"/>
          </a:p>
        </p:txBody>
      </p:sp>
      <p:sp>
        <p:nvSpPr>
          <p:cNvPr id="24" name="Text 22"/>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5140602 Fundamental Demographic Analysis – Session 5</a:t>
            </a:r>
            <a:endParaRPr lang="en-US" sz="1000" dirty="0"/>
          </a:p>
        </p:txBody>
      </p:sp>
      <p:sp>
        <p:nvSpPr>
          <p:cNvPr id="25" name="Text 23"/>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60 / 80</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57200" y="2286000"/>
            <a:ext cx="10058400" cy="365760"/>
          </a:xfrm>
          <a:prstGeom prst="rect">
            <a:avLst/>
          </a:prstGeom>
          <a:noFill/>
          <a:ln/>
        </p:spPr>
        <p:txBody>
          <a:bodyPr wrap="square" lIns="0" tIns="0" rIns="0" bIns="0" rtlCol="0" anchor="ctr"/>
          <a:lstStyle/>
          <a:p>
            <a:pPr marL="0" indent="0">
              <a:buNone/>
            </a:pPr>
            <a:r>
              <a:rPr lang="en-US" sz="1400" b="1" kern="0" spc="200" dirty="0">
                <a:latin typeface="Calibri" pitchFamily="34" charset="0"/>
                <a:ea typeface="Calibri" pitchFamily="34" charset="-122"/>
                <a:cs typeface="Calibri" pitchFamily="34" charset="-120"/>
              </a:rPr>
              <a:t>BLOCK3</a:t>
            </a:r>
            <a:endParaRPr lang="en-US" sz="1400" dirty="0"/>
          </a:p>
        </p:txBody>
      </p:sp>
      <p:sp>
        <p:nvSpPr>
          <p:cNvPr id="4" name="Text 2"/>
          <p:cNvSpPr/>
          <p:nvPr/>
        </p:nvSpPr>
        <p:spPr>
          <a:xfrm>
            <a:off x="457200" y="2697480"/>
            <a:ext cx="10789920" cy="1554480"/>
          </a:xfrm>
          <a:prstGeom prst="rect">
            <a:avLst/>
          </a:prstGeom>
          <a:noFill/>
          <a:ln/>
        </p:spPr>
        <p:txBody>
          <a:bodyPr wrap="square" lIns="0" tIns="0" rIns="0" bIns="0" rtlCol="0" anchor="ctr"/>
          <a:lstStyle/>
          <a:p>
            <a:pPr marL="0" indent="0">
              <a:lnSpc>
                <a:spcPct val="105000"/>
              </a:lnSpc>
              <a:buNone/>
            </a:pPr>
            <a:r>
              <a:rPr lang="en-US" sz="3400" b="1" dirty="0">
                <a:latin typeface="Cambria" pitchFamily="34" charset="0"/>
                <a:ea typeface="Cambria" pitchFamily="34" charset="-122"/>
                <a:cs typeface="Cambria" pitchFamily="34" charset="-120"/>
              </a:rPr>
              <a:t>How Life Tables Are Actually Built in Practice</a:t>
            </a:r>
            <a:endParaRPr lang="en-US" sz="3400" dirty="0"/>
          </a:p>
        </p:txBody>
      </p:sp>
      <p:sp>
        <p:nvSpPr>
          <p:cNvPr id="5" name="Text 3"/>
          <p:cNvSpPr/>
          <p:nvPr/>
        </p:nvSpPr>
        <p:spPr>
          <a:xfrm>
            <a:off x="457200" y="4023360"/>
            <a:ext cx="9601200" cy="914400"/>
          </a:xfrm>
          <a:prstGeom prst="rect">
            <a:avLst/>
          </a:prstGeom>
          <a:noFill/>
          <a:ln/>
        </p:spPr>
        <p:txBody>
          <a:bodyPr wrap="square" lIns="0" tIns="0" rIns="0" bIns="0" rtlCol="0" anchor="t"/>
          <a:lstStyle/>
          <a:p>
            <a:pPr marL="0" indent="0">
              <a:buNone/>
            </a:pPr>
            <a:r>
              <a:rPr lang="en-US" sz="1500" i="1" dirty="0">
                <a:latin typeface="Calibri" pitchFamily="34" charset="0"/>
                <a:ea typeface="Calibri" pitchFamily="34" charset="-122"/>
                <a:cs typeface="Calibri" pitchFamily="34" charset="-120"/>
              </a:rPr>
              <a:t>Moving from the idealized formulas of Block 1 to the real data, real institutions, and real messiness behind every published life table.</a:t>
            </a:r>
            <a:endParaRPr lang="en-US" sz="1500" dirty="0"/>
          </a:p>
        </p:txBody>
      </p:sp>
      <p:sp>
        <p:nvSpPr>
          <p:cNvPr id="6" name="Text 4"/>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latin typeface="Calibri" pitchFamily="34" charset="0"/>
                <a:ea typeface="Calibri" pitchFamily="34" charset="-122"/>
                <a:cs typeface="Calibri" pitchFamily="34" charset="-120"/>
              </a:rPr>
              <a:t>5140602 Fundamental Demographic Analysis – Session 5</a:t>
            </a:r>
            <a:endParaRPr lang="en-US" sz="850" dirty="0"/>
          </a:p>
        </p:txBody>
      </p:sp>
      <p:sp>
        <p:nvSpPr>
          <p:cNvPr id="7" name="Text 5"/>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latin typeface="Calibri" pitchFamily="34" charset="0"/>
                <a:ea typeface="Calibri" pitchFamily="34" charset="-122"/>
                <a:cs typeface="Calibri" pitchFamily="34" charset="-120"/>
              </a:rPr>
              <a:t>32 / 80</a:t>
            </a:r>
            <a:endParaRPr lang="en-US" sz="850" dirty="0"/>
          </a:p>
        </p:txBody>
      </p:sp>
    </p:spTree>
    <p:extLst>
      <p:ext uri="{BB962C8B-B14F-4D97-AF65-F5344CB8AC3E}">
        <p14:creationId xmlns:p14="http://schemas.microsoft.com/office/powerpoint/2010/main" val="14303138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REAL INPUTS</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Where the Real Input Data Actually Comes From: Thailand</a:t>
            </a:r>
            <a:endParaRPr lang="en-US" sz="2700" dirty="0"/>
          </a:p>
        </p:txBody>
      </p:sp>
      <p:sp>
        <p:nvSpPr>
          <p:cNvPr id="4" name="Shape 2"/>
          <p:cNvSpPr/>
          <p:nvPr/>
        </p:nvSpPr>
        <p:spPr>
          <a:xfrm>
            <a:off x="457200" y="1481328"/>
            <a:ext cx="3588410" cy="2788920"/>
          </a:xfrm>
          <a:prstGeom prst="roundRect">
            <a:avLst>
              <a:gd name="adj" fmla="val 2295"/>
            </a:avLst>
          </a:prstGeom>
          <a:solidFill>
            <a:srgbClr val="EEF3F8"/>
          </a:solidFill>
          <a:ln w="9525">
            <a:solidFill>
              <a:srgbClr val="D3E0E9"/>
            </a:solidFill>
            <a:prstDash val="solid"/>
          </a:ln>
        </p:spPr>
      </p:sp>
      <p:sp>
        <p:nvSpPr>
          <p:cNvPr id="5" name="Text 3"/>
          <p:cNvSpPr/>
          <p:nvPr/>
        </p:nvSpPr>
        <p:spPr>
          <a:xfrm>
            <a:off x="694944" y="1792224"/>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Deaths: civil registration (CRVS)</a:t>
            </a:r>
            <a:endParaRPr lang="en-US" sz="1450" dirty="0"/>
          </a:p>
        </p:txBody>
      </p:sp>
      <p:sp>
        <p:nvSpPr>
          <p:cNvPr id="6" name="Text 4"/>
          <p:cNvSpPr/>
          <p:nvPr/>
        </p:nvSpPr>
        <p:spPr>
          <a:xfrm>
            <a:off x="694944" y="2322576"/>
            <a:ext cx="3112922" cy="1764792"/>
          </a:xfrm>
          <a:prstGeom prst="rect">
            <a:avLst/>
          </a:prstGeom>
          <a:noFill/>
          <a:ln/>
        </p:spPr>
        <p:txBody>
          <a:bodyPr wrap="square" lIns="0" tIns="0" rIns="0" bIns="0" rtlCol="0" anchor="t"/>
          <a:lstStyle/>
          <a:p>
            <a:pPr marL="0" indent="0" algn="l">
              <a:lnSpc>
                <a:spcPct val="112000"/>
              </a:lnSpc>
              <a:buNone/>
            </a:pPr>
            <a:r>
              <a:rPr lang="en-US" sz="1100" dirty="0">
                <a:solidFill>
                  <a:srgbClr val="142433"/>
                </a:solidFill>
                <a:latin typeface="Calibri" pitchFamily="34" charset="0"/>
                <a:ea typeface="Calibri" pitchFamily="34" charset="-122"/>
                <a:cs typeface="Calibri" pitchFamily="34" charset="-120"/>
              </a:rPr>
              <a:t>Death registration is the responsibility of the Ministry of Interior's Bureau of Registration Administration (BORA), Department of Local Administration — deaths must be registered within 24 hours, free of charge.</a:t>
            </a:r>
            <a:endParaRPr lang="en-US" sz="1100" dirty="0"/>
          </a:p>
        </p:txBody>
      </p:sp>
      <p:sp>
        <p:nvSpPr>
          <p:cNvPr id="7" name="Shape 5"/>
          <p:cNvSpPr/>
          <p:nvPr/>
        </p:nvSpPr>
        <p:spPr>
          <a:xfrm>
            <a:off x="4301642" y="1481328"/>
            <a:ext cx="3588410" cy="2788920"/>
          </a:xfrm>
          <a:prstGeom prst="roundRect">
            <a:avLst>
              <a:gd name="adj" fmla="val 2295"/>
            </a:avLst>
          </a:prstGeom>
          <a:solidFill>
            <a:srgbClr val="EEF3F8"/>
          </a:solidFill>
          <a:ln w="9525">
            <a:solidFill>
              <a:srgbClr val="D3E0E9"/>
            </a:solidFill>
            <a:prstDash val="solid"/>
          </a:ln>
        </p:spPr>
      </p:sp>
      <p:sp>
        <p:nvSpPr>
          <p:cNvPr id="8" name="Text 6"/>
          <p:cNvSpPr/>
          <p:nvPr/>
        </p:nvSpPr>
        <p:spPr>
          <a:xfrm>
            <a:off x="4539386" y="1792224"/>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Vital statistics: Ministry of Public Health</a:t>
            </a:r>
            <a:endParaRPr lang="en-US" sz="1450" dirty="0"/>
          </a:p>
        </p:txBody>
      </p:sp>
      <p:sp>
        <p:nvSpPr>
          <p:cNvPr id="9" name="Text 7"/>
          <p:cNvSpPr/>
          <p:nvPr/>
        </p:nvSpPr>
        <p:spPr>
          <a:xfrm>
            <a:off x="4539386" y="2322576"/>
            <a:ext cx="3112922" cy="1764792"/>
          </a:xfrm>
          <a:prstGeom prst="rect">
            <a:avLst/>
          </a:prstGeom>
          <a:noFill/>
          <a:ln/>
        </p:spPr>
        <p:txBody>
          <a:bodyPr wrap="square" lIns="0" tIns="0" rIns="0" bIns="0" rtlCol="0" anchor="t"/>
          <a:lstStyle/>
          <a:p>
            <a:pPr marL="0" indent="0" algn="l">
              <a:lnSpc>
                <a:spcPct val="112000"/>
              </a:lnSpc>
              <a:buNone/>
            </a:pPr>
            <a:r>
              <a:rPr lang="en-US" sz="1100" dirty="0">
                <a:solidFill>
                  <a:srgbClr val="142433"/>
                </a:solidFill>
                <a:latin typeface="Calibri" pitchFamily="34" charset="0"/>
                <a:ea typeface="Calibri" pitchFamily="34" charset="-122"/>
                <a:cs typeface="Calibri" pitchFamily="34" charset="-120"/>
              </a:rPr>
              <a:t>MOPH compiles cause-specific mortality statistics using MOI registration data plus health-sector records; the two ministries have collaborated on data-matching since 1996.</a:t>
            </a:r>
            <a:endParaRPr lang="en-US" sz="1100" dirty="0"/>
          </a:p>
        </p:txBody>
      </p:sp>
      <p:sp>
        <p:nvSpPr>
          <p:cNvPr id="10" name="Shape 8"/>
          <p:cNvSpPr/>
          <p:nvPr/>
        </p:nvSpPr>
        <p:spPr>
          <a:xfrm>
            <a:off x="8146085" y="1481328"/>
            <a:ext cx="3588410" cy="2788920"/>
          </a:xfrm>
          <a:prstGeom prst="roundRect">
            <a:avLst>
              <a:gd name="adj" fmla="val 2295"/>
            </a:avLst>
          </a:prstGeom>
          <a:solidFill>
            <a:srgbClr val="EEF3F8"/>
          </a:solidFill>
          <a:ln w="9525">
            <a:solidFill>
              <a:srgbClr val="D3E0E9"/>
            </a:solidFill>
            <a:prstDash val="solid"/>
          </a:ln>
        </p:spPr>
      </p:sp>
      <p:sp>
        <p:nvSpPr>
          <p:cNvPr id="11" name="Text 9"/>
          <p:cNvSpPr/>
          <p:nvPr/>
        </p:nvSpPr>
        <p:spPr>
          <a:xfrm>
            <a:off x="8383829" y="1792224"/>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Population: census &amp; intercensal estimates</a:t>
            </a:r>
            <a:endParaRPr lang="en-US" sz="1450" dirty="0"/>
          </a:p>
        </p:txBody>
      </p:sp>
      <p:sp>
        <p:nvSpPr>
          <p:cNvPr id="12" name="Text 10"/>
          <p:cNvSpPr/>
          <p:nvPr/>
        </p:nvSpPr>
        <p:spPr>
          <a:xfrm>
            <a:off x="8383829" y="2322576"/>
            <a:ext cx="3112922" cy="1764792"/>
          </a:xfrm>
          <a:prstGeom prst="rect">
            <a:avLst/>
          </a:prstGeom>
          <a:noFill/>
          <a:ln/>
        </p:spPr>
        <p:txBody>
          <a:bodyPr wrap="square" lIns="0" tIns="0" rIns="0" bIns="0" rtlCol="0" anchor="t"/>
          <a:lstStyle/>
          <a:p>
            <a:pPr marL="0" indent="0" algn="l">
              <a:lnSpc>
                <a:spcPct val="112000"/>
              </a:lnSpc>
              <a:buNone/>
            </a:pPr>
            <a:r>
              <a:rPr lang="en-US" sz="1100" dirty="0">
                <a:solidFill>
                  <a:srgbClr val="142433"/>
                </a:solidFill>
                <a:latin typeface="Calibri" pitchFamily="34" charset="0"/>
                <a:ea typeface="Calibri" pitchFamily="34" charset="-122"/>
                <a:cs typeface="Calibri" pitchFamily="34" charset="-120"/>
              </a:rPr>
              <a:t>The National Statistical Office (NSO) conducts the population census and produces intercensal population estimates and projections used as the nNx denominator.</a:t>
            </a:r>
            <a:endParaRPr lang="en-US" sz="1100" dirty="0"/>
          </a:p>
        </p:txBody>
      </p:sp>
      <p:sp>
        <p:nvSpPr>
          <p:cNvPr id="13" name="Shape 11"/>
          <p:cNvSpPr/>
          <p:nvPr/>
        </p:nvSpPr>
        <p:spPr>
          <a:xfrm>
            <a:off x="457200" y="4480560"/>
            <a:ext cx="11277295" cy="1417320"/>
          </a:xfrm>
          <a:prstGeom prst="roundRect">
            <a:avLst>
              <a:gd name="adj" fmla="val 4516"/>
            </a:avLst>
          </a:prstGeom>
          <a:solidFill>
            <a:srgbClr val="E1EAF2"/>
          </a:solidFill>
          <a:ln w="9525">
            <a:solidFill>
              <a:srgbClr val="D3E0E9"/>
            </a:solidFill>
            <a:prstDash val="solid"/>
          </a:ln>
        </p:spPr>
      </p:sp>
      <p:sp>
        <p:nvSpPr>
          <p:cNvPr id="14" name="Text 12"/>
          <p:cNvSpPr/>
          <p:nvPr/>
        </p:nvSpPr>
        <p:spPr>
          <a:xfrm>
            <a:off x="731520" y="4663440"/>
            <a:ext cx="10728655" cy="1097280"/>
          </a:xfrm>
          <a:prstGeom prst="rect">
            <a:avLst/>
          </a:prstGeom>
          <a:noFill/>
          <a:ln/>
        </p:spPr>
        <p:txBody>
          <a:bodyPr wrap="square" lIns="0" tIns="0" rIns="0" bIns="0" rtlCol="0" anchor="t"/>
          <a:lstStyle/>
          <a:p>
            <a:pPr marL="0" indent="0">
              <a:lnSpc>
                <a:spcPct val="120000"/>
              </a:lnSpc>
              <a:buNone/>
            </a:pPr>
            <a:r>
              <a:rPr lang="en-US" sz="1150" dirty="0">
                <a:solidFill>
                  <a:srgbClr val="142433"/>
                </a:solidFill>
                <a:latin typeface="Calibri" pitchFamily="34" charset="0"/>
                <a:ea typeface="Calibri" pitchFamily="34" charset="-122"/>
                <a:cs typeface="Calibri" pitchFamily="34" charset="-120"/>
              </a:rPr>
              <a:t>Thailand's civil registration was already close to complete by the start of the UN CRVS Decade (≈98% of births and deaths registered); by 2024, essentially all deaths occurring within the health sector are documented. Remaining gaps concentrate in deaths occurring outside health facilities, which is why Thailand has run dedicated cause-of-death coding and medical-training programs to close the gap.</a:t>
            </a:r>
            <a:endParaRPr lang="en-US" sz="1150" dirty="0"/>
          </a:p>
        </p:txBody>
      </p:sp>
      <p:sp>
        <p:nvSpPr>
          <p:cNvPr id="15" name="Text 13"/>
          <p:cNvSpPr/>
          <p:nvPr/>
        </p:nvSpPr>
        <p:spPr>
          <a:xfrm>
            <a:off x="457200" y="5989320"/>
            <a:ext cx="11277295" cy="420624"/>
          </a:xfrm>
          <a:prstGeom prst="rect">
            <a:avLst/>
          </a:prstGeom>
          <a:noFill/>
          <a:ln/>
        </p:spPr>
        <p:txBody>
          <a:bodyPr wrap="square" lIns="0" tIns="0" rIns="0" bIns="0" rtlCol="0" anchor="t"/>
          <a:lstStyle/>
          <a:p>
            <a:pPr marL="0" indent="0" algn="l">
              <a:buNone/>
            </a:pPr>
            <a:r>
              <a:rPr lang="en-US" sz="800" i="1" dirty="0">
                <a:solidFill>
                  <a:srgbClr val="5B6B79"/>
                </a:solidFill>
                <a:latin typeface="Calibri" pitchFamily="34" charset="0"/>
                <a:ea typeface="Calibri" pitchFamily="34" charset="-122"/>
                <a:cs typeface="Calibri" pitchFamily="34" charset="-120"/>
              </a:rPr>
              <a:t>Sources: UNESCAP CRVS Regional Hub. Thailand — civil registration and vital statistics. https://crvs.unescap.org/country/thailand ; Get Every One in the Picture (ESCAP). Thailand. https://getinthepicture.org/country/thailand</a:t>
            </a:r>
            <a:endParaRPr lang="en-US" sz="800" dirty="0"/>
          </a:p>
        </p:txBody>
      </p:sp>
      <p:sp>
        <p:nvSpPr>
          <p:cNvPr id="16" name="Text 14"/>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17" name="Text 15"/>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33 / 80</a:t>
            </a:r>
            <a:endParaRPr lang="en-US" sz="850" dirty="0"/>
          </a:p>
        </p:txBody>
      </p:sp>
    </p:spTree>
    <p:extLst>
      <p:ext uri="{BB962C8B-B14F-4D97-AF65-F5344CB8AC3E}">
        <p14:creationId xmlns:p14="http://schemas.microsoft.com/office/powerpoint/2010/main" val="17339886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WORKED / REAL-WORLD EXAMPLE</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Thailand: Life Expectancy and the Persistent Sex Gap</a:t>
            </a:r>
            <a:endParaRPr lang="en-US" sz="2700" dirty="0"/>
          </a:p>
        </p:txBody>
      </p:sp>
      <p:sp>
        <p:nvSpPr>
          <p:cNvPr id="4" name="Shape 2"/>
          <p:cNvSpPr/>
          <p:nvPr/>
        </p:nvSpPr>
        <p:spPr>
          <a:xfrm>
            <a:off x="457200" y="1508760"/>
            <a:ext cx="3588410" cy="2606040"/>
          </a:xfrm>
          <a:prstGeom prst="roundRect">
            <a:avLst>
              <a:gd name="adj" fmla="val 2456"/>
            </a:avLst>
          </a:prstGeom>
          <a:solidFill>
            <a:srgbClr val="EEF3F8"/>
          </a:solidFill>
          <a:ln w="9525">
            <a:solidFill>
              <a:srgbClr val="D3E0E9"/>
            </a:solidFill>
            <a:prstDash val="solid"/>
          </a:ln>
        </p:spPr>
        <p:txBody>
          <a:bodyPr/>
          <a:lstStyle/>
          <a:p>
            <a:endParaRPr/>
          </a:p>
        </p:txBody>
      </p:sp>
      <p:sp>
        <p:nvSpPr>
          <p:cNvPr id="5" name="Text 3"/>
          <p:cNvSpPr/>
          <p:nvPr/>
        </p:nvSpPr>
        <p:spPr>
          <a:xfrm>
            <a:off x="694944" y="1819656"/>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Overall e0 = 76.4 years (2023)</a:t>
            </a:r>
            <a:endParaRPr lang="en-US" sz="1450" dirty="0"/>
          </a:p>
        </p:txBody>
      </p:sp>
      <p:sp>
        <p:nvSpPr>
          <p:cNvPr id="6" name="Text 4"/>
          <p:cNvSpPr/>
          <p:nvPr/>
        </p:nvSpPr>
        <p:spPr>
          <a:xfrm>
            <a:off x="694944" y="2350008"/>
            <a:ext cx="3112922" cy="1581912"/>
          </a:xfrm>
          <a:prstGeom prst="rect">
            <a:avLst/>
          </a:prstGeom>
          <a:noFill/>
          <a:ln/>
        </p:spPr>
        <p:txBody>
          <a:bodyPr wrap="square" lIns="0" tIns="0" rIns="0" bIns="0" rtlCol="0" anchor="t"/>
          <a:lstStyle/>
          <a:p>
            <a:pPr marL="0" indent="0" algn="l">
              <a:lnSpc>
                <a:spcPct val="112000"/>
              </a:lnSpc>
              <a:buNone/>
            </a:pPr>
            <a:r>
              <a:rPr lang="en-US" sz="1120" dirty="0">
                <a:solidFill>
                  <a:srgbClr val="142433"/>
                </a:solidFill>
                <a:latin typeface="Calibri" pitchFamily="34" charset="0"/>
                <a:ea typeface="Calibri" pitchFamily="34" charset="-122"/>
                <a:cs typeface="Calibri" pitchFamily="34" charset="-120"/>
              </a:rPr>
              <a:t>Thailand's national life table places overall life expectancy at birth at approximately 76.4 years in 2023, continuing a decades-long rise.</a:t>
            </a:r>
            <a:endParaRPr lang="en-US" sz="1120" dirty="0"/>
          </a:p>
        </p:txBody>
      </p:sp>
      <p:sp>
        <p:nvSpPr>
          <p:cNvPr id="7" name="Shape 5"/>
          <p:cNvSpPr/>
          <p:nvPr/>
        </p:nvSpPr>
        <p:spPr>
          <a:xfrm>
            <a:off x="4301642" y="1508760"/>
            <a:ext cx="3588410" cy="2606040"/>
          </a:xfrm>
          <a:prstGeom prst="roundRect">
            <a:avLst>
              <a:gd name="adj" fmla="val 2456"/>
            </a:avLst>
          </a:prstGeom>
          <a:solidFill>
            <a:srgbClr val="EEF3F8"/>
          </a:solidFill>
          <a:ln w="9525">
            <a:solidFill>
              <a:srgbClr val="D3E0E9"/>
            </a:solidFill>
            <a:prstDash val="solid"/>
          </a:ln>
        </p:spPr>
        <p:txBody>
          <a:bodyPr/>
          <a:lstStyle/>
          <a:p>
            <a:endParaRPr/>
          </a:p>
        </p:txBody>
      </p:sp>
      <p:sp>
        <p:nvSpPr>
          <p:cNvPr id="8" name="Text 6"/>
          <p:cNvSpPr/>
          <p:nvPr/>
        </p:nvSpPr>
        <p:spPr>
          <a:xfrm>
            <a:off x="4539386" y="1819656"/>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Large, persistent sex differential</a:t>
            </a:r>
            <a:endParaRPr lang="en-US" sz="1450" dirty="0"/>
          </a:p>
        </p:txBody>
      </p:sp>
      <p:sp>
        <p:nvSpPr>
          <p:cNvPr id="9" name="Text 7"/>
          <p:cNvSpPr/>
          <p:nvPr/>
        </p:nvSpPr>
        <p:spPr>
          <a:xfrm>
            <a:off x="4539386" y="2350008"/>
            <a:ext cx="3112922" cy="1581912"/>
          </a:xfrm>
          <a:prstGeom prst="rect">
            <a:avLst/>
          </a:prstGeom>
          <a:noFill/>
          <a:ln/>
        </p:spPr>
        <p:txBody>
          <a:bodyPr wrap="square" lIns="0" tIns="0" rIns="0" bIns="0" rtlCol="0" anchor="t"/>
          <a:lstStyle/>
          <a:p>
            <a:pPr marL="0" indent="0" algn="l">
              <a:lnSpc>
                <a:spcPct val="112000"/>
              </a:lnSpc>
              <a:buNone/>
            </a:pPr>
            <a:r>
              <a:rPr lang="en-US" sz="1120" dirty="0">
                <a:solidFill>
                  <a:srgbClr val="142433"/>
                </a:solidFill>
                <a:latin typeface="Calibri" pitchFamily="34" charset="0"/>
                <a:ea typeface="Calibri" pitchFamily="34" charset="-122"/>
                <a:cs typeface="Calibri" pitchFamily="34" charset="-120"/>
              </a:rPr>
              <a:t>Female life expectancy (80.9 years) exceeds male life expectancy (72.2 years) by roughly 8.6 years — driven heavily by higher male mortality from injury, cardiovascular disease, and alcohol-related causes at working ages.</a:t>
            </a:r>
            <a:endParaRPr lang="en-US" sz="1120" dirty="0"/>
          </a:p>
        </p:txBody>
      </p:sp>
      <p:sp>
        <p:nvSpPr>
          <p:cNvPr id="10" name="Shape 8"/>
          <p:cNvSpPr/>
          <p:nvPr/>
        </p:nvSpPr>
        <p:spPr>
          <a:xfrm>
            <a:off x="8146085" y="1508760"/>
            <a:ext cx="3588410" cy="2606040"/>
          </a:xfrm>
          <a:prstGeom prst="roundRect">
            <a:avLst>
              <a:gd name="adj" fmla="val 2456"/>
            </a:avLst>
          </a:prstGeom>
          <a:solidFill>
            <a:srgbClr val="EEF3F8"/>
          </a:solidFill>
          <a:ln w="9525">
            <a:solidFill>
              <a:srgbClr val="D3E0E9"/>
            </a:solidFill>
            <a:prstDash val="solid"/>
          </a:ln>
        </p:spPr>
        <p:txBody>
          <a:bodyPr/>
          <a:lstStyle/>
          <a:p>
            <a:endParaRPr/>
          </a:p>
        </p:txBody>
      </p:sp>
      <p:sp>
        <p:nvSpPr>
          <p:cNvPr id="11" name="Text 9"/>
          <p:cNvSpPr/>
          <p:nvPr/>
        </p:nvSpPr>
        <p:spPr>
          <a:xfrm>
            <a:off x="8383829" y="1819656"/>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Life-table implication</a:t>
            </a:r>
            <a:endParaRPr lang="en-US" sz="1450" dirty="0"/>
          </a:p>
        </p:txBody>
      </p:sp>
      <p:sp>
        <p:nvSpPr>
          <p:cNvPr id="12" name="Text 10"/>
          <p:cNvSpPr/>
          <p:nvPr/>
        </p:nvSpPr>
        <p:spPr>
          <a:xfrm>
            <a:off x="8383829" y="2350008"/>
            <a:ext cx="3112922" cy="1581912"/>
          </a:xfrm>
          <a:prstGeom prst="rect">
            <a:avLst/>
          </a:prstGeom>
          <a:noFill/>
          <a:ln/>
        </p:spPr>
        <p:txBody>
          <a:bodyPr wrap="square" lIns="0" tIns="0" rIns="0" bIns="0" rtlCol="0" anchor="t"/>
          <a:lstStyle/>
          <a:p>
            <a:pPr marL="0" indent="0" algn="l">
              <a:lnSpc>
                <a:spcPct val="112000"/>
              </a:lnSpc>
              <a:buNone/>
            </a:pPr>
            <a:r>
              <a:rPr lang="en-US" sz="1120" dirty="0">
                <a:solidFill>
                  <a:srgbClr val="142433"/>
                </a:solidFill>
                <a:latin typeface="Calibri" pitchFamily="34" charset="0"/>
                <a:ea typeface="Calibri" pitchFamily="34" charset="-122"/>
                <a:cs typeface="Calibri" pitchFamily="34" charset="-120"/>
              </a:rPr>
              <a:t>A rigorous national life table should always be constructed separately by sex — pooling sexes into a single nMx masks this structurally important gap, echoing the CRVS-workflow point from Slide 37.</a:t>
            </a:r>
            <a:endParaRPr lang="en-US" sz="1120" dirty="0"/>
          </a:p>
        </p:txBody>
      </p:sp>
      <p:sp>
        <p:nvSpPr>
          <p:cNvPr id="13" name="Text 11"/>
          <p:cNvSpPr/>
          <p:nvPr/>
        </p:nvSpPr>
        <p:spPr>
          <a:xfrm>
            <a:off x="457200" y="4434840"/>
            <a:ext cx="11277295" cy="822960"/>
          </a:xfrm>
          <a:prstGeom prst="rect">
            <a:avLst/>
          </a:prstGeom>
          <a:noFill/>
          <a:ln/>
        </p:spPr>
        <p:txBody>
          <a:bodyPr wrap="square" lIns="0" tIns="0" rIns="0" bIns="0" rtlCol="0" anchor="ctr"/>
          <a:lstStyle/>
          <a:p>
            <a:pPr marL="0" indent="0" algn="ctr">
              <a:buNone/>
            </a:pPr>
            <a:r>
              <a:rPr lang="en-US" sz="4400" b="1" dirty="0">
                <a:solidFill>
                  <a:srgbClr val="C0433A"/>
                </a:solidFill>
                <a:latin typeface="Cambria" pitchFamily="34" charset="0"/>
                <a:ea typeface="Cambria" pitchFamily="34" charset="-122"/>
                <a:cs typeface="Cambria" pitchFamily="34" charset="-120"/>
              </a:rPr>
              <a:t>8.6 yrs</a:t>
            </a:r>
            <a:endParaRPr lang="en-US" sz="4400" dirty="0"/>
          </a:p>
        </p:txBody>
      </p:sp>
      <p:sp>
        <p:nvSpPr>
          <p:cNvPr id="14" name="Text 12"/>
          <p:cNvSpPr/>
          <p:nvPr/>
        </p:nvSpPr>
        <p:spPr>
          <a:xfrm>
            <a:off x="457200" y="5212080"/>
            <a:ext cx="11277295" cy="548640"/>
          </a:xfrm>
          <a:prstGeom prst="rect">
            <a:avLst/>
          </a:prstGeom>
          <a:noFill/>
          <a:ln/>
        </p:spPr>
        <p:txBody>
          <a:bodyPr wrap="square" lIns="0" tIns="0" rIns="0" bIns="0" rtlCol="0" anchor="t"/>
          <a:lstStyle/>
          <a:p>
            <a:pPr marL="0" indent="0" algn="ctr">
              <a:buNone/>
            </a:pPr>
            <a:r>
              <a:rPr lang="en-US" sz="1100" dirty="0">
                <a:solidFill>
                  <a:srgbClr val="142433"/>
                </a:solidFill>
                <a:latin typeface="Calibri" pitchFamily="34" charset="0"/>
                <a:ea typeface="Calibri" pitchFamily="34" charset="-122"/>
                <a:cs typeface="Calibri" pitchFamily="34" charset="-120"/>
              </a:rPr>
              <a:t>Female – male life-expectancy gap, Thailand, 2023 (80.9 vs 72.2 years)</a:t>
            </a:r>
            <a:endParaRPr lang="en-US" sz="1100" dirty="0"/>
          </a:p>
        </p:txBody>
      </p:sp>
      <p:sp>
        <p:nvSpPr>
          <p:cNvPr id="15" name="Text 13"/>
          <p:cNvSpPr/>
          <p:nvPr/>
        </p:nvSpPr>
        <p:spPr>
          <a:xfrm>
            <a:off x="457200" y="6172200"/>
            <a:ext cx="11277295" cy="420624"/>
          </a:xfrm>
          <a:prstGeom prst="rect">
            <a:avLst/>
          </a:prstGeom>
          <a:noFill/>
          <a:ln/>
        </p:spPr>
        <p:txBody>
          <a:bodyPr wrap="square" lIns="0" tIns="0" rIns="0" bIns="0" rtlCol="0" anchor="t"/>
          <a:lstStyle/>
          <a:p>
            <a:pPr marL="0" indent="0" algn="l">
              <a:buNone/>
            </a:pPr>
            <a:r>
              <a:rPr lang="en-US" sz="800" i="1" dirty="0">
                <a:solidFill>
                  <a:srgbClr val="5B6B79"/>
                </a:solidFill>
                <a:latin typeface="Calibri" pitchFamily="34" charset="0"/>
                <a:ea typeface="Calibri" pitchFamily="34" charset="-122"/>
                <a:cs typeface="Calibri" pitchFamily="34" charset="-120"/>
              </a:rPr>
              <a:t>Source: World Bank. (2024). Life expectancy at birth, total/male/female (years) – Thailand [Data set]. World Bank Open Data, compiled from UN World Population Prospects. https://data.worldbank.org/indicator/SP.DYN.LE00.IN?locations=TH</a:t>
            </a:r>
            <a:endParaRPr lang="en-US" sz="800" dirty="0"/>
          </a:p>
        </p:txBody>
      </p:sp>
      <p:sp>
        <p:nvSpPr>
          <p:cNvPr id="16" name="Text 14"/>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17" name="Text 15"/>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34 / 80</a:t>
            </a:r>
            <a:endParaRPr lang="en-US" sz="850" dirty="0"/>
          </a:p>
        </p:txBody>
      </p:sp>
    </p:spTree>
    <p:extLst>
      <p:ext uri="{BB962C8B-B14F-4D97-AF65-F5344CB8AC3E}">
        <p14:creationId xmlns:p14="http://schemas.microsoft.com/office/powerpoint/2010/main" val="6983592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REAL DATA PROBLEMS</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The Practical Problems Analysts Actually Face</a:t>
            </a:r>
            <a:endParaRPr lang="en-US" sz="2700" dirty="0"/>
          </a:p>
        </p:txBody>
      </p:sp>
      <p:sp>
        <p:nvSpPr>
          <p:cNvPr id="4" name="Shape 2"/>
          <p:cNvSpPr/>
          <p:nvPr/>
        </p:nvSpPr>
        <p:spPr>
          <a:xfrm>
            <a:off x="457200" y="1536192"/>
            <a:ext cx="5501488" cy="2148840"/>
          </a:xfrm>
          <a:prstGeom prst="roundRect">
            <a:avLst>
              <a:gd name="adj" fmla="val 2979"/>
            </a:avLst>
          </a:prstGeom>
          <a:solidFill>
            <a:srgbClr val="EEF3F8"/>
          </a:solidFill>
          <a:ln w="9525">
            <a:solidFill>
              <a:srgbClr val="D3E0E9"/>
            </a:solidFill>
            <a:prstDash val="solid"/>
          </a:ln>
        </p:spPr>
        <p:txBody>
          <a:bodyPr/>
          <a:lstStyle/>
          <a:p>
            <a:endParaRPr/>
          </a:p>
        </p:txBody>
      </p:sp>
      <p:sp>
        <p:nvSpPr>
          <p:cNvPr id="5" name="Shape 3"/>
          <p:cNvSpPr/>
          <p:nvPr/>
        </p:nvSpPr>
        <p:spPr>
          <a:xfrm>
            <a:off x="685800" y="1737360"/>
            <a:ext cx="384048" cy="384048"/>
          </a:xfrm>
          <a:prstGeom prst="ellipse">
            <a:avLst/>
          </a:prstGeom>
          <a:solidFill>
            <a:srgbClr val="C0433A"/>
          </a:solidFill>
          <a:ln/>
        </p:spPr>
        <p:txBody>
          <a:bodyPr/>
          <a:lstStyle/>
          <a:p>
            <a:endParaRPr/>
          </a:p>
        </p:txBody>
      </p:sp>
      <p:sp>
        <p:nvSpPr>
          <p:cNvPr id="6" name="Text 4"/>
          <p:cNvSpPr/>
          <p:nvPr/>
        </p:nvSpPr>
        <p:spPr>
          <a:xfrm>
            <a:off x="685800" y="17373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234440" y="1719072"/>
            <a:ext cx="4495648" cy="594360"/>
          </a:xfrm>
          <a:prstGeom prst="rect">
            <a:avLst/>
          </a:prstGeom>
          <a:noFill/>
          <a:ln/>
        </p:spPr>
        <p:txBody>
          <a:bodyPr wrap="square" lIns="0" tIns="0" rIns="0" bIns="0" rtlCol="0" anchor="t"/>
          <a:lstStyle/>
          <a:p>
            <a:pPr marL="0" indent="0">
              <a:buNone/>
            </a:pPr>
            <a:r>
              <a:rPr lang="en-US" sz="1300" b="1" dirty="0">
                <a:solidFill>
                  <a:srgbClr val="0B3D62"/>
                </a:solidFill>
                <a:latin typeface="Calibri" pitchFamily="34" charset="0"/>
                <a:ea typeface="Calibri" pitchFamily="34" charset="-122"/>
                <a:cs typeface="Calibri" pitchFamily="34" charset="-120"/>
              </a:rPr>
              <a:t>Age misreporting &amp; heaping at older ages</a:t>
            </a:r>
            <a:endParaRPr lang="en-US" sz="1300" dirty="0"/>
          </a:p>
        </p:txBody>
      </p:sp>
      <p:sp>
        <p:nvSpPr>
          <p:cNvPr id="8" name="Text 6"/>
          <p:cNvSpPr/>
          <p:nvPr/>
        </p:nvSpPr>
        <p:spPr>
          <a:xfrm>
            <a:off x="731520" y="2404872"/>
            <a:ext cx="4952848" cy="1143000"/>
          </a:xfrm>
          <a:prstGeom prst="rect">
            <a:avLst/>
          </a:prstGeom>
          <a:noFill/>
          <a:ln/>
        </p:spPr>
        <p:txBody>
          <a:bodyPr wrap="square" lIns="0" tIns="0" rIns="0" bIns="0" rtlCol="0" anchor="t"/>
          <a:lstStyle/>
          <a:p>
            <a:pPr marL="0" indent="0">
              <a:lnSpc>
                <a:spcPct val="112000"/>
              </a:lnSpc>
              <a:buNone/>
            </a:pPr>
            <a:r>
              <a:rPr lang="en-US" sz="1080" dirty="0">
                <a:solidFill>
                  <a:srgbClr val="142433"/>
                </a:solidFill>
                <a:latin typeface="Calibri" pitchFamily="34" charset="0"/>
                <a:ea typeface="Calibri" pitchFamily="34" charset="-122"/>
                <a:cs typeface="Calibri" pitchFamily="34" charset="-120"/>
              </a:rPr>
              <a:t>In populations with historically weaker birth registration, reported ages cluster on round numbers (60, 70, 80, 90, 100). This distorts the age pattern of nMx precisely where the open interval begins.</a:t>
            </a:r>
            <a:endParaRPr lang="en-US" sz="1080" dirty="0"/>
          </a:p>
        </p:txBody>
      </p:sp>
      <p:sp>
        <p:nvSpPr>
          <p:cNvPr id="9" name="Shape 7"/>
          <p:cNvSpPr/>
          <p:nvPr/>
        </p:nvSpPr>
        <p:spPr>
          <a:xfrm>
            <a:off x="6233008" y="1536192"/>
            <a:ext cx="5501488" cy="2148840"/>
          </a:xfrm>
          <a:prstGeom prst="roundRect">
            <a:avLst>
              <a:gd name="adj" fmla="val 2979"/>
            </a:avLst>
          </a:prstGeom>
          <a:solidFill>
            <a:srgbClr val="EEF3F8"/>
          </a:solidFill>
          <a:ln w="9525">
            <a:solidFill>
              <a:srgbClr val="D3E0E9"/>
            </a:solidFill>
            <a:prstDash val="solid"/>
          </a:ln>
        </p:spPr>
        <p:txBody>
          <a:bodyPr/>
          <a:lstStyle/>
          <a:p>
            <a:endParaRPr/>
          </a:p>
        </p:txBody>
      </p:sp>
      <p:sp>
        <p:nvSpPr>
          <p:cNvPr id="10" name="Shape 8"/>
          <p:cNvSpPr/>
          <p:nvPr/>
        </p:nvSpPr>
        <p:spPr>
          <a:xfrm>
            <a:off x="6461608" y="1737360"/>
            <a:ext cx="384048" cy="384048"/>
          </a:xfrm>
          <a:prstGeom prst="ellipse">
            <a:avLst/>
          </a:prstGeom>
          <a:solidFill>
            <a:srgbClr val="C0433A"/>
          </a:solidFill>
          <a:ln/>
        </p:spPr>
        <p:txBody>
          <a:bodyPr/>
          <a:lstStyle/>
          <a:p>
            <a:endParaRPr/>
          </a:p>
        </p:txBody>
      </p:sp>
      <p:sp>
        <p:nvSpPr>
          <p:cNvPr id="11" name="Text 9"/>
          <p:cNvSpPr/>
          <p:nvPr/>
        </p:nvSpPr>
        <p:spPr>
          <a:xfrm>
            <a:off x="6461608" y="17373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7010248" y="1719072"/>
            <a:ext cx="4495648" cy="594360"/>
          </a:xfrm>
          <a:prstGeom prst="rect">
            <a:avLst/>
          </a:prstGeom>
          <a:noFill/>
          <a:ln/>
        </p:spPr>
        <p:txBody>
          <a:bodyPr wrap="square" lIns="0" tIns="0" rIns="0" bIns="0" rtlCol="0" anchor="t"/>
          <a:lstStyle/>
          <a:p>
            <a:pPr marL="0" indent="0">
              <a:buNone/>
            </a:pPr>
            <a:r>
              <a:rPr lang="en-US" sz="1300" b="1" dirty="0">
                <a:solidFill>
                  <a:srgbClr val="0B3D62"/>
                </a:solidFill>
                <a:latin typeface="Calibri" pitchFamily="34" charset="0"/>
                <a:ea typeface="Calibri" pitchFamily="34" charset="-122"/>
                <a:cs typeface="Calibri" pitchFamily="34" charset="-120"/>
              </a:rPr>
              <a:t>Under-registration of deaths and births</a:t>
            </a:r>
            <a:endParaRPr lang="en-US" sz="1300" dirty="0"/>
          </a:p>
        </p:txBody>
      </p:sp>
      <p:sp>
        <p:nvSpPr>
          <p:cNvPr id="13" name="Text 11"/>
          <p:cNvSpPr/>
          <p:nvPr/>
        </p:nvSpPr>
        <p:spPr>
          <a:xfrm>
            <a:off x="6507328" y="2404872"/>
            <a:ext cx="4952848" cy="1143000"/>
          </a:xfrm>
          <a:prstGeom prst="rect">
            <a:avLst/>
          </a:prstGeom>
          <a:noFill/>
          <a:ln/>
        </p:spPr>
        <p:txBody>
          <a:bodyPr wrap="square" lIns="0" tIns="0" rIns="0" bIns="0" rtlCol="0" anchor="t"/>
          <a:lstStyle/>
          <a:p>
            <a:pPr marL="0" indent="0">
              <a:lnSpc>
                <a:spcPct val="112000"/>
              </a:lnSpc>
              <a:buNone/>
            </a:pPr>
            <a:r>
              <a:rPr lang="en-US" sz="1080" dirty="0">
                <a:solidFill>
                  <a:srgbClr val="142433"/>
                </a:solidFill>
                <a:latin typeface="Calibri" pitchFamily="34" charset="0"/>
                <a:ea typeface="Calibri" pitchFamily="34" charset="-122"/>
                <a:cs typeface="Calibri" pitchFamily="34" charset="-120"/>
              </a:rPr>
              <a:t>Even "near-complete" CRVS systems miss some events, especially in remote areas or among marginalized groups — undercounting deaths deflates nMx and inflates apparent life expectancy.</a:t>
            </a:r>
            <a:endParaRPr lang="en-US" sz="1080" dirty="0"/>
          </a:p>
        </p:txBody>
      </p:sp>
      <p:sp>
        <p:nvSpPr>
          <p:cNvPr id="14" name="Shape 12"/>
          <p:cNvSpPr/>
          <p:nvPr/>
        </p:nvSpPr>
        <p:spPr>
          <a:xfrm>
            <a:off x="457200" y="3913632"/>
            <a:ext cx="5501488" cy="2148840"/>
          </a:xfrm>
          <a:prstGeom prst="roundRect">
            <a:avLst>
              <a:gd name="adj" fmla="val 2979"/>
            </a:avLst>
          </a:prstGeom>
          <a:solidFill>
            <a:srgbClr val="E1EAF2"/>
          </a:solidFill>
          <a:ln w="9525">
            <a:solidFill>
              <a:srgbClr val="D3E0E9"/>
            </a:solidFill>
            <a:prstDash val="solid"/>
          </a:ln>
        </p:spPr>
        <p:txBody>
          <a:bodyPr/>
          <a:lstStyle/>
          <a:p>
            <a:endParaRPr/>
          </a:p>
        </p:txBody>
      </p:sp>
      <p:sp>
        <p:nvSpPr>
          <p:cNvPr id="15" name="Shape 13"/>
          <p:cNvSpPr/>
          <p:nvPr/>
        </p:nvSpPr>
        <p:spPr>
          <a:xfrm>
            <a:off x="685800" y="4114800"/>
            <a:ext cx="384048" cy="384048"/>
          </a:xfrm>
          <a:prstGeom prst="ellipse">
            <a:avLst/>
          </a:prstGeom>
          <a:solidFill>
            <a:srgbClr val="C0433A"/>
          </a:solidFill>
          <a:ln/>
        </p:spPr>
        <p:txBody>
          <a:bodyPr/>
          <a:lstStyle/>
          <a:p>
            <a:endParaRPr/>
          </a:p>
        </p:txBody>
      </p:sp>
      <p:sp>
        <p:nvSpPr>
          <p:cNvPr id="16" name="Text 14"/>
          <p:cNvSpPr/>
          <p:nvPr/>
        </p:nvSpPr>
        <p:spPr>
          <a:xfrm>
            <a:off x="685800" y="41148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234440" y="4096512"/>
            <a:ext cx="4495648" cy="594360"/>
          </a:xfrm>
          <a:prstGeom prst="rect">
            <a:avLst/>
          </a:prstGeom>
          <a:noFill/>
          <a:ln/>
        </p:spPr>
        <p:txBody>
          <a:bodyPr wrap="square" lIns="0" tIns="0" rIns="0" bIns="0" rtlCol="0" anchor="t"/>
          <a:lstStyle/>
          <a:p>
            <a:pPr marL="0" indent="0">
              <a:buNone/>
            </a:pPr>
            <a:r>
              <a:rPr lang="en-US" sz="1300" b="1" dirty="0">
                <a:solidFill>
                  <a:srgbClr val="0B3D62"/>
                </a:solidFill>
                <a:latin typeface="Calibri" pitchFamily="34" charset="0"/>
                <a:ea typeface="Calibri" pitchFamily="34" charset="-122"/>
                <a:cs typeface="Calibri" pitchFamily="34" charset="-120"/>
              </a:rPr>
              <a:t>Small-number instability</a:t>
            </a:r>
            <a:endParaRPr lang="en-US" sz="1300" dirty="0"/>
          </a:p>
        </p:txBody>
      </p:sp>
      <p:sp>
        <p:nvSpPr>
          <p:cNvPr id="18" name="Text 16"/>
          <p:cNvSpPr/>
          <p:nvPr/>
        </p:nvSpPr>
        <p:spPr>
          <a:xfrm>
            <a:off x="731520" y="4782312"/>
            <a:ext cx="4952848" cy="1143000"/>
          </a:xfrm>
          <a:prstGeom prst="rect">
            <a:avLst/>
          </a:prstGeom>
          <a:noFill/>
          <a:ln/>
        </p:spPr>
        <p:txBody>
          <a:bodyPr wrap="square" lIns="0" tIns="0" rIns="0" bIns="0" rtlCol="0" anchor="t"/>
          <a:lstStyle/>
          <a:p>
            <a:pPr marL="0" indent="0">
              <a:lnSpc>
                <a:spcPct val="112000"/>
              </a:lnSpc>
              <a:buNone/>
            </a:pPr>
            <a:r>
              <a:rPr lang="en-US" sz="1080" dirty="0">
                <a:solidFill>
                  <a:srgbClr val="142433"/>
                </a:solidFill>
                <a:latin typeface="Calibri" pitchFamily="34" charset="0"/>
                <a:ea typeface="Calibri" pitchFamily="34" charset="-122"/>
                <a:cs typeface="Calibri" pitchFamily="34" charset="-120"/>
              </a:rPr>
              <a:t>For small populations, subnational areas, or the oldest-old open interval, a handful of extra or missing deaths can swing nMx dramatically — rates computed on small denominators are noisy, not necessarily wrong.</a:t>
            </a:r>
            <a:endParaRPr lang="en-US" sz="1080" dirty="0"/>
          </a:p>
        </p:txBody>
      </p:sp>
      <p:sp>
        <p:nvSpPr>
          <p:cNvPr id="19" name="Shape 17"/>
          <p:cNvSpPr/>
          <p:nvPr/>
        </p:nvSpPr>
        <p:spPr>
          <a:xfrm>
            <a:off x="6233008" y="3913632"/>
            <a:ext cx="5501488" cy="2148840"/>
          </a:xfrm>
          <a:prstGeom prst="roundRect">
            <a:avLst>
              <a:gd name="adj" fmla="val 2979"/>
            </a:avLst>
          </a:prstGeom>
          <a:solidFill>
            <a:srgbClr val="E1EAF2"/>
          </a:solidFill>
          <a:ln w="9525">
            <a:solidFill>
              <a:srgbClr val="D3E0E9"/>
            </a:solidFill>
            <a:prstDash val="solid"/>
          </a:ln>
        </p:spPr>
        <p:txBody>
          <a:bodyPr/>
          <a:lstStyle/>
          <a:p>
            <a:endParaRPr/>
          </a:p>
        </p:txBody>
      </p:sp>
      <p:sp>
        <p:nvSpPr>
          <p:cNvPr id="20" name="Shape 18"/>
          <p:cNvSpPr/>
          <p:nvPr/>
        </p:nvSpPr>
        <p:spPr>
          <a:xfrm>
            <a:off x="6461608" y="4114800"/>
            <a:ext cx="384048" cy="384048"/>
          </a:xfrm>
          <a:prstGeom prst="ellipse">
            <a:avLst/>
          </a:prstGeom>
          <a:solidFill>
            <a:srgbClr val="C0433A"/>
          </a:solidFill>
          <a:ln/>
        </p:spPr>
        <p:txBody>
          <a:bodyPr/>
          <a:lstStyle/>
          <a:p>
            <a:endParaRPr/>
          </a:p>
        </p:txBody>
      </p:sp>
      <p:sp>
        <p:nvSpPr>
          <p:cNvPr id="21" name="Text 19"/>
          <p:cNvSpPr/>
          <p:nvPr/>
        </p:nvSpPr>
        <p:spPr>
          <a:xfrm>
            <a:off x="6461608" y="41148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7010248" y="4096512"/>
            <a:ext cx="4495648" cy="594360"/>
          </a:xfrm>
          <a:prstGeom prst="rect">
            <a:avLst/>
          </a:prstGeom>
          <a:noFill/>
          <a:ln/>
        </p:spPr>
        <p:txBody>
          <a:bodyPr wrap="square" lIns="0" tIns="0" rIns="0" bIns="0" rtlCol="0" anchor="t"/>
          <a:lstStyle/>
          <a:p>
            <a:pPr marL="0" indent="0">
              <a:buNone/>
            </a:pPr>
            <a:r>
              <a:rPr lang="en-US" sz="1300" b="1" dirty="0">
                <a:solidFill>
                  <a:srgbClr val="0B3D62"/>
                </a:solidFill>
                <a:latin typeface="Calibri" pitchFamily="34" charset="0"/>
                <a:ea typeface="Calibri" pitchFamily="34" charset="-122"/>
                <a:cs typeface="Calibri" pitchFamily="34" charset="-120"/>
              </a:rPr>
              <a:t>The need to smooth rates</a:t>
            </a:r>
            <a:endParaRPr lang="en-US" sz="1300" dirty="0"/>
          </a:p>
        </p:txBody>
      </p:sp>
      <p:sp>
        <p:nvSpPr>
          <p:cNvPr id="23" name="Text 21"/>
          <p:cNvSpPr/>
          <p:nvPr/>
        </p:nvSpPr>
        <p:spPr>
          <a:xfrm>
            <a:off x="6507328" y="4782312"/>
            <a:ext cx="4952848" cy="1143000"/>
          </a:xfrm>
          <a:prstGeom prst="rect">
            <a:avLst/>
          </a:prstGeom>
          <a:noFill/>
          <a:ln/>
        </p:spPr>
        <p:txBody>
          <a:bodyPr wrap="square" lIns="0" tIns="0" rIns="0" bIns="0" rtlCol="0" anchor="t"/>
          <a:lstStyle/>
          <a:p>
            <a:pPr marL="0" indent="0">
              <a:lnSpc>
                <a:spcPct val="112000"/>
              </a:lnSpc>
              <a:buNone/>
            </a:pPr>
            <a:r>
              <a:rPr lang="en-US" sz="1080" dirty="0">
                <a:solidFill>
                  <a:srgbClr val="142433"/>
                </a:solidFill>
                <a:latin typeface="Calibri" pitchFamily="34" charset="0"/>
                <a:ea typeface="Calibri" pitchFamily="34" charset="-122"/>
                <a:cs typeface="Calibri" pitchFamily="34" charset="-120"/>
              </a:rPr>
              <a:t>Because raw age-specific rates from real, imperfect data are jagged rather than smooth, analysts routinely apply graduation techniques before using nMx in a published life table (see Slide 39).</a:t>
            </a:r>
            <a:endParaRPr lang="en-US" sz="1080" dirty="0"/>
          </a:p>
        </p:txBody>
      </p:sp>
      <p:sp>
        <p:nvSpPr>
          <p:cNvPr id="24" name="Text 22"/>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25" name="Text 23"/>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35 / 80</a:t>
            </a:r>
            <a:endParaRPr lang="en-US" sz="850" dirty="0"/>
          </a:p>
        </p:txBody>
      </p:sp>
    </p:spTree>
    <p:extLst>
      <p:ext uri="{BB962C8B-B14F-4D97-AF65-F5344CB8AC3E}">
        <p14:creationId xmlns:p14="http://schemas.microsoft.com/office/powerpoint/2010/main" val="2975439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400" b="1" kern="0" spc="200" dirty="0">
                <a:solidFill>
                  <a:srgbClr val="1C7293"/>
                </a:solidFill>
                <a:latin typeface="Calibri" pitchFamily="34" charset="0"/>
                <a:ea typeface="Calibri" pitchFamily="34" charset="-122"/>
                <a:cs typeface="Calibri" pitchFamily="34" charset="-120"/>
              </a:rPr>
              <a:t>REAL APPLICATION · SOCIAL POLICY</a:t>
            </a:r>
            <a:endParaRPr lang="en-US" sz="14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3200" b="1" dirty="0">
                <a:solidFill>
                  <a:srgbClr val="0B3D62"/>
                </a:solidFill>
                <a:latin typeface="Cambria" pitchFamily="34" charset="0"/>
                <a:ea typeface="Cambria" pitchFamily="34" charset="-122"/>
                <a:cs typeface="Cambria" pitchFamily="34" charset="-120"/>
              </a:rPr>
              <a:t>Life Tables and the Design of Pension &amp; Social Security Systems</a:t>
            </a:r>
            <a:endParaRPr lang="en-US" sz="3200" dirty="0"/>
          </a:p>
        </p:txBody>
      </p:sp>
      <p:sp>
        <p:nvSpPr>
          <p:cNvPr id="4" name="Shape 2"/>
          <p:cNvSpPr/>
          <p:nvPr/>
        </p:nvSpPr>
        <p:spPr>
          <a:xfrm>
            <a:off x="457200" y="1481328"/>
            <a:ext cx="11277295" cy="777240"/>
          </a:xfrm>
          <a:prstGeom prst="roundRect">
            <a:avLst>
              <a:gd name="adj" fmla="val 8235"/>
            </a:avLst>
          </a:prstGeom>
          <a:solidFill>
            <a:srgbClr val="07213A"/>
          </a:solidFill>
          <a:ln/>
        </p:spPr>
        <p:txBody>
          <a:bodyPr/>
          <a:lstStyle/>
          <a:p>
            <a:endParaRPr/>
          </a:p>
        </p:txBody>
      </p:sp>
      <p:sp>
        <p:nvSpPr>
          <p:cNvPr id="5" name="Text 3"/>
          <p:cNvSpPr/>
          <p:nvPr/>
        </p:nvSpPr>
        <p:spPr>
          <a:xfrm>
            <a:off x="685800" y="1481328"/>
            <a:ext cx="10820095"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Courier New" pitchFamily="34" charset="0"/>
                <a:ea typeface="Courier New" pitchFamily="34" charset="-122"/>
                <a:cs typeface="Courier New" pitchFamily="34" charset="-120"/>
              </a:rPr>
              <a:t>Contribution rate depends directly on ex at the statutory retirement age</a:t>
            </a:r>
            <a:endParaRPr lang="en-US" sz="2000" dirty="0"/>
          </a:p>
        </p:txBody>
      </p:sp>
      <p:sp>
        <p:nvSpPr>
          <p:cNvPr id="6" name="Shape 4"/>
          <p:cNvSpPr/>
          <p:nvPr/>
        </p:nvSpPr>
        <p:spPr>
          <a:xfrm>
            <a:off x="457200" y="2487168"/>
            <a:ext cx="3588410" cy="3337560"/>
          </a:xfrm>
          <a:prstGeom prst="roundRect">
            <a:avLst>
              <a:gd name="adj" fmla="val 1918"/>
            </a:avLst>
          </a:prstGeom>
          <a:solidFill>
            <a:srgbClr val="EEF3F8"/>
          </a:solidFill>
          <a:ln w="9525">
            <a:solidFill>
              <a:srgbClr val="D3E0E9"/>
            </a:solidFill>
            <a:prstDash val="solid"/>
          </a:ln>
        </p:spPr>
        <p:txBody>
          <a:bodyPr/>
          <a:lstStyle/>
          <a:p>
            <a:endParaRPr/>
          </a:p>
        </p:txBody>
      </p:sp>
      <p:sp>
        <p:nvSpPr>
          <p:cNvPr id="7" name="Text 5"/>
          <p:cNvSpPr/>
          <p:nvPr/>
        </p:nvSpPr>
        <p:spPr>
          <a:xfrm>
            <a:off x="694944"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Setting and adjusting retirement ages</a:t>
            </a:r>
            <a:endParaRPr lang="en-US" dirty="0"/>
          </a:p>
        </p:txBody>
      </p:sp>
      <p:sp>
        <p:nvSpPr>
          <p:cNvPr id="8" name="Text 6"/>
          <p:cNvSpPr/>
          <p:nvPr/>
        </p:nvSpPr>
        <p:spPr>
          <a:xfrm>
            <a:off x="694944"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Several countries index the statutory pension age to projected life expectancy, using national life-table projections much like the WPP-based tables discussed on Slide 38.</a:t>
            </a:r>
            <a:endParaRPr lang="en-US" sz="1400" dirty="0"/>
          </a:p>
        </p:txBody>
      </p:sp>
      <p:sp>
        <p:nvSpPr>
          <p:cNvPr id="9" name="Shape 7"/>
          <p:cNvSpPr/>
          <p:nvPr/>
        </p:nvSpPr>
        <p:spPr>
          <a:xfrm>
            <a:off x="4301642" y="2487168"/>
            <a:ext cx="3588410" cy="3337560"/>
          </a:xfrm>
          <a:prstGeom prst="roundRect">
            <a:avLst>
              <a:gd name="adj" fmla="val 1918"/>
            </a:avLst>
          </a:prstGeom>
          <a:solidFill>
            <a:srgbClr val="EEF3F8"/>
          </a:solidFill>
          <a:ln w="9525">
            <a:solidFill>
              <a:srgbClr val="D3E0E9"/>
            </a:solidFill>
            <a:prstDash val="solid"/>
          </a:ln>
        </p:spPr>
        <p:txBody>
          <a:bodyPr/>
          <a:lstStyle/>
          <a:p>
            <a:endParaRPr/>
          </a:p>
        </p:txBody>
      </p:sp>
      <p:sp>
        <p:nvSpPr>
          <p:cNvPr id="10" name="Text 8"/>
          <p:cNvSpPr/>
          <p:nvPr/>
        </p:nvSpPr>
        <p:spPr>
          <a:xfrm>
            <a:off x="4539386"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Funding sustainability</a:t>
            </a:r>
            <a:endParaRPr lang="en-US" dirty="0"/>
          </a:p>
        </p:txBody>
      </p:sp>
      <p:sp>
        <p:nvSpPr>
          <p:cNvPr id="11" name="Text 9"/>
          <p:cNvSpPr/>
          <p:nvPr/>
        </p:nvSpPr>
        <p:spPr>
          <a:xfrm>
            <a:off x="4539386"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Social security actuaries project system solvency using cohort life tables extended decades into the future — a small error in assumed future nqx compounds into large funding gaps.</a:t>
            </a:r>
            <a:endParaRPr lang="en-US" sz="1400" dirty="0"/>
          </a:p>
        </p:txBody>
      </p:sp>
      <p:sp>
        <p:nvSpPr>
          <p:cNvPr id="12" name="Shape 10"/>
          <p:cNvSpPr/>
          <p:nvPr/>
        </p:nvSpPr>
        <p:spPr>
          <a:xfrm>
            <a:off x="8146085" y="2487168"/>
            <a:ext cx="3588410" cy="3337560"/>
          </a:xfrm>
          <a:prstGeom prst="roundRect">
            <a:avLst>
              <a:gd name="adj" fmla="val 1918"/>
            </a:avLst>
          </a:prstGeom>
          <a:solidFill>
            <a:srgbClr val="EEF3F8"/>
          </a:solidFill>
          <a:ln w="9525">
            <a:solidFill>
              <a:srgbClr val="D3E0E9"/>
            </a:solidFill>
            <a:prstDash val="solid"/>
          </a:ln>
        </p:spPr>
        <p:txBody>
          <a:bodyPr/>
          <a:lstStyle/>
          <a:p>
            <a:endParaRPr/>
          </a:p>
        </p:txBody>
      </p:sp>
      <p:sp>
        <p:nvSpPr>
          <p:cNvPr id="13" name="Text 11"/>
          <p:cNvSpPr/>
          <p:nvPr/>
        </p:nvSpPr>
        <p:spPr>
          <a:xfrm>
            <a:off x="8383829"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A genuinely high-stakes application</a:t>
            </a:r>
            <a:endParaRPr lang="en-US" dirty="0"/>
          </a:p>
        </p:txBody>
      </p:sp>
      <p:sp>
        <p:nvSpPr>
          <p:cNvPr id="14" name="Text 12"/>
          <p:cNvSpPr/>
          <p:nvPr/>
        </p:nvSpPr>
        <p:spPr>
          <a:xfrm>
            <a:off x="8383829"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Because pension liabilities are computed decades in advance, the same construction errors flagged in Block 4's verification checklist (Slide 64) can, at national scale, translate directly into billions of currency units of mis-estimated liability.</a:t>
            </a:r>
            <a:endParaRPr lang="en-US" sz="1400" dirty="0"/>
          </a:p>
        </p:txBody>
      </p:sp>
      <p:sp>
        <p:nvSpPr>
          <p:cNvPr id="15" name="Text 13"/>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5140602 Fundamental Demographic Analysis – Session 5</a:t>
            </a:r>
            <a:endParaRPr lang="en-US" sz="1000" dirty="0"/>
          </a:p>
        </p:txBody>
      </p:sp>
      <p:sp>
        <p:nvSpPr>
          <p:cNvPr id="16" name="Text 14"/>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36 / 80</a:t>
            </a:r>
            <a:endParaRPr lang="en-US" sz="1000" dirty="0"/>
          </a:p>
        </p:txBody>
      </p:sp>
    </p:spTree>
    <p:extLst>
      <p:ext uri="{BB962C8B-B14F-4D97-AF65-F5344CB8AC3E}">
        <p14:creationId xmlns:p14="http://schemas.microsoft.com/office/powerpoint/2010/main" val="3537227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REAL INSTITUTIONS · PART 1</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How Thailand's Life Tables Actually Get Built</a:t>
            </a:r>
            <a:endParaRPr lang="en-US" sz="2700" dirty="0"/>
          </a:p>
        </p:txBody>
      </p:sp>
      <p:sp>
        <p:nvSpPr>
          <p:cNvPr id="4" name="Shape 2"/>
          <p:cNvSpPr/>
          <p:nvPr/>
        </p:nvSpPr>
        <p:spPr>
          <a:xfrm>
            <a:off x="457200" y="1554480"/>
            <a:ext cx="3588410" cy="2926080"/>
          </a:xfrm>
          <a:prstGeom prst="roundRect">
            <a:avLst>
              <a:gd name="adj" fmla="val 2188"/>
            </a:avLst>
          </a:prstGeom>
          <a:solidFill>
            <a:srgbClr val="EEF3F8"/>
          </a:solidFill>
          <a:ln w="9525">
            <a:solidFill>
              <a:srgbClr val="D3E0E9"/>
            </a:solidFill>
            <a:prstDash val="solid"/>
          </a:ln>
        </p:spPr>
      </p:sp>
      <p:sp>
        <p:nvSpPr>
          <p:cNvPr id="5" name="Text 3"/>
          <p:cNvSpPr/>
          <p:nvPr/>
        </p:nvSpPr>
        <p:spPr>
          <a:xfrm>
            <a:off x="694944" y="1865376"/>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1. Collect</a:t>
            </a:r>
            <a:endParaRPr lang="en-US" sz="1450" dirty="0"/>
          </a:p>
        </p:txBody>
      </p:sp>
      <p:sp>
        <p:nvSpPr>
          <p:cNvPr id="6" name="Text 4"/>
          <p:cNvSpPr/>
          <p:nvPr/>
        </p:nvSpPr>
        <p:spPr>
          <a:xfrm>
            <a:off x="694944" y="2395728"/>
            <a:ext cx="3112922" cy="1901952"/>
          </a:xfrm>
          <a:prstGeom prst="rect">
            <a:avLst/>
          </a:prstGeom>
          <a:noFill/>
          <a:ln/>
        </p:spPr>
        <p:txBody>
          <a:bodyPr wrap="square" lIns="0" tIns="0" rIns="0" bIns="0" rtlCol="0" anchor="t"/>
          <a:lstStyle/>
          <a:p>
            <a:pPr marL="0" indent="0" algn="l">
              <a:lnSpc>
                <a:spcPct val="112000"/>
              </a:lnSpc>
              <a:buNone/>
            </a:pPr>
            <a:r>
              <a:rPr lang="en-US" sz="1120" dirty="0">
                <a:solidFill>
                  <a:srgbClr val="142433"/>
                </a:solidFill>
                <a:latin typeface="Calibri" pitchFamily="34" charset="0"/>
                <a:ea typeface="Calibri" pitchFamily="34" charset="-122"/>
                <a:cs typeface="Calibri" pitchFamily="34" charset="-120"/>
              </a:rPr>
              <a:t>BORA (Ministry of Interior) registers deaths and civil events nationwide; NSO conducts the census and produces intercensal population estimates.</a:t>
            </a:r>
            <a:endParaRPr lang="en-US" sz="1120" dirty="0"/>
          </a:p>
        </p:txBody>
      </p:sp>
      <p:sp>
        <p:nvSpPr>
          <p:cNvPr id="7" name="Shape 5"/>
          <p:cNvSpPr/>
          <p:nvPr/>
        </p:nvSpPr>
        <p:spPr>
          <a:xfrm>
            <a:off x="4301642" y="1554480"/>
            <a:ext cx="3588410" cy="2926080"/>
          </a:xfrm>
          <a:prstGeom prst="roundRect">
            <a:avLst>
              <a:gd name="adj" fmla="val 2188"/>
            </a:avLst>
          </a:prstGeom>
          <a:solidFill>
            <a:srgbClr val="EEF3F8"/>
          </a:solidFill>
          <a:ln w="9525">
            <a:solidFill>
              <a:srgbClr val="D3E0E9"/>
            </a:solidFill>
            <a:prstDash val="solid"/>
          </a:ln>
        </p:spPr>
      </p:sp>
      <p:sp>
        <p:nvSpPr>
          <p:cNvPr id="8" name="Text 6"/>
          <p:cNvSpPr/>
          <p:nvPr/>
        </p:nvSpPr>
        <p:spPr>
          <a:xfrm>
            <a:off x="4539386" y="1865376"/>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2. Compile &amp; reconcile</a:t>
            </a:r>
            <a:endParaRPr lang="en-US" sz="1450" dirty="0"/>
          </a:p>
        </p:txBody>
      </p:sp>
      <p:sp>
        <p:nvSpPr>
          <p:cNvPr id="9" name="Text 7"/>
          <p:cNvSpPr/>
          <p:nvPr/>
        </p:nvSpPr>
        <p:spPr>
          <a:xfrm>
            <a:off x="4539386" y="2395728"/>
            <a:ext cx="3112922" cy="1901952"/>
          </a:xfrm>
          <a:prstGeom prst="rect">
            <a:avLst/>
          </a:prstGeom>
          <a:noFill/>
          <a:ln/>
        </p:spPr>
        <p:txBody>
          <a:bodyPr wrap="square" lIns="0" tIns="0" rIns="0" bIns="0" rtlCol="0" anchor="t"/>
          <a:lstStyle/>
          <a:p>
            <a:pPr marL="0" indent="0" algn="l">
              <a:lnSpc>
                <a:spcPct val="112000"/>
              </a:lnSpc>
              <a:buNone/>
            </a:pPr>
            <a:r>
              <a:rPr lang="en-US" sz="1120" dirty="0">
                <a:solidFill>
                  <a:srgbClr val="142433"/>
                </a:solidFill>
                <a:latin typeface="Calibri" pitchFamily="34" charset="0"/>
                <a:ea typeface="Calibri" pitchFamily="34" charset="-122"/>
                <a:cs typeface="Calibri" pitchFamily="34" charset="-120"/>
              </a:rPr>
              <a:t>MOPH matches MOI registration records against health-sector records (since 1996) to improve completeness and cause-of-death coding, especially for deaths outside health facilities.</a:t>
            </a:r>
            <a:endParaRPr lang="en-US" sz="1120" dirty="0"/>
          </a:p>
        </p:txBody>
      </p:sp>
      <p:sp>
        <p:nvSpPr>
          <p:cNvPr id="10" name="Shape 8"/>
          <p:cNvSpPr/>
          <p:nvPr/>
        </p:nvSpPr>
        <p:spPr>
          <a:xfrm>
            <a:off x="8146085" y="1554480"/>
            <a:ext cx="3588410" cy="2926080"/>
          </a:xfrm>
          <a:prstGeom prst="roundRect">
            <a:avLst>
              <a:gd name="adj" fmla="val 2188"/>
            </a:avLst>
          </a:prstGeom>
          <a:solidFill>
            <a:srgbClr val="EEF3F8"/>
          </a:solidFill>
          <a:ln w="9525">
            <a:solidFill>
              <a:srgbClr val="D3E0E9"/>
            </a:solidFill>
            <a:prstDash val="solid"/>
          </a:ln>
        </p:spPr>
      </p:sp>
      <p:sp>
        <p:nvSpPr>
          <p:cNvPr id="11" name="Text 9"/>
          <p:cNvSpPr/>
          <p:nvPr/>
        </p:nvSpPr>
        <p:spPr>
          <a:xfrm>
            <a:off x="8383829" y="1865376"/>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3. Compute &amp; publish</a:t>
            </a:r>
            <a:endParaRPr lang="en-US" sz="1450" dirty="0"/>
          </a:p>
        </p:txBody>
      </p:sp>
      <p:sp>
        <p:nvSpPr>
          <p:cNvPr id="12" name="Text 10"/>
          <p:cNvSpPr/>
          <p:nvPr/>
        </p:nvSpPr>
        <p:spPr>
          <a:xfrm>
            <a:off x="8383829" y="2395728"/>
            <a:ext cx="3112922" cy="1901952"/>
          </a:xfrm>
          <a:prstGeom prst="rect">
            <a:avLst/>
          </a:prstGeom>
          <a:noFill/>
          <a:ln/>
        </p:spPr>
        <p:txBody>
          <a:bodyPr wrap="square" lIns="0" tIns="0" rIns="0" bIns="0" rtlCol="0" anchor="t"/>
          <a:lstStyle/>
          <a:p>
            <a:pPr marL="0" indent="0" algn="l">
              <a:lnSpc>
                <a:spcPct val="112000"/>
              </a:lnSpc>
              <a:buNone/>
            </a:pPr>
            <a:r>
              <a:rPr lang="en-US" sz="1120" dirty="0">
                <a:solidFill>
                  <a:srgbClr val="142433"/>
                </a:solidFill>
                <a:latin typeface="Calibri" pitchFamily="34" charset="0"/>
                <a:ea typeface="Calibri" pitchFamily="34" charset="-122"/>
                <a:cs typeface="Calibri" pitchFamily="34" charset="-120"/>
              </a:rPr>
              <a:t>NSO and MOPH compile age-specific death rates and construct official abridged life tables, published in outlets such as the Statistical Yearbook Thailand.</a:t>
            </a:r>
            <a:endParaRPr lang="en-US" sz="1120" dirty="0"/>
          </a:p>
        </p:txBody>
      </p:sp>
      <p:sp>
        <p:nvSpPr>
          <p:cNvPr id="13" name="Shape 11"/>
          <p:cNvSpPr/>
          <p:nvPr/>
        </p:nvSpPr>
        <p:spPr>
          <a:xfrm>
            <a:off x="457200" y="4617720"/>
            <a:ext cx="11277295" cy="1234440"/>
          </a:xfrm>
          <a:prstGeom prst="roundRect">
            <a:avLst>
              <a:gd name="adj" fmla="val 5185"/>
            </a:avLst>
          </a:prstGeom>
          <a:solidFill>
            <a:srgbClr val="E1EAF2"/>
          </a:solidFill>
          <a:ln w="9525">
            <a:solidFill>
              <a:srgbClr val="D3E0E9"/>
            </a:solidFill>
            <a:prstDash val="solid"/>
          </a:ln>
        </p:spPr>
      </p:sp>
      <p:sp>
        <p:nvSpPr>
          <p:cNvPr id="14" name="Text 12"/>
          <p:cNvSpPr/>
          <p:nvPr/>
        </p:nvSpPr>
        <p:spPr>
          <a:xfrm>
            <a:off x="731520" y="4773168"/>
            <a:ext cx="10728655" cy="960120"/>
          </a:xfrm>
          <a:prstGeom prst="rect">
            <a:avLst/>
          </a:prstGeom>
          <a:noFill/>
          <a:ln/>
        </p:spPr>
        <p:txBody>
          <a:bodyPr wrap="square" lIns="0" tIns="0" rIns="0" bIns="0" rtlCol="0" anchor="t"/>
          <a:lstStyle/>
          <a:p>
            <a:pPr marL="0" indent="0">
              <a:lnSpc>
                <a:spcPct val="118000"/>
              </a:lnSpc>
              <a:buNone/>
            </a:pPr>
            <a:r>
              <a:rPr lang="en-US" sz="1150" dirty="0">
                <a:solidFill>
                  <a:srgbClr val="142433"/>
                </a:solidFill>
                <a:latin typeface="Calibri" pitchFamily="34" charset="0"/>
                <a:ea typeface="Calibri" pitchFamily="34" charset="-122"/>
                <a:cs typeface="Calibri" pitchFamily="34" charset="-120"/>
              </a:rPr>
              <a:t>This is a genuine multi-agency pipeline, not a single spreadsheet: registration (MOI), population (NSO), and health/cause-of-death data (MOPH) are produced by three different institutions and must be reconciled before a national life table can be built — exactly the kind of real-world data-integration step the toy examples in this session skip over.</a:t>
            </a:r>
            <a:endParaRPr lang="en-US" sz="1150" dirty="0"/>
          </a:p>
        </p:txBody>
      </p:sp>
      <p:sp>
        <p:nvSpPr>
          <p:cNvPr id="15" name="Text 13"/>
          <p:cNvSpPr/>
          <p:nvPr/>
        </p:nvSpPr>
        <p:spPr>
          <a:xfrm>
            <a:off x="457200" y="5989320"/>
            <a:ext cx="11277295" cy="420624"/>
          </a:xfrm>
          <a:prstGeom prst="rect">
            <a:avLst/>
          </a:prstGeom>
          <a:noFill/>
          <a:ln/>
        </p:spPr>
        <p:txBody>
          <a:bodyPr wrap="square" lIns="0" tIns="0" rIns="0" bIns="0" rtlCol="0" anchor="t"/>
          <a:lstStyle/>
          <a:p>
            <a:pPr marL="0" indent="0" algn="l">
              <a:buNone/>
            </a:pPr>
            <a:r>
              <a:rPr lang="en-US" sz="800" i="1" dirty="0">
                <a:solidFill>
                  <a:srgbClr val="5B6B79"/>
                </a:solidFill>
                <a:latin typeface="Calibri" pitchFamily="34" charset="0"/>
                <a:ea typeface="Calibri" pitchFamily="34" charset="-122"/>
                <a:cs typeface="Calibri" pitchFamily="34" charset="-120"/>
              </a:rPr>
              <a:t>Sources: UNESCAP CRVS Regional Hub, Thailand. https://crvs.unescap.org/country/thailand ; National Statistical Office Thailand, Statistical Yearbook. https://www.nso.go.th/public/e-book/Statistical-Yearbook/</a:t>
            </a:r>
            <a:endParaRPr lang="en-US" sz="800" dirty="0"/>
          </a:p>
        </p:txBody>
      </p:sp>
      <p:sp>
        <p:nvSpPr>
          <p:cNvPr id="16" name="Text 14"/>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17" name="Text 15"/>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37 / 80</a:t>
            </a:r>
            <a:endParaRPr lang="en-US" sz="850" dirty="0"/>
          </a:p>
        </p:txBody>
      </p:sp>
    </p:spTree>
    <p:extLst>
      <p:ext uri="{BB962C8B-B14F-4D97-AF65-F5344CB8AC3E}">
        <p14:creationId xmlns:p14="http://schemas.microsoft.com/office/powerpoint/2010/main" val="33597181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REAL INSTITUTIONS · PART 2</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How International Agencies Build Theirs</a:t>
            </a:r>
            <a:endParaRPr lang="en-US" sz="2700" dirty="0"/>
          </a:p>
        </p:txBody>
      </p:sp>
      <p:sp>
        <p:nvSpPr>
          <p:cNvPr id="4" name="Shape 2"/>
          <p:cNvSpPr/>
          <p:nvPr/>
        </p:nvSpPr>
        <p:spPr>
          <a:xfrm>
            <a:off x="457200" y="1554480"/>
            <a:ext cx="3588410" cy="4389120"/>
          </a:xfrm>
          <a:prstGeom prst="roundRect">
            <a:avLst>
              <a:gd name="adj" fmla="val 1784"/>
            </a:avLst>
          </a:prstGeom>
          <a:solidFill>
            <a:srgbClr val="EEF3F8"/>
          </a:solidFill>
          <a:ln w="9525">
            <a:solidFill>
              <a:srgbClr val="D3E0E9"/>
            </a:solidFill>
            <a:prstDash val="solid"/>
          </a:ln>
        </p:spPr>
        <p:txBody>
          <a:bodyPr/>
          <a:lstStyle/>
          <a:p>
            <a:endParaRPr/>
          </a:p>
        </p:txBody>
      </p:sp>
      <p:sp>
        <p:nvSpPr>
          <p:cNvPr id="5" name="Text 3"/>
          <p:cNvSpPr/>
          <p:nvPr/>
        </p:nvSpPr>
        <p:spPr>
          <a:xfrm>
            <a:off x="694944" y="1865376"/>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UN World Population Prospects</a:t>
            </a:r>
            <a:endParaRPr lang="en-US" sz="1450" dirty="0"/>
          </a:p>
        </p:txBody>
      </p:sp>
      <p:sp>
        <p:nvSpPr>
          <p:cNvPr id="6" name="Text 4"/>
          <p:cNvSpPr/>
          <p:nvPr/>
        </p:nvSpPr>
        <p:spPr>
          <a:xfrm>
            <a:off x="694944" y="2395728"/>
            <a:ext cx="3112922" cy="3364992"/>
          </a:xfrm>
          <a:prstGeom prst="rect">
            <a:avLst/>
          </a:prstGeom>
          <a:noFill/>
          <a:ln/>
        </p:spPr>
        <p:txBody>
          <a:bodyPr wrap="square" lIns="0" tIns="0" rIns="0" bIns="0" rtlCol="0" anchor="t"/>
          <a:lstStyle/>
          <a:p>
            <a:pPr marL="0" indent="0" algn="l">
              <a:lnSpc>
                <a:spcPct val="112000"/>
              </a:lnSpc>
              <a:buNone/>
            </a:pPr>
            <a:r>
              <a:rPr lang="en-US" sz="1080" dirty="0">
                <a:solidFill>
                  <a:srgbClr val="142433"/>
                </a:solidFill>
                <a:latin typeface="Calibri" pitchFamily="34" charset="0"/>
                <a:ea typeface="Calibri" pitchFamily="34" charset="-122"/>
                <a:cs typeface="Calibri" pitchFamily="34" charset="-120"/>
              </a:rPr>
              <a:t>The UN Population Division combines every country's vital registration, censuses, and surveys into a single harmonized nMx / nax series for all 237 countries and areas, revised every 2 years.</a:t>
            </a:r>
            <a:endParaRPr lang="en-US" sz="1080" dirty="0"/>
          </a:p>
        </p:txBody>
      </p:sp>
      <p:sp>
        <p:nvSpPr>
          <p:cNvPr id="7" name="Shape 5"/>
          <p:cNvSpPr/>
          <p:nvPr/>
        </p:nvSpPr>
        <p:spPr>
          <a:xfrm>
            <a:off x="4301642" y="1554480"/>
            <a:ext cx="3588410" cy="4389120"/>
          </a:xfrm>
          <a:prstGeom prst="roundRect">
            <a:avLst>
              <a:gd name="adj" fmla="val 1784"/>
            </a:avLst>
          </a:prstGeom>
          <a:solidFill>
            <a:srgbClr val="EEF3F8"/>
          </a:solidFill>
          <a:ln w="9525">
            <a:solidFill>
              <a:srgbClr val="D3E0E9"/>
            </a:solidFill>
            <a:prstDash val="solid"/>
          </a:ln>
        </p:spPr>
        <p:txBody>
          <a:bodyPr/>
          <a:lstStyle/>
          <a:p>
            <a:endParaRPr/>
          </a:p>
        </p:txBody>
      </p:sp>
      <p:sp>
        <p:nvSpPr>
          <p:cNvPr id="8" name="Text 6"/>
          <p:cNvSpPr/>
          <p:nvPr/>
        </p:nvSpPr>
        <p:spPr>
          <a:xfrm>
            <a:off x="4539386" y="1865376"/>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WHO Global Health Observatory</a:t>
            </a:r>
            <a:endParaRPr lang="en-US" sz="1450" dirty="0"/>
          </a:p>
        </p:txBody>
      </p:sp>
      <p:sp>
        <p:nvSpPr>
          <p:cNvPr id="9" name="Text 7"/>
          <p:cNvSpPr/>
          <p:nvPr/>
        </p:nvSpPr>
        <p:spPr>
          <a:xfrm>
            <a:off x="4539386" y="2395728"/>
            <a:ext cx="3112922" cy="3364992"/>
          </a:xfrm>
          <a:prstGeom prst="rect">
            <a:avLst/>
          </a:prstGeom>
          <a:noFill/>
          <a:ln/>
        </p:spPr>
        <p:txBody>
          <a:bodyPr wrap="square" lIns="0" tIns="0" rIns="0" bIns="0" rtlCol="0" anchor="t"/>
          <a:lstStyle/>
          <a:p>
            <a:pPr marL="0" indent="0" algn="l">
              <a:lnSpc>
                <a:spcPct val="112000"/>
              </a:lnSpc>
              <a:buNone/>
            </a:pPr>
            <a:r>
              <a:rPr lang="en-US" sz="1080" dirty="0">
                <a:solidFill>
                  <a:srgbClr val="142433"/>
                </a:solidFill>
                <a:latin typeface="Calibri" pitchFamily="34" charset="0"/>
                <a:ea typeface="Calibri" pitchFamily="34" charset="-122"/>
                <a:cs typeface="Calibri" pitchFamily="34" charset="-120"/>
              </a:rPr>
              <a:t>WHO builds abridged life tables for 183 Member States each year, drawing on WPP population estimates, death registration reported to WHO, and Inter-agency child-mortality estimates for ages under 15.</a:t>
            </a:r>
            <a:endParaRPr lang="en-US" sz="1080" dirty="0"/>
          </a:p>
        </p:txBody>
      </p:sp>
      <p:sp>
        <p:nvSpPr>
          <p:cNvPr id="10" name="Shape 8"/>
          <p:cNvSpPr/>
          <p:nvPr/>
        </p:nvSpPr>
        <p:spPr>
          <a:xfrm>
            <a:off x="8146085" y="1554480"/>
            <a:ext cx="3588410" cy="4389120"/>
          </a:xfrm>
          <a:prstGeom prst="roundRect">
            <a:avLst>
              <a:gd name="adj" fmla="val 1784"/>
            </a:avLst>
          </a:prstGeom>
          <a:solidFill>
            <a:srgbClr val="EEF3F8"/>
          </a:solidFill>
          <a:ln w="9525">
            <a:solidFill>
              <a:srgbClr val="D3E0E9"/>
            </a:solidFill>
            <a:prstDash val="solid"/>
          </a:ln>
        </p:spPr>
        <p:txBody>
          <a:bodyPr/>
          <a:lstStyle/>
          <a:p>
            <a:endParaRPr/>
          </a:p>
        </p:txBody>
      </p:sp>
      <p:sp>
        <p:nvSpPr>
          <p:cNvPr id="11" name="Text 9"/>
          <p:cNvSpPr/>
          <p:nvPr/>
        </p:nvSpPr>
        <p:spPr>
          <a:xfrm>
            <a:off x="8383829" y="1865376"/>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US Census Bureau International Database &amp; NCHS</a:t>
            </a:r>
            <a:endParaRPr lang="en-US" sz="1450" dirty="0"/>
          </a:p>
        </p:txBody>
      </p:sp>
      <p:sp>
        <p:nvSpPr>
          <p:cNvPr id="12" name="Text 10"/>
          <p:cNvSpPr/>
          <p:nvPr/>
        </p:nvSpPr>
        <p:spPr>
          <a:xfrm>
            <a:off x="8383829" y="2395728"/>
            <a:ext cx="3112922" cy="3364992"/>
          </a:xfrm>
          <a:prstGeom prst="rect">
            <a:avLst/>
          </a:prstGeom>
          <a:noFill/>
          <a:ln/>
        </p:spPr>
        <p:txBody>
          <a:bodyPr wrap="square" lIns="0" tIns="0" rIns="0" bIns="0" rtlCol="0" anchor="t"/>
          <a:lstStyle/>
          <a:p>
            <a:pPr marL="0" indent="0" algn="l">
              <a:lnSpc>
                <a:spcPct val="112000"/>
              </a:lnSpc>
              <a:buNone/>
            </a:pPr>
            <a:r>
              <a:rPr lang="en-US" sz="1080" dirty="0">
                <a:solidFill>
                  <a:srgbClr val="142433"/>
                </a:solidFill>
                <a:latin typeface="Calibri" pitchFamily="34" charset="0"/>
                <a:ea typeface="Calibri" pitchFamily="34" charset="-122"/>
                <a:cs typeface="Calibri" pitchFamily="34" charset="-120"/>
              </a:rPr>
              <a:t>For the US itself, NCHS builds official life tables from final death certificates, July 1 population estimates, AND supplementary Medicare beneficiary data for ages 66–99 — a real example of graduation using an independent old-age data source (see Slide 41).</a:t>
            </a:r>
            <a:endParaRPr lang="en-US" sz="1080" dirty="0"/>
          </a:p>
        </p:txBody>
      </p:sp>
      <p:sp>
        <p:nvSpPr>
          <p:cNvPr id="13" name="Text 11"/>
          <p:cNvSpPr/>
          <p:nvPr/>
        </p:nvSpPr>
        <p:spPr>
          <a:xfrm>
            <a:off x="457200" y="6263640"/>
            <a:ext cx="11277295" cy="420624"/>
          </a:xfrm>
          <a:prstGeom prst="rect">
            <a:avLst/>
          </a:prstGeom>
          <a:noFill/>
          <a:ln/>
        </p:spPr>
        <p:txBody>
          <a:bodyPr wrap="square" lIns="0" tIns="0" rIns="0" bIns="0" rtlCol="0" anchor="t"/>
          <a:lstStyle/>
          <a:p>
            <a:pPr marL="0" indent="0" algn="l">
              <a:buNone/>
            </a:pPr>
            <a:r>
              <a:rPr lang="en-US" sz="800" i="1" dirty="0">
                <a:solidFill>
                  <a:srgbClr val="5B6B79"/>
                </a:solidFill>
                <a:latin typeface="Calibri" pitchFamily="34" charset="0"/>
                <a:ea typeface="Calibri" pitchFamily="34" charset="-122"/>
                <a:cs typeface="Calibri" pitchFamily="34" charset="-120"/>
              </a:rPr>
              <a:t>Sources: UN DESA Population Division, World Population Prospects 2024. https://population.un.org/wpp/ ; WHO, WHO methods and data sources for life tables 2000–2021. https://www.who.int/publications/m/item/who-methods-and-data-sources-for-life-tables-2000-2021 ; Arias, E., Xu, J., &amp; Kochanek, K. (2025). United States life tables, 2023. National Vital Statistics Reports, 74(6). https://www.ncbi.nlm.nih.gov/books/NBK620699/</a:t>
            </a:r>
            <a:endParaRPr lang="en-US" sz="800" dirty="0"/>
          </a:p>
        </p:txBody>
      </p:sp>
      <p:sp>
        <p:nvSpPr>
          <p:cNvPr id="14" name="Text 12"/>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15" name="Text 13"/>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38 / 80</a:t>
            </a:r>
            <a:endParaRPr lang="en-US" sz="850" dirty="0"/>
          </a:p>
        </p:txBody>
      </p:sp>
    </p:spTree>
    <p:extLst>
      <p:ext uri="{BB962C8B-B14F-4D97-AF65-F5344CB8AC3E}">
        <p14:creationId xmlns:p14="http://schemas.microsoft.com/office/powerpoint/2010/main" val="32511680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REAL ADJUSTMENTS · PART 1</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Graduation and Smoothing: Fixing Jagged Real-World Rates</a:t>
            </a:r>
            <a:endParaRPr lang="en-US" sz="2700" dirty="0"/>
          </a:p>
        </p:txBody>
      </p:sp>
      <p:sp>
        <p:nvSpPr>
          <p:cNvPr id="4" name="Shape 2"/>
          <p:cNvSpPr/>
          <p:nvPr/>
        </p:nvSpPr>
        <p:spPr>
          <a:xfrm>
            <a:off x="457200" y="1554480"/>
            <a:ext cx="3588410" cy="4389120"/>
          </a:xfrm>
          <a:prstGeom prst="roundRect">
            <a:avLst>
              <a:gd name="adj" fmla="val 1784"/>
            </a:avLst>
          </a:prstGeom>
          <a:solidFill>
            <a:srgbClr val="EEF3F8"/>
          </a:solidFill>
          <a:ln w="9525">
            <a:solidFill>
              <a:srgbClr val="D3E0E9"/>
            </a:solidFill>
            <a:prstDash val="solid"/>
          </a:ln>
        </p:spPr>
      </p:sp>
      <p:sp>
        <p:nvSpPr>
          <p:cNvPr id="5" name="Text 3"/>
          <p:cNvSpPr/>
          <p:nvPr/>
        </p:nvSpPr>
        <p:spPr>
          <a:xfrm>
            <a:off x="694944" y="1865376"/>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Why raw rates need graduation</a:t>
            </a:r>
            <a:endParaRPr lang="en-US" sz="1450" dirty="0"/>
          </a:p>
        </p:txBody>
      </p:sp>
      <p:sp>
        <p:nvSpPr>
          <p:cNvPr id="6" name="Text 4"/>
          <p:cNvSpPr/>
          <p:nvPr/>
        </p:nvSpPr>
        <p:spPr>
          <a:xfrm>
            <a:off x="694944" y="2395728"/>
            <a:ext cx="3112922" cy="3364992"/>
          </a:xfrm>
          <a:prstGeom prst="rect">
            <a:avLst/>
          </a:prstGeom>
          <a:noFill/>
          <a:ln/>
        </p:spPr>
        <p:txBody>
          <a:bodyPr wrap="square" lIns="0" tIns="0" rIns="0" bIns="0" rtlCol="0" anchor="t"/>
          <a:lstStyle/>
          <a:p>
            <a:pPr marL="0" indent="0" algn="l">
              <a:lnSpc>
                <a:spcPct val="112000"/>
              </a:lnSpc>
              <a:buNone/>
            </a:pPr>
            <a:r>
              <a:rPr lang="en-US" sz="1100" dirty="0">
                <a:solidFill>
                  <a:srgbClr val="142433"/>
                </a:solidFill>
                <a:latin typeface="Calibri" pitchFamily="34" charset="0"/>
                <a:ea typeface="Calibri" pitchFamily="34" charset="-122"/>
                <a:cs typeface="Calibri" pitchFamily="34" charset="-120"/>
              </a:rPr>
              <a:t>Real nMx computed from actual small-area or single-year data is rarely smooth — sampling noise, age heaping, and small denominators produce a jagged, biologically implausible age pattern.</a:t>
            </a:r>
            <a:endParaRPr lang="en-US" sz="1100" dirty="0"/>
          </a:p>
        </p:txBody>
      </p:sp>
      <p:sp>
        <p:nvSpPr>
          <p:cNvPr id="7" name="Shape 5"/>
          <p:cNvSpPr/>
          <p:nvPr/>
        </p:nvSpPr>
        <p:spPr>
          <a:xfrm>
            <a:off x="4301642" y="1554480"/>
            <a:ext cx="3588410" cy="4389120"/>
          </a:xfrm>
          <a:prstGeom prst="roundRect">
            <a:avLst>
              <a:gd name="adj" fmla="val 1784"/>
            </a:avLst>
          </a:prstGeom>
          <a:solidFill>
            <a:srgbClr val="EEF3F8"/>
          </a:solidFill>
          <a:ln w="9525">
            <a:solidFill>
              <a:srgbClr val="D3E0E9"/>
            </a:solidFill>
            <a:prstDash val="solid"/>
          </a:ln>
        </p:spPr>
      </p:sp>
      <p:sp>
        <p:nvSpPr>
          <p:cNvPr id="8" name="Text 6"/>
          <p:cNvSpPr/>
          <p:nvPr/>
        </p:nvSpPr>
        <p:spPr>
          <a:xfrm>
            <a:off x="4539386" y="1865376"/>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Classic graduation techniques</a:t>
            </a:r>
            <a:endParaRPr lang="en-US" sz="1450" dirty="0"/>
          </a:p>
        </p:txBody>
      </p:sp>
      <p:sp>
        <p:nvSpPr>
          <p:cNvPr id="9" name="Text 7"/>
          <p:cNvSpPr/>
          <p:nvPr/>
        </p:nvSpPr>
        <p:spPr>
          <a:xfrm>
            <a:off x="4539386" y="2395728"/>
            <a:ext cx="3112922" cy="3364992"/>
          </a:xfrm>
          <a:prstGeom prst="rect">
            <a:avLst/>
          </a:prstGeom>
          <a:noFill/>
          <a:ln/>
        </p:spPr>
        <p:txBody>
          <a:bodyPr wrap="square" lIns="0" tIns="0" rIns="0" bIns="0" rtlCol="0" anchor="t"/>
          <a:lstStyle/>
          <a:p>
            <a:pPr marL="0" indent="0" algn="l">
              <a:lnSpc>
                <a:spcPct val="112000"/>
              </a:lnSpc>
              <a:buNone/>
            </a:pPr>
            <a:r>
              <a:rPr lang="en-US" sz="1100" dirty="0">
                <a:solidFill>
                  <a:srgbClr val="142433"/>
                </a:solidFill>
                <a:latin typeface="Calibri" pitchFamily="34" charset="0"/>
                <a:ea typeface="Calibri" pitchFamily="34" charset="-122"/>
                <a:cs typeface="Calibri" pitchFamily="34" charset="-120"/>
              </a:rPr>
              <a:t>Analysts fit the raw nMx / nqx sequence to a smooth mathematical curve or reference pattern — e.g., relational logit models, splines, or a Heligman–Pollard mortality curve — before publication.</a:t>
            </a:r>
            <a:endParaRPr lang="en-US" sz="1100" dirty="0"/>
          </a:p>
        </p:txBody>
      </p:sp>
      <p:sp>
        <p:nvSpPr>
          <p:cNvPr id="10" name="Shape 8"/>
          <p:cNvSpPr/>
          <p:nvPr/>
        </p:nvSpPr>
        <p:spPr>
          <a:xfrm>
            <a:off x="8146085" y="1554480"/>
            <a:ext cx="3588410" cy="4389120"/>
          </a:xfrm>
          <a:prstGeom prst="roundRect">
            <a:avLst>
              <a:gd name="adj" fmla="val 1784"/>
            </a:avLst>
          </a:prstGeom>
          <a:solidFill>
            <a:srgbClr val="EEF3F8"/>
          </a:solidFill>
          <a:ln w="9525">
            <a:solidFill>
              <a:srgbClr val="D3E0E9"/>
            </a:solidFill>
            <a:prstDash val="solid"/>
          </a:ln>
        </p:spPr>
      </p:sp>
      <p:sp>
        <p:nvSpPr>
          <p:cNvPr id="11" name="Text 9"/>
          <p:cNvSpPr/>
          <p:nvPr/>
        </p:nvSpPr>
        <p:spPr>
          <a:xfrm>
            <a:off x="8383829" y="1865376"/>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Model life tables as a related tool</a:t>
            </a:r>
            <a:endParaRPr lang="en-US" sz="1450" dirty="0"/>
          </a:p>
        </p:txBody>
      </p:sp>
      <p:sp>
        <p:nvSpPr>
          <p:cNvPr id="12" name="Text 10"/>
          <p:cNvSpPr/>
          <p:nvPr/>
        </p:nvSpPr>
        <p:spPr>
          <a:xfrm>
            <a:off x="8383829" y="2395728"/>
            <a:ext cx="3112922" cy="3364992"/>
          </a:xfrm>
          <a:prstGeom prst="rect">
            <a:avLst/>
          </a:prstGeom>
          <a:noFill/>
          <a:ln/>
        </p:spPr>
        <p:txBody>
          <a:bodyPr wrap="square" lIns="0" tIns="0" rIns="0" bIns="0" rtlCol="0" anchor="t"/>
          <a:lstStyle/>
          <a:p>
            <a:pPr marL="0" indent="0" algn="l">
              <a:lnSpc>
                <a:spcPct val="112000"/>
              </a:lnSpc>
              <a:buNone/>
            </a:pPr>
            <a:r>
              <a:rPr lang="en-US" sz="1100" dirty="0">
                <a:solidFill>
                  <a:srgbClr val="142433"/>
                </a:solidFill>
                <a:latin typeface="Calibri" pitchFamily="34" charset="0"/>
                <a:ea typeface="Calibri" pitchFamily="34" charset="-122"/>
                <a:cs typeface="Calibri" pitchFamily="34" charset="-120"/>
              </a:rPr>
              <a:t>When data are sparse or unreliable, Coale–Demeny or UN model life table families let analysts generate a plausible complete table from a single robust input, such as e0 or 5q0.</a:t>
            </a:r>
            <a:endParaRPr lang="en-US" sz="1100" dirty="0"/>
          </a:p>
        </p:txBody>
      </p:sp>
      <p:sp>
        <p:nvSpPr>
          <p:cNvPr id="13" name="Text 11"/>
          <p:cNvSpPr/>
          <p:nvPr/>
        </p:nvSpPr>
        <p:spPr>
          <a:xfrm>
            <a:off x="457200" y="6126480"/>
            <a:ext cx="11277295" cy="420624"/>
          </a:xfrm>
          <a:prstGeom prst="rect">
            <a:avLst/>
          </a:prstGeom>
          <a:noFill/>
          <a:ln/>
        </p:spPr>
        <p:txBody>
          <a:bodyPr wrap="square" lIns="0" tIns="0" rIns="0" bIns="0" rtlCol="0" anchor="t"/>
          <a:lstStyle/>
          <a:p>
            <a:pPr marL="0" indent="0" algn="l">
              <a:buNone/>
            </a:pPr>
            <a:r>
              <a:rPr lang="en-US" sz="800" i="1" dirty="0">
                <a:solidFill>
                  <a:srgbClr val="5B6B79"/>
                </a:solidFill>
                <a:latin typeface="Calibri" pitchFamily="34" charset="0"/>
                <a:ea typeface="Calibri" pitchFamily="34" charset="-122"/>
                <a:cs typeface="Calibri" pitchFamily="34" charset="-120"/>
              </a:rPr>
              <a:t>See also: Preston, S. H., Heuveline, P., &amp; Guillot, M. (2001). Demography: Measuring and modeling population processes. Blackwell Publishers.</a:t>
            </a:r>
            <a:endParaRPr lang="en-US" sz="800" dirty="0"/>
          </a:p>
        </p:txBody>
      </p:sp>
      <p:sp>
        <p:nvSpPr>
          <p:cNvPr id="14" name="Text 12"/>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15" name="Text 13"/>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39 / 80</a:t>
            </a:r>
            <a:endParaRPr lang="en-US" sz="850" dirty="0"/>
          </a:p>
        </p:txBody>
      </p:sp>
    </p:spTree>
    <p:extLst>
      <p:ext uri="{BB962C8B-B14F-4D97-AF65-F5344CB8AC3E}">
        <p14:creationId xmlns:p14="http://schemas.microsoft.com/office/powerpoint/2010/main" val="35252885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REAL ADJUSTMENTS · PART 2</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Real nax Methods: Beyond the Naive n/2 Default</a:t>
            </a:r>
            <a:endParaRPr lang="en-US" sz="2700" dirty="0"/>
          </a:p>
        </p:txBody>
      </p:sp>
      <p:graphicFrame>
        <p:nvGraphicFramePr>
          <p:cNvPr id="28" name="Table 0"/>
          <p:cNvGraphicFramePr>
            <a:graphicFrameLocks noGrp="1"/>
          </p:cNvGraphicFramePr>
          <p:nvPr/>
        </p:nvGraphicFramePr>
        <p:xfrm>
          <a:off x="457200" y="1536192"/>
          <a:ext cx="11274552" cy="4663440"/>
        </p:xfrm>
        <a:graphic>
          <a:graphicData uri="http://schemas.openxmlformats.org/drawingml/2006/table">
            <a:tbl>
              <a:tblPr/>
              <a:tblGrid>
                <a:gridCol w="29260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5239512">
                  <a:extLst>
                    <a:ext uri="{9D8B030D-6E8A-4147-A177-3AD203B41FA5}">
                      <a16:colId xmlns:a16="http://schemas.microsoft.com/office/drawing/2014/main" val="20002"/>
                    </a:ext>
                  </a:extLst>
                </a:gridCol>
              </a:tblGrid>
              <a:tr h="932688">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Method</a:t>
                      </a:r>
                      <a:endParaRPr lang="en-US" sz="115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Used for</a:t>
                      </a:r>
                      <a:endParaRPr lang="en-US" sz="115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Key idea</a:t>
                      </a:r>
                      <a:endParaRPr lang="en-US" sz="115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extLst>
                  <a:ext uri="{0D108BD9-81ED-4DB2-BD59-A6C34878D82A}">
                    <a16:rowId xmlns:a16="http://schemas.microsoft.com/office/drawing/2014/main" val="10000"/>
                  </a:ext>
                </a:extLst>
              </a:tr>
              <a:tr h="932688">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Naive n/2</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BEAEA"/>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Teaching / quick estimates</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BEAEA"/>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Assumes deaths spread evenly across the interval — wrong at age 0 and in the open interval.</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BEAEA"/>
                    </a:solidFill>
                  </a:tcPr>
                </a:tc>
                <a:extLst>
                  <a:ext uri="{0D108BD9-81ED-4DB2-BD59-A6C34878D82A}">
                    <a16:rowId xmlns:a16="http://schemas.microsoft.com/office/drawing/2014/main" val="10001"/>
                  </a:ext>
                </a:extLst>
              </a:tr>
              <a:tr h="932688">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Coale–Demeny regression</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Age 0 and ages 1–4, by mortality level</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a0 and a1–4 estimated from regression equations tied to the observed infant mortality rate (IMR).</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extLst>
                  <a:ext uri="{0D108BD9-81ED-4DB2-BD59-A6C34878D82A}">
                    <a16:rowId xmlns:a16="http://schemas.microsoft.com/office/drawing/2014/main" val="10002"/>
                  </a:ext>
                </a:extLst>
              </a:tr>
              <a:tr h="932688">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Andreev–Kingkade method</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1EAF2"/>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Age 0, adopted by the Human Mortality Database</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1EAF2"/>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Modifies Coale–Demeny for today's very-low-mortality settings, where infant deaths concentrate even more in the first days of life.</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1EAF2"/>
                    </a:solidFill>
                  </a:tcPr>
                </a:tc>
                <a:extLst>
                  <a:ext uri="{0D108BD9-81ED-4DB2-BD59-A6C34878D82A}">
                    <a16:rowId xmlns:a16="http://schemas.microsoft.com/office/drawing/2014/main" val="10003"/>
                  </a:ext>
                </a:extLst>
              </a:tr>
              <a:tr h="932688">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Open-interval formula</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The final age group (e.g., 85+, 100+)</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No nax at all — Lω = lω / Mω is used directly, sidestepping the separation-factor concept entirely.</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EEF3F8"/>
                    </a:solidFill>
                  </a:tcPr>
                </a:tc>
                <a:extLst>
                  <a:ext uri="{0D108BD9-81ED-4DB2-BD59-A6C34878D82A}">
                    <a16:rowId xmlns:a16="http://schemas.microsoft.com/office/drawing/2014/main" val="10004"/>
                  </a:ext>
                </a:extLst>
              </a:tr>
            </a:tbl>
          </a:graphicData>
        </a:graphic>
      </p:graphicFrame>
      <p:sp>
        <p:nvSpPr>
          <p:cNvPr id="5" name="Text 2"/>
          <p:cNvSpPr/>
          <p:nvPr/>
        </p:nvSpPr>
        <p:spPr>
          <a:xfrm>
            <a:off x="457200" y="6263640"/>
            <a:ext cx="11277295" cy="420624"/>
          </a:xfrm>
          <a:prstGeom prst="rect">
            <a:avLst/>
          </a:prstGeom>
          <a:noFill/>
          <a:ln/>
        </p:spPr>
        <p:txBody>
          <a:bodyPr wrap="square" lIns="0" tIns="0" rIns="0" bIns="0" rtlCol="0" anchor="t"/>
          <a:lstStyle/>
          <a:p>
            <a:pPr marL="0" indent="0" algn="l">
              <a:buNone/>
            </a:pPr>
            <a:r>
              <a:rPr lang="en-US" sz="800" i="1" dirty="0">
                <a:solidFill>
                  <a:srgbClr val="5B6B79"/>
                </a:solidFill>
                <a:latin typeface="Calibri" pitchFamily="34" charset="0"/>
                <a:ea typeface="Calibri" pitchFamily="34" charset="-122"/>
                <a:cs typeface="Calibri" pitchFamily="34" charset="-120"/>
              </a:rPr>
              <a:t>Sources: Andreev, K., &amp; Kingkade, W. (2015). Average age at death in infancy and infant mortality level. Demographic Research, 33(13), 363–390 ; Coale, A. J., &amp; Demeny, P. (1983). Regional model life tables and stable populations (2nd ed.). Academic Press.</a:t>
            </a:r>
            <a:endParaRPr lang="en-US" sz="800" dirty="0"/>
          </a:p>
        </p:txBody>
      </p:sp>
      <p:sp>
        <p:nvSpPr>
          <p:cNvPr id="6" name="Text 3"/>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7" name="Text 4"/>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40 / 80</a:t>
            </a:r>
            <a:endParaRPr lang="en-US" sz="850" dirty="0"/>
          </a:p>
        </p:txBody>
      </p:sp>
    </p:spTree>
    <p:extLst>
      <p:ext uri="{BB962C8B-B14F-4D97-AF65-F5344CB8AC3E}">
        <p14:creationId xmlns:p14="http://schemas.microsoft.com/office/powerpoint/2010/main" val="38274749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REAL CURRENT EXAMPLE · 2025 RELEASE</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Reading an Actual Published Life Table: US Life Tables, 2023</a:t>
            </a:r>
            <a:endParaRPr lang="en-US" sz="2700" dirty="0"/>
          </a:p>
        </p:txBody>
      </p:sp>
      <p:sp>
        <p:nvSpPr>
          <p:cNvPr id="4" name="Shape 2"/>
          <p:cNvSpPr/>
          <p:nvPr/>
        </p:nvSpPr>
        <p:spPr>
          <a:xfrm>
            <a:off x="457200" y="1536192"/>
            <a:ext cx="11277295" cy="1417320"/>
          </a:xfrm>
          <a:prstGeom prst="roundRect">
            <a:avLst>
              <a:gd name="adj" fmla="val 4516"/>
            </a:avLst>
          </a:prstGeom>
          <a:solidFill>
            <a:srgbClr val="EEF3F8"/>
          </a:solidFill>
          <a:ln w="9525">
            <a:solidFill>
              <a:srgbClr val="D3E0E9"/>
            </a:solidFill>
            <a:prstDash val="solid"/>
          </a:ln>
        </p:spPr>
        <p:txBody>
          <a:bodyPr/>
          <a:lstStyle/>
          <a:p>
            <a:endParaRPr/>
          </a:p>
        </p:txBody>
      </p:sp>
      <p:sp>
        <p:nvSpPr>
          <p:cNvPr id="5" name="Text 3"/>
          <p:cNvSpPr/>
          <p:nvPr/>
        </p:nvSpPr>
        <p:spPr>
          <a:xfrm>
            <a:off x="731520" y="1691640"/>
            <a:ext cx="10728655" cy="1143000"/>
          </a:xfrm>
          <a:prstGeom prst="rect">
            <a:avLst/>
          </a:prstGeom>
          <a:noFill/>
          <a:ln/>
        </p:spPr>
        <p:txBody>
          <a:bodyPr wrap="square" lIns="0" tIns="0" rIns="0" bIns="0" rtlCol="0" anchor="t"/>
          <a:lstStyle/>
          <a:p>
            <a:pPr marL="0" indent="0">
              <a:lnSpc>
                <a:spcPct val="120000"/>
              </a:lnSpc>
              <a:buNone/>
            </a:pPr>
            <a:r>
              <a:rPr lang="en-US" sz="1250" dirty="0">
                <a:solidFill>
                  <a:srgbClr val="142433"/>
                </a:solidFill>
                <a:latin typeface="Calibri" pitchFamily="34" charset="0"/>
                <a:ea typeface="Calibri" pitchFamily="34" charset="-122"/>
                <a:cs typeface="Calibri" pitchFamily="34" charset="-120"/>
              </a:rPr>
              <a:t>Published July 15, 2025 by NCHS (Arias, Xu &amp; Kochanek), using 2023 final death counts, July 1, 2023 population estimates, and Medicare data for ages 66–99 to sharpen old-age mortality — a real, current, three-source construction exactly like the pipeline on Slide 37.
</a:t>
            </a:r>
            <a:r>
              <a:rPr lang="en-US" sz="1300" b="1" dirty="0">
                <a:solidFill>
                  <a:srgbClr val="0B3D62"/>
                </a:solidFill>
                <a:latin typeface="Calibri" pitchFamily="34" charset="0"/>
                <a:ea typeface="Calibri" pitchFamily="34" charset="-122"/>
                <a:cs typeface="Calibri" pitchFamily="34" charset="-120"/>
              </a:rPr>
              <a:t>e0 (total) = 78.4 years</a:t>
            </a:r>
            <a:r>
              <a:rPr lang="en-US" sz="1250" dirty="0">
                <a:solidFill>
                  <a:srgbClr val="142433"/>
                </a:solidFill>
                <a:latin typeface="Calibri" pitchFamily="34" charset="0"/>
                <a:ea typeface="Calibri" pitchFamily="34" charset="-122"/>
                <a:cs typeface="Calibri" pitchFamily="34" charset="-120"/>
              </a:rPr>
              <a:t>  (males 75.8, females 81.1) — up 0.9 year from 77.5 in 2022, a post-pandemic rebound.</a:t>
            </a:r>
            <a:endParaRPr lang="en-US" sz="1250" dirty="0"/>
          </a:p>
        </p:txBody>
      </p:sp>
      <p:graphicFrame>
        <p:nvGraphicFramePr>
          <p:cNvPr id="29" name="Table 0"/>
          <p:cNvGraphicFramePr>
            <a:graphicFrameLocks noGrp="1"/>
          </p:cNvGraphicFramePr>
          <p:nvPr/>
        </p:nvGraphicFramePr>
        <p:xfrm>
          <a:off x="457200" y="3127248"/>
          <a:ext cx="11274552" cy="3017520"/>
        </p:xfrm>
        <a:graphic>
          <a:graphicData uri="http://schemas.openxmlformats.org/drawingml/2006/table">
            <a:tbl>
              <a:tblPr/>
              <a:tblGrid>
                <a:gridCol w="22860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6245352">
                  <a:extLst>
                    <a:ext uri="{9D8B030D-6E8A-4147-A177-3AD203B41FA5}">
                      <a16:colId xmlns:a16="http://schemas.microsoft.com/office/drawing/2014/main" val="20002"/>
                    </a:ext>
                  </a:extLst>
                </a:gridCol>
              </a:tblGrid>
              <a:tr h="502920">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Age x</a:t>
                      </a:r>
                      <a:endParaRPr lang="en-US" sz="115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lx (of 100,000)</a:t>
                      </a:r>
                      <a:endParaRPr lang="en-US" sz="115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What it means</a:t>
                      </a:r>
                      <a:endParaRPr lang="en-US" sz="115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extLst>
                  <a:ext uri="{0D108BD9-81ED-4DB2-BD59-A6C34878D82A}">
                    <a16:rowId xmlns:a16="http://schemas.microsoft.com/office/drawing/2014/main" val="10000"/>
                  </a:ext>
                </a:extLst>
              </a:tr>
              <a:tr h="502920">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100,000</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Radix</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1 (female)</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99,487</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99.5% of female babies survive infancy</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20 (male)</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98,705</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Tx(20) = 5,598,276 → e20 (male) = 56.7 yrs</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80 (total)</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57,812</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57.8% of the cohort survives to age 80</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85 (total)</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42,699</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P(survive 20→85) = 42,699/98,901 = 43.2%</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4"/>
          <p:cNvSpPr/>
          <p:nvPr/>
        </p:nvSpPr>
        <p:spPr>
          <a:xfrm>
            <a:off x="457200" y="6263640"/>
            <a:ext cx="11277295" cy="420624"/>
          </a:xfrm>
          <a:prstGeom prst="rect">
            <a:avLst/>
          </a:prstGeom>
          <a:noFill/>
          <a:ln/>
        </p:spPr>
        <p:txBody>
          <a:bodyPr wrap="square" lIns="0" tIns="0" rIns="0" bIns="0" rtlCol="0" anchor="t"/>
          <a:lstStyle/>
          <a:p>
            <a:pPr marL="0" indent="0" algn="l">
              <a:buNone/>
            </a:pPr>
            <a:r>
              <a:rPr lang="en-US" sz="800" i="1" dirty="0">
                <a:solidFill>
                  <a:srgbClr val="5B6B79"/>
                </a:solidFill>
                <a:latin typeface="Calibri" pitchFamily="34" charset="0"/>
                <a:ea typeface="Calibri" pitchFamily="34" charset="-122"/>
                <a:cs typeface="Calibri" pitchFamily="34" charset="-120"/>
              </a:rPr>
              <a:t>Source: Arias, E., Xu, J., &amp; Kochanek, K. D. (2025). United States life tables, 2023. National Vital Statistics Reports, 74(6). National Center for Health Statistics. https://www.ncbi.nlm.nih.gov/books/NBK620699/</a:t>
            </a:r>
            <a:endParaRPr lang="en-US" sz="800" dirty="0"/>
          </a:p>
        </p:txBody>
      </p:sp>
      <p:sp>
        <p:nvSpPr>
          <p:cNvPr id="8" name="Text 5"/>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9" name="Text 6"/>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41 / 80</a:t>
            </a:r>
            <a:endParaRPr lang="en-US" sz="850" dirty="0"/>
          </a:p>
        </p:txBody>
      </p:sp>
    </p:spTree>
    <p:extLst>
      <p:ext uri="{BB962C8B-B14F-4D97-AF65-F5344CB8AC3E}">
        <p14:creationId xmlns:p14="http://schemas.microsoft.com/office/powerpoint/2010/main" val="30958819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WHAT GOES WRONG IN PRACTICE</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Real Pitfalls Analysts Encounter</a:t>
            </a:r>
            <a:endParaRPr lang="en-US" sz="2700" dirty="0"/>
          </a:p>
        </p:txBody>
      </p:sp>
      <p:sp>
        <p:nvSpPr>
          <p:cNvPr id="4" name="Shape 2"/>
          <p:cNvSpPr/>
          <p:nvPr/>
        </p:nvSpPr>
        <p:spPr>
          <a:xfrm>
            <a:off x="457200" y="1536192"/>
            <a:ext cx="5501488" cy="2148840"/>
          </a:xfrm>
          <a:prstGeom prst="roundRect">
            <a:avLst>
              <a:gd name="adj" fmla="val 2979"/>
            </a:avLst>
          </a:prstGeom>
          <a:solidFill>
            <a:srgbClr val="EEF3F8"/>
          </a:solidFill>
          <a:ln w="9525">
            <a:solidFill>
              <a:srgbClr val="D3E0E9"/>
            </a:solidFill>
            <a:prstDash val="solid"/>
          </a:ln>
        </p:spPr>
      </p:sp>
      <p:sp>
        <p:nvSpPr>
          <p:cNvPr id="5" name="Shape 3"/>
          <p:cNvSpPr/>
          <p:nvPr/>
        </p:nvSpPr>
        <p:spPr>
          <a:xfrm>
            <a:off x="621792" y="1700784"/>
            <a:ext cx="411480" cy="411480"/>
          </a:xfrm>
          <a:prstGeom prst="ellipse">
            <a:avLst/>
          </a:prstGeom>
          <a:solidFill>
            <a:srgbClr val="C0433A"/>
          </a:solidFill>
          <a:ln/>
        </p:spPr>
      </p:sp>
      <p:sp>
        <p:nvSpPr>
          <p:cNvPr id="6" name="Text 4"/>
          <p:cNvSpPr/>
          <p:nvPr/>
        </p:nvSpPr>
        <p:spPr>
          <a:xfrm>
            <a:off x="621792" y="1700784"/>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170432" y="1682496"/>
            <a:ext cx="4541368" cy="594360"/>
          </a:xfrm>
          <a:prstGeom prst="rect">
            <a:avLst/>
          </a:prstGeom>
          <a:noFill/>
          <a:ln/>
        </p:spPr>
        <p:txBody>
          <a:bodyPr wrap="square" lIns="0" tIns="0" rIns="0" bIns="0" rtlCol="0" anchor="t"/>
          <a:lstStyle/>
          <a:p>
            <a:pPr marL="0" indent="0">
              <a:buNone/>
            </a:pPr>
            <a:r>
              <a:rPr lang="en-US" sz="1300" b="1" dirty="0">
                <a:solidFill>
                  <a:srgbClr val="0B3D62"/>
                </a:solidFill>
                <a:latin typeface="Calibri" pitchFamily="34" charset="0"/>
                <a:ea typeface="Calibri" pitchFamily="34" charset="-122"/>
                <a:cs typeface="Calibri" pitchFamily="34" charset="-120"/>
              </a:rPr>
              <a:t>Registration completeness gaps</a:t>
            </a:r>
            <a:endParaRPr lang="en-US" sz="1300" dirty="0"/>
          </a:p>
        </p:txBody>
      </p:sp>
      <p:sp>
        <p:nvSpPr>
          <p:cNvPr id="8" name="Text 6"/>
          <p:cNvSpPr/>
          <p:nvPr/>
        </p:nvSpPr>
        <p:spPr>
          <a:xfrm>
            <a:off x="731520" y="2359152"/>
            <a:ext cx="4952848" cy="1188720"/>
          </a:xfrm>
          <a:prstGeom prst="rect">
            <a:avLst/>
          </a:prstGeom>
          <a:noFill/>
          <a:ln/>
        </p:spPr>
        <p:txBody>
          <a:bodyPr wrap="square" lIns="0" tIns="0" rIns="0" bIns="0" rtlCol="0" anchor="t"/>
          <a:lstStyle/>
          <a:p>
            <a:pPr marL="0" indent="0">
              <a:lnSpc>
                <a:spcPct val="110000"/>
              </a:lnSpc>
              <a:buNone/>
            </a:pPr>
            <a:r>
              <a:rPr lang="en-US" sz="1050" dirty="0">
                <a:solidFill>
                  <a:srgbClr val="142433"/>
                </a:solidFill>
                <a:latin typeface="Calibri" pitchFamily="34" charset="0"/>
                <a:ea typeface="Calibri" pitchFamily="34" charset="-122"/>
                <a:cs typeface="Calibri" pitchFamily="34" charset="-120"/>
              </a:rPr>
              <a:t>Even countries with strong CRVS systems have pockets of under-registration — remote regions, deaths outside health facilities, undocumented populations — that bias nMx downward exactly where it is hardest to detect.</a:t>
            </a:r>
            <a:endParaRPr lang="en-US" sz="1050" dirty="0"/>
          </a:p>
        </p:txBody>
      </p:sp>
      <p:sp>
        <p:nvSpPr>
          <p:cNvPr id="9" name="Shape 7"/>
          <p:cNvSpPr/>
          <p:nvPr/>
        </p:nvSpPr>
        <p:spPr>
          <a:xfrm>
            <a:off x="6233008" y="1536192"/>
            <a:ext cx="5501488" cy="2148840"/>
          </a:xfrm>
          <a:prstGeom prst="roundRect">
            <a:avLst>
              <a:gd name="adj" fmla="val 2979"/>
            </a:avLst>
          </a:prstGeom>
          <a:solidFill>
            <a:srgbClr val="EEF3F8"/>
          </a:solidFill>
          <a:ln w="9525">
            <a:solidFill>
              <a:srgbClr val="D3E0E9"/>
            </a:solidFill>
            <a:prstDash val="solid"/>
          </a:ln>
        </p:spPr>
      </p:sp>
      <p:sp>
        <p:nvSpPr>
          <p:cNvPr id="10" name="Shape 8"/>
          <p:cNvSpPr/>
          <p:nvPr/>
        </p:nvSpPr>
        <p:spPr>
          <a:xfrm>
            <a:off x="6397600" y="1700784"/>
            <a:ext cx="411480" cy="411480"/>
          </a:xfrm>
          <a:prstGeom prst="ellipse">
            <a:avLst/>
          </a:prstGeom>
          <a:solidFill>
            <a:srgbClr val="C0433A"/>
          </a:solidFill>
          <a:ln/>
        </p:spPr>
      </p:sp>
      <p:sp>
        <p:nvSpPr>
          <p:cNvPr id="11" name="Text 9"/>
          <p:cNvSpPr/>
          <p:nvPr/>
        </p:nvSpPr>
        <p:spPr>
          <a:xfrm>
            <a:off x="6397600" y="1700784"/>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6946240" y="1682496"/>
            <a:ext cx="4541368" cy="594360"/>
          </a:xfrm>
          <a:prstGeom prst="rect">
            <a:avLst/>
          </a:prstGeom>
          <a:noFill/>
          <a:ln/>
        </p:spPr>
        <p:txBody>
          <a:bodyPr wrap="square" lIns="0" tIns="0" rIns="0" bIns="0" rtlCol="0" anchor="t"/>
          <a:lstStyle/>
          <a:p>
            <a:pPr marL="0" indent="0">
              <a:buNone/>
            </a:pPr>
            <a:r>
              <a:rPr lang="en-US" sz="1300" b="1" dirty="0">
                <a:solidFill>
                  <a:srgbClr val="0B3D62"/>
                </a:solidFill>
                <a:latin typeface="Calibri" pitchFamily="34" charset="0"/>
                <a:ea typeface="Calibri" pitchFamily="34" charset="-122"/>
                <a:cs typeface="Calibri" pitchFamily="34" charset="-120"/>
              </a:rPr>
              <a:t>COVID-era data disruptions</a:t>
            </a:r>
            <a:endParaRPr lang="en-US" sz="1300" dirty="0"/>
          </a:p>
        </p:txBody>
      </p:sp>
      <p:sp>
        <p:nvSpPr>
          <p:cNvPr id="13" name="Text 11"/>
          <p:cNvSpPr/>
          <p:nvPr/>
        </p:nvSpPr>
        <p:spPr>
          <a:xfrm>
            <a:off x="6507328" y="2359152"/>
            <a:ext cx="4952848" cy="1188720"/>
          </a:xfrm>
          <a:prstGeom prst="rect">
            <a:avLst/>
          </a:prstGeom>
          <a:noFill/>
          <a:ln/>
        </p:spPr>
        <p:txBody>
          <a:bodyPr wrap="square" lIns="0" tIns="0" rIns="0" bIns="0" rtlCol="0" anchor="t"/>
          <a:lstStyle/>
          <a:p>
            <a:pPr marL="0" indent="0">
              <a:lnSpc>
                <a:spcPct val="110000"/>
              </a:lnSpc>
              <a:buNone/>
            </a:pPr>
            <a:r>
              <a:rPr lang="en-US" sz="1050" dirty="0">
                <a:solidFill>
                  <a:srgbClr val="142433"/>
                </a:solidFill>
                <a:latin typeface="Calibri" pitchFamily="34" charset="0"/>
                <a:ea typeface="Calibri" pitchFamily="34" charset="-122"/>
                <a:cs typeface="Calibri" pitchFamily="34" charset="-120"/>
              </a:rPr>
              <a:t>US life expectancy fell 1.86 years in 2020 and a further 0.55 years in 2021 relative to 2019 — the largest two-year drop in decades — then partially rebounded to 78.4 years by 2023, illustrating how fast real mortality shocks move through the whole life-table pipeline.</a:t>
            </a:r>
            <a:endParaRPr lang="en-US" sz="1050" dirty="0"/>
          </a:p>
        </p:txBody>
      </p:sp>
      <p:sp>
        <p:nvSpPr>
          <p:cNvPr id="14" name="Shape 12"/>
          <p:cNvSpPr/>
          <p:nvPr/>
        </p:nvSpPr>
        <p:spPr>
          <a:xfrm>
            <a:off x="457200" y="3913632"/>
            <a:ext cx="5501488" cy="2148840"/>
          </a:xfrm>
          <a:prstGeom prst="roundRect">
            <a:avLst>
              <a:gd name="adj" fmla="val 2979"/>
            </a:avLst>
          </a:prstGeom>
          <a:solidFill>
            <a:srgbClr val="E1EAF2"/>
          </a:solidFill>
          <a:ln w="9525">
            <a:solidFill>
              <a:srgbClr val="D3E0E9"/>
            </a:solidFill>
            <a:prstDash val="solid"/>
          </a:ln>
        </p:spPr>
      </p:sp>
      <p:sp>
        <p:nvSpPr>
          <p:cNvPr id="15" name="Shape 13"/>
          <p:cNvSpPr/>
          <p:nvPr/>
        </p:nvSpPr>
        <p:spPr>
          <a:xfrm>
            <a:off x="621792" y="4078224"/>
            <a:ext cx="411480" cy="411480"/>
          </a:xfrm>
          <a:prstGeom prst="ellipse">
            <a:avLst/>
          </a:prstGeom>
          <a:solidFill>
            <a:srgbClr val="C0433A"/>
          </a:solidFill>
          <a:ln/>
        </p:spPr>
      </p:sp>
      <p:sp>
        <p:nvSpPr>
          <p:cNvPr id="16" name="Text 14"/>
          <p:cNvSpPr/>
          <p:nvPr/>
        </p:nvSpPr>
        <p:spPr>
          <a:xfrm>
            <a:off x="621792" y="4078224"/>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7" name="Text 15"/>
          <p:cNvSpPr/>
          <p:nvPr/>
        </p:nvSpPr>
        <p:spPr>
          <a:xfrm>
            <a:off x="1170432" y="4059936"/>
            <a:ext cx="4541368" cy="594360"/>
          </a:xfrm>
          <a:prstGeom prst="rect">
            <a:avLst/>
          </a:prstGeom>
          <a:noFill/>
          <a:ln/>
        </p:spPr>
        <p:txBody>
          <a:bodyPr wrap="square" lIns="0" tIns="0" rIns="0" bIns="0" rtlCol="0" anchor="t"/>
          <a:lstStyle/>
          <a:p>
            <a:pPr marL="0" indent="0">
              <a:buNone/>
            </a:pPr>
            <a:r>
              <a:rPr lang="en-US" sz="1300" b="1" dirty="0">
                <a:solidFill>
                  <a:srgbClr val="0B3D62"/>
                </a:solidFill>
                <a:latin typeface="Calibri" pitchFamily="34" charset="0"/>
                <a:ea typeface="Calibri" pitchFamily="34" charset="-122"/>
                <a:cs typeface="Calibri" pitchFamily="34" charset="-120"/>
              </a:rPr>
              <a:t>Why life tables get revised</a:t>
            </a:r>
            <a:endParaRPr lang="en-US" sz="1300" dirty="0"/>
          </a:p>
        </p:txBody>
      </p:sp>
      <p:sp>
        <p:nvSpPr>
          <p:cNvPr id="18" name="Text 16"/>
          <p:cNvSpPr/>
          <p:nvPr/>
        </p:nvSpPr>
        <p:spPr>
          <a:xfrm>
            <a:off x="731520" y="4736592"/>
            <a:ext cx="4952848" cy="1188720"/>
          </a:xfrm>
          <a:prstGeom prst="rect">
            <a:avLst/>
          </a:prstGeom>
          <a:noFill/>
          <a:ln/>
        </p:spPr>
        <p:txBody>
          <a:bodyPr wrap="square" lIns="0" tIns="0" rIns="0" bIns="0" rtlCol="0" anchor="t"/>
          <a:lstStyle/>
          <a:p>
            <a:pPr marL="0" indent="0">
              <a:lnSpc>
                <a:spcPct val="110000"/>
              </a:lnSpc>
              <a:buNone/>
            </a:pPr>
            <a:r>
              <a:rPr lang="en-US" sz="1050" dirty="0">
                <a:solidFill>
                  <a:srgbClr val="142433"/>
                </a:solidFill>
                <a:latin typeface="Calibri" pitchFamily="34" charset="0"/>
                <a:ea typeface="Calibri" pitchFamily="34" charset="-122"/>
                <a:cs typeface="Calibri" pitchFamily="34" charset="-120"/>
              </a:rPr>
              <a:t>Every new round of a country's census, an updated CRVS completeness estimate, or a change in population-estimate methodology (e.g., a new census benchmark) triggers a full life-table revision — the numbers you cite today may already be superseded next year.</a:t>
            </a:r>
            <a:endParaRPr lang="en-US" sz="1050" dirty="0"/>
          </a:p>
        </p:txBody>
      </p:sp>
      <p:sp>
        <p:nvSpPr>
          <p:cNvPr id="19" name="Shape 17"/>
          <p:cNvSpPr/>
          <p:nvPr/>
        </p:nvSpPr>
        <p:spPr>
          <a:xfrm>
            <a:off x="6233008" y="3913632"/>
            <a:ext cx="5501488" cy="2148840"/>
          </a:xfrm>
          <a:prstGeom prst="roundRect">
            <a:avLst>
              <a:gd name="adj" fmla="val 2979"/>
            </a:avLst>
          </a:prstGeom>
          <a:solidFill>
            <a:srgbClr val="E1EAF2"/>
          </a:solidFill>
          <a:ln w="9525">
            <a:solidFill>
              <a:srgbClr val="D3E0E9"/>
            </a:solidFill>
            <a:prstDash val="solid"/>
          </a:ln>
        </p:spPr>
      </p:sp>
      <p:sp>
        <p:nvSpPr>
          <p:cNvPr id="20" name="Shape 18"/>
          <p:cNvSpPr/>
          <p:nvPr/>
        </p:nvSpPr>
        <p:spPr>
          <a:xfrm>
            <a:off x="6397600" y="4078224"/>
            <a:ext cx="411480" cy="411480"/>
          </a:xfrm>
          <a:prstGeom prst="ellipse">
            <a:avLst/>
          </a:prstGeom>
          <a:solidFill>
            <a:srgbClr val="C0433A"/>
          </a:solidFill>
          <a:ln/>
        </p:spPr>
      </p:sp>
      <p:sp>
        <p:nvSpPr>
          <p:cNvPr id="21" name="Text 19"/>
          <p:cNvSpPr/>
          <p:nvPr/>
        </p:nvSpPr>
        <p:spPr>
          <a:xfrm>
            <a:off x="6397600" y="4078224"/>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2" name="Text 20"/>
          <p:cNvSpPr/>
          <p:nvPr/>
        </p:nvSpPr>
        <p:spPr>
          <a:xfrm>
            <a:off x="6946240" y="4059936"/>
            <a:ext cx="4541368" cy="594360"/>
          </a:xfrm>
          <a:prstGeom prst="rect">
            <a:avLst/>
          </a:prstGeom>
          <a:noFill/>
          <a:ln/>
        </p:spPr>
        <p:txBody>
          <a:bodyPr wrap="square" lIns="0" tIns="0" rIns="0" bIns="0" rtlCol="0" anchor="t"/>
          <a:lstStyle/>
          <a:p>
            <a:pPr marL="0" indent="0">
              <a:buNone/>
            </a:pPr>
            <a:r>
              <a:rPr lang="en-US" sz="1300" b="1" dirty="0">
                <a:solidFill>
                  <a:srgbClr val="0B3D62"/>
                </a:solidFill>
                <a:latin typeface="Calibri" pitchFamily="34" charset="0"/>
                <a:ea typeface="Calibri" pitchFamily="34" charset="-122"/>
                <a:cs typeface="Calibri" pitchFamily="34" charset="-120"/>
              </a:rPr>
              <a:t>Small-area and subnational instability</a:t>
            </a:r>
            <a:endParaRPr lang="en-US" sz="1300" dirty="0"/>
          </a:p>
        </p:txBody>
      </p:sp>
      <p:sp>
        <p:nvSpPr>
          <p:cNvPr id="23" name="Text 21"/>
          <p:cNvSpPr/>
          <p:nvPr/>
        </p:nvSpPr>
        <p:spPr>
          <a:xfrm>
            <a:off x="6507328" y="4736592"/>
            <a:ext cx="4952848" cy="1188720"/>
          </a:xfrm>
          <a:prstGeom prst="rect">
            <a:avLst/>
          </a:prstGeom>
          <a:noFill/>
          <a:ln/>
        </p:spPr>
        <p:txBody>
          <a:bodyPr wrap="square" lIns="0" tIns="0" rIns="0" bIns="0" rtlCol="0" anchor="t"/>
          <a:lstStyle/>
          <a:p>
            <a:pPr marL="0" indent="0">
              <a:lnSpc>
                <a:spcPct val="110000"/>
              </a:lnSpc>
              <a:buNone/>
            </a:pPr>
            <a:r>
              <a:rPr lang="en-US" sz="1050" dirty="0">
                <a:solidFill>
                  <a:srgbClr val="142433"/>
                </a:solidFill>
                <a:latin typeface="Calibri" pitchFamily="34" charset="0"/>
                <a:ea typeface="Calibri" pitchFamily="34" charset="-122"/>
                <a:cs typeface="Calibri" pitchFamily="34" charset="-120"/>
              </a:rPr>
              <a:t>A provincial or district-level life table built on the same formulas as a national one can still be unusable if annual deaths in some age groups number in the single digits — the formulas are correct, but the data cannot support them.</a:t>
            </a:r>
            <a:endParaRPr lang="en-US" sz="1050" dirty="0"/>
          </a:p>
        </p:txBody>
      </p:sp>
      <p:sp>
        <p:nvSpPr>
          <p:cNvPr id="24" name="Text 22"/>
          <p:cNvSpPr/>
          <p:nvPr/>
        </p:nvSpPr>
        <p:spPr>
          <a:xfrm>
            <a:off x="457200" y="6428232"/>
            <a:ext cx="11277295" cy="420624"/>
          </a:xfrm>
          <a:prstGeom prst="rect">
            <a:avLst/>
          </a:prstGeom>
          <a:noFill/>
          <a:ln/>
        </p:spPr>
        <p:txBody>
          <a:bodyPr wrap="square" lIns="0" tIns="0" rIns="0" bIns="0" rtlCol="0" anchor="t"/>
          <a:lstStyle/>
          <a:p>
            <a:pPr marL="0" indent="0" algn="l">
              <a:buNone/>
            </a:pPr>
            <a:r>
              <a:rPr lang="en-US" sz="800" i="1" dirty="0">
                <a:solidFill>
                  <a:srgbClr val="5B6B79"/>
                </a:solidFill>
                <a:latin typeface="Calibri" pitchFamily="34" charset="0"/>
                <a:ea typeface="Calibri" pitchFamily="34" charset="-122"/>
                <a:cs typeface="Calibri" pitchFamily="34" charset="-120"/>
              </a:rPr>
              <a:t>Source: Andrasfay, T., &amp; Goldman, N. (2024). Life expectancy changes during the COVID-19 pandemic, 2019–2021. Urban Institute; Arias, Xu &amp; Kochanek (2025), United States life tables, 2023, NVSR 74(6).</a:t>
            </a:r>
            <a:endParaRPr lang="en-US" sz="800" dirty="0"/>
          </a:p>
        </p:txBody>
      </p:sp>
      <p:sp>
        <p:nvSpPr>
          <p:cNvPr id="25" name="Text 23"/>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26" name="Text 24"/>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42 / 80</a:t>
            </a:r>
            <a:endParaRPr lang="en-US" sz="850" dirty="0"/>
          </a:p>
        </p:txBody>
      </p:sp>
    </p:spTree>
    <p:extLst>
      <p:ext uri="{BB962C8B-B14F-4D97-AF65-F5344CB8AC3E}">
        <p14:creationId xmlns:p14="http://schemas.microsoft.com/office/powerpoint/2010/main" val="6078907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400" b="1" kern="0" spc="200" dirty="0">
                <a:solidFill>
                  <a:srgbClr val="1C7293"/>
                </a:solidFill>
                <a:latin typeface="Calibri" pitchFamily="34" charset="0"/>
                <a:ea typeface="Calibri" pitchFamily="34" charset="-122"/>
                <a:cs typeface="Calibri" pitchFamily="34" charset="-120"/>
              </a:rPr>
              <a:t>GROUP WORK 2 · 10–12 MINUTES</a:t>
            </a:r>
            <a:endParaRPr lang="en-US" sz="14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3200" b="1" dirty="0">
                <a:solidFill>
                  <a:srgbClr val="0B3D62"/>
                </a:solidFill>
                <a:latin typeface="Cambria" pitchFamily="34" charset="0"/>
                <a:ea typeface="Cambria" pitchFamily="34" charset="-122"/>
                <a:cs typeface="Cambria" pitchFamily="34" charset="-120"/>
              </a:rPr>
              <a:t>Diagnose a Data-Quality Problem in Real Mortality Data</a:t>
            </a:r>
            <a:endParaRPr lang="en-US" sz="3200" dirty="0"/>
          </a:p>
        </p:txBody>
      </p:sp>
      <p:sp>
        <p:nvSpPr>
          <p:cNvPr id="4" name="Shape 2"/>
          <p:cNvSpPr/>
          <p:nvPr/>
        </p:nvSpPr>
        <p:spPr>
          <a:xfrm>
            <a:off x="457200" y="1600200"/>
            <a:ext cx="2627300" cy="4343400"/>
          </a:xfrm>
          <a:prstGeom prst="roundRect">
            <a:avLst>
              <a:gd name="adj" fmla="val 2436"/>
            </a:avLst>
          </a:prstGeom>
          <a:solidFill>
            <a:srgbClr val="EEF3F8"/>
          </a:solidFill>
          <a:ln w="9525">
            <a:solidFill>
              <a:srgbClr val="D3E0E9"/>
            </a:solidFill>
            <a:prstDash val="solid"/>
          </a:ln>
        </p:spPr>
        <p:txBody>
          <a:bodyPr/>
          <a:lstStyle/>
          <a:p>
            <a:endParaRPr/>
          </a:p>
        </p:txBody>
      </p:sp>
      <p:sp>
        <p:nvSpPr>
          <p:cNvPr id="5" name="Shape 3"/>
          <p:cNvSpPr/>
          <p:nvPr/>
        </p:nvSpPr>
        <p:spPr>
          <a:xfrm>
            <a:off x="694944" y="1837944"/>
            <a:ext cx="457200" cy="457200"/>
          </a:xfrm>
          <a:prstGeom prst="ellipse">
            <a:avLst/>
          </a:prstGeom>
          <a:solidFill>
            <a:srgbClr val="1C7293"/>
          </a:solidFill>
          <a:ln/>
        </p:spPr>
        <p:txBody>
          <a:bodyPr/>
          <a:lstStyle/>
          <a:p>
            <a:endParaRPr/>
          </a:p>
        </p:txBody>
      </p:sp>
      <p:sp>
        <p:nvSpPr>
          <p:cNvPr id="6" name="Text 4"/>
          <p:cNvSpPr/>
          <p:nvPr/>
        </p:nvSpPr>
        <p:spPr>
          <a:xfrm>
            <a:off x="694944"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7" name="Text 5"/>
          <p:cNvSpPr/>
          <p:nvPr/>
        </p:nvSpPr>
        <p:spPr>
          <a:xfrm>
            <a:off x="694944"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Open the Session 5 Excel workbook</a:t>
            </a:r>
            <a:endParaRPr lang="en-US" dirty="0"/>
          </a:p>
        </p:txBody>
      </p:sp>
      <p:sp>
        <p:nvSpPr>
          <p:cNvPr id="8" name="Text 6"/>
          <p:cNvSpPr/>
          <p:nvPr/>
        </p:nvSpPr>
        <p:spPr>
          <a:xfrm>
            <a:off x="694944"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Use the real 'Data (Thailand 2024)' sheet — UN World Population Prospects / PopulationPyramid.net figures — already loaded in your practice workbook.</a:t>
            </a:r>
            <a:endParaRPr lang="en-US" sz="1400" dirty="0"/>
          </a:p>
        </p:txBody>
      </p:sp>
      <p:sp>
        <p:nvSpPr>
          <p:cNvPr id="9" name="Shape 7"/>
          <p:cNvSpPr/>
          <p:nvPr/>
        </p:nvSpPr>
        <p:spPr>
          <a:xfrm>
            <a:off x="3340532" y="1600200"/>
            <a:ext cx="2627300" cy="4343400"/>
          </a:xfrm>
          <a:prstGeom prst="roundRect">
            <a:avLst>
              <a:gd name="adj" fmla="val 2436"/>
            </a:avLst>
          </a:prstGeom>
          <a:solidFill>
            <a:srgbClr val="EEF3F8"/>
          </a:solidFill>
          <a:ln w="9525">
            <a:solidFill>
              <a:srgbClr val="D3E0E9"/>
            </a:solidFill>
            <a:prstDash val="solid"/>
          </a:ln>
        </p:spPr>
        <p:txBody>
          <a:bodyPr/>
          <a:lstStyle/>
          <a:p>
            <a:endParaRPr/>
          </a:p>
        </p:txBody>
      </p:sp>
      <p:sp>
        <p:nvSpPr>
          <p:cNvPr id="10" name="Shape 8"/>
          <p:cNvSpPr/>
          <p:nvPr/>
        </p:nvSpPr>
        <p:spPr>
          <a:xfrm>
            <a:off x="3578276" y="1837944"/>
            <a:ext cx="457200" cy="457200"/>
          </a:xfrm>
          <a:prstGeom prst="ellipse">
            <a:avLst/>
          </a:prstGeom>
          <a:solidFill>
            <a:srgbClr val="1C7293"/>
          </a:solidFill>
          <a:ln/>
        </p:spPr>
        <p:txBody>
          <a:bodyPr/>
          <a:lstStyle/>
          <a:p>
            <a:endParaRPr/>
          </a:p>
        </p:txBody>
      </p:sp>
      <p:sp>
        <p:nvSpPr>
          <p:cNvPr id="11" name="Text 9"/>
          <p:cNvSpPr/>
          <p:nvPr/>
        </p:nvSpPr>
        <p:spPr>
          <a:xfrm>
            <a:off x="3578276"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2" name="Text 10"/>
          <p:cNvSpPr/>
          <p:nvPr/>
        </p:nvSpPr>
        <p:spPr>
          <a:xfrm>
            <a:off x="3578276"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Inspect the oldest age groups</a:t>
            </a:r>
            <a:endParaRPr lang="en-US" dirty="0"/>
          </a:p>
        </p:txBody>
      </p:sp>
      <p:sp>
        <p:nvSpPr>
          <p:cNvPr id="13" name="Text 11"/>
          <p:cNvSpPr/>
          <p:nvPr/>
        </p:nvSpPr>
        <p:spPr>
          <a:xfrm>
            <a:off x="3578276"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Compare the population and death counts for 90–94, 95–99, and 100+ — are they large enough to trust the resulting nMx, or is this small-number territory (Slide 35)?</a:t>
            </a:r>
            <a:endParaRPr lang="en-US" sz="1400" dirty="0"/>
          </a:p>
        </p:txBody>
      </p:sp>
      <p:sp>
        <p:nvSpPr>
          <p:cNvPr id="14" name="Shape 12"/>
          <p:cNvSpPr/>
          <p:nvPr/>
        </p:nvSpPr>
        <p:spPr>
          <a:xfrm>
            <a:off x="6223864" y="1600200"/>
            <a:ext cx="2627300" cy="4343400"/>
          </a:xfrm>
          <a:prstGeom prst="roundRect">
            <a:avLst>
              <a:gd name="adj" fmla="val 2436"/>
            </a:avLst>
          </a:prstGeom>
          <a:solidFill>
            <a:srgbClr val="EEF3F8"/>
          </a:solidFill>
          <a:ln w="9525">
            <a:solidFill>
              <a:srgbClr val="D3E0E9"/>
            </a:solidFill>
            <a:prstDash val="solid"/>
          </a:ln>
        </p:spPr>
        <p:txBody>
          <a:bodyPr/>
          <a:lstStyle/>
          <a:p>
            <a:endParaRPr/>
          </a:p>
        </p:txBody>
      </p:sp>
      <p:sp>
        <p:nvSpPr>
          <p:cNvPr id="15" name="Shape 13"/>
          <p:cNvSpPr/>
          <p:nvPr/>
        </p:nvSpPr>
        <p:spPr>
          <a:xfrm>
            <a:off x="6461608" y="1837944"/>
            <a:ext cx="457200" cy="457200"/>
          </a:xfrm>
          <a:prstGeom prst="ellipse">
            <a:avLst/>
          </a:prstGeom>
          <a:solidFill>
            <a:srgbClr val="1C7293"/>
          </a:solidFill>
          <a:ln/>
        </p:spPr>
        <p:txBody>
          <a:bodyPr/>
          <a:lstStyle/>
          <a:p>
            <a:endParaRPr/>
          </a:p>
        </p:txBody>
      </p:sp>
      <p:sp>
        <p:nvSpPr>
          <p:cNvPr id="16" name="Text 14"/>
          <p:cNvSpPr/>
          <p:nvPr/>
        </p:nvSpPr>
        <p:spPr>
          <a:xfrm>
            <a:off x="6461608"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7" name="Text 15"/>
          <p:cNvSpPr/>
          <p:nvPr/>
        </p:nvSpPr>
        <p:spPr>
          <a:xfrm>
            <a:off x="6461608"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Propose a fix</a:t>
            </a:r>
            <a:endParaRPr lang="en-US" dirty="0"/>
          </a:p>
        </p:txBody>
      </p:sp>
      <p:sp>
        <p:nvSpPr>
          <p:cNvPr id="18" name="Text 16"/>
          <p:cNvSpPr/>
          <p:nvPr/>
        </p:nvSpPr>
        <p:spPr>
          <a:xfrm>
            <a:off x="6461608"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As a group, choose ONE remedy discussed today — graduation/smoothing, a model life table, or an alternative nax method (Slides 39–40) — and explain why you chose it.</a:t>
            </a:r>
            <a:endParaRPr lang="en-US" sz="1400" dirty="0"/>
          </a:p>
        </p:txBody>
      </p:sp>
      <p:sp>
        <p:nvSpPr>
          <p:cNvPr id="19" name="Shape 17"/>
          <p:cNvSpPr/>
          <p:nvPr/>
        </p:nvSpPr>
        <p:spPr>
          <a:xfrm>
            <a:off x="9107195" y="1600200"/>
            <a:ext cx="2627300" cy="4343400"/>
          </a:xfrm>
          <a:prstGeom prst="roundRect">
            <a:avLst>
              <a:gd name="adj" fmla="val 2436"/>
            </a:avLst>
          </a:prstGeom>
          <a:solidFill>
            <a:srgbClr val="EEF3F8"/>
          </a:solidFill>
          <a:ln w="9525">
            <a:solidFill>
              <a:srgbClr val="D3E0E9"/>
            </a:solidFill>
            <a:prstDash val="solid"/>
          </a:ln>
        </p:spPr>
        <p:txBody>
          <a:bodyPr/>
          <a:lstStyle/>
          <a:p>
            <a:endParaRPr/>
          </a:p>
        </p:txBody>
      </p:sp>
      <p:sp>
        <p:nvSpPr>
          <p:cNvPr id="20" name="Shape 18"/>
          <p:cNvSpPr/>
          <p:nvPr/>
        </p:nvSpPr>
        <p:spPr>
          <a:xfrm>
            <a:off x="9344939" y="1837944"/>
            <a:ext cx="457200" cy="457200"/>
          </a:xfrm>
          <a:prstGeom prst="ellipse">
            <a:avLst/>
          </a:prstGeom>
          <a:solidFill>
            <a:srgbClr val="1C7293"/>
          </a:solidFill>
          <a:ln/>
        </p:spPr>
        <p:txBody>
          <a:bodyPr/>
          <a:lstStyle/>
          <a:p>
            <a:endParaRPr/>
          </a:p>
        </p:txBody>
      </p:sp>
      <p:sp>
        <p:nvSpPr>
          <p:cNvPr id="21" name="Text 19"/>
          <p:cNvSpPr/>
          <p:nvPr/>
        </p:nvSpPr>
        <p:spPr>
          <a:xfrm>
            <a:off x="9344939"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22" name="Text 20"/>
          <p:cNvSpPr/>
          <p:nvPr/>
        </p:nvSpPr>
        <p:spPr>
          <a:xfrm>
            <a:off x="9344939"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Report back</a:t>
            </a:r>
            <a:endParaRPr lang="en-US" dirty="0"/>
          </a:p>
        </p:txBody>
      </p:sp>
      <p:sp>
        <p:nvSpPr>
          <p:cNvPr id="23" name="Text 21"/>
          <p:cNvSpPr/>
          <p:nvPr/>
        </p:nvSpPr>
        <p:spPr>
          <a:xfrm>
            <a:off x="9344939"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State which age group you inspected, what problem you found, and your proposed fix, in two sentences.</a:t>
            </a:r>
            <a:endParaRPr lang="en-US" sz="1400" dirty="0"/>
          </a:p>
        </p:txBody>
      </p:sp>
      <p:sp>
        <p:nvSpPr>
          <p:cNvPr id="24" name="Text 22"/>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5140602 Fundamental Demographic Analysis – Session 5</a:t>
            </a:r>
            <a:endParaRPr lang="en-US" sz="1000" dirty="0"/>
          </a:p>
        </p:txBody>
      </p:sp>
      <p:sp>
        <p:nvSpPr>
          <p:cNvPr id="25" name="Text 23"/>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43 / 80</a:t>
            </a:r>
            <a:endParaRPr lang="en-US" sz="1000" dirty="0"/>
          </a:p>
        </p:txBody>
      </p:sp>
    </p:spTree>
    <p:extLst>
      <p:ext uri="{BB962C8B-B14F-4D97-AF65-F5344CB8AC3E}">
        <p14:creationId xmlns:p14="http://schemas.microsoft.com/office/powerpoint/2010/main" val="31598469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41">
    <p:bg>
      <p:bgPr>
        <a:solidFill>
          <a:srgbClr val="07213A"/>
        </a:solidFill>
        <a:effectLst/>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0E4A75"/>
          </a:solidFill>
          <a:ln/>
        </p:spPr>
      </p:sp>
      <p:sp>
        <p:nvSpPr>
          <p:cNvPr id="3" name="Text 1"/>
          <p:cNvSpPr/>
          <p:nvPr/>
        </p:nvSpPr>
        <p:spPr>
          <a:xfrm>
            <a:off x="457200" y="2286000"/>
            <a:ext cx="10058400" cy="365760"/>
          </a:xfrm>
          <a:prstGeom prst="rect">
            <a:avLst/>
          </a:prstGeom>
          <a:noFill/>
          <a:ln/>
        </p:spPr>
        <p:txBody>
          <a:bodyPr wrap="square" lIns="0" tIns="0" rIns="0" bIns="0" rtlCol="0" anchor="ctr"/>
          <a:lstStyle/>
          <a:p>
            <a:pPr marL="0" indent="0">
              <a:buNone/>
            </a:pPr>
            <a:r>
              <a:rPr lang="en-US" sz="1400" b="1" kern="0" spc="200" dirty="0">
                <a:solidFill>
                  <a:srgbClr val="E8A33D"/>
                </a:solidFill>
                <a:latin typeface="Calibri" pitchFamily="34" charset="0"/>
                <a:ea typeface="Calibri" pitchFamily="34" charset="-122"/>
                <a:cs typeface="Calibri" pitchFamily="34" charset="-120"/>
              </a:rPr>
              <a:t>BLOCK 4</a:t>
            </a:r>
            <a:endParaRPr lang="en-US" sz="1400" dirty="0"/>
          </a:p>
        </p:txBody>
      </p:sp>
      <p:sp>
        <p:nvSpPr>
          <p:cNvPr id="4" name="Text 2"/>
          <p:cNvSpPr/>
          <p:nvPr/>
        </p:nvSpPr>
        <p:spPr>
          <a:xfrm>
            <a:off x="457200" y="2697480"/>
            <a:ext cx="10789920" cy="1554480"/>
          </a:xfrm>
          <a:prstGeom prst="rect">
            <a:avLst/>
          </a:prstGeom>
          <a:noFill/>
          <a:ln/>
        </p:spPr>
        <p:txBody>
          <a:bodyPr wrap="square" lIns="0" tIns="0" rIns="0" bIns="0" rtlCol="0" anchor="ctr"/>
          <a:lstStyle/>
          <a:p>
            <a:pPr marL="0" indent="0">
              <a:lnSpc>
                <a:spcPct val="105000"/>
              </a:lnSpc>
              <a:buNone/>
            </a:pPr>
            <a:r>
              <a:rPr lang="en-US" sz="3400" b="1" dirty="0">
                <a:solidFill>
                  <a:srgbClr val="FFFFFF"/>
                </a:solidFill>
                <a:latin typeface="Cambria" pitchFamily="34" charset="0"/>
                <a:ea typeface="Cambria" pitchFamily="34" charset="-122"/>
                <a:cs typeface="Cambria" pitchFamily="34" charset="-120"/>
              </a:rPr>
              <a:t>Computation Tools: Spreadsheet &amp; Generative-AI Assistant</a:t>
            </a:r>
            <a:endParaRPr lang="en-US" sz="3400" dirty="0"/>
          </a:p>
        </p:txBody>
      </p:sp>
      <p:sp>
        <p:nvSpPr>
          <p:cNvPr id="5" name="Text 3"/>
          <p:cNvSpPr/>
          <p:nvPr/>
        </p:nvSpPr>
        <p:spPr>
          <a:xfrm>
            <a:off x="457200" y="4023360"/>
            <a:ext cx="9601200" cy="914400"/>
          </a:xfrm>
          <a:prstGeom prst="rect">
            <a:avLst/>
          </a:prstGeom>
          <a:noFill/>
          <a:ln/>
        </p:spPr>
        <p:txBody>
          <a:bodyPr wrap="square" lIns="0" tIns="0" rIns="0" bIns="0" rtlCol="0" anchor="t"/>
          <a:lstStyle/>
          <a:p>
            <a:pPr marL="0" indent="0">
              <a:buNone/>
            </a:pPr>
            <a:r>
              <a:rPr lang="en-US" sz="1500" i="1" dirty="0">
                <a:solidFill>
                  <a:srgbClr val="B9CEE0"/>
                </a:solidFill>
                <a:latin typeface="Calibri" pitchFamily="34" charset="0"/>
                <a:ea typeface="Calibri" pitchFamily="34" charset="-122"/>
                <a:cs typeface="Calibri" pitchFamily="34" charset="-120"/>
              </a:rPr>
              <a:t>Building the same life table two more ways — and learning to catch the errors a coding assistant can silently introduce.</a:t>
            </a:r>
            <a:endParaRPr lang="en-US" sz="1500" dirty="0"/>
          </a:p>
        </p:txBody>
      </p:sp>
      <p:sp>
        <p:nvSpPr>
          <p:cNvPr id="6" name="Text 4"/>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7" name="Text 5"/>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61 / 80</a:t>
            </a:r>
            <a:endParaRPr lang="en-US" sz="8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METHOD 1 · SPREADSHEET (EXCEL / GOOGLE SHEETS)</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Building the Table in a Spreadsheet</a:t>
            </a:r>
            <a:endParaRPr lang="en-US" sz="27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11731752" cy="3968496"/>
        </p:xfrm>
        <a:graphic>
          <a:graphicData uri="http://schemas.openxmlformats.org/drawingml/2006/table">
            <a:tbl>
              <a:tblPr/>
              <a:tblGrid>
                <a:gridCol w="1737360">
                  <a:extLst>
                    <a:ext uri="{9D8B030D-6E8A-4147-A177-3AD203B41FA5}">
                      <a16:colId xmlns:a16="http://schemas.microsoft.com/office/drawing/2014/main" val="20000"/>
                    </a:ext>
                  </a:extLst>
                </a:gridCol>
                <a:gridCol w="9994392">
                  <a:extLst>
                    <a:ext uri="{9D8B030D-6E8A-4147-A177-3AD203B41FA5}">
                      <a16:colId xmlns:a16="http://schemas.microsoft.com/office/drawing/2014/main" val="20001"/>
                    </a:ext>
                  </a:extLst>
                </a:gridCol>
              </a:tblGrid>
              <a:tr h="566928">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Column</a:t>
                      </a:r>
                      <a:endParaRPr lang="en-US" sz="115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Cell logic (row i, previous row i−1)</a:t>
                      </a:r>
                      <a:endParaRPr lang="en-US" sz="115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0B3D62"/>
                    </a:solidFill>
                  </a:tcPr>
                </a:tc>
                <a:extLst>
                  <a:ext uri="{0D108BD9-81ED-4DB2-BD59-A6C34878D82A}">
                    <a16:rowId xmlns:a16="http://schemas.microsoft.com/office/drawing/2014/main" val="10000"/>
                  </a:ext>
                </a:extLst>
              </a:tr>
              <a:tr h="566928">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nqx (B)</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=(n_i*M_i)/(1+(n_i-a_i)*M_i)</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lx (C)</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Row 1: =100000  |  Row i&gt;1: =C[i-1]*(1-B[i-1])</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ndx (D)</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=C[i]*B[i]  (or =C[i]-C[i+1])</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nLx (E)</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General: =n_i*C[i+1]+a_i*D[i]  |  Age 0: =C[2]+a_0*D[1]  |  Open: =C[last]/M[last]</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Tx (F)</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Fill from the LAST row upward: F[last]=E[last]; F[i]=F[i+1]+E[i]</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lgn="l">
                        <a:buNone/>
                      </a:pPr>
                      <a:r>
                        <a:rPr lang="en-US" sz="1100" dirty="0">
                          <a:solidFill>
                            <a:srgbClr val="142433"/>
                          </a:solidFill>
                          <a:latin typeface="Calibri" pitchFamily="34" charset="0"/>
                          <a:ea typeface="Calibri" pitchFamily="34" charset="-122"/>
                          <a:cs typeface="Calibri" pitchFamily="34" charset="-120"/>
                        </a:rPr>
                        <a:t>ex (G)</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42433"/>
                          </a:solidFill>
                          <a:latin typeface="Calibri" pitchFamily="34" charset="0"/>
                          <a:ea typeface="Calibri" pitchFamily="34" charset="-122"/>
                          <a:cs typeface="Calibri" pitchFamily="34" charset="-120"/>
                        </a:rPr>
                        <a:t>=F[i]/C[i]</a:t>
                      </a:r>
                      <a:endParaRPr lang="en-US" sz="1100" dirty="0">
                        <a:latin typeface="Calibri" charset="0"/>
                        <a:ea typeface="Calibri" charset="0"/>
                        <a:cs typeface="Calibri" charset="0"/>
                      </a:endParaRPr>
                    </a:p>
                  </a:txBody>
                  <a:tcPr anchor="ctr">
                    <a:lnL w="9525" cap="flat" cmpd="sng" algn="ctr">
                      <a:solidFill>
                        <a:srgbClr val="D3E0E9"/>
                      </a:solidFill>
                      <a:prstDash val="solid"/>
                      <a:round/>
                      <a:headEnd type="none" w="med" len="med"/>
                      <a:tailEnd type="none" w="med" len="med"/>
                    </a:lnL>
                    <a:lnR w="9525" cap="flat" cmpd="sng" algn="ctr">
                      <a:solidFill>
                        <a:srgbClr val="D3E0E9"/>
                      </a:solidFill>
                      <a:prstDash val="solid"/>
                      <a:round/>
                      <a:headEnd type="none" w="med" len="med"/>
                      <a:tailEnd type="none" w="med" len="med"/>
                    </a:lnR>
                    <a:lnT w="9525" cap="flat" cmpd="sng" algn="ctr">
                      <a:solidFill>
                        <a:srgbClr val="D3E0E9"/>
                      </a:solidFill>
                      <a:prstDash val="solid"/>
                      <a:round/>
                      <a:headEnd type="none" w="med" len="med"/>
                      <a:tailEnd type="none" w="med" len="med"/>
                    </a:lnT>
                    <a:lnB w="9525" cap="flat" cmpd="sng" algn="ctr">
                      <a:solidFill>
                        <a:srgbClr val="D3E0E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Shape 2"/>
          <p:cNvSpPr/>
          <p:nvPr/>
        </p:nvSpPr>
        <p:spPr>
          <a:xfrm>
            <a:off x="457200" y="5504688"/>
            <a:ext cx="11277295" cy="594360"/>
          </a:xfrm>
          <a:prstGeom prst="roundRect">
            <a:avLst>
              <a:gd name="adj" fmla="val 10769"/>
            </a:avLst>
          </a:prstGeom>
          <a:solidFill>
            <a:srgbClr val="EEF3F8"/>
          </a:solidFill>
          <a:ln w="9525">
            <a:solidFill>
              <a:srgbClr val="D3E0E9"/>
            </a:solidFill>
            <a:prstDash val="solid"/>
          </a:ln>
        </p:spPr>
      </p:sp>
      <p:sp>
        <p:nvSpPr>
          <p:cNvPr id="6" name="Text 3"/>
          <p:cNvSpPr/>
          <p:nvPr/>
        </p:nvSpPr>
        <p:spPr>
          <a:xfrm>
            <a:off x="685800" y="5504688"/>
            <a:ext cx="10820095" cy="594360"/>
          </a:xfrm>
          <a:prstGeom prst="rect">
            <a:avLst/>
          </a:prstGeom>
          <a:noFill/>
          <a:ln/>
        </p:spPr>
        <p:txBody>
          <a:bodyPr wrap="square" lIns="0" tIns="0" rIns="0" bIns="0" rtlCol="0" anchor="ctr"/>
          <a:lstStyle/>
          <a:p>
            <a:pPr marL="0" indent="0">
              <a:buNone/>
            </a:pPr>
            <a:r>
              <a:rPr lang="en-US" sz="1150" dirty="0">
                <a:solidFill>
                  <a:srgbClr val="142433"/>
                </a:solidFill>
                <a:latin typeface="Calibri" pitchFamily="34" charset="0"/>
                <a:ea typeface="Calibri" pitchFamily="34" charset="-122"/>
                <a:cs typeface="Calibri" pitchFamily="34" charset="-120"/>
              </a:rPr>
              <a:t>Build column by column, left to right — and always compute Tx with a bottom-up running sum, never a single SUM() over the whole range (that silently breaks the "remaining years from age x" logic).</a:t>
            </a:r>
            <a:endParaRPr lang="en-US" sz="1150" dirty="0"/>
          </a:p>
        </p:txBody>
      </p:sp>
      <p:sp>
        <p:nvSpPr>
          <p:cNvPr id="7" name="Text 4"/>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8" name="Text 5"/>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62 / 80</a:t>
            </a:r>
            <a:endParaRPr lang="en-US" sz="8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METHOD 2 · AI-ASSISTED PYTHON / PANDAS</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Building the Table with a Generative-AI Coding Assistant</a:t>
            </a:r>
            <a:endParaRPr lang="en-US" sz="2700" dirty="0"/>
          </a:p>
        </p:txBody>
      </p:sp>
      <p:sp>
        <p:nvSpPr>
          <p:cNvPr id="4" name="Shape 2"/>
          <p:cNvSpPr/>
          <p:nvPr/>
        </p:nvSpPr>
        <p:spPr>
          <a:xfrm>
            <a:off x="457200" y="1481328"/>
            <a:ext cx="11277295" cy="4251960"/>
          </a:xfrm>
          <a:prstGeom prst="roundRect">
            <a:avLst>
              <a:gd name="adj" fmla="val 1505"/>
            </a:avLst>
          </a:prstGeom>
          <a:solidFill>
            <a:srgbClr val="07213A"/>
          </a:solidFill>
          <a:ln w="9525">
            <a:solidFill>
              <a:srgbClr val="D3E0E9"/>
            </a:solidFill>
            <a:prstDash val="solid"/>
          </a:ln>
        </p:spPr>
      </p:sp>
      <p:sp>
        <p:nvSpPr>
          <p:cNvPr id="5" name="Text 3"/>
          <p:cNvSpPr/>
          <p:nvPr/>
        </p:nvSpPr>
        <p:spPr>
          <a:xfrm>
            <a:off x="731520" y="1627632"/>
            <a:ext cx="10728655" cy="3931920"/>
          </a:xfrm>
          <a:prstGeom prst="rect">
            <a:avLst/>
          </a:prstGeom>
          <a:noFill/>
          <a:ln/>
        </p:spPr>
        <p:txBody>
          <a:bodyPr wrap="square" lIns="0" tIns="0" rIns="0" bIns="0" rtlCol="0" anchor="t"/>
          <a:lstStyle/>
          <a:p>
            <a:pPr marL="0" indent="0">
              <a:lnSpc>
                <a:spcPct val="112000"/>
              </a:lnSpc>
              <a:buNone/>
            </a:pPr>
            <a:r>
              <a:rPr lang="en-US" sz="1100" dirty="0">
                <a:solidFill>
                  <a:srgbClr val="D8E6EE"/>
                </a:solidFill>
                <a:latin typeface="Courier New" pitchFamily="34" charset="0"/>
                <a:ea typeface="Courier New" pitchFamily="34" charset="-122"/>
                <a:cs typeface="Courier New" pitchFamily="34" charset="-120"/>
              </a:rPr>
              <a:t># Prompt given to the AI assistant (disclosed, per course policy):</a:t>
            </a:r>
            <a:endParaRPr lang="en-US" sz="1100" dirty="0"/>
          </a:p>
          <a:p>
            <a:pPr marL="0" indent="0">
              <a:lnSpc>
                <a:spcPct val="112000"/>
              </a:lnSpc>
              <a:buNone/>
            </a:pPr>
            <a:r>
              <a:rPr lang="en-US" sz="1100" dirty="0">
                <a:solidFill>
                  <a:srgbClr val="D8E6EE"/>
                </a:solidFill>
                <a:latin typeface="Courier New" pitchFamily="34" charset="0"/>
                <a:ea typeface="Courier New" pitchFamily="34" charset="-122"/>
                <a:cs typeface="Courier New" pitchFamily="34" charset="-120"/>
              </a:rPr>
              <a:t># "Write a Python/pandas function that builds an abridged life table</a:t>
            </a:r>
            <a:endParaRPr lang="en-US" sz="1100" dirty="0"/>
          </a:p>
          <a:p>
            <a:pPr marL="0" indent="0">
              <a:lnSpc>
                <a:spcPct val="112000"/>
              </a:lnSpc>
              <a:buNone/>
            </a:pPr>
            <a:r>
              <a:rPr lang="en-US" sz="1100" dirty="0">
                <a:solidFill>
                  <a:srgbClr val="D8E6EE"/>
                </a:solidFill>
                <a:latin typeface="Courier New" pitchFamily="34" charset="0"/>
                <a:ea typeface="Courier New" pitchFamily="34" charset="-122"/>
                <a:cs typeface="Courier New" pitchFamily="34" charset="-120"/>
              </a:rPr>
              <a:t>#  from a DataFrame of age, n, and nMx, using radix 100000."</a:t>
            </a:r>
            <a:endParaRPr lang="en-US" sz="1100" dirty="0"/>
          </a:p>
          <a:p>
            <a:pPr marL="0" indent="0">
              <a:lnSpc>
                <a:spcPct val="112000"/>
              </a:lnSpc>
              <a:buNone/>
            </a:pPr>
            <a:endParaRPr lang="en-US" sz="1100" dirty="0"/>
          </a:p>
          <a:p>
            <a:pPr marL="0" indent="0">
              <a:lnSpc>
                <a:spcPct val="112000"/>
              </a:lnSpc>
              <a:buNone/>
            </a:pPr>
            <a:r>
              <a:rPr lang="en-US" sz="1100" dirty="0">
                <a:solidFill>
                  <a:srgbClr val="D8E6EE"/>
                </a:solidFill>
                <a:latin typeface="Courier New" pitchFamily="34" charset="0"/>
                <a:ea typeface="Courier New" pitchFamily="34" charset="-122"/>
                <a:cs typeface="Courier New" pitchFamily="34" charset="-120"/>
              </a:rPr>
              <a:t>def life_table(df, radix=100000):</a:t>
            </a:r>
            <a:endParaRPr lang="en-US" sz="1100" dirty="0"/>
          </a:p>
          <a:p>
            <a:pPr marL="0" indent="0">
              <a:lnSpc>
                <a:spcPct val="112000"/>
              </a:lnSpc>
              <a:buNone/>
            </a:pPr>
            <a:r>
              <a:rPr lang="en-US" sz="1100" dirty="0">
                <a:solidFill>
                  <a:srgbClr val="D8E6EE"/>
                </a:solidFill>
                <a:latin typeface="Courier New" pitchFamily="34" charset="0"/>
                <a:ea typeface="Courier New" pitchFamily="34" charset="-122"/>
                <a:cs typeface="Courier New" pitchFamily="34" charset="-120"/>
              </a:rPr>
              <a:t>    df['nax'] = df['n'] / 2          # WARNING: AI default - check this!</a:t>
            </a:r>
            <a:endParaRPr lang="en-US" sz="1100" dirty="0"/>
          </a:p>
          <a:p>
            <a:pPr marL="0" indent="0">
              <a:lnSpc>
                <a:spcPct val="112000"/>
              </a:lnSpc>
              <a:buNone/>
            </a:pPr>
            <a:r>
              <a:rPr lang="en-US" sz="1100" dirty="0">
                <a:solidFill>
                  <a:srgbClr val="D8E6EE"/>
                </a:solidFill>
                <a:latin typeface="Courier New" pitchFamily="34" charset="0"/>
                <a:ea typeface="Courier New" pitchFamily="34" charset="-122"/>
                <a:cs typeface="Courier New" pitchFamily="34" charset="-120"/>
              </a:rPr>
              <a:t>    df['nqx'] = (df.n*df.nMx) / (1+(df.n-df.nax)*df.nMx)</a:t>
            </a:r>
            <a:endParaRPr lang="en-US" sz="1100" dirty="0"/>
          </a:p>
          <a:p>
            <a:pPr marL="0" indent="0">
              <a:lnSpc>
                <a:spcPct val="112000"/>
              </a:lnSpc>
              <a:buNone/>
            </a:pPr>
            <a:r>
              <a:rPr lang="en-US" sz="1100" dirty="0">
                <a:solidFill>
                  <a:srgbClr val="D8E6EE"/>
                </a:solidFill>
                <a:latin typeface="Courier New" pitchFamily="34" charset="0"/>
                <a:ea typeface="Courier New" pitchFamily="34" charset="-122"/>
                <a:cs typeface="Courier New" pitchFamily="34" charset="-120"/>
              </a:rPr>
              <a:t>    df.loc[df.index[-1], 'nqx'] = 1.0   # open interval</a:t>
            </a:r>
            <a:endParaRPr lang="en-US" sz="1100" dirty="0"/>
          </a:p>
          <a:p>
            <a:pPr marL="0" indent="0">
              <a:lnSpc>
                <a:spcPct val="112000"/>
              </a:lnSpc>
              <a:buNone/>
            </a:pPr>
            <a:r>
              <a:rPr lang="en-US" sz="1100" dirty="0">
                <a:solidFill>
                  <a:srgbClr val="D8E6EE"/>
                </a:solidFill>
                <a:latin typeface="Courier New" pitchFamily="34" charset="0"/>
                <a:ea typeface="Courier New" pitchFamily="34" charset="-122"/>
                <a:cs typeface="Courier New" pitchFamily="34" charset="-120"/>
              </a:rPr>
              <a:t>    df['lx'] = radix</a:t>
            </a:r>
            <a:endParaRPr lang="en-US" sz="1100" dirty="0"/>
          </a:p>
          <a:p>
            <a:pPr marL="0" indent="0">
              <a:lnSpc>
                <a:spcPct val="112000"/>
              </a:lnSpc>
              <a:buNone/>
            </a:pPr>
            <a:r>
              <a:rPr lang="en-US" sz="1100" dirty="0">
                <a:solidFill>
                  <a:srgbClr val="D8E6EE"/>
                </a:solidFill>
                <a:latin typeface="Courier New" pitchFamily="34" charset="0"/>
                <a:ea typeface="Courier New" pitchFamily="34" charset="-122"/>
                <a:cs typeface="Courier New" pitchFamily="34" charset="-120"/>
              </a:rPr>
              <a:t>    for i in range(1, len(df)):</a:t>
            </a:r>
            <a:endParaRPr lang="en-US" sz="1100" dirty="0"/>
          </a:p>
          <a:p>
            <a:pPr marL="0" indent="0">
              <a:lnSpc>
                <a:spcPct val="112000"/>
              </a:lnSpc>
              <a:buNone/>
            </a:pPr>
            <a:r>
              <a:rPr lang="en-US" sz="1100" dirty="0">
                <a:solidFill>
                  <a:srgbClr val="D8E6EE"/>
                </a:solidFill>
                <a:latin typeface="Courier New" pitchFamily="34" charset="0"/>
                <a:ea typeface="Courier New" pitchFamily="34" charset="-122"/>
                <a:cs typeface="Courier New" pitchFamily="34" charset="-120"/>
              </a:rPr>
              <a:t>        df.loc[i,'lx'] = df.loc[i-1,'lx']*(1-df.loc[i-1,'nqx'])</a:t>
            </a:r>
            <a:endParaRPr lang="en-US" sz="1100" dirty="0"/>
          </a:p>
          <a:p>
            <a:pPr marL="0" indent="0">
              <a:lnSpc>
                <a:spcPct val="112000"/>
              </a:lnSpc>
              <a:buNone/>
            </a:pPr>
            <a:r>
              <a:rPr lang="en-US" sz="1100" dirty="0">
                <a:solidFill>
                  <a:srgbClr val="D8E6EE"/>
                </a:solidFill>
                <a:latin typeface="Courier New" pitchFamily="34" charset="0"/>
                <a:ea typeface="Courier New" pitchFamily="34" charset="-122"/>
                <a:cs typeface="Courier New" pitchFamily="34" charset="-120"/>
              </a:rPr>
              <a:t>    df['ndx'] = df['lx']*df['nqx']</a:t>
            </a:r>
            <a:endParaRPr lang="en-US" sz="1100" dirty="0"/>
          </a:p>
          <a:p>
            <a:pPr marL="0" indent="0">
              <a:lnSpc>
                <a:spcPct val="112000"/>
              </a:lnSpc>
              <a:buNone/>
            </a:pPr>
            <a:r>
              <a:rPr lang="en-US" sz="1100" dirty="0">
                <a:solidFill>
                  <a:srgbClr val="D8E6EE"/>
                </a:solidFill>
                <a:latin typeface="Courier New" pitchFamily="34" charset="0"/>
                <a:ea typeface="Courier New" pitchFamily="34" charset="-122"/>
                <a:cs typeface="Courier New" pitchFamily="34" charset="-120"/>
              </a:rPr>
              <a:t>    df['nLx'] = df.n*df.lx.shift(-1) + df.nax*df.ndx   # WARNING: open interval breaks here</a:t>
            </a:r>
            <a:endParaRPr lang="en-US" sz="1100" dirty="0"/>
          </a:p>
          <a:p>
            <a:pPr marL="0" indent="0">
              <a:lnSpc>
                <a:spcPct val="112000"/>
              </a:lnSpc>
              <a:buNone/>
            </a:pPr>
            <a:r>
              <a:rPr lang="en-US" sz="1100" dirty="0">
                <a:solidFill>
                  <a:srgbClr val="D8E6EE"/>
                </a:solidFill>
                <a:latin typeface="Courier New" pitchFamily="34" charset="0"/>
                <a:ea typeface="Courier New" pitchFamily="34" charset="-122"/>
                <a:cs typeface="Courier New" pitchFamily="34" charset="-120"/>
              </a:rPr>
              <a:t>    df['Tx'] = df['nLx'][::-1].cumsum()[::-1]</a:t>
            </a:r>
            <a:endParaRPr lang="en-US" sz="1100" dirty="0"/>
          </a:p>
          <a:p>
            <a:pPr marL="0" indent="0">
              <a:lnSpc>
                <a:spcPct val="112000"/>
              </a:lnSpc>
              <a:buNone/>
            </a:pPr>
            <a:r>
              <a:rPr lang="en-US" sz="1100" dirty="0">
                <a:solidFill>
                  <a:srgbClr val="D8E6EE"/>
                </a:solidFill>
                <a:latin typeface="Courier New" pitchFamily="34" charset="0"/>
                <a:ea typeface="Courier New" pitchFamily="34" charset="-122"/>
                <a:cs typeface="Courier New" pitchFamily="34" charset="-120"/>
              </a:rPr>
              <a:t>    df['ex'] = df['Tx'] / df['lx']</a:t>
            </a:r>
            <a:endParaRPr lang="en-US" sz="1100" dirty="0"/>
          </a:p>
          <a:p>
            <a:pPr marL="0" indent="0">
              <a:lnSpc>
                <a:spcPct val="112000"/>
              </a:lnSpc>
              <a:buNone/>
            </a:pPr>
            <a:r>
              <a:rPr lang="en-US" sz="1100" dirty="0">
                <a:solidFill>
                  <a:srgbClr val="D8E6EE"/>
                </a:solidFill>
                <a:latin typeface="Courier New" pitchFamily="34" charset="0"/>
                <a:ea typeface="Courier New" pitchFamily="34" charset="-122"/>
                <a:cs typeface="Courier New" pitchFamily="34" charset="-120"/>
              </a:rPr>
              <a:t>    return df</a:t>
            </a:r>
            <a:endParaRPr lang="en-US" sz="1100" dirty="0"/>
          </a:p>
        </p:txBody>
      </p:sp>
      <p:sp>
        <p:nvSpPr>
          <p:cNvPr id="6" name="Shape 4"/>
          <p:cNvSpPr/>
          <p:nvPr/>
        </p:nvSpPr>
        <p:spPr>
          <a:xfrm>
            <a:off x="457200" y="5852160"/>
            <a:ext cx="11277295" cy="621792"/>
          </a:xfrm>
          <a:prstGeom prst="roundRect">
            <a:avLst>
              <a:gd name="adj" fmla="val 10294"/>
            </a:avLst>
          </a:prstGeom>
          <a:solidFill>
            <a:srgbClr val="E1EAF2"/>
          </a:solidFill>
          <a:ln w="9525">
            <a:solidFill>
              <a:srgbClr val="D3E0E9"/>
            </a:solidFill>
            <a:prstDash val="solid"/>
          </a:ln>
        </p:spPr>
      </p:sp>
      <p:sp>
        <p:nvSpPr>
          <p:cNvPr id="7" name="Text 5"/>
          <p:cNvSpPr/>
          <p:nvPr/>
        </p:nvSpPr>
        <p:spPr>
          <a:xfrm>
            <a:off x="685800" y="5852160"/>
            <a:ext cx="10820095" cy="621792"/>
          </a:xfrm>
          <a:prstGeom prst="rect">
            <a:avLst/>
          </a:prstGeom>
          <a:noFill/>
          <a:ln/>
        </p:spPr>
        <p:txBody>
          <a:bodyPr wrap="square" lIns="0" tIns="0" rIns="0" bIns="0" rtlCol="0" anchor="ctr"/>
          <a:lstStyle/>
          <a:p>
            <a:pPr marL="0" indent="0">
              <a:buNone/>
            </a:pPr>
            <a:r>
              <a:rPr lang="en-US" sz="1100" dirty="0">
                <a:solidFill>
                  <a:srgbClr val="142433"/>
                </a:solidFill>
                <a:latin typeface="Calibri" pitchFamily="34" charset="0"/>
                <a:ea typeface="Calibri" pitchFamily="34" charset="-122"/>
                <a:cs typeface="Calibri" pitchFamily="34" charset="-120"/>
              </a:rPr>
              <a:t>This AI-generated function looks plausible and runs without errors — but it contains at least two seeded bugs typical of AI-generated demographic code. Find them before the next slide.</a:t>
            </a:r>
            <a:endParaRPr lang="en-US" sz="1100" dirty="0"/>
          </a:p>
        </p:txBody>
      </p:sp>
      <p:sp>
        <p:nvSpPr>
          <p:cNvPr id="8" name="Text 6"/>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9" name="Text 7"/>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63 / 80</a:t>
            </a:r>
            <a:endParaRPr lang="en-US" sz="8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MANDATORY MANUAL VERIFICATION</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Critical Verification Checklist for AI-Generated Demographic Code</a:t>
            </a:r>
            <a:endParaRPr lang="en-US" sz="2700" dirty="0"/>
          </a:p>
        </p:txBody>
      </p:sp>
      <p:sp>
        <p:nvSpPr>
          <p:cNvPr id="4" name="Shape 2"/>
          <p:cNvSpPr/>
          <p:nvPr/>
        </p:nvSpPr>
        <p:spPr>
          <a:xfrm>
            <a:off x="457200" y="1481328"/>
            <a:ext cx="5501488" cy="1298448"/>
          </a:xfrm>
          <a:prstGeom prst="roundRect">
            <a:avLst>
              <a:gd name="adj" fmla="val 4930"/>
            </a:avLst>
          </a:prstGeom>
          <a:solidFill>
            <a:srgbClr val="EEF3F8"/>
          </a:solidFill>
          <a:ln w="9525">
            <a:solidFill>
              <a:srgbClr val="D3E0E9"/>
            </a:solidFill>
            <a:prstDash val="solid"/>
          </a:ln>
        </p:spPr>
      </p:sp>
      <p:sp>
        <p:nvSpPr>
          <p:cNvPr id="5" name="Shape 3"/>
          <p:cNvSpPr/>
          <p:nvPr/>
        </p:nvSpPr>
        <p:spPr>
          <a:xfrm>
            <a:off x="640080" y="1645920"/>
            <a:ext cx="365760" cy="365760"/>
          </a:xfrm>
          <a:prstGeom prst="ellipse">
            <a:avLst/>
          </a:prstGeom>
          <a:solidFill>
            <a:srgbClr val="1C7293"/>
          </a:solidFill>
          <a:ln/>
        </p:spPr>
      </p:sp>
      <p:sp>
        <p:nvSpPr>
          <p:cNvPr id="6" name="Text 4"/>
          <p:cNvSpPr/>
          <p:nvPr/>
        </p:nvSpPr>
        <p:spPr>
          <a:xfrm>
            <a:off x="640080" y="16459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143000" y="1609344"/>
            <a:ext cx="4587088" cy="384048"/>
          </a:xfrm>
          <a:prstGeom prst="rect">
            <a:avLst/>
          </a:prstGeom>
          <a:noFill/>
          <a:ln/>
        </p:spPr>
        <p:txBody>
          <a:bodyPr wrap="square" lIns="0" tIns="0" rIns="0" bIns="0" rtlCol="0" anchor="t"/>
          <a:lstStyle/>
          <a:p>
            <a:pPr marL="0" indent="0">
              <a:buNone/>
            </a:pPr>
            <a:r>
              <a:rPr lang="en-US" sz="1250" b="1" dirty="0">
                <a:solidFill>
                  <a:srgbClr val="0B3D62"/>
                </a:solidFill>
                <a:latin typeface="Calibri" pitchFamily="34" charset="0"/>
                <a:ea typeface="Calibri" pitchFamily="34" charset="-122"/>
                <a:cs typeface="Calibri" pitchFamily="34" charset="-120"/>
              </a:rPr>
              <a:t>Wrong or generic nax default</a:t>
            </a:r>
            <a:endParaRPr lang="en-US" sz="1250" dirty="0"/>
          </a:p>
        </p:txBody>
      </p:sp>
      <p:sp>
        <p:nvSpPr>
          <p:cNvPr id="8" name="Text 6"/>
          <p:cNvSpPr/>
          <p:nvPr/>
        </p:nvSpPr>
        <p:spPr>
          <a:xfrm>
            <a:off x="685800" y="2011680"/>
            <a:ext cx="5044288" cy="676656"/>
          </a:xfrm>
          <a:prstGeom prst="rect">
            <a:avLst/>
          </a:prstGeom>
          <a:noFill/>
          <a:ln/>
        </p:spPr>
        <p:txBody>
          <a:bodyPr wrap="square" lIns="0" tIns="0" rIns="0" bIns="0" rtlCol="0" anchor="t"/>
          <a:lstStyle/>
          <a:p>
            <a:pPr marL="0" indent="0">
              <a:lnSpc>
                <a:spcPct val="105000"/>
              </a:lnSpc>
              <a:buNone/>
            </a:pPr>
            <a:r>
              <a:rPr lang="en-US" sz="1000" dirty="0">
                <a:solidFill>
                  <a:srgbClr val="142433"/>
                </a:solidFill>
                <a:latin typeface="Calibri" pitchFamily="34" charset="0"/>
                <a:ea typeface="Calibri" pitchFamily="34" charset="-122"/>
                <a:cs typeface="Calibri" pitchFamily="34" charset="-120"/>
              </a:rPr>
              <a:t>AI assistants default to nax = n/2 for every age, including age 0 — always overwrite a0 (≈0.3) and a(1–4) (≈1.5) by hand.</a:t>
            </a:r>
            <a:endParaRPr lang="en-US" sz="1000" dirty="0"/>
          </a:p>
        </p:txBody>
      </p:sp>
      <p:sp>
        <p:nvSpPr>
          <p:cNvPr id="9" name="Shape 7"/>
          <p:cNvSpPr/>
          <p:nvPr/>
        </p:nvSpPr>
        <p:spPr>
          <a:xfrm>
            <a:off x="6233008" y="1481328"/>
            <a:ext cx="5501488" cy="1298448"/>
          </a:xfrm>
          <a:prstGeom prst="roundRect">
            <a:avLst>
              <a:gd name="adj" fmla="val 4930"/>
            </a:avLst>
          </a:prstGeom>
          <a:solidFill>
            <a:srgbClr val="EEF3F8"/>
          </a:solidFill>
          <a:ln w="9525">
            <a:solidFill>
              <a:srgbClr val="D3E0E9"/>
            </a:solidFill>
            <a:prstDash val="solid"/>
          </a:ln>
        </p:spPr>
      </p:sp>
      <p:sp>
        <p:nvSpPr>
          <p:cNvPr id="10" name="Shape 8"/>
          <p:cNvSpPr/>
          <p:nvPr/>
        </p:nvSpPr>
        <p:spPr>
          <a:xfrm>
            <a:off x="6415888" y="1645920"/>
            <a:ext cx="365760" cy="365760"/>
          </a:xfrm>
          <a:prstGeom prst="ellipse">
            <a:avLst/>
          </a:prstGeom>
          <a:solidFill>
            <a:srgbClr val="1C7293"/>
          </a:solidFill>
          <a:ln/>
        </p:spPr>
      </p:sp>
      <p:sp>
        <p:nvSpPr>
          <p:cNvPr id="11" name="Text 9"/>
          <p:cNvSpPr/>
          <p:nvPr/>
        </p:nvSpPr>
        <p:spPr>
          <a:xfrm>
            <a:off x="6415888" y="16459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6918808" y="1609344"/>
            <a:ext cx="4587088" cy="384048"/>
          </a:xfrm>
          <a:prstGeom prst="rect">
            <a:avLst/>
          </a:prstGeom>
          <a:noFill/>
          <a:ln/>
        </p:spPr>
        <p:txBody>
          <a:bodyPr wrap="square" lIns="0" tIns="0" rIns="0" bIns="0" rtlCol="0" anchor="t"/>
          <a:lstStyle/>
          <a:p>
            <a:pPr marL="0" indent="0">
              <a:buNone/>
            </a:pPr>
            <a:r>
              <a:rPr lang="en-US" sz="1250" b="1" dirty="0">
                <a:solidFill>
                  <a:srgbClr val="0B3D62"/>
                </a:solidFill>
                <a:latin typeface="Calibri" pitchFamily="34" charset="0"/>
                <a:ea typeface="Calibri" pitchFamily="34" charset="-122"/>
                <a:cs typeface="Calibri" pitchFamily="34" charset="-120"/>
              </a:rPr>
              <a:t>Off-by-one age intervals</a:t>
            </a:r>
            <a:endParaRPr lang="en-US" sz="1250" dirty="0"/>
          </a:p>
        </p:txBody>
      </p:sp>
      <p:sp>
        <p:nvSpPr>
          <p:cNvPr id="13" name="Text 11"/>
          <p:cNvSpPr/>
          <p:nvPr/>
        </p:nvSpPr>
        <p:spPr>
          <a:xfrm>
            <a:off x="6461608" y="2011680"/>
            <a:ext cx="5044288" cy="676656"/>
          </a:xfrm>
          <a:prstGeom prst="rect">
            <a:avLst/>
          </a:prstGeom>
          <a:noFill/>
          <a:ln/>
        </p:spPr>
        <p:txBody>
          <a:bodyPr wrap="square" lIns="0" tIns="0" rIns="0" bIns="0" rtlCol="0" anchor="t"/>
          <a:lstStyle/>
          <a:p>
            <a:pPr marL="0" indent="0">
              <a:lnSpc>
                <a:spcPct val="105000"/>
              </a:lnSpc>
              <a:buNone/>
            </a:pPr>
            <a:r>
              <a:rPr lang="en-US" sz="1000" dirty="0">
                <a:solidFill>
                  <a:srgbClr val="142433"/>
                </a:solidFill>
                <a:latin typeface="Calibri" pitchFamily="34" charset="0"/>
                <a:ea typeface="Calibri" pitchFamily="34" charset="-122"/>
                <a:cs typeface="Calibri" pitchFamily="34" charset="-120"/>
              </a:rPr>
              <a:t>Check that lx uses the PREVIOUS row's nqx, not the current row's — a common shift/index bug in generated loops.</a:t>
            </a:r>
            <a:endParaRPr lang="en-US" sz="1000" dirty="0"/>
          </a:p>
        </p:txBody>
      </p:sp>
      <p:sp>
        <p:nvSpPr>
          <p:cNvPr id="14" name="Shape 12"/>
          <p:cNvSpPr/>
          <p:nvPr/>
        </p:nvSpPr>
        <p:spPr>
          <a:xfrm>
            <a:off x="457200" y="2926080"/>
            <a:ext cx="5501488" cy="1298448"/>
          </a:xfrm>
          <a:prstGeom prst="roundRect">
            <a:avLst>
              <a:gd name="adj" fmla="val 4930"/>
            </a:avLst>
          </a:prstGeom>
          <a:solidFill>
            <a:srgbClr val="E1EAF2"/>
          </a:solidFill>
          <a:ln w="9525">
            <a:solidFill>
              <a:srgbClr val="D3E0E9"/>
            </a:solidFill>
            <a:prstDash val="solid"/>
          </a:ln>
        </p:spPr>
      </p:sp>
      <p:sp>
        <p:nvSpPr>
          <p:cNvPr id="15" name="Shape 13"/>
          <p:cNvSpPr/>
          <p:nvPr/>
        </p:nvSpPr>
        <p:spPr>
          <a:xfrm>
            <a:off x="640080" y="3090672"/>
            <a:ext cx="365760" cy="365760"/>
          </a:xfrm>
          <a:prstGeom prst="ellipse">
            <a:avLst/>
          </a:prstGeom>
          <a:solidFill>
            <a:srgbClr val="1C7293"/>
          </a:solidFill>
          <a:ln/>
        </p:spPr>
      </p:sp>
      <p:sp>
        <p:nvSpPr>
          <p:cNvPr id="16" name="Text 14"/>
          <p:cNvSpPr/>
          <p:nvPr/>
        </p:nvSpPr>
        <p:spPr>
          <a:xfrm>
            <a:off x="640080" y="3090672"/>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143000" y="3054096"/>
            <a:ext cx="4587088" cy="384048"/>
          </a:xfrm>
          <a:prstGeom prst="rect">
            <a:avLst/>
          </a:prstGeom>
          <a:noFill/>
          <a:ln/>
        </p:spPr>
        <p:txBody>
          <a:bodyPr wrap="square" lIns="0" tIns="0" rIns="0" bIns="0" rtlCol="0" anchor="t"/>
          <a:lstStyle/>
          <a:p>
            <a:pPr marL="0" indent="0">
              <a:buNone/>
            </a:pPr>
            <a:r>
              <a:rPr lang="en-US" sz="1250" b="1" dirty="0">
                <a:solidFill>
                  <a:srgbClr val="0B3D62"/>
                </a:solidFill>
                <a:latin typeface="Calibri" pitchFamily="34" charset="0"/>
                <a:ea typeface="Calibri" pitchFamily="34" charset="-122"/>
                <a:cs typeface="Calibri" pitchFamily="34" charset="-120"/>
              </a:rPr>
              <a:t>Ignoring the open-ended age group</a:t>
            </a:r>
            <a:endParaRPr lang="en-US" sz="1250" dirty="0"/>
          </a:p>
        </p:txBody>
      </p:sp>
      <p:sp>
        <p:nvSpPr>
          <p:cNvPr id="18" name="Text 16"/>
          <p:cNvSpPr/>
          <p:nvPr/>
        </p:nvSpPr>
        <p:spPr>
          <a:xfrm>
            <a:off x="685800" y="3456432"/>
            <a:ext cx="5044288" cy="676656"/>
          </a:xfrm>
          <a:prstGeom prst="rect">
            <a:avLst/>
          </a:prstGeom>
          <a:noFill/>
          <a:ln/>
        </p:spPr>
        <p:txBody>
          <a:bodyPr wrap="square" lIns="0" tIns="0" rIns="0" bIns="0" rtlCol="0" anchor="t"/>
          <a:lstStyle/>
          <a:p>
            <a:pPr marL="0" indent="0">
              <a:lnSpc>
                <a:spcPct val="105000"/>
              </a:lnSpc>
              <a:buNone/>
            </a:pPr>
            <a:r>
              <a:rPr lang="en-US" sz="1000" dirty="0">
                <a:solidFill>
                  <a:srgbClr val="142433"/>
                </a:solidFill>
                <a:latin typeface="Calibri" pitchFamily="34" charset="0"/>
                <a:ea typeface="Calibri" pitchFamily="34" charset="-122"/>
                <a:cs typeface="Calibri" pitchFamily="34" charset="-120"/>
              </a:rPr>
              <a:t>The final age group (e.g., 85+) has no upper bound n — Lω = lω/Mω, not n·lx+n+nax·ndx. Confirm the code branches for this case.</a:t>
            </a:r>
            <a:endParaRPr lang="en-US" sz="1000" dirty="0"/>
          </a:p>
        </p:txBody>
      </p:sp>
      <p:sp>
        <p:nvSpPr>
          <p:cNvPr id="19" name="Shape 17"/>
          <p:cNvSpPr/>
          <p:nvPr/>
        </p:nvSpPr>
        <p:spPr>
          <a:xfrm>
            <a:off x="6233008" y="2926080"/>
            <a:ext cx="5501488" cy="1298448"/>
          </a:xfrm>
          <a:prstGeom prst="roundRect">
            <a:avLst>
              <a:gd name="adj" fmla="val 4930"/>
            </a:avLst>
          </a:prstGeom>
          <a:solidFill>
            <a:srgbClr val="E1EAF2"/>
          </a:solidFill>
          <a:ln w="9525">
            <a:solidFill>
              <a:srgbClr val="D3E0E9"/>
            </a:solidFill>
            <a:prstDash val="solid"/>
          </a:ln>
        </p:spPr>
      </p:sp>
      <p:sp>
        <p:nvSpPr>
          <p:cNvPr id="20" name="Shape 18"/>
          <p:cNvSpPr/>
          <p:nvPr/>
        </p:nvSpPr>
        <p:spPr>
          <a:xfrm>
            <a:off x="6415888" y="3090672"/>
            <a:ext cx="365760" cy="365760"/>
          </a:xfrm>
          <a:prstGeom prst="ellipse">
            <a:avLst/>
          </a:prstGeom>
          <a:solidFill>
            <a:srgbClr val="1C7293"/>
          </a:solidFill>
          <a:ln/>
        </p:spPr>
      </p:sp>
      <p:sp>
        <p:nvSpPr>
          <p:cNvPr id="21" name="Text 19"/>
          <p:cNvSpPr/>
          <p:nvPr/>
        </p:nvSpPr>
        <p:spPr>
          <a:xfrm>
            <a:off x="6415888" y="3090672"/>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6918808" y="3054096"/>
            <a:ext cx="4587088" cy="384048"/>
          </a:xfrm>
          <a:prstGeom prst="rect">
            <a:avLst/>
          </a:prstGeom>
          <a:noFill/>
          <a:ln/>
        </p:spPr>
        <p:txBody>
          <a:bodyPr wrap="square" lIns="0" tIns="0" rIns="0" bIns="0" rtlCol="0" anchor="t"/>
          <a:lstStyle/>
          <a:p>
            <a:pPr marL="0" indent="0">
              <a:buNone/>
            </a:pPr>
            <a:r>
              <a:rPr lang="en-US" sz="1250" b="1" dirty="0">
                <a:solidFill>
                  <a:srgbClr val="0B3D62"/>
                </a:solidFill>
                <a:latin typeface="Calibri" pitchFamily="34" charset="0"/>
                <a:ea typeface="Calibri" pitchFamily="34" charset="-122"/>
                <a:cs typeface="Calibri" pitchFamily="34" charset="-120"/>
              </a:rPr>
              <a:t>Silent unit errors</a:t>
            </a:r>
            <a:endParaRPr lang="en-US" sz="1250" dirty="0"/>
          </a:p>
        </p:txBody>
      </p:sp>
      <p:sp>
        <p:nvSpPr>
          <p:cNvPr id="23" name="Text 21"/>
          <p:cNvSpPr/>
          <p:nvPr/>
        </p:nvSpPr>
        <p:spPr>
          <a:xfrm>
            <a:off x="6461608" y="3456432"/>
            <a:ext cx="5044288" cy="676656"/>
          </a:xfrm>
          <a:prstGeom prst="rect">
            <a:avLst/>
          </a:prstGeom>
          <a:noFill/>
          <a:ln/>
        </p:spPr>
        <p:txBody>
          <a:bodyPr wrap="square" lIns="0" tIns="0" rIns="0" bIns="0" rtlCol="0" anchor="t"/>
          <a:lstStyle/>
          <a:p>
            <a:pPr marL="0" indent="0">
              <a:lnSpc>
                <a:spcPct val="105000"/>
              </a:lnSpc>
              <a:buNone/>
            </a:pPr>
            <a:r>
              <a:rPr lang="en-US" sz="1000" dirty="0">
                <a:solidFill>
                  <a:srgbClr val="142433"/>
                </a:solidFill>
                <a:latin typeface="Calibri" pitchFamily="34" charset="0"/>
                <a:ea typeface="Calibri" pitchFamily="34" charset="-122"/>
                <a:cs typeface="Calibri" pitchFamily="34" charset="-120"/>
              </a:rPr>
              <a:t>Rates per 1,000 vs. per 1 person; ages in months vs. years — AI code rarely infers your input's units and will compute confidently with the wrong ones.</a:t>
            </a:r>
            <a:endParaRPr lang="en-US" sz="1000" dirty="0"/>
          </a:p>
        </p:txBody>
      </p:sp>
      <p:sp>
        <p:nvSpPr>
          <p:cNvPr id="24" name="Shape 22"/>
          <p:cNvSpPr/>
          <p:nvPr/>
        </p:nvSpPr>
        <p:spPr>
          <a:xfrm>
            <a:off x="457200" y="4370832"/>
            <a:ext cx="5501488" cy="1298448"/>
          </a:xfrm>
          <a:prstGeom prst="roundRect">
            <a:avLst>
              <a:gd name="adj" fmla="val 4930"/>
            </a:avLst>
          </a:prstGeom>
          <a:solidFill>
            <a:srgbClr val="EEF3F8"/>
          </a:solidFill>
          <a:ln w="9525">
            <a:solidFill>
              <a:srgbClr val="D3E0E9"/>
            </a:solidFill>
            <a:prstDash val="solid"/>
          </a:ln>
        </p:spPr>
      </p:sp>
      <p:sp>
        <p:nvSpPr>
          <p:cNvPr id="25" name="Shape 23"/>
          <p:cNvSpPr/>
          <p:nvPr/>
        </p:nvSpPr>
        <p:spPr>
          <a:xfrm>
            <a:off x="640080" y="4535424"/>
            <a:ext cx="365760" cy="365760"/>
          </a:xfrm>
          <a:prstGeom prst="ellipse">
            <a:avLst/>
          </a:prstGeom>
          <a:solidFill>
            <a:srgbClr val="1C7293"/>
          </a:solidFill>
          <a:ln/>
        </p:spPr>
      </p:sp>
      <p:sp>
        <p:nvSpPr>
          <p:cNvPr id="26" name="Text 24"/>
          <p:cNvSpPr/>
          <p:nvPr/>
        </p:nvSpPr>
        <p:spPr>
          <a:xfrm>
            <a:off x="640080" y="453542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1143000" y="4498848"/>
            <a:ext cx="4587088" cy="384048"/>
          </a:xfrm>
          <a:prstGeom prst="rect">
            <a:avLst/>
          </a:prstGeom>
          <a:noFill/>
          <a:ln/>
        </p:spPr>
        <p:txBody>
          <a:bodyPr wrap="square" lIns="0" tIns="0" rIns="0" bIns="0" rtlCol="0" anchor="t"/>
          <a:lstStyle/>
          <a:p>
            <a:pPr marL="0" indent="0">
              <a:buNone/>
            </a:pPr>
            <a:r>
              <a:rPr lang="en-US" sz="1250" b="1" dirty="0">
                <a:solidFill>
                  <a:srgbClr val="0B3D62"/>
                </a:solidFill>
                <a:latin typeface="Calibri" pitchFamily="34" charset="0"/>
                <a:ea typeface="Calibri" pitchFamily="34" charset="-122"/>
                <a:cs typeface="Calibri" pitchFamily="34" charset="-120"/>
              </a:rPr>
              <a:t>Tx computed top-down, not bottom-up</a:t>
            </a:r>
            <a:endParaRPr lang="en-US" sz="1250" dirty="0"/>
          </a:p>
        </p:txBody>
      </p:sp>
      <p:sp>
        <p:nvSpPr>
          <p:cNvPr id="28" name="Text 26"/>
          <p:cNvSpPr/>
          <p:nvPr/>
        </p:nvSpPr>
        <p:spPr>
          <a:xfrm>
            <a:off x="685800" y="4901184"/>
            <a:ext cx="5044288" cy="676656"/>
          </a:xfrm>
          <a:prstGeom prst="rect">
            <a:avLst/>
          </a:prstGeom>
          <a:noFill/>
          <a:ln/>
        </p:spPr>
        <p:txBody>
          <a:bodyPr wrap="square" lIns="0" tIns="0" rIns="0" bIns="0" rtlCol="0" anchor="t"/>
          <a:lstStyle/>
          <a:p>
            <a:pPr marL="0" indent="0">
              <a:lnSpc>
                <a:spcPct val="105000"/>
              </a:lnSpc>
              <a:buNone/>
            </a:pPr>
            <a:r>
              <a:rPr lang="en-US" sz="1000" dirty="0">
                <a:solidFill>
                  <a:srgbClr val="142433"/>
                </a:solidFill>
                <a:latin typeface="Calibri" pitchFamily="34" charset="0"/>
                <a:ea typeface="Calibri" pitchFamily="34" charset="-122"/>
                <a:cs typeface="Calibri" pitchFamily="34" charset="-120"/>
              </a:rPr>
              <a:t>Tx must be a REVERSE cumulative sum (oldest to youngest); verify Tx is monotonically decreasing with age.</a:t>
            </a:r>
            <a:endParaRPr lang="en-US" sz="1000" dirty="0"/>
          </a:p>
        </p:txBody>
      </p:sp>
      <p:sp>
        <p:nvSpPr>
          <p:cNvPr id="29" name="Shape 27"/>
          <p:cNvSpPr/>
          <p:nvPr/>
        </p:nvSpPr>
        <p:spPr>
          <a:xfrm>
            <a:off x="6233008" y="4370832"/>
            <a:ext cx="5501488" cy="1298448"/>
          </a:xfrm>
          <a:prstGeom prst="roundRect">
            <a:avLst>
              <a:gd name="adj" fmla="val 4930"/>
            </a:avLst>
          </a:prstGeom>
          <a:solidFill>
            <a:srgbClr val="EEF3F8"/>
          </a:solidFill>
          <a:ln w="9525">
            <a:solidFill>
              <a:srgbClr val="D3E0E9"/>
            </a:solidFill>
            <a:prstDash val="solid"/>
          </a:ln>
        </p:spPr>
      </p:sp>
      <p:sp>
        <p:nvSpPr>
          <p:cNvPr id="30" name="Shape 28"/>
          <p:cNvSpPr/>
          <p:nvPr/>
        </p:nvSpPr>
        <p:spPr>
          <a:xfrm>
            <a:off x="6415888" y="4535424"/>
            <a:ext cx="365760" cy="365760"/>
          </a:xfrm>
          <a:prstGeom prst="ellipse">
            <a:avLst/>
          </a:prstGeom>
          <a:solidFill>
            <a:srgbClr val="1C7293"/>
          </a:solidFill>
          <a:ln/>
        </p:spPr>
      </p:sp>
      <p:sp>
        <p:nvSpPr>
          <p:cNvPr id="31" name="Text 29"/>
          <p:cNvSpPr/>
          <p:nvPr/>
        </p:nvSpPr>
        <p:spPr>
          <a:xfrm>
            <a:off x="6415888" y="453542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2" name="Text 30"/>
          <p:cNvSpPr/>
          <p:nvPr/>
        </p:nvSpPr>
        <p:spPr>
          <a:xfrm>
            <a:off x="6918808" y="4498848"/>
            <a:ext cx="4587088" cy="384048"/>
          </a:xfrm>
          <a:prstGeom prst="rect">
            <a:avLst/>
          </a:prstGeom>
          <a:noFill/>
          <a:ln/>
        </p:spPr>
        <p:txBody>
          <a:bodyPr wrap="square" lIns="0" tIns="0" rIns="0" bIns="0" rtlCol="0" anchor="t"/>
          <a:lstStyle/>
          <a:p>
            <a:pPr marL="0" indent="0">
              <a:buNone/>
            </a:pPr>
            <a:r>
              <a:rPr lang="en-US" sz="1250" b="1" dirty="0">
                <a:solidFill>
                  <a:srgbClr val="0B3D62"/>
                </a:solidFill>
                <a:latin typeface="Calibri" pitchFamily="34" charset="0"/>
                <a:ea typeface="Calibri" pitchFamily="34" charset="-122"/>
                <a:cs typeface="Calibri" pitchFamily="34" charset="-120"/>
              </a:rPr>
              <a:t>No sanity checks on outputs</a:t>
            </a:r>
            <a:endParaRPr lang="en-US" sz="1250" dirty="0"/>
          </a:p>
        </p:txBody>
      </p:sp>
      <p:sp>
        <p:nvSpPr>
          <p:cNvPr id="33" name="Text 31"/>
          <p:cNvSpPr/>
          <p:nvPr/>
        </p:nvSpPr>
        <p:spPr>
          <a:xfrm>
            <a:off x="6461608" y="4901184"/>
            <a:ext cx="5044288" cy="676656"/>
          </a:xfrm>
          <a:prstGeom prst="rect">
            <a:avLst/>
          </a:prstGeom>
          <a:noFill/>
          <a:ln/>
        </p:spPr>
        <p:txBody>
          <a:bodyPr wrap="square" lIns="0" tIns="0" rIns="0" bIns="0" rtlCol="0" anchor="t"/>
          <a:lstStyle/>
          <a:p>
            <a:pPr marL="0" indent="0">
              <a:lnSpc>
                <a:spcPct val="105000"/>
              </a:lnSpc>
              <a:buNone/>
            </a:pPr>
            <a:r>
              <a:rPr lang="en-US" sz="1000" dirty="0">
                <a:solidFill>
                  <a:srgbClr val="142433"/>
                </a:solidFill>
                <a:latin typeface="Calibri" pitchFamily="34" charset="0"/>
                <a:ea typeface="Calibri" pitchFamily="34" charset="-122"/>
                <a:cs typeface="Calibri" pitchFamily="34" charset="-120"/>
              </a:rPr>
              <a:t>Always confirm: Σ ndx = radix; nqx ∈ [0,1] for all rows; lx strictly non-increasing; ex plausible for the population studied.</a:t>
            </a:r>
            <a:endParaRPr lang="en-US" sz="1000" dirty="0"/>
          </a:p>
        </p:txBody>
      </p:sp>
      <p:sp>
        <p:nvSpPr>
          <p:cNvPr id="34" name="Shape 32"/>
          <p:cNvSpPr/>
          <p:nvPr/>
        </p:nvSpPr>
        <p:spPr>
          <a:xfrm>
            <a:off x="457200" y="5870448"/>
            <a:ext cx="11277295" cy="566928"/>
          </a:xfrm>
          <a:prstGeom prst="roundRect">
            <a:avLst>
              <a:gd name="adj" fmla="val 11290"/>
            </a:avLst>
          </a:prstGeom>
          <a:solidFill>
            <a:srgbClr val="07213A"/>
          </a:solidFill>
          <a:ln w="9525">
            <a:solidFill>
              <a:srgbClr val="D3E0E9"/>
            </a:solidFill>
            <a:prstDash val="solid"/>
          </a:ln>
        </p:spPr>
      </p:sp>
      <p:sp>
        <p:nvSpPr>
          <p:cNvPr id="35" name="Text 33"/>
          <p:cNvSpPr/>
          <p:nvPr/>
        </p:nvSpPr>
        <p:spPr>
          <a:xfrm>
            <a:off x="731520" y="5870448"/>
            <a:ext cx="10728655" cy="56692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Course policy: any generative-AI-assisted output must be disclosed and independently, manually verified against the formulas in Block 1 before it is used or submitted.</a:t>
            </a:r>
            <a:endParaRPr lang="en-US" sz="1100" dirty="0"/>
          </a:p>
        </p:txBody>
      </p:sp>
      <p:sp>
        <p:nvSpPr>
          <p:cNvPr id="36" name="Text 34"/>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37" name="Text 35"/>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64 / 80</a:t>
            </a:r>
            <a:endParaRPr lang="en-US" sz="8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HANDS-ON · SPOT THE BUG</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In-Class Discussion: Where Do the Bugs Break the Table?</a:t>
            </a:r>
            <a:endParaRPr lang="en-US" sz="2700" dirty="0"/>
          </a:p>
        </p:txBody>
      </p:sp>
      <p:sp>
        <p:nvSpPr>
          <p:cNvPr id="4" name="Shape 2"/>
          <p:cNvSpPr/>
          <p:nvPr/>
        </p:nvSpPr>
        <p:spPr>
          <a:xfrm>
            <a:off x="457200" y="1508760"/>
            <a:ext cx="11277295" cy="2331720"/>
          </a:xfrm>
          <a:prstGeom prst="roundRect">
            <a:avLst>
              <a:gd name="adj" fmla="val 2745"/>
            </a:avLst>
          </a:prstGeom>
          <a:solidFill>
            <a:srgbClr val="07213A"/>
          </a:solidFill>
          <a:ln w="9525">
            <a:solidFill>
              <a:srgbClr val="D3E0E9"/>
            </a:solidFill>
            <a:prstDash val="solid"/>
          </a:ln>
        </p:spPr>
        <p:txBody>
          <a:bodyPr/>
          <a:lstStyle/>
          <a:p>
            <a:endParaRPr/>
          </a:p>
        </p:txBody>
      </p:sp>
      <p:sp>
        <p:nvSpPr>
          <p:cNvPr id="5" name="Text 3"/>
          <p:cNvSpPr/>
          <p:nvPr/>
        </p:nvSpPr>
        <p:spPr>
          <a:xfrm>
            <a:off x="731520" y="1691640"/>
            <a:ext cx="10728655" cy="2011680"/>
          </a:xfrm>
          <a:prstGeom prst="rect">
            <a:avLst/>
          </a:prstGeom>
          <a:noFill/>
          <a:ln/>
        </p:spPr>
        <p:txBody>
          <a:bodyPr wrap="square" lIns="0" tIns="0" rIns="0" bIns="0" rtlCol="0" anchor="t"/>
          <a:lstStyle/>
          <a:p>
            <a:pPr marL="0" indent="0">
              <a:lnSpc>
                <a:spcPct val="125000"/>
              </a:lnSpc>
              <a:buNone/>
            </a:pPr>
            <a:r>
              <a:rPr lang="en-US" sz="1250" dirty="0">
                <a:solidFill>
                  <a:srgbClr val="D8E6EE"/>
                </a:solidFill>
                <a:latin typeface="Courier New" pitchFamily="34" charset="0"/>
                <a:ea typeface="Courier New" pitchFamily="34" charset="-122"/>
                <a:cs typeface="Courier New" pitchFamily="34" charset="-120"/>
              </a:rPr>
              <a:t>df['nax'] = df['n'] / 2                 # BUG 1: overwrites the a0=0.3, a1-4=1.5 rule</a:t>
            </a:r>
            <a:endParaRPr lang="en-US" sz="1250" dirty="0"/>
          </a:p>
          <a:p>
            <a:pPr marL="0" indent="0">
              <a:lnSpc>
                <a:spcPct val="125000"/>
              </a:lnSpc>
              <a:buNone/>
            </a:pPr>
            <a:r>
              <a:rPr lang="en-US" sz="1250" dirty="0">
                <a:solidFill>
                  <a:srgbClr val="D8E6EE"/>
                </a:solidFill>
                <a:latin typeface="Courier New" pitchFamily="34" charset="0"/>
                <a:ea typeface="Courier New" pitchFamily="34" charset="-122"/>
                <a:cs typeface="Courier New" pitchFamily="34" charset="-120"/>
              </a:rPr>
              <a:t>df['nLx'] = df.n*df.lx.shift(-1) + df.nax*df.ndx</a:t>
            </a:r>
            <a:endParaRPr lang="en-US" sz="1250" dirty="0"/>
          </a:p>
          <a:p>
            <a:pPr marL="0" indent="0">
              <a:lnSpc>
                <a:spcPct val="125000"/>
              </a:lnSpc>
              <a:buNone/>
            </a:pPr>
            <a:r>
              <a:rPr lang="en-US" sz="1250" dirty="0">
                <a:solidFill>
                  <a:srgbClr val="D8E6EE"/>
                </a:solidFill>
                <a:latin typeface="Courier New" pitchFamily="34" charset="0"/>
                <a:ea typeface="Courier New" pitchFamily="34" charset="-122"/>
                <a:cs typeface="Courier New" pitchFamily="34" charset="-120"/>
              </a:rPr>
              <a:t>                                          # BUG 2: .shift(-1) on the LAST row is NaN -</a:t>
            </a:r>
            <a:endParaRPr lang="en-US" sz="1250" dirty="0"/>
          </a:p>
          <a:p>
            <a:pPr marL="0" indent="0">
              <a:lnSpc>
                <a:spcPct val="125000"/>
              </a:lnSpc>
              <a:buNone/>
            </a:pPr>
            <a:r>
              <a:rPr lang="en-US" sz="1250" dirty="0">
                <a:solidFill>
                  <a:srgbClr val="D8E6EE"/>
                </a:solidFill>
                <a:latin typeface="Courier New" pitchFamily="34" charset="0"/>
                <a:ea typeface="Courier New" pitchFamily="34" charset="-122"/>
                <a:cs typeface="Courier New" pitchFamily="34" charset="-120"/>
              </a:rPr>
              <a:t>                                          #  open-interval nLx silently becomes NaN,</a:t>
            </a:r>
            <a:endParaRPr lang="en-US" sz="1250" dirty="0"/>
          </a:p>
          <a:p>
            <a:pPr marL="0" indent="0">
              <a:lnSpc>
                <a:spcPct val="125000"/>
              </a:lnSpc>
              <a:buNone/>
            </a:pPr>
            <a:r>
              <a:rPr lang="en-US" sz="1250" dirty="0">
                <a:solidFill>
                  <a:srgbClr val="D8E6EE"/>
                </a:solidFill>
                <a:latin typeface="Courier New" pitchFamily="34" charset="0"/>
                <a:ea typeface="Courier New" pitchFamily="34" charset="-122"/>
                <a:cs typeface="Courier New" pitchFamily="34" charset="-120"/>
              </a:rPr>
              <a:t>                                          #  corrupting every Tx and ex above it too.</a:t>
            </a:r>
            <a:endParaRPr lang="en-US" sz="1250" dirty="0"/>
          </a:p>
        </p:txBody>
      </p:sp>
      <p:sp>
        <p:nvSpPr>
          <p:cNvPr id="6" name="Shape 4"/>
          <p:cNvSpPr/>
          <p:nvPr/>
        </p:nvSpPr>
        <p:spPr>
          <a:xfrm>
            <a:off x="457200" y="4023360"/>
            <a:ext cx="11277295" cy="1920240"/>
          </a:xfrm>
          <a:prstGeom prst="roundRect">
            <a:avLst>
              <a:gd name="adj" fmla="val 3333"/>
            </a:avLst>
          </a:prstGeom>
          <a:solidFill>
            <a:srgbClr val="EEF3F8"/>
          </a:solidFill>
          <a:ln w="9525">
            <a:solidFill>
              <a:srgbClr val="D3E0E9"/>
            </a:solidFill>
            <a:prstDash val="solid"/>
          </a:ln>
        </p:spPr>
        <p:txBody>
          <a:bodyPr/>
          <a:lstStyle/>
          <a:p>
            <a:endParaRPr/>
          </a:p>
        </p:txBody>
      </p:sp>
      <p:sp>
        <p:nvSpPr>
          <p:cNvPr id="7" name="Text 5"/>
          <p:cNvSpPr/>
          <p:nvPr/>
        </p:nvSpPr>
        <p:spPr>
          <a:xfrm>
            <a:off x="777240" y="4251960"/>
            <a:ext cx="10637215" cy="1554480"/>
          </a:xfrm>
          <a:prstGeom prst="rect">
            <a:avLst/>
          </a:prstGeom>
          <a:noFill/>
          <a:ln/>
        </p:spPr>
        <p:txBody>
          <a:bodyPr wrap="square" lIns="0" tIns="0" rIns="0" bIns="0" rtlCol="0" anchor="t"/>
          <a:lstStyle/>
          <a:p>
            <a:pPr marL="0" indent="0">
              <a:lnSpc>
                <a:spcPct val="130000"/>
              </a:lnSpc>
              <a:buNone/>
            </a:pPr>
            <a:r>
              <a:rPr lang="en-US" sz="1400" b="1" dirty="0">
                <a:solidFill>
                  <a:srgbClr val="0B3D62"/>
                </a:solidFill>
                <a:latin typeface="Calibri" pitchFamily="34" charset="0"/>
                <a:ea typeface="Calibri" pitchFamily="34" charset="-122"/>
                <a:cs typeface="Calibri" pitchFamily="34" charset="-120"/>
              </a:rPr>
              <a:t>Discussion prompt:
</a:t>
            </a:r>
            <a:r>
              <a:rPr lang="en-US" sz="1300" dirty="0">
                <a:solidFill>
                  <a:srgbClr val="000000"/>
                </a:solidFill>
                <a:latin typeface="Calibri" pitchFamily="34" charset="0"/>
                <a:ea typeface="Calibri" pitchFamily="34" charset="-122"/>
                <a:cs typeface="Calibri" pitchFamily="34" charset="-120"/>
              </a:rPr>
              <a:t>(1) Which two life-table sanity checks from the previous slide would have caught these bugs immediately?</a:t>
            </a:r>
            <a:endParaRPr lang="en-US" sz="1400" dirty="0"/>
          </a:p>
          <a:p>
            <a:pPr marL="0" indent="0">
              <a:lnSpc>
                <a:spcPct val="130000"/>
              </a:lnSpc>
              <a:buNone/>
            </a:pPr>
            <a:r>
              <a:rPr lang="en-US" sz="1300" dirty="0">
                <a:solidFill>
                  <a:srgbClr val="000000"/>
                </a:solidFill>
                <a:latin typeface="Calibri" pitchFamily="34" charset="0"/>
                <a:ea typeface="Calibri" pitchFamily="34" charset="-122"/>
                <a:cs typeface="Calibri" pitchFamily="34" charset="-120"/>
              </a:rPr>
              <a:t>(2) Rewrite both lines correctly, referencing the formulas from Slides 21 and 22.</a:t>
            </a:r>
            <a:endParaRPr lang="en-US" sz="1400" dirty="0"/>
          </a:p>
        </p:txBody>
      </p:sp>
      <p:sp>
        <p:nvSpPr>
          <p:cNvPr id="8" name="Text 6"/>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9" name="Text 7"/>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65 / 80</a:t>
            </a:r>
            <a:endParaRPr lang="en-US" sz="8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WORKED / REAL-WORLD EXAMPLE</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How Common Is AI-Assisted Coding in Research Right Now?</a:t>
            </a:r>
            <a:endParaRPr lang="en-US" sz="2700" dirty="0"/>
          </a:p>
        </p:txBody>
      </p:sp>
      <p:sp>
        <p:nvSpPr>
          <p:cNvPr id="4" name="Shape 2"/>
          <p:cNvSpPr/>
          <p:nvPr/>
        </p:nvSpPr>
        <p:spPr>
          <a:xfrm>
            <a:off x="457200" y="1508760"/>
            <a:ext cx="3588410" cy="2606040"/>
          </a:xfrm>
          <a:prstGeom prst="roundRect">
            <a:avLst>
              <a:gd name="adj" fmla="val 2456"/>
            </a:avLst>
          </a:prstGeom>
          <a:solidFill>
            <a:srgbClr val="EEF3F8"/>
          </a:solidFill>
          <a:ln w="9525">
            <a:solidFill>
              <a:srgbClr val="D3E0E9"/>
            </a:solidFill>
            <a:prstDash val="solid"/>
          </a:ln>
        </p:spPr>
        <p:txBody>
          <a:bodyPr/>
          <a:lstStyle/>
          <a:p>
            <a:endParaRPr/>
          </a:p>
        </p:txBody>
      </p:sp>
      <p:sp>
        <p:nvSpPr>
          <p:cNvPr id="5" name="Text 3"/>
          <p:cNvSpPr/>
          <p:nvPr/>
        </p:nvSpPr>
        <p:spPr>
          <a:xfrm>
            <a:off x="694944" y="1819656"/>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This is now mainstream research practice</a:t>
            </a:r>
            <a:endParaRPr lang="en-US" sz="1450" dirty="0"/>
          </a:p>
        </p:txBody>
      </p:sp>
      <p:sp>
        <p:nvSpPr>
          <p:cNvPr id="6" name="Text 4"/>
          <p:cNvSpPr/>
          <p:nvPr/>
        </p:nvSpPr>
        <p:spPr>
          <a:xfrm>
            <a:off x="694944" y="2350008"/>
            <a:ext cx="3112922" cy="1581912"/>
          </a:xfrm>
          <a:prstGeom prst="rect">
            <a:avLst/>
          </a:prstGeom>
          <a:noFill/>
          <a:ln/>
        </p:spPr>
        <p:txBody>
          <a:bodyPr wrap="square" lIns="0" tIns="0" rIns="0" bIns="0" rtlCol="0" anchor="t"/>
          <a:lstStyle/>
          <a:p>
            <a:pPr marL="0" indent="0" algn="l">
              <a:lnSpc>
                <a:spcPct val="112000"/>
              </a:lnSpc>
              <a:buNone/>
            </a:pPr>
            <a:r>
              <a:rPr lang="en-US" sz="1120" dirty="0">
                <a:solidFill>
                  <a:srgbClr val="142433"/>
                </a:solidFill>
                <a:latin typeface="Calibri" pitchFamily="34" charset="0"/>
                <a:ea typeface="Calibri" pitchFamily="34" charset="-122"/>
                <a:cs typeface="Calibri" pitchFamily="34" charset="-120"/>
              </a:rPr>
              <a:t>A 2024 Stack Overflow developer/researcher pulse survey found academic researchers were the professional group MOST likely to use AI code assistants, at 87%.</a:t>
            </a:r>
            <a:endParaRPr lang="en-US" sz="1120" dirty="0"/>
          </a:p>
        </p:txBody>
      </p:sp>
      <p:sp>
        <p:nvSpPr>
          <p:cNvPr id="7" name="Shape 5"/>
          <p:cNvSpPr/>
          <p:nvPr/>
        </p:nvSpPr>
        <p:spPr>
          <a:xfrm>
            <a:off x="4301642" y="1508760"/>
            <a:ext cx="3588410" cy="2606040"/>
          </a:xfrm>
          <a:prstGeom prst="roundRect">
            <a:avLst>
              <a:gd name="adj" fmla="val 2456"/>
            </a:avLst>
          </a:prstGeom>
          <a:solidFill>
            <a:srgbClr val="EEF3F8"/>
          </a:solidFill>
          <a:ln w="9525">
            <a:solidFill>
              <a:srgbClr val="D3E0E9"/>
            </a:solidFill>
            <a:prstDash val="solid"/>
          </a:ln>
        </p:spPr>
        <p:txBody>
          <a:bodyPr/>
          <a:lstStyle/>
          <a:p>
            <a:endParaRPr/>
          </a:p>
        </p:txBody>
      </p:sp>
      <p:sp>
        <p:nvSpPr>
          <p:cNvPr id="8" name="Text 6"/>
          <p:cNvSpPr/>
          <p:nvPr/>
        </p:nvSpPr>
        <p:spPr>
          <a:xfrm>
            <a:off x="4539386" y="1819656"/>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Chatbot use among scientists is similarly high</a:t>
            </a:r>
            <a:endParaRPr lang="en-US" sz="1450" dirty="0"/>
          </a:p>
        </p:txBody>
      </p:sp>
      <p:sp>
        <p:nvSpPr>
          <p:cNvPr id="9" name="Text 7"/>
          <p:cNvSpPr/>
          <p:nvPr/>
        </p:nvSpPr>
        <p:spPr>
          <a:xfrm>
            <a:off x="4539386" y="2350008"/>
            <a:ext cx="3112922" cy="1581912"/>
          </a:xfrm>
          <a:prstGeom prst="rect">
            <a:avLst/>
          </a:prstGeom>
          <a:noFill/>
          <a:ln/>
        </p:spPr>
        <p:txBody>
          <a:bodyPr wrap="square" lIns="0" tIns="0" rIns="0" bIns="0" rtlCol="0" anchor="t"/>
          <a:lstStyle/>
          <a:p>
            <a:pPr marL="0" indent="0" algn="l">
              <a:lnSpc>
                <a:spcPct val="112000"/>
              </a:lnSpc>
              <a:buNone/>
            </a:pPr>
            <a:r>
              <a:rPr lang="en-US" sz="1120" dirty="0">
                <a:solidFill>
                  <a:srgbClr val="142433"/>
                </a:solidFill>
                <a:latin typeface="Calibri" pitchFamily="34" charset="0"/>
                <a:ea typeface="Calibri" pitchFamily="34" charset="-122"/>
                <a:cs typeface="Calibri" pitchFamily="34" charset="-120"/>
              </a:rPr>
              <a:t>An informal 2023 Nature reader survey found roughly 80% of respondents had used AI chatbots for work tasks, including writing and debugging code.</a:t>
            </a:r>
            <a:endParaRPr lang="en-US" sz="1120" dirty="0"/>
          </a:p>
        </p:txBody>
      </p:sp>
      <p:sp>
        <p:nvSpPr>
          <p:cNvPr id="10" name="Shape 8"/>
          <p:cNvSpPr/>
          <p:nvPr/>
        </p:nvSpPr>
        <p:spPr>
          <a:xfrm>
            <a:off x="8146085" y="1508760"/>
            <a:ext cx="3588410" cy="2606040"/>
          </a:xfrm>
          <a:prstGeom prst="roundRect">
            <a:avLst>
              <a:gd name="adj" fmla="val 2456"/>
            </a:avLst>
          </a:prstGeom>
          <a:solidFill>
            <a:srgbClr val="EEF3F8"/>
          </a:solidFill>
          <a:ln w="9525">
            <a:solidFill>
              <a:srgbClr val="D3E0E9"/>
            </a:solidFill>
            <a:prstDash val="solid"/>
          </a:ln>
        </p:spPr>
        <p:txBody>
          <a:bodyPr/>
          <a:lstStyle/>
          <a:p>
            <a:endParaRPr/>
          </a:p>
        </p:txBody>
      </p:sp>
      <p:sp>
        <p:nvSpPr>
          <p:cNvPr id="11" name="Text 9"/>
          <p:cNvSpPr/>
          <p:nvPr/>
        </p:nvSpPr>
        <p:spPr>
          <a:xfrm>
            <a:off x="8383829" y="1819656"/>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Why this session treats disclosure as mandatory</a:t>
            </a:r>
            <a:endParaRPr lang="en-US" sz="1450" dirty="0"/>
          </a:p>
        </p:txBody>
      </p:sp>
      <p:sp>
        <p:nvSpPr>
          <p:cNvPr id="12" name="Text 10"/>
          <p:cNvSpPr/>
          <p:nvPr/>
        </p:nvSpPr>
        <p:spPr>
          <a:xfrm>
            <a:off x="8383829" y="2350008"/>
            <a:ext cx="3112922" cy="1581912"/>
          </a:xfrm>
          <a:prstGeom prst="rect">
            <a:avLst/>
          </a:prstGeom>
          <a:noFill/>
          <a:ln/>
        </p:spPr>
        <p:txBody>
          <a:bodyPr wrap="square" lIns="0" tIns="0" rIns="0" bIns="0" rtlCol="0" anchor="t"/>
          <a:lstStyle/>
          <a:p>
            <a:pPr marL="0" indent="0" algn="l">
              <a:lnSpc>
                <a:spcPct val="112000"/>
              </a:lnSpc>
              <a:buNone/>
            </a:pPr>
            <a:r>
              <a:rPr lang="en-US" sz="1120" dirty="0">
                <a:solidFill>
                  <a:srgbClr val="142433"/>
                </a:solidFill>
                <a:latin typeface="Calibri" pitchFamily="34" charset="0"/>
                <a:ea typeface="Calibri" pitchFamily="34" charset="-122"/>
                <a:cs typeface="Calibri" pitchFamily="34" charset="-120"/>
              </a:rPr>
              <a:t>Given how common AI-assisted coding already is, the professional skill that matters is not whether you use it, but whether you can verify it — exactly the checklist from Slide 64.</a:t>
            </a:r>
            <a:endParaRPr lang="en-US" sz="1120" dirty="0"/>
          </a:p>
        </p:txBody>
      </p:sp>
      <p:sp>
        <p:nvSpPr>
          <p:cNvPr id="13" name="Text 11"/>
          <p:cNvSpPr/>
          <p:nvPr/>
        </p:nvSpPr>
        <p:spPr>
          <a:xfrm>
            <a:off x="457200" y="4434840"/>
            <a:ext cx="11277295" cy="822960"/>
          </a:xfrm>
          <a:prstGeom prst="rect">
            <a:avLst/>
          </a:prstGeom>
          <a:noFill/>
          <a:ln/>
        </p:spPr>
        <p:txBody>
          <a:bodyPr wrap="square" lIns="0" tIns="0" rIns="0" bIns="0" rtlCol="0" anchor="ctr"/>
          <a:lstStyle/>
          <a:p>
            <a:pPr marL="0" indent="0" algn="ctr">
              <a:buNone/>
            </a:pPr>
            <a:r>
              <a:rPr lang="en-US" sz="4400" b="1" dirty="0">
                <a:solidFill>
                  <a:srgbClr val="E8A33D"/>
                </a:solidFill>
                <a:latin typeface="Cambria" pitchFamily="34" charset="0"/>
                <a:ea typeface="Cambria" pitchFamily="34" charset="-122"/>
                <a:cs typeface="Cambria" pitchFamily="34" charset="-120"/>
              </a:rPr>
              <a:t>87%</a:t>
            </a:r>
            <a:endParaRPr lang="en-US" sz="4400" dirty="0"/>
          </a:p>
        </p:txBody>
      </p:sp>
      <p:sp>
        <p:nvSpPr>
          <p:cNvPr id="14" name="Text 12"/>
          <p:cNvSpPr/>
          <p:nvPr/>
        </p:nvSpPr>
        <p:spPr>
          <a:xfrm>
            <a:off x="457200" y="5212080"/>
            <a:ext cx="11277295" cy="548640"/>
          </a:xfrm>
          <a:prstGeom prst="rect">
            <a:avLst/>
          </a:prstGeom>
          <a:noFill/>
          <a:ln/>
        </p:spPr>
        <p:txBody>
          <a:bodyPr wrap="square" lIns="0" tIns="0" rIns="0" bIns="0" rtlCol="0" anchor="t"/>
          <a:lstStyle/>
          <a:p>
            <a:pPr marL="0" indent="0" algn="ctr">
              <a:buNone/>
            </a:pPr>
            <a:r>
              <a:rPr lang="en-US" sz="1100" dirty="0">
                <a:solidFill>
                  <a:srgbClr val="142433"/>
                </a:solidFill>
                <a:latin typeface="Calibri" pitchFamily="34" charset="0"/>
                <a:ea typeface="Calibri" pitchFamily="34" charset="-122"/>
                <a:cs typeface="Calibri" pitchFamily="34" charset="-120"/>
              </a:rPr>
              <a:t>Of academic researchers surveyed report using an AI code assistant (Stack Overflow, 2024)</a:t>
            </a:r>
            <a:endParaRPr lang="en-US" sz="1100" dirty="0"/>
          </a:p>
        </p:txBody>
      </p:sp>
      <p:sp>
        <p:nvSpPr>
          <p:cNvPr id="15" name="Text 13"/>
          <p:cNvSpPr/>
          <p:nvPr/>
        </p:nvSpPr>
        <p:spPr>
          <a:xfrm>
            <a:off x="457200" y="6172200"/>
            <a:ext cx="11277295" cy="420624"/>
          </a:xfrm>
          <a:prstGeom prst="rect">
            <a:avLst/>
          </a:prstGeom>
          <a:noFill/>
          <a:ln/>
        </p:spPr>
        <p:txBody>
          <a:bodyPr wrap="square" lIns="0" tIns="0" rIns="0" bIns="0" rtlCol="0" anchor="t"/>
          <a:lstStyle/>
          <a:p>
            <a:pPr marL="0" indent="0" algn="l">
              <a:buNone/>
            </a:pPr>
            <a:r>
              <a:rPr lang="en-US" sz="800" i="1" dirty="0">
                <a:solidFill>
                  <a:srgbClr val="5B6B79"/>
                </a:solidFill>
                <a:latin typeface="Calibri" pitchFamily="34" charset="0"/>
                <a:ea typeface="Calibri" pitchFamily="34" charset="-122"/>
                <a:cs typeface="Calibri" pitchFamily="34" charset="-120"/>
              </a:rPr>
              <a:t>Sources: Stack Overflow. (2024). Developers get by with a little help from AI. https://stackoverflow.blog/2024/05/29/developers-get-by-with-a-little-help-from-ai-stack-overflow-knows-code-assistant-pulse-survey-results/ ; Nature. (2023). How Nature readers are using ChatGPT. https://www.nature.com/articles/d41586-023-00500-8</a:t>
            </a:r>
            <a:endParaRPr lang="en-US" sz="800" dirty="0"/>
          </a:p>
        </p:txBody>
      </p:sp>
      <p:sp>
        <p:nvSpPr>
          <p:cNvPr id="16" name="Text 14"/>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17" name="Text 15"/>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66 / 80</a:t>
            </a:r>
            <a:endParaRPr lang="en-US" sz="8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400" b="1" kern="0" spc="200" dirty="0">
                <a:solidFill>
                  <a:srgbClr val="1C7293"/>
                </a:solidFill>
                <a:latin typeface="Calibri" pitchFamily="34" charset="0"/>
                <a:ea typeface="Calibri" pitchFamily="34" charset="-122"/>
                <a:cs typeface="Calibri" pitchFamily="34" charset="-120"/>
              </a:rPr>
              <a:t>VERIFICATION IN ACTION</a:t>
            </a:r>
            <a:endParaRPr lang="en-US" sz="14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3200" b="1" dirty="0">
                <a:solidFill>
                  <a:srgbClr val="0B3D62"/>
                </a:solidFill>
                <a:latin typeface="Cambria" pitchFamily="34" charset="0"/>
                <a:ea typeface="Cambria" pitchFamily="34" charset="-122"/>
                <a:cs typeface="Cambria" pitchFamily="34" charset="-120"/>
              </a:rPr>
              <a:t>The Corrected Code: Fixing Both Seeded Bugs</a:t>
            </a:r>
            <a:endParaRPr lang="en-US" sz="3200" dirty="0"/>
          </a:p>
        </p:txBody>
      </p:sp>
      <p:sp>
        <p:nvSpPr>
          <p:cNvPr id="4" name="Shape 2"/>
          <p:cNvSpPr/>
          <p:nvPr/>
        </p:nvSpPr>
        <p:spPr>
          <a:xfrm>
            <a:off x="457200" y="1481328"/>
            <a:ext cx="11277295" cy="777240"/>
          </a:xfrm>
          <a:prstGeom prst="roundRect">
            <a:avLst>
              <a:gd name="adj" fmla="val 8235"/>
            </a:avLst>
          </a:prstGeom>
          <a:solidFill>
            <a:srgbClr val="07213A"/>
          </a:solidFill>
          <a:ln/>
        </p:spPr>
        <p:txBody>
          <a:bodyPr/>
          <a:lstStyle/>
          <a:p>
            <a:endParaRPr/>
          </a:p>
        </p:txBody>
      </p:sp>
      <p:sp>
        <p:nvSpPr>
          <p:cNvPr id="5" name="Text 3"/>
          <p:cNvSpPr/>
          <p:nvPr/>
        </p:nvSpPr>
        <p:spPr>
          <a:xfrm>
            <a:off x="685800" y="1481328"/>
            <a:ext cx="10820095"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Courier New" pitchFamily="34" charset="0"/>
                <a:ea typeface="Courier New" pitchFamily="34" charset="-122"/>
                <a:cs typeface="Courier New" pitchFamily="34" charset="-120"/>
              </a:rPr>
              <a:t>df.loc[0,'nax']=0.3; df.loc[1,'nax']=1.5   |   nLx(open) = lw / Mw, not n·lx+n + nax·ndx</a:t>
            </a:r>
            <a:endParaRPr lang="en-US" sz="2000" dirty="0"/>
          </a:p>
        </p:txBody>
      </p:sp>
      <p:sp>
        <p:nvSpPr>
          <p:cNvPr id="6" name="Shape 4"/>
          <p:cNvSpPr/>
          <p:nvPr/>
        </p:nvSpPr>
        <p:spPr>
          <a:xfrm>
            <a:off x="457200" y="2487168"/>
            <a:ext cx="3588410" cy="3337560"/>
          </a:xfrm>
          <a:prstGeom prst="roundRect">
            <a:avLst>
              <a:gd name="adj" fmla="val 1918"/>
            </a:avLst>
          </a:prstGeom>
          <a:solidFill>
            <a:srgbClr val="EEF3F8"/>
          </a:solidFill>
          <a:ln w="9525">
            <a:solidFill>
              <a:srgbClr val="D3E0E9"/>
            </a:solidFill>
            <a:prstDash val="solid"/>
          </a:ln>
        </p:spPr>
        <p:txBody>
          <a:bodyPr/>
          <a:lstStyle/>
          <a:p>
            <a:endParaRPr/>
          </a:p>
        </p:txBody>
      </p:sp>
      <p:sp>
        <p:nvSpPr>
          <p:cNvPr id="7" name="Text 5"/>
          <p:cNvSpPr/>
          <p:nvPr/>
        </p:nvSpPr>
        <p:spPr>
          <a:xfrm>
            <a:off x="694944"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Fix 1 — restore nax by age</a:t>
            </a:r>
            <a:endParaRPr lang="en-US" dirty="0"/>
          </a:p>
        </p:txBody>
      </p:sp>
      <p:sp>
        <p:nvSpPr>
          <p:cNvPr id="8" name="Text 6"/>
          <p:cNvSpPr/>
          <p:nvPr/>
        </p:nvSpPr>
        <p:spPr>
          <a:xfrm>
            <a:off x="694944"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Overwrite the AI's blanket n/2 default with a0 ≈ 0.3 and a(1–4) ≈ 1.5 immediately after computing nax, exactly as flagged in the verification checklist (Slide 64, item 1).</a:t>
            </a:r>
            <a:endParaRPr lang="en-US" sz="1400" dirty="0"/>
          </a:p>
        </p:txBody>
      </p:sp>
      <p:sp>
        <p:nvSpPr>
          <p:cNvPr id="9" name="Shape 7"/>
          <p:cNvSpPr/>
          <p:nvPr/>
        </p:nvSpPr>
        <p:spPr>
          <a:xfrm>
            <a:off x="4301642" y="2487168"/>
            <a:ext cx="3588410" cy="3337560"/>
          </a:xfrm>
          <a:prstGeom prst="roundRect">
            <a:avLst>
              <a:gd name="adj" fmla="val 1918"/>
            </a:avLst>
          </a:prstGeom>
          <a:solidFill>
            <a:srgbClr val="EEF3F8"/>
          </a:solidFill>
          <a:ln w="9525">
            <a:solidFill>
              <a:srgbClr val="D3E0E9"/>
            </a:solidFill>
            <a:prstDash val="solid"/>
          </a:ln>
        </p:spPr>
        <p:txBody>
          <a:bodyPr/>
          <a:lstStyle/>
          <a:p>
            <a:endParaRPr/>
          </a:p>
        </p:txBody>
      </p:sp>
      <p:sp>
        <p:nvSpPr>
          <p:cNvPr id="10" name="Text 8"/>
          <p:cNvSpPr/>
          <p:nvPr/>
        </p:nvSpPr>
        <p:spPr>
          <a:xfrm>
            <a:off x="4539386"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Fix 2 — branch the open interval</a:t>
            </a:r>
            <a:endParaRPr lang="en-US" dirty="0"/>
          </a:p>
        </p:txBody>
      </p:sp>
      <p:sp>
        <p:nvSpPr>
          <p:cNvPr id="11" name="Text 9"/>
          <p:cNvSpPr/>
          <p:nvPr/>
        </p:nvSpPr>
        <p:spPr>
          <a:xfrm>
            <a:off x="4539386"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Compute nLx for every ordinary row with the general formula, then overwrite the LAST row with lw/Mw — never let .shift(-1) silently produce NaN there (checklist item 3).</a:t>
            </a:r>
            <a:endParaRPr lang="en-US" sz="1400" dirty="0"/>
          </a:p>
        </p:txBody>
      </p:sp>
      <p:sp>
        <p:nvSpPr>
          <p:cNvPr id="12" name="Shape 10"/>
          <p:cNvSpPr/>
          <p:nvPr/>
        </p:nvSpPr>
        <p:spPr>
          <a:xfrm>
            <a:off x="8146085" y="2487168"/>
            <a:ext cx="3588410" cy="3337560"/>
          </a:xfrm>
          <a:prstGeom prst="roundRect">
            <a:avLst>
              <a:gd name="adj" fmla="val 1918"/>
            </a:avLst>
          </a:prstGeom>
          <a:solidFill>
            <a:srgbClr val="EEF3F8"/>
          </a:solidFill>
          <a:ln w="9525">
            <a:solidFill>
              <a:srgbClr val="D3E0E9"/>
            </a:solidFill>
            <a:prstDash val="solid"/>
          </a:ln>
        </p:spPr>
        <p:txBody>
          <a:bodyPr/>
          <a:lstStyle/>
          <a:p>
            <a:endParaRPr/>
          </a:p>
        </p:txBody>
      </p:sp>
      <p:sp>
        <p:nvSpPr>
          <p:cNvPr id="13" name="Text 11"/>
          <p:cNvSpPr/>
          <p:nvPr/>
        </p:nvSpPr>
        <p:spPr>
          <a:xfrm>
            <a:off x="8383829" y="2798064"/>
            <a:ext cx="311292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The result now passes every sanity check</a:t>
            </a:r>
            <a:endParaRPr lang="en-US" dirty="0"/>
          </a:p>
        </p:txBody>
      </p:sp>
      <p:sp>
        <p:nvSpPr>
          <p:cNvPr id="14" name="Text 12"/>
          <p:cNvSpPr/>
          <p:nvPr/>
        </p:nvSpPr>
        <p:spPr>
          <a:xfrm>
            <a:off x="8383829" y="3328416"/>
            <a:ext cx="3112922" cy="23134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Σ ndx = radix, nqx ∈ [0,1], lx strictly non-increasing, and Tx strictly decreasing — the four checks from Slide 64 that the buggy version would have failed.</a:t>
            </a:r>
            <a:endParaRPr lang="en-US" sz="1400" dirty="0"/>
          </a:p>
        </p:txBody>
      </p:sp>
      <p:sp>
        <p:nvSpPr>
          <p:cNvPr id="15" name="Text 13"/>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5140602 Fundamental Demographic Analysis – Session 5</a:t>
            </a:r>
            <a:endParaRPr lang="en-US" sz="1000" dirty="0"/>
          </a:p>
        </p:txBody>
      </p:sp>
      <p:sp>
        <p:nvSpPr>
          <p:cNvPr id="16" name="Text 14"/>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67 / 80</a:t>
            </a:r>
            <a:endParaRPr lang="en-US" sz="1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IN-CLASS COMPUTATIONAL LAB</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Lab Task: Build, Verify, Compare</a:t>
            </a:r>
            <a:endParaRPr lang="en-US" sz="2700" dirty="0"/>
          </a:p>
        </p:txBody>
      </p:sp>
      <p:sp>
        <p:nvSpPr>
          <p:cNvPr id="4" name="Shape 2"/>
          <p:cNvSpPr/>
          <p:nvPr/>
        </p:nvSpPr>
        <p:spPr>
          <a:xfrm>
            <a:off x="457200" y="1600200"/>
            <a:ext cx="2613584" cy="4297680"/>
          </a:xfrm>
          <a:prstGeom prst="roundRect">
            <a:avLst>
              <a:gd name="adj" fmla="val 2449"/>
            </a:avLst>
          </a:prstGeom>
          <a:solidFill>
            <a:srgbClr val="EEF3F8"/>
          </a:solidFill>
          <a:ln w="9525">
            <a:solidFill>
              <a:srgbClr val="D3E0E9"/>
            </a:solidFill>
            <a:prstDash val="solid"/>
          </a:ln>
        </p:spPr>
        <p:txBody>
          <a:bodyPr/>
          <a:lstStyle/>
          <a:p>
            <a:endParaRPr/>
          </a:p>
        </p:txBody>
      </p:sp>
      <p:sp>
        <p:nvSpPr>
          <p:cNvPr id="5" name="Shape 3"/>
          <p:cNvSpPr/>
          <p:nvPr/>
        </p:nvSpPr>
        <p:spPr>
          <a:xfrm>
            <a:off x="1535392" y="1874520"/>
            <a:ext cx="457200" cy="457200"/>
          </a:xfrm>
          <a:prstGeom prst="ellipse">
            <a:avLst/>
          </a:prstGeom>
          <a:solidFill>
            <a:srgbClr val="0B3D62"/>
          </a:solidFill>
          <a:ln/>
        </p:spPr>
        <p:txBody>
          <a:bodyPr/>
          <a:lstStyle/>
          <a:p>
            <a:endParaRPr/>
          </a:p>
        </p:txBody>
      </p:sp>
      <p:sp>
        <p:nvSpPr>
          <p:cNvPr id="6" name="Text 4"/>
          <p:cNvSpPr/>
          <p:nvPr/>
        </p:nvSpPr>
        <p:spPr>
          <a:xfrm>
            <a:off x="1535392" y="18745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640080" y="2514600"/>
            <a:ext cx="2247824" cy="548640"/>
          </a:xfrm>
          <a:prstGeom prst="rect">
            <a:avLst/>
          </a:prstGeom>
          <a:noFill/>
          <a:ln/>
        </p:spPr>
        <p:txBody>
          <a:bodyPr wrap="square" lIns="0" tIns="0" rIns="0" bIns="0" rtlCol="0" anchor="ctr"/>
          <a:lstStyle/>
          <a:p>
            <a:pPr marL="0" indent="0" algn="ctr">
              <a:buNone/>
            </a:pPr>
            <a:r>
              <a:rPr lang="en-US" sz="1350" b="1" dirty="0">
                <a:solidFill>
                  <a:srgbClr val="0B3D62"/>
                </a:solidFill>
                <a:latin typeface="Calibri" pitchFamily="34" charset="0"/>
                <a:ea typeface="Calibri" pitchFamily="34" charset="-122"/>
                <a:cs typeface="Calibri" pitchFamily="34" charset="-120"/>
              </a:rPr>
              <a:t>Step 1 — Build</a:t>
            </a:r>
            <a:endParaRPr lang="en-US" sz="1350" dirty="0"/>
          </a:p>
        </p:txBody>
      </p:sp>
      <p:sp>
        <p:nvSpPr>
          <p:cNvPr id="8" name="Text 6"/>
          <p:cNvSpPr/>
          <p:nvPr/>
        </p:nvSpPr>
        <p:spPr>
          <a:xfrm>
            <a:off x="685800" y="3108960"/>
            <a:ext cx="2156384" cy="2606040"/>
          </a:xfrm>
          <a:prstGeom prst="rect">
            <a:avLst/>
          </a:prstGeom>
          <a:noFill/>
          <a:ln/>
        </p:spPr>
        <p:txBody>
          <a:bodyPr wrap="square" lIns="0" tIns="0" rIns="0" bIns="0" rtlCol="0" anchor="t"/>
          <a:lstStyle/>
          <a:p>
            <a:pPr marL="0" indent="0" algn="l">
              <a:lnSpc>
                <a:spcPct val="115000"/>
              </a:lnSpc>
              <a:buNone/>
            </a:pPr>
            <a:r>
              <a:rPr lang="en-US" sz="1100" dirty="0">
                <a:solidFill>
                  <a:srgbClr val="142433"/>
                </a:solidFill>
                <a:latin typeface="Calibri" pitchFamily="34" charset="0"/>
                <a:ea typeface="Calibri" pitchFamily="34" charset="-122"/>
                <a:cs typeface="Calibri" pitchFamily="34" charset="-120"/>
              </a:rPr>
              <a:t>In pairs, build the Slide 46 (or 53) life table in a spreadsheet AND ask an AI assistant to generate the equivalent Python/pandas code.</a:t>
            </a:r>
            <a:endParaRPr lang="en-US" sz="1100" dirty="0"/>
          </a:p>
        </p:txBody>
      </p:sp>
      <p:sp>
        <p:nvSpPr>
          <p:cNvPr id="9" name="Shape 7"/>
          <p:cNvSpPr/>
          <p:nvPr/>
        </p:nvSpPr>
        <p:spPr>
          <a:xfrm>
            <a:off x="3345104" y="1600200"/>
            <a:ext cx="2613584" cy="4297680"/>
          </a:xfrm>
          <a:prstGeom prst="roundRect">
            <a:avLst>
              <a:gd name="adj" fmla="val 2449"/>
            </a:avLst>
          </a:prstGeom>
          <a:solidFill>
            <a:srgbClr val="E1EAF2"/>
          </a:solidFill>
          <a:ln w="9525">
            <a:solidFill>
              <a:srgbClr val="D3E0E9"/>
            </a:solidFill>
            <a:prstDash val="solid"/>
          </a:ln>
        </p:spPr>
        <p:txBody>
          <a:bodyPr/>
          <a:lstStyle/>
          <a:p>
            <a:endParaRPr/>
          </a:p>
        </p:txBody>
      </p:sp>
      <p:sp>
        <p:nvSpPr>
          <p:cNvPr id="10" name="Shape 8"/>
          <p:cNvSpPr/>
          <p:nvPr/>
        </p:nvSpPr>
        <p:spPr>
          <a:xfrm>
            <a:off x="4423296" y="1874520"/>
            <a:ext cx="457200" cy="457200"/>
          </a:xfrm>
          <a:prstGeom prst="ellipse">
            <a:avLst/>
          </a:prstGeom>
          <a:solidFill>
            <a:srgbClr val="0B3D62"/>
          </a:solidFill>
          <a:ln/>
        </p:spPr>
        <p:txBody>
          <a:bodyPr/>
          <a:lstStyle/>
          <a:p>
            <a:endParaRPr/>
          </a:p>
        </p:txBody>
      </p:sp>
      <p:sp>
        <p:nvSpPr>
          <p:cNvPr id="11" name="Text 9"/>
          <p:cNvSpPr/>
          <p:nvPr/>
        </p:nvSpPr>
        <p:spPr>
          <a:xfrm>
            <a:off x="4423296" y="18745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3527984" y="2514600"/>
            <a:ext cx="2247824" cy="548640"/>
          </a:xfrm>
          <a:prstGeom prst="rect">
            <a:avLst/>
          </a:prstGeom>
          <a:noFill/>
          <a:ln/>
        </p:spPr>
        <p:txBody>
          <a:bodyPr wrap="square" lIns="0" tIns="0" rIns="0" bIns="0" rtlCol="0" anchor="ctr"/>
          <a:lstStyle/>
          <a:p>
            <a:pPr marL="0" indent="0" algn="ctr">
              <a:buNone/>
            </a:pPr>
            <a:r>
              <a:rPr lang="en-US" sz="1350" b="1" dirty="0">
                <a:solidFill>
                  <a:srgbClr val="0B3D62"/>
                </a:solidFill>
                <a:latin typeface="Calibri" pitchFamily="34" charset="0"/>
                <a:ea typeface="Calibri" pitchFamily="34" charset="-122"/>
                <a:cs typeface="Calibri" pitchFamily="34" charset="-120"/>
              </a:rPr>
              <a:t>Step 2 — Compare</a:t>
            </a:r>
            <a:endParaRPr lang="en-US" sz="1350" dirty="0"/>
          </a:p>
        </p:txBody>
      </p:sp>
      <p:sp>
        <p:nvSpPr>
          <p:cNvPr id="13" name="Text 11"/>
          <p:cNvSpPr/>
          <p:nvPr/>
        </p:nvSpPr>
        <p:spPr>
          <a:xfrm>
            <a:off x="3573704" y="3108960"/>
            <a:ext cx="2156384" cy="2606040"/>
          </a:xfrm>
          <a:prstGeom prst="rect">
            <a:avLst/>
          </a:prstGeom>
          <a:noFill/>
          <a:ln/>
        </p:spPr>
        <p:txBody>
          <a:bodyPr wrap="square" lIns="0" tIns="0" rIns="0" bIns="0" rtlCol="0" anchor="t"/>
          <a:lstStyle/>
          <a:p>
            <a:pPr marL="0" indent="0" algn="l">
              <a:lnSpc>
                <a:spcPct val="115000"/>
              </a:lnSpc>
              <a:buNone/>
            </a:pPr>
            <a:r>
              <a:rPr lang="en-US" sz="1100" dirty="0">
                <a:solidFill>
                  <a:srgbClr val="142433"/>
                </a:solidFill>
                <a:latin typeface="Calibri" pitchFamily="34" charset="0"/>
                <a:ea typeface="Calibri" pitchFamily="34" charset="-122"/>
                <a:cs typeface="Calibri" pitchFamily="34" charset="-120"/>
              </a:rPr>
              <a:t>Do the spreadsheet and the AI-generated code produce the same e0? If not, use the verification checklist to locate the discrepancy.</a:t>
            </a:r>
            <a:endParaRPr lang="en-US" sz="1100" dirty="0"/>
          </a:p>
        </p:txBody>
      </p:sp>
      <p:sp>
        <p:nvSpPr>
          <p:cNvPr id="14" name="Shape 12"/>
          <p:cNvSpPr/>
          <p:nvPr/>
        </p:nvSpPr>
        <p:spPr>
          <a:xfrm>
            <a:off x="6233008" y="1600200"/>
            <a:ext cx="2613584" cy="4297680"/>
          </a:xfrm>
          <a:prstGeom prst="roundRect">
            <a:avLst>
              <a:gd name="adj" fmla="val 2449"/>
            </a:avLst>
          </a:prstGeom>
          <a:solidFill>
            <a:srgbClr val="EEF3F8"/>
          </a:solidFill>
          <a:ln w="9525">
            <a:solidFill>
              <a:srgbClr val="D3E0E9"/>
            </a:solidFill>
            <a:prstDash val="solid"/>
          </a:ln>
        </p:spPr>
        <p:txBody>
          <a:bodyPr/>
          <a:lstStyle/>
          <a:p>
            <a:endParaRPr/>
          </a:p>
        </p:txBody>
      </p:sp>
      <p:sp>
        <p:nvSpPr>
          <p:cNvPr id="15" name="Shape 13"/>
          <p:cNvSpPr/>
          <p:nvPr/>
        </p:nvSpPr>
        <p:spPr>
          <a:xfrm>
            <a:off x="7311200" y="1874520"/>
            <a:ext cx="457200" cy="457200"/>
          </a:xfrm>
          <a:prstGeom prst="ellipse">
            <a:avLst/>
          </a:prstGeom>
          <a:solidFill>
            <a:srgbClr val="0B3D62"/>
          </a:solidFill>
          <a:ln/>
        </p:spPr>
        <p:txBody>
          <a:bodyPr/>
          <a:lstStyle/>
          <a:p>
            <a:endParaRPr/>
          </a:p>
        </p:txBody>
      </p:sp>
      <p:sp>
        <p:nvSpPr>
          <p:cNvPr id="16" name="Text 14"/>
          <p:cNvSpPr/>
          <p:nvPr/>
        </p:nvSpPr>
        <p:spPr>
          <a:xfrm>
            <a:off x="7311200" y="18745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6415888" y="2514600"/>
            <a:ext cx="2247824" cy="548640"/>
          </a:xfrm>
          <a:prstGeom prst="rect">
            <a:avLst/>
          </a:prstGeom>
          <a:noFill/>
          <a:ln/>
        </p:spPr>
        <p:txBody>
          <a:bodyPr wrap="square" lIns="0" tIns="0" rIns="0" bIns="0" rtlCol="0" anchor="ctr"/>
          <a:lstStyle/>
          <a:p>
            <a:pPr marL="0" indent="0" algn="ctr">
              <a:buNone/>
            </a:pPr>
            <a:r>
              <a:rPr lang="en-US" sz="1350" b="1" dirty="0">
                <a:solidFill>
                  <a:srgbClr val="0B3D62"/>
                </a:solidFill>
                <a:latin typeface="Calibri" pitchFamily="34" charset="0"/>
                <a:ea typeface="Calibri" pitchFamily="34" charset="-122"/>
                <a:cs typeface="Calibri" pitchFamily="34" charset="-120"/>
              </a:rPr>
              <a:t>Step 3 — Disclose</a:t>
            </a:r>
            <a:endParaRPr lang="en-US" sz="1350" dirty="0"/>
          </a:p>
        </p:txBody>
      </p:sp>
      <p:sp>
        <p:nvSpPr>
          <p:cNvPr id="18" name="Text 16"/>
          <p:cNvSpPr/>
          <p:nvPr/>
        </p:nvSpPr>
        <p:spPr>
          <a:xfrm>
            <a:off x="6461608" y="3108960"/>
            <a:ext cx="2156384" cy="2606040"/>
          </a:xfrm>
          <a:prstGeom prst="rect">
            <a:avLst/>
          </a:prstGeom>
          <a:noFill/>
          <a:ln/>
        </p:spPr>
        <p:txBody>
          <a:bodyPr wrap="square" lIns="0" tIns="0" rIns="0" bIns="0" rtlCol="0" anchor="t"/>
          <a:lstStyle/>
          <a:p>
            <a:pPr marL="0" indent="0" algn="l">
              <a:lnSpc>
                <a:spcPct val="115000"/>
              </a:lnSpc>
              <a:buNone/>
            </a:pPr>
            <a:r>
              <a:rPr lang="en-US" sz="1100" dirty="0">
                <a:solidFill>
                  <a:srgbClr val="142433"/>
                </a:solidFill>
                <a:latin typeface="Calibri" pitchFamily="34" charset="0"/>
                <a:ea typeface="Calibri" pitchFamily="34" charset="-122"/>
                <a:cs typeface="Calibri" pitchFamily="34" charset="-120"/>
              </a:rPr>
              <a:t>Record which AI tool was used, the exact prompt given, and every correction you made to its output — this disclosure is a mandatory part of the submission.</a:t>
            </a:r>
            <a:endParaRPr lang="en-US" sz="1100" dirty="0"/>
          </a:p>
        </p:txBody>
      </p:sp>
      <p:sp>
        <p:nvSpPr>
          <p:cNvPr id="19" name="Shape 17"/>
          <p:cNvSpPr/>
          <p:nvPr/>
        </p:nvSpPr>
        <p:spPr>
          <a:xfrm>
            <a:off x="9120911" y="1600200"/>
            <a:ext cx="2613584" cy="4297680"/>
          </a:xfrm>
          <a:prstGeom prst="roundRect">
            <a:avLst>
              <a:gd name="adj" fmla="val 2449"/>
            </a:avLst>
          </a:prstGeom>
          <a:solidFill>
            <a:srgbClr val="E1EAF2"/>
          </a:solidFill>
          <a:ln w="9525">
            <a:solidFill>
              <a:srgbClr val="D3E0E9"/>
            </a:solidFill>
            <a:prstDash val="solid"/>
          </a:ln>
        </p:spPr>
        <p:txBody>
          <a:bodyPr/>
          <a:lstStyle/>
          <a:p>
            <a:endParaRPr/>
          </a:p>
        </p:txBody>
      </p:sp>
      <p:sp>
        <p:nvSpPr>
          <p:cNvPr id="20" name="Shape 18"/>
          <p:cNvSpPr/>
          <p:nvPr/>
        </p:nvSpPr>
        <p:spPr>
          <a:xfrm>
            <a:off x="10199103" y="1874520"/>
            <a:ext cx="457200" cy="457200"/>
          </a:xfrm>
          <a:prstGeom prst="ellipse">
            <a:avLst/>
          </a:prstGeom>
          <a:solidFill>
            <a:srgbClr val="0B3D62"/>
          </a:solidFill>
          <a:ln/>
        </p:spPr>
        <p:txBody>
          <a:bodyPr/>
          <a:lstStyle/>
          <a:p>
            <a:endParaRPr/>
          </a:p>
        </p:txBody>
      </p:sp>
      <p:sp>
        <p:nvSpPr>
          <p:cNvPr id="21" name="Text 19"/>
          <p:cNvSpPr/>
          <p:nvPr/>
        </p:nvSpPr>
        <p:spPr>
          <a:xfrm>
            <a:off x="10199103" y="18745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9303791" y="2514600"/>
            <a:ext cx="2247824" cy="548640"/>
          </a:xfrm>
          <a:prstGeom prst="rect">
            <a:avLst/>
          </a:prstGeom>
          <a:noFill/>
          <a:ln/>
        </p:spPr>
        <p:txBody>
          <a:bodyPr wrap="square" lIns="0" tIns="0" rIns="0" bIns="0" rtlCol="0" anchor="ctr"/>
          <a:lstStyle/>
          <a:p>
            <a:pPr marL="0" indent="0" algn="ctr">
              <a:buNone/>
            </a:pPr>
            <a:r>
              <a:rPr lang="en-US" sz="1350" b="1" dirty="0">
                <a:solidFill>
                  <a:srgbClr val="0B3D62"/>
                </a:solidFill>
                <a:latin typeface="Calibri" pitchFamily="34" charset="0"/>
                <a:ea typeface="Calibri" pitchFamily="34" charset="-122"/>
                <a:cs typeface="Calibri" pitchFamily="34" charset="-120"/>
              </a:rPr>
              <a:t>Step 4 — Report</a:t>
            </a:r>
            <a:endParaRPr lang="en-US" sz="1350" dirty="0"/>
          </a:p>
        </p:txBody>
      </p:sp>
      <p:sp>
        <p:nvSpPr>
          <p:cNvPr id="23" name="Text 21"/>
          <p:cNvSpPr/>
          <p:nvPr/>
        </p:nvSpPr>
        <p:spPr>
          <a:xfrm>
            <a:off x="9349511" y="3108960"/>
            <a:ext cx="2156384" cy="2606040"/>
          </a:xfrm>
          <a:prstGeom prst="rect">
            <a:avLst/>
          </a:prstGeom>
          <a:noFill/>
          <a:ln/>
        </p:spPr>
        <p:txBody>
          <a:bodyPr wrap="square" lIns="0" tIns="0" rIns="0" bIns="0" rtlCol="0" anchor="t"/>
          <a:lstStyle/>
          <a:p>
            <a:pPr marL="0" indent="0" algn="l">
              <a:lnSpc>
                <a:spcPct val="115000"/>
              </a:lnSpc>
              <a:buNone/>
            </a:pPr>
            <a:r>
              <a:rPr lang="en-US" sz="1100" dirty="0">
                <a:solidFill>
                  <a:srgbClr val="142433"/>
                </a:solidFill>
                <a:latin typeface="Calibri" pitchFamily="34" charset="0"/>
                <a:ea typeface="Calibri" pitchFamily="34" charset="-122"/>
                <a:cs typeface="Calibri" pitchFamily="34" charset="-120"/>
              </a:rPr>
              <a:t>Be ready to state, in one sentence, the single most important lesson from reconciling the two methods.</a:t>
            </a:r>
            <a:endParaRPr lang="en-US" sz="1100" dirty="0"/>
          </a:p>
        </p:txBody>
      </p:sp>
      <p:sp>
        <p:nvSpPr>
          <p:cNvPr id="24" name="Text 22"/>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25" name="Text 23"/>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68 / 80</a:t>
            </a:r>
            <a:endParaRPr lang="en-US" sz="8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400" b="1" kern="0" spc="200" dirty="0">
                <a:solidFill>
                  <a:srgbClr val="1C7293"/>
                </a:solidFill>
                <a:latin typeface="Calibri" pitchFamily="34" charset="0"/>
                <a:ea typeface="Calibri" pitchFamily="34" charset="-122"/>
                <a:cs typeface="Calibri" pitchFamily="34" charset="-120"/>
              </a:rPr>
              <a:t>CHECKPOINT</a:t>
            </a:r>
            <a:endParaRPr lang="en-US" sz="14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3200" b="1" dirty="0">
                <a:solidFill>
                  <a:srgbClr val="0B3D62"/>
                </a:solidFill>
                <a:latin typeface="Cambria" pitchFamily="34" charset="0"/>
                <a:ea typeface="Cambria" pitchFamily="34" charset="-122"/>
                <a:cs typeface="Cambria" pitchFamily="34" charset="-120"/>
              </a:rPr>
              <a:t>Recap: Tools and Verification (Block 4)</a:t>
            </a:r>
            <a:endParaRPr lang="en-US" sz="3200" dirty="0"/>
          </a:p>
        </p:txBody>
      </p:sp>
      <p:sp>
        <p:nvSpPr>
          <p:cNvPr id="4" name="Shape 2"/>
          <p:cNvSpPr/>
          <p:nvPr/>
        </p:nvSpPr>
        <p:spPr>
          <a:xfrm>
            <a:off x="457200" y="1600200"/>
            <a:ext cx="2627300" cy="4343400"/>
          </a:xfrm>
          <a:prstGeom prst="roundRect">
            <a:avLst>
              <a:gd name="adj" fmla="val 2436"/>
            </a:avLst>
          </a:prstGeom>
          <a:solidFill>
            <a:srgbClr val="EEF3F8"/>
          </a:solidFill>
          <a:ln w="9525">
            <a:solidFill>
              <a:srgbClr val="D3E0E9"/>
            </a:solidFill>
            <a:prstDash val="solid"/>
          </a:ln>
        </p:spPr>
        <p:txBody>
          <a:bodyPr/>
          <a:lstStyle/>
          <a:p>
            <a:endParaRPr/>
          </a:p>
        </p:txBody>
      </p:sp>
      <p:sp>
        <p:nvSpPr>
          <p:cNvPr id="5" name="Shape 3"/>
          <p:cNvSpPr/>
          <p:nvPr/>
        </p:nvSpPr>
        <p:spPr>
          <a:xfrm>
            <a:off x="694944" y="1837944"/>
            <a:ext cx="457200" cy="457200"/>
          </a:xfrm>
          <a:prstGeom prst="ellipse">
            <a:avLst/>
          </a:prstGeom>
          <a:solidFill>
            <a:srgbClr val="1C7293"/>
          </a:solidFill>
          <a:ln/>
        </p:spPr>
        <p:txBody>
          <a:bodyPr/>
          <a:lstStyle/>
          <a:p>
            <a:endParaRPr/>
          </a:p>
        </p:txBody>
      </p:sp>
      <p:sp>
        <p:nvSpPr>
          <p:cNvPr id="6" name="Text 4"/>
          <p:cNvSpPr/>
          <p:nvPr/>
        </p:nvSpPr>
        <p:spPr>
          <a:xfrm>
            <a:off x="694944"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7" name="Text 5"/>
          <p:cNvSpPr/>
          <p:nvPr/>
        </p:nvSpPr>
        <p:spPr>
          <a:xfrm>
            <a:off x="694944"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Spreadsheets and AI, together</a:t>
            </a:r>
            <a:endParaRPr lang="en-US" dirty="0"/>
          </a:p>
        </p:txBody>
      </p:sp>
      <p:sp>
        <p:nvSpPr>
          <p:cNvPr id="8" name="Text 6"/>
          <p:cNvSpPr/>
          <p:nvPr/>
        </p:nvSpPr>
        <p:spPr>
          <a:xfrm>
            <a:off x="694944"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Both can build a correct table quickly — neither should be trusted without the manual verification checklist from Slide 64; they complement, not replace, each other.</a:t>
            </a:r>
            <a:endParaRPr lang="en-US" sz="1400" dirty="0"/>
          </a:p>
        </p:txBody>
      </p:sp>
      <p:sp>
        <p:nvSpPr>
          <p:cNvPr id="9" name="Shape 7"/>
          <p:cNvSpPr/>
          <p:nvPr/>
        </p:nvSpPr>
        <p:spPr>
          <a:xfrm>
            <a:off x="3340532" y="1600200"/>
            <a:ext cx="2627300" cy="4343400"/>
          </a:xfrm>
          <a:prstGeom prst="roundRect">
            <a:avLst>
              <a:gd name="adj" fmla="val 2436"/>
            </a:avLst>
          </a:prstGeom>
          <a:solidFill>
            <a:srgbClr val="EEF3F8"/>
          </a:solidFill>
          <a:ln w="9525">
            <a:solidFill>
              <a:srgbClr val="D3E0E9"/>
            </a:solidFill>
            <a:prstDash val="solid"/>
          </a:ln>
        </p:spPr>
        <p:txBody>
          <a:bodyPr/>
          <a:lstStyle/>
          <a:p>
            <a:endParaRPr/>
          </a:p>
        </p:txBody>
      </p:sp>
      <p:sp>
        <p:nvSpPr>
          <p:cNvPr id="10" name="Shape 8"/>
          <p:cNvSpPr/>
          <p:nvPr/>
        </p:nvSpPr>
        <p:spPr>
          <a:xfrm>
            <a:off x="3578276" y="1837944"/>
            <a:ext cx="457200" cy="457200"/>
          </a:xfrm>
          <a:prstGeom prst="ellipse">
            <a:avLst/>
          </a:prstGeom>
          <a:solidFill>
            <a:srgbClr val="1C7293"/>
          </a:solidFill>
          <a:ln/>
        </p:spPr>
        <p:txBody>
          <a:bodyPr/>
          <a:lstStyle/>
          <a:p>
            <a:endParaRPr/>
          </a:p>
        </p:txBody>
      </p:sp>
      <p:sp>
        <p:nvSpPr>
          <p:cNvPr id="11" name="Text 9"/>
          <p:cNvSpPr/>
          <p:nvPr/>
        </p:nvSpPr>
        <p:spPr>
          <a:xfrm>
            <a:off x="3578276"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12" name="Text 10"/>
          <p:cNvSpPr/>
          <p:nvPr/>
        </p:nvSpPr>
        <p:spPr>
          <a:xfrm>
            <a:off x="3578276"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Disclosure is mandatory</a:t>
            </a:r>
            <a:endParaRPr lang="en-US" dirty="0"/>
          </a:p>
        </p:txBody>
      </p:sp>
      <p:sp>
        <p:nvSpPr>
          <p:cNvPr id="13" name="Text 11"/>
          <p:cNvSpPr/>
          <p:nvPr/>
        </p:nvSpPr>
        <p:spPr>
          <a:xfrm>
            <a:off x="3578276"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Course policy requires stating which AI tool was used, the exact prompt, and every correction made — a professional norm shared by 87% of surveyed academic researchers who already use AI code assistants.</a:t>
            </a:r>
            <a:endParaRPr lang="en-US" sz="1400" dirty="0"/>
          </a:p>
        </p:txBody>
      </p:sp>
      <p:sp>
        <p:nvSpPr>
          <p:cNvPr id="14" name="Shape 12"/>
          <p:cNvSpPr/>
          <p:nvPr/>
        </p:nvSpPr>
        <p:spPr>
          <a:xfrm>
            <a:off x="6223864" y="1600200"/>
            <a:ext cx="2627300" cy="4343400"/>
          </a:xfrm>
          <a:prstGeom prst="roundRect">
            <a:avLst>
              <a:gd name="adj" fmla="val 2436"/>
            </a:avLst>
          </a:prstGeom>
          <a:solidFill>
            <a:srgbClr val="EEF3F8"/>
          </a:solidFill>
          <a:ln w="9525">
            <a:solidFill>
              <a:srgbClr val="D3E0E9"/>
            </a:solidFill>
            <a:prstDash val="solid"/>
          </a:ln>
        </p:spPr>
        <p:txBody>
          <a:bodyPr/>
          <a:lstStyle/>
          <a:p>
            <a:endParaRPr/>
          </a:p>
        </p:txBody>
      </p:sp>
      <p:sp>
        <p:nvSpPr>
          <p:cNvPr id="15" name="Shape 13"/>
          <p:cNvSpPr/>
          <p:nvPr/>
        </p:nvSpPr>
        <p:spPr>
          <a:xfrm>
            <a:off x="6461608" y="1837944"/>
            <a:ext cx="457200" cy="457200"/>
          </a:xfrm>
          <a:prstGeom prst="ellipse">
            <a:avLst/>
          </a:prstGeom>
          <a:solidFill>
            <a:srgbClr val="1C7293"/>
          </a:solidFill>
          <a:ln/>
        </p:spPr>
        <p:txBody>
          <a:bodyPr/>
          <a:lstStyle/>
          <a:p>
            <a:endParaRPr/>
          </a:p>
        </p:txBody>
      </p:sp>
      <p:sp>
        <p:nvSpPr>
          <p:cNvPr id="16" name="Text 14"/>
          <p:cNvSpPr/>
          <p:nvPr/>
        </p:nvSpPr>
        <p:spPr>
          <a:xfrm>
            <a:off x="6461608"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17" name="Text 15"/>
          <p:cNvSpPr/>
          <p:nvPr/>
        </p:nvSpPr>
        <p:spPr>
          <a:xfrm>
            <a:off x="6461608"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The two classic error sites, again</a:t>
            </a:r>
            <a:endParaRPr lang="en-US" dirty="0"/>
          </a:p>
        </p:txBody>
      </p:sp>
      <p:sp>
        <p:nvSpPr>
          <p:cNvPr id="18" name="Text 16"/>
          <p:cNvSpPr/>
          <p:nvPr/>
        </p:nvSpPr>
        <p:spPr>
          <a:xfrm>
            <a:off x="6461608"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Age 0 (nax) and the open interval account for most construction bugs, whether the code was written by a human or an AI assistant.</a:t>
            </a:r>
            <a:endParaRPr lang="en-US" sz="1400" dirty="0"/>
          </a:p>
        </p:txBody>
      </p:sp>
      <p:sp>
        <p:nvSpPr>
          <p:cNvPr id="19" name="Shape 17"/>
          <p:cNvSpPr/>
          <p:nvPr/>
        </p:nvSpPr>
        <p:spPr>
          <a:xfrm>
            <a:off x="9107195" y="1600200"/>
            <a:ext cx="2627300" cy="4343400"/>
          </a:xfrm>
          <a:prstGeom prst="roundRect">
            <a:avLst>
              <a:gd name="adj" fmla="val 2436"/>
            </a:avLst>
          </a:prstGeom>
          <a:solidFill>
            <a:srgbClr val="EEF3F8"/>
          </a:solidFill>
          <a:ln w="9525">
            <a:solidFill>
              <a:srgbClr val="D3E0E9"/>
            </a:solidFill>
            <a:prstDash val="solid"/>
          </a:ln>
        </p:spPr>
        <p:txBody>
          <a:bodyPr/>
          <a:lstStyle/>
          <a:p>
            <a:endParaRPr/>
          </a:p>
        </p:txBody>
      </p:sp>
      <p:sp>
        <p:nvSpPr>
          <p:cNvPr id="20" name="Shape 18"/>
          <p:cNvSpPr/>
          <p:nvPr/>
        </p:nvSpPr>
        <p:spPr>
          <a:xfrm>
            <a:off x="9344939" y="1837944"/>
            <a:ext cx="457200" cy="457200"/>
          </a:xfrm>
          <a:prstGeom prst="ellipse">
            <a:avLst/>
          </a:prstGeom>
          <a:solidFill>
            <a:srgbClr val="1C7293"/>
          </a:solidFill>
          <a:ln/>
        </p:spPr>
        <p:txBody>
          <a:bodyPr/>
          <a:lstStyle/>
          <a:p>
            <a:endParaRPr/>
          </a:p>
        </p:txBody>
      </p:sp>
      <p:sp>
        <p:nvSpPr>
          <p:cNvPr id="21" name="Text 19"/>
          <p:cNvSpPr/>
          <p:nvPr/>
        </p:nvSpPr>
        <p:spPr>
          <a:xfrm>
            <a:off x="9344939" y="183794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22" name="Text 20"/>
          <p:cNvSpPr/>
          <p:nvPr/>
        </p:nvSpPr>
        <p:spPr>
          <a:xfrm>
            <a:off x="9344939" y="2459736"/>
            <a:ext cx="2151812" cy="502920"/>
          </a:xfrm>
          <a:prstGeom prst="rect">
            <a:avLst/>
          </a:prstGeom>
          <a:noFill/>
          <a:ln/>
        </p:spPr>
        <p:txBody>
          <a:bodyPr wrap="square" lIns="0" tIns="0" rIns="0" bIns="0" rtlCol="0" anchor="t"/>
          <a:lstStyle/>
          <a:p>
            <a:pPr marL="0" indent="0" algn="l">
              <a:buNone/>
            </a:pPr>
            <a:r>
              <a:rPr lang="en-US" b="1" dirty="0">
                <a:solidFill>
                  <a:srgbClr val="0B3D62"/>
                </a:solidFill>
                <a:latin typeface="Calibri" pitchFamily="34" charset="0"/>
                <a:ea typeface="Calibri" pitchFamily="34" charset="-122"/>
                <a:cs typeface="Calibri" pitchFamily="34" charset="-120"/>
              </a:rPr>
              <a:t>Traces back to Slide 16</a:t>
            </a:r>
            <a:endParaRPr lang="en-US" dirty="0"/>
          </a:p>
        </p:txBody>
      </p:sp>
      <p:sp>
        <p:nvSpPr>
          <p:cNvPr id="23" name="Text 21"/>
          <p:cNvSpPr/>
          <p:nvPr/>
        </p:nvSpPr>
        <p:spPr>
          <a:xfrm>
            <a:off x="9344939" y="2990088"/>
            <a:ext cx="2151812" cy="2770632"/>
          </a:xfrm>
          <a:prstGeom prst="rect">
            <a:avLst/>
          </a:prstGeom>
          <a:noFill/>
          <a:ln/>
        </p:spPr>
        <p:txBody>
          <a:bodyPr wrap="square" lIns="0" tIns="0" rIns="0" bIns="0" rtlCol="0" anchor="t"/>
          <a:lstStyle/>
          <a:p>
            <a:pPr marL="0" indent="0" algn="l">
              <a:lnSpc>
                <a:spcPct val="112000"/>
              </a:lnSpc>
              <a:buNone/>
            </a:pPr>
            <a:r>
              <a:rPr lang="en-US" sz="1400" dirty="0">
                <a:solidFill>
                  <a:srgbClr val="142433"/>
                </a:solidFill>
                <a:latin typeface="Calibri" pitchFamily="34" charset="0"/>
                <a:ea typeface="Calibri" pitchFamily="34" charset="-122"/>
                <a:cs typeface="Calibri" pitchFamily="34" charset="-120"/>
              </a:rPr>
              <a:t>HALE, cause-deleted e0, pension-cost projections, and SDG monitoring are all downstream applications of the same seven-column pipeline you built by hand today.</a:t>
            </a:r>
            <a:endParaRPr lang="en-US" sz="1400" dirty="0"/>
          </a:p>
        </p:txBody>
      </p:sp>
      <p:sp>
        <p:nvSpPr>
          <p:cNvPr id="24" name="Text 22"/>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1000" dirty="0">
                <a:solidFill>
                  <a:srgbClr val="5B6B79"/>
                </a:solidFill>
                <a:latin typeface="Calibri" pitchFamily="34" charset="0"/>
                <a:ea typeface="Calibri" pitchFamily="34" charset="-122"/>
                <a:cs typeface="Calibri" pitchFamily="34" charset="-120"/>
              </a:rPr>
              <a:t>5140602 Fundamental Demographic Analysis – Session 5</a:t>
            </a:r>
            <a:endParaRPr lang="en-US" sz="1000" dirty="0"/>
          </a:p>
        </p:txBody>
      </p:sp>
      <p:sp>
        <p:nvSpPr>
          <p:cNvPr id="25" name="Text 23"/>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69 / 80</a:t>
            </a:r>
            <a:endParaRPr lang="en-US" sz="1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SUMMARY</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Key Takeaways</a:t>
            </a:r>
            <a:endParaRPr lang="en-US" sz="2700" dirty="0"/>
          </a:p>
        </p:txBody>
      </p:sp>
      <p:sp>
        <p:nvSpPr>
          <p:cNvPr id="4" name="Shape 2"/>
          <p:cNvSpPr/>
          <p:nvPr/>
        </p:nvSpPr>
        <p:spPr>
          <a:xfrm>
            <a:off x="457200" y="1508760"/>
            <a:ext cx="2627300" cy="2331720"/>
          </a:xfrm>
          <a:prstGeom prst="roundRect">
            <a:avLst>
              <a:gd name="adj" fmla="val 2745"/>
            </a:avLst>
          </a:prstGeom>
          <a:solidFill>
            <a:srgbClr val="EEF3F8"/>
          </a:solidFill>
          <a:ln w="9525">
            <a:solidFill>
              <a:srgbClr val="D3E0E9"/>
            </a:solidFill>
            <a:prstDash val="solid"/>
          </a:ln>
        </p:spPr>
        <p:txBody>
          <a:bodyPr/>
          <a:lstStyle/>
          <a:p>
            <a:endParaRPr/>
          </a:p>
        </p:txBody>
      </p:sp>
      <p:sp>
        <p:nvSpPr>
          <p:cNvPr id="5" name="Text 3"/>
          <p:cNvSpPr/>
          <p:nvPr/>
        </p:nvSpPr>
        <p:spPr>
          <a:xfrm>
            <a:off x="694944" y="1819656"/>
            <a:ext cx="215181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A life table is a sequential pipeline</a:t>
            </a:r>
            <a:endParaRPr lang="en-US" sz="1450" dirty="0"/>
          </a:p>
        </p:txBody>
      </p:sp>
      <p:sp>
        <p:nvSpPr>
          <p:cNvPr id="6" name="Text 4"/>
          <p:cNvSpPr/>
          <p:nvPr/>
        </p:nvSpPr>
        <p:spPr>
          <a:xfrm>
            <a:off x="694944" y="2350008"/>
            <a:ext cx="2151812" cy="1307592"/>
          </a:xfrm>
          <a:prstGeom prst="rect">
            <a:avLst/>
          </a:prstGeom>
          <a:noFill/>
          <a:ln/>
        </p:spPr>
        <p:txBody>
          <a:bodyPr wrap="square" lIns="0" tIns="0" rIns="0" bIns="0" rtlCol="0" anchor="t"/>
          <a:lstStyle/>
          <a:p>
            <a:pPr marL="0" indent="0" algn="l">
              <a:lnSpc>
                <a:spcPct val="112000"/>
              </a:lnSpc>
              <a:buNone/>
            </a:pPr>
            <a:r>
              <a:rPr lang="en-US" sz="1060" dirty="0">
                <a:solidFill>
                  <a:srgbClr val="142433"/>
                </a:solidFill>
                <a:latin typeface="Calibri" pitchFamily="34" charset="0"/>
                <a:ea typeface="Calibri" pitchFamily="34" charset="-122"/>
                <a:cs typeface="Calibri" pitchFamily="34" charset="-120"/>
              </a:rPr>
              <a:t>nMx → nqx → lx → ndx → nLx → Tx → ex — each column depends on the ones before it, so errors propagate.</a:t>
            </a:r>
            <a:endParaRPr lang="en-US" sz="1060" dirty="0"/>
          </a:p>
        </p:txBody>
      </p:sp>
      <p:sp>
        <p:nvSpPr>
          <p:cNvPr id="7" name="Shape 5"/>
          <p:cNvSpPr/>
          <p:nvPr/>
        </p:nvSpPr>
        <p:spPr>
          <a:xfrm>
            <a:off x="3340532" y="1508760"/>
            <a:ext cx="2627300" cy="2331720"/>
          </a:xfrm>
          <a:prstGeom prst="roundRect">
            <a:avLst>
              <a:gd name="adj" fmla="val 2745"/>
            </a:avLst>
          </a:prstGeom>
          <a:solidFill>
            <a:srgbClr val="EEF3F8"/>
          </a:solidFill>
          <a:ln w="9525">
            <a:solidFill>
              <a:srgbClr val="D3E0E9"/>
            </a:solidFill>
            <a:prstDash val="solid"/>
          </a:ln>
        </p:spPr>
        <p:txBody>
          <a:bodyPr/>
          <a:lstStyle/>
          <a:p>
            <a:endParaRPr/>
          </a:p>
        </p:txBody>
      </p:sp>
      <p:sp>
        <p:nvSpPr>
          <p:cNvPr id="8" name="Text 6"/>
          <p:cNvSpPr/>
          <p:nvPr/>
        </p:nvSpPr>
        <p:spPr>
          <a:xfrm>
            <a:off x="3578276" y="1819656"/>
            <a:ext cx="215181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Real construction is a multi-agency process</a:t>
            </a:r>
            <a:endParaRPr lang="en-US" sz="1450" dirty="0"/>
          </a:p>
        </p:txBody>
      </p:sp>
      <p:sp>
        <p:nvSpPr>
          <p:cNvPr id="9" name="Text 7"/>
          <p:cNvSpPr/>
          <p:nvPr/>
        </p:nvSpPr>
        <p:spPr>
          <a:xfrm>
            <a:off x="3578276" y="2350008"/>
            <a:ext cx="2151812" cy="1307592"/>
          </a:xfrm>
          <a:prstGeom prst="rect">
            <a:avLst/>
          </a:prstGeom>
          <a:noFill/>
          <a:ln/>
        </p:spPr>
        <p:txBody>
          <a:bodyPr wrap="square" lIns="0" tIns="0" rIns="0" bIns="0" rtlCol="0" anchor="t"/>
          <a:lstStyle/>
          <a:p>
            <a:pPr marL="0" indent="0" algn="l">
              <a:lnSpc>
                <a:spcPct val="112000"/>
              </a:lnSpc>
              <a:buNone/>
            </a:pPr>
            <a:r>
              <a:rPr lang="en-US" sz="1060" dirty="0">
                <a:solidFill>
                  <a:srgbClr val="142433"/>
                </a:solidFill>
                <a:latin typeface="Calibri" pitchFamily="34" charset="0"/>
                <a:ea typeface="Calibri" pitchFamily="34" charset="-122"/>
                <a:cs typeface="Calibri" pitchFamily="34" charset="-120"/>
              </a:rPr>
              <a:t>Official life tables come from reconciling CRVS deaths, census population, and cause-of-death data across separate institutions (Slides 33–42) — not a single clean input file.</a:t>
            </a:r>
            <a:endParaRPr lang="en-US" sz="1060" dirty="0"/>
          </a:p>
        </p:txBody>
      </p:sp>
      <p:sp>
        <p:nvSpPr>
          <p:cNvPr id="10" name="Shape 8"/>
          <p:cNvSpPr/>
          <p:nvPr/>
        </p:nvSpPr>
        <p:spPr>
          <a:xfrm>
            <a:off x="6223864" y="1508760"/>
            <a:ext cx="2627300" cy="2331720"/>
          </a:xfrm>
          <a:prstGeom prst="roundRect">
            <a:avLst>
              <a:gd name="adj" fmla="val 2745"/>
            </a:avLst>
          </a:prstGeom>
          <a:solidFill>
            <a:srgbClr val="EEF3F8"/>
          </a:solidFill>
          <a:ln w="9525">
            <a:solidFill>
              <a:srgbClr val="D3E0E9"/>
            </a:solidFill>
            <a:prstDash val="solid"/>
          </a:ln>
        </p:spPr>
        <p:txBody>
          <a:bodyPr/>
          <a:lstStyle/>
          <a:p>
            <a:endParaRPr/>
          </a:p>
        </p:txBody>
      </p:sp>
      <p:sp>
        <p:nvSpPr>
          <p:cNvPr id="11" name="Text 9"/>
          <p:cNvSpPr/>
          <p:nvPr/>
        </p:nvSpPr>
        <p:spPr>
          <a:xfrm>
            <a:off x="6461608" y="1819656"/>
            <a:ext cx="215181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Special cases are where errors hide</a:t>
            </a:r>
            <a:endParaRPr lang="en-US" sz="1450" dirty="0"/>
          </a:p>
        </p:txBody>
      </p:sp>
      <p:sp>
        <p:nvSpPr>
          <p:cNvPr id="12" name="Text 10"/>
          <p:cNvSpPr/>
          <p:nvPr/>
        </p:nvSpPr>
        <p:spPr>
          <a:xfrm>
            <a:off x="6461608" y="2350008"/>
            <a:ext cx="2151812" cy="1307592"/>
          </a:xfrm>
          <a:prstGeom prst="rect">
            <a:avLst/>
          </a:prstGeom>
          <a:noFill/>
          <a:ln/>
        </p:spPr>
        <p:txBody>
          <a:bodyPr wrap="square" lIns="0" tIns="0" rIns="0" bIns="0" rtlCol="0" anchor="t"/>
          <a:lstStyle/>
          <a:p>
            <a:pPr marL="0" indent="0" algn="l">
              <a:lnSpc>
                <a:spcPct val="112000"/>
              </a:lnSpc>
              <a:buNone/>
            </a:pPr>
            <a:r>
              <a:rPr lang="en-US" sz="1060" dirty="0">
                <a:solidFill>
                  <a:srgbClr val="142433"/>
                </a:solidFill>
                <a:latin typeface="Calibri" pitchFamily="34" charset="0"/>
                <a:ea typeface="Calibri" pitchFamily="34" charset="-122"/>
                <a:cs typeface="Calibri" pitchFamily="34" charset="-120"/>
              </a:rPr>
              <a:t>Age 0 (a0 ≈ 0.3, not n/2) and the open-ended terminal age group (Lω = lω/Mω) are the two most common sources of construction errors.</a:t>
            </a:r>
            <a:endParaRPr lang="en-US" sz="1060" dirty="0"/>
          </a:p>
        </p:txBody>
      </p:sp>
      <p:sp>
        <p:nvSpPr>
          <p:cNvPr id="13" name="Shape 11"/>
          <p:cNvSpPr/>
          <p:nvPr/>
        </p:nvSpPr>
        <p:spPr>
          <a:xfrm>
            <a:off x="9107195" y="1508760"/>
            <a:ext cx="2627300" cy="2331720"/>
          </a:xfrm>
          <a:prstGeom prst="roundRect">
            <a:avLst>
              <a:gd name="adj" fmla="val 2745"/>
            </a:avLst>
          </a:prstGeom>
          <a:solidFill>
            <a:srgbClr val="EEF3F8"/>
          </a:solidFill>
          <a:ln w="9525">
            <a:solidFill>
              <a:srgbClr val="D3E0E9"/>
            </a:solidFill>
            <a:prstDash val="solid"/>
          </a:ln>
        </p:spPr>
        <p:txBody>
          <a:bodyPr/>
          <a:lstStyle/>
          <a:p>
            <a:endParaRPr/>
          </a:p>
        </p:txBody>
      </p:sp>
      <p:sp>
        <p:nvSpPr>
          <p:cNvPr id="14" name="Text 12"/>
          <p:cNvSpPr/>
          <p:nvPr/>
        </p:nvSpPr>
        <p:spPr>
          <a:xfrm>
            <a:off x="9344939" y="1819656"/>
            <a:ext cx="215181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Spreadsheets &amp; AI are complementary</a:t>
            </a:r>
            <a:endParaRPr lang="en-US" sz="1450" dirty="0"/>
          </a:p>
        </p:txBody>
      </p:sp>
      <p:sp>
        <p:nvSpPr>
          <p:cNvPr id="15" name="Text 13"/>
          <p:cNvSpPr/>
          <p:nvPr/>
        </p:nvSpPr>
        <p:spPr>
          <a:xfrm>
            <a:off x="9344939" y="2350008"/>
            <a:ext cx="2151812" cy="1307592"/>
          </a:xfrm>
          <a:prstGeom prst="rect">
            <a:avLst/>
          </a:prstGeom>
          <a:noFill/>
          <a:ln/>
        </p:spPr>
        <p:txBody>
          <a:bodyPr wrap="square" lIns="0" tIns="0" rIns="0" bIns="0" rtlCol="0" anchor="t"/>
          <a:lstStyle/>
          <a:p>
            <a:pPr marL="0" indent="0" algn="l">
              <a:lnSpc>
                <a:spcPct val="112000"/>
              </a:lnSpc>
              <a:buNone/>
            </a:pPr>
            <a:r>
              <a:rPr lang="en-US" sz="1060" dirty="0">
                <a:solidFill>
                  <a:srgbClr val="142433"/>
                </a:solidFill>
                <a:latin typeface="Calibri" pitchFamily="34" charset="0"/>
                <a:ea typeface="Calibri" pitchFamily="34" charset="-122"/>
                <a:cs typeface="Calibri" pitchFamily="34" charset="-120"/>
              </a:rPr>
              <a:t>Both can build a correct table quickly — neither should be trusted without the manual verification checklist.</a:t>
            </a:r>
            <a:endParaRPr lang="en-US" sz="1060" dirty="0"/>
          </a:p>
        </p:txBody>
      </p:sp>
      <p:sp>
        <p:nvSpPr>
          <p:cNvPr id="16" name="Shape 14"/>
          <p:cNvSpPr/>
          <p:nvPr/>
        </p:nvSpPr>
        <p:spPr>
          <a:xfrm>
            <a:off x="457200" y="4114800"/>
            <a:ext cx="5510632" cy="1783080"/>
          </a:xfrm>
          <a:prstGeom prst="roundRect">
            <a:avLst>
              <a:gd name="adj" fmla="val 3590"/>
            </a:avLst>
          </a:prstGeom>
          <a:solidFill>
            <a:srgbClr val="EEF3F8"/>
          </a:solidFill>
          <a:ln w="9525">
            <a:solidFill>
              <a:srgbClr val="D3E0E9"/>
            </a:solidFill>
            <a:prstDash val="solid"/>
          </a:ln>
        </p:spPr>
        <p:txBody>
          <a:bodyPr/>
          <a:lstStyle/>
          <a:p>
            <a:endParaRPr/>
          </a:p>
        </p:txBody>
      </p:sp>
      <p:sp>
        <p:nvSpPr>
          <p:cNvPr id="17" name="Text 15"/>
          <p:cNvSpPr/>
          <p:nvPr/>
        </p:nvSpPr>
        <p:spPr>
          <a:xfrm>
            <a:off x="694944" y="4425696"/>
            <a:ext cx="5035144"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Every claim traces to a real source</a:t>
            </a:r>
            <a:endParaRPr lang="en-US" sz="1450" dirty="0"/>
          </a:p>
        </p:txBody>
      </p:sp>
      <p:sp>
        <p:nvSpPr>
          <p:cNvPr id="18" name="Text 16"/>
          <p:cNvSpPr/>
          <p:nvPr/>
        </p:nvSpPr>
        <p:spPr>
          <a:xfrm>
            <a:off x="694944" y="4956048"/>
            <a:ext cx="5035144" cy="758952"/>
          </a:xfrm>
          <a:prstGeom prst="rect">
            <a:avLst/>
          </a:prstGeom>
          <a:noFill/>
          <a:ln/>
        </p:spPr>
        <p:txBody>
          <a:bodyPr wrap="square" lIns="0" tIns="0" rIns="0" bIns="0" rtlCol="0" anchor="t"/>
          <a:lstStyle/>
          <a:p>
            <a:pPr marL="0" indent="0" algn="l">
              <a:lnSpc>
                <a:spcPct val="112000"/>
              </a:lnSpc>
              <a:buNone/>
            </a:pPr>
            <a:r>
              <a:rPr lang="en-US" sz="1060" dirty="0">
                <a:solidFill>
                  <a:srgbClr val="142433"/>
                </a:solidFill>
                <a:latin typeface="Calibri" pitchFamily="34" charset="0"/>
                <a:ea typeface="Calibri" pitchFamily="34" charset="-122"/>
                <a:cs typeface="Calibri" pitchFamily="34" charset="-120"/>
              </a:rPr>
              <a:t>From Graunt's 1662 bills of mortality to today's NSO, UN DESA, and WHO databases (Slides 55-57), the numbers in this session are never invented -- they are drawn from citable, verifiable sources you can check yourself.</a:t>
            </a:r>
            <a:endParaRPr lang="en-US" sz="1060" dirty="0"/>
          </a:p>
        </p:txBody>
      </p:sp>
      <p:sp>
        <p:nvSpPr>
          <p:cNvPr id="19" name="Shape 17"/>
          <p:cNvSpPr/>
          <p:nvPr/>
        </p:nvSpPr>
        <p:spPr>
          <a:xfrm>
            <a:off x="6223864" y="4114800"/>
            <a:ext cx="5510632" cy="1783080"/>
          </a:xfrm>
          <a:prstGeom prst="roundRect">
            <a:avLst>
              <a:gd name="adj" fmla="val 3590"/>
            </a:avLst>
          </a:prstGeom>
          <a:solidFill>
            <a:srgbClr val="EEF3F8"/>
          </a:solidFill>
          <a:ln w="9525">
            <a:solidFill>
              <a:srgbClr val="D3E0E9"/>
            </a:solidFill>
            <a:prstDash val="solid"/>
          </a:ln>
        </p:spPr>
        <p:txBody>
          <a:bodyPr/>
          <a:lstStyle/>
          <a:p>
            <a:endParaRPr/>
          </a:p>
        </p:txBody>
      </p:sp>
      <p:sp>
        <p:nvSpPr>
          <p:cNvPr id="20" name="Text 18"/>
          <p:cNvSpPr/>
          <p:nvPr/>
        </p:nvSpPr>
        <p:spPr>
          <a:xfrm>
            <a:off x="6461608" y="4425696"/>
            <a:ext cx="5035144"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Every measure connects to real practice</a:t>
            </a:r>
            <a:endParaRPr lang="en-US" sz="1450" dirty="0"/>
          </a:p>
        </p:txBody>
      </p:sp>
      <p:sp>
        <p:nvSpPr>
          <p:cNvPr id="21" name="Text 19"/>
          <p:cNvSpPr/>
          <p:nvPr/>
        </p:nvSpPr>
        <p:spPr>
          <a:xfrm>
            <a:off x="6461608" y="4956048"/>
            <a:ext cx="5035144" cy="758952"/>
          </a:xfrm>
          <a:prstGeom prst="rect">
            <a:avLst/>
          </a:prstGeom>
          <a:noFill/>
          <a:ln/>
        </p:spPr>
        <p:txBody>
          <a:bodyPr wrap="square" lIns="0" tIns="0" rIns="0" bIns="0" rtlCol="0" anchor="t"/>
          <a:lstStyle/>
          <a:p>
            <a:pPr marL="0" indent="0" algn="l">
              <a:lnSpc>
                <a:spcPct val="112000"/>
              </a:lnSpc>
              <a:buNone/>
            </a:pPr>
            <a:r>
              <a:rPr lang="en-US" sz="1060" dirty="0">
                <a:solidFill>
                  <a:srgbClr val="142433"/>
                </a:solidFill>
                <a:latin typeface="Calibri" pitchFamily="34" charset="0"/>
                <a:ea typeface="Calibri" pitchFamily="34" charset="-122"/>
                <a:cs typeface="Calibri" pitchFamily="34" charset="-120"/>
              </a:rPr>
              <a:t>Actuarial pricing, HALE, pension design, and population projections are not separate topics -- they are downstream applications of the exact same pipeline built by hand today (Blocks 1 and 2).</a:t>
            </a:r>
            <a:endParaRPr lang="en-US" sz="1060" dirty="0"/>
          </a:p>
        </p:txBody>
      </p:sp>
      <p:sp>
        <p:nvSpPr>
          <p:cNvPr id="22" name="Text 20"/>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23" name="Text 21"/>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70 / 80</a:t>
            </a:r>
            <a:endParaRPr lang="en-US" sz="8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REFERENCES (1 OF 3)</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Sources Cited in This Session</a:t>
            </a:r>
            <a:endParaRPr lang="en-US" sz="2700" dirty="0"/>
          </a:p>
        </p:txBody>
      </p:sp>
      <p:sp>
        <p:nvSpPr>
          <p:cNvPr id="4" name="Text 2"/>
          <p:cNvSpPr/>
          <p:nvPr/>
        </p:nvSpPr>
        <p:spPr>
          <a:xfrm>
            <a:off x="457200" y="1508760"/>
            <a:ext cx="11277295" cy="731520"/>
          </a:xfrm>
          <a:prstGeom prst="rect">
            <a:avLst/>
          </a:prstGeom>
          <a:noFill/>
          <a:ln/>
        </p:spPr>
        <p:txBody>
          <a:bodyPr wrap="square" lIns="0" tIns="0" rIns="0" bIns="0" rtlCol="0" anchor="t"/>
          <a:lstStyle/>
          <a:p>
            <a:pPr marL="0" indent="0">
              <a:lnSpc>
                <a:spcPct val="110000"/>
              </a:lnSpc>
              <a:buNone/>
            </a:pPr>
            <a:r>
              <a:rPr lang="en-US" sz="1100" dirty="0">
                <a:solidFill>
                  <a:srgbClr val="142433"/>
                </a:solidFill>
                <a:latin typeface="Calibri" pitchFamily="34" charset="0"/>
                <a:ea typeface="Calibri" pitchFamily="34" charset="-122"/>
                <a:cs typeface="Calibri" pitchFamily="34" charset="-120"/>
              </a:rPr>
              <a:t>Andreev, K., &amp; Kingkade, W. (2015). Average age at death in infancy and infant mortality level: Reconsidering the Coale–Demeny formulas at current levels of low mortality. Demographic Research, 33(13), 363–390. https://doi.org/10.4054/DemRes.2015.33.13</a:t>
            </a:r>
            <a:endParaRPr lang="en-US" sz="1100" dirty="0"/>
          </a:p>
        </p:txBody>
      </p:sp>
      <p:sp>
        <p:nvSpPr>
          <p:cNvPr id="5" name="Text 3"/>
          <p:cNvSpPr/>
          <p:nvPr/>
        </p:nvSpPr>
        <p:spPr>
          <a:xfrm>
            <a:off x="457200" y="2286000"/>
            <a:ext cx="11277295" cy="731520"/>
          </a:xfrm>
          <a:prstGeom prst="rect">
            <a:avLst/>
          </a:prstGeom>
          <a:noFill/>
          <a:ln/>
        </p:spPr>
        <p:txBody>
          <a:bodyPr wrap="square" lIns="0" tIns="0" rIns="0" bIns="0" rtlCol="0" anchor="t"/>
          <a:lstStyle/>
          <a:p>
            <a:pPr marL="0" indent="0">
              <a:lnSpc>
                <a:spcPct val="110000"/>
              </a:lnSpc>
              <a:buNone/>
            </a:pPr>
            <a:r>
              <a:rPr lang="en-US" sz="1100" dirty="0">
                <a:solidFill>
                  <a:srgbClr val="142433"/>
                </a:solidFill>
                <a:latin typeface="Calibri" pitchFamily="34" charset="0"/>
                <a:ea typeface="Calibri" pitchFamily="34" charset="-122"/>
                <a:cs typeface="Calibri" pitchFamily="34" charset="-120"/>
              </a:rPr>
              <a:t>Andrasfay, T., &amp; Goldman, N. (2024). Life expectancy changes during the COVID-19 pandemic, 2019–2021. Urban Institute. https://www.urban.org/research/publication/life-expectancy-changes-during-covid-19-pandemic-2019-2021</a:t>
            </a:r>
            <a:endParaRPr lang="en-US" sz="1100" dirty="0"/>
          </a:p>
        </p:txBody>
      </p:sp>
      <p:sp>
        <p:nvSpPr>
          <p:cNvPr id="6" name="Text 4"/>
          <p:cNvSpPr/>
          <p:nvPr/>
        </p:nvSpPr>
        <p:spPr>
          <a:xfrm>
            <a:off x="457200" y="3063240"/>
            <a:ext cx="11277295" cy="731520"/>
          </a:xfrm>
          <a:prstGeom prst="rect">
            <a:avLst/>
          </a:prstGeom>
          <a:noFill/>
          <a:ln/>
        </p:spPr>
        <p:txBody>
          <a:bodyPr wrap="square" lIns="0" tIns="0" rIns="0" bIns="0" rtlCol="0" anchor="t"/>
          <a:lstStyle/>
          <a:p>
            <a:pPr marL="0" indent="0">
              <a:lnSpc>
                <a:spcPct val="110000"/>
              </a:lnSpc>
              <a:buNone/>
            </a:pPr>
            <a:r>
              <a:rPr lang="en-US" sz="1100" dirty="0">
                <a:solidFill>
                  <a:srgbClr val="142433"/>
                </a:solidFill>
                <a:latin typeface="Calibri" pitchFamily="34" charset="0"/>
                <a:ea typeface="Calibri" pitchFamily="34" charset="-122"/>
                <a:cs typeface="Calibri" pitchFamily="34" charset="-120"/>
              </a:rPr>
              <a:t>Arias, E., Xu, J., &amp; Kochanek, K. D. (2025). United States life tables, 2023. National Vital Statistics Reports, 74(6). National Center for Health Statistics. https://www.ncbi.nlm.nih.gov/books/NBK620699/</a:t>
            </a:r>
            <a:endParaRPr lang="en-US" sz="1100" dirty="0"/>
          </a:p>
        </p:txBody>
      </p:sp>
      <p:sp>
        <p:nvSpPr>
          <p:cNvPr id="7" name="Text 5"/>
          <p:cNvSpPr/>
          <p:nvPr/>
        </p:nvSpPr>
        <p:spPr>
          <a:xfrm>
            <a:off x="457200" y="3840480"/>
            <a:ext cx="11277295" cy="731520"/>
          </a:xfrm>
          <a:prstGeom prst="rect">
            <a:avLst/>
          </a:prstGeom>
          <a:noFill/>
          <a:ln/>
        </p:spPr>
        <p:txBody>
          <a:bodyPr wrap="square" lIns="0" tIns="0" rIns="0" bIns="0" rtlCol="0" anchor="t"/>
          <a:lstStyle/>
          <a:p>
            <a:pPr marL="0" indent="0">
              <a:lnSpc>
                <a:spcPct val="110000"/>
              </a:lnSpc>
              <a:buNone/>
            </a:pPr>
            <a:r>
              <a:rPr lang="en-US" sz="1100" dirty="0">
                <a:solidFill>
                  <a:srgbClr val="142433"/>
                </a:solidFill>
                <a:latin typeface="Calibri" pitchFamily="34" charset="0"/>
                <a:ea typeface="Calibri" pitchFamily="34" charset="-122"/>
                <a:cs typeface="Calibri" pitchFamily="34" charset="-120"/>
              </a:rPr>
              <a:t>Coale, A. J., &amp; Demeny, P. (1983). Regional model life tables and stable populations (2nd ed.). Academic Press.</a:t>
            </a:r>
            <a:endParaRPr lang="en-US" sz="1100" dirty="0"/>
          </a:p>
        </p:txBody>
      </p:sp>
      <p:sp>
        <p:nvSpPr>
          <p:cNvPr id="8" name="Text 6"/>
          <p:cNvSpPr/>
          <p:nvPr/>
        </p:nvSpPr>
        <p:spPr>
          <a:xfrm>
            <a:off x="457200" y="4617720"/>
            <a:ext cx="11277295" cy="731520"/>
          </a:xfrm>
          <a:prstGeom prst="rect">
            <a:avLst/>
          </a:prstGeom>
          <a:noFill/>
          <a:ln/>
        </p:spPr>
        <p:txBody>
          <a:bodyPr wrap="square" lIns="0" tIns="0" rIns="0" bIns="0" rtlCol="0" anchor="t"/>
          <a:lstStyle/>
          <a:p>
            <a:pPr marL="0" indent="0">
              <a:lnSpc>
                <a:spcPct val="110000"/>
              </a:lnSpc>
              <a:buNone/>
            </a:pPr>
            <a:r>
              <a:rPr lang="en-US" sz="1100" dirty="0">
                <a:solidFill>
                  <a:srgbClr val="142433"/>
                </a:solidFill>
                <a:latin typeface="Calibri" pitchFamily="34" charset="0"/>
                <a:ea typeface="Calibri" pitchFamily="34" charset="-122"/>
                <a:cs typeface="Calibri" pitchFamily="34" charset="-120"/>
              </a:rPr>
              <a:t>Get Every One in the Picture (UNESCAP). (n.d.). Thailand. Retrieved 2026, from https://getinthepicture.org/country/thailand</a:t>
            </a:r>
            <a:endParaRPr lang="en-US" sz="1100" dirty="0"/>
          </a:p>
        </p:txBody>
      </p:sp>
      <p:sp>
        <p:nvSpPr>
          <p:cNvPr id="9" name="Text 7"/>
          <p:cNvSpPr/>
          <p:nvPr/>
        </p:nvSpPr>
        <p:spPr>
          <a:xfrm>
            <a:off x="457200" y="5394960"/>
            <a:ext cx="11277295" cy="731520"/>
          </a:xfrm>
          <a:prstGeom prst="rect">
            <a:avLst/>
          </a:prstGeom>
          <a:noFill/>
          <a:ln/>
        </p:spPr>
        <p:txBody>
          <a:bodyPr wrap="square" lIns="0" tIns="0" rIns="0" bIns="0" rtlCol="0" anchor="t"/>
          <a:lstStyle/>
          <a:p>
            <a:pPr marL="0" indent="0">
              <a:lnSpc>
                <a:spcPct val="110000"/>
              </a:lnSpc>
              <a:buNone/>
            </a:pPr>
            <a:r>
              <a:rPr lang="en-US" sz="1100" dirty="0">
                <a:solidFill>
                  <a:srgbClr val="142433"/>
                </a:solidFill>
                <a:latin typeface="Calibri" pitchFamily="34" charset="0"/>
                <a:ea typeface="Calibri" pitchFamily="34" charset="-122"/>
                <a:cs typeface="Calibri" pitchFamily="34" charset="-120"/>
              </a:rPr>
              <a:t>Society of Actuaries. (n.d.). Individual life mortality experience studies. Retrieved August 2026, from https://www.soa.org/research/topics/indiv-mort-exp-study-list/</a:t>
            </a:r>
            <a:endParaRPr lang="en-US" sz="1100" dirty="0"/>
          </a:p>
        </p:txBody>
      </p:sp>
      <p:sp>
        <p:nvSpPr>
          <p:cNvPr id="10" name="Text 8"/>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11" name="Text 9"/>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71 / 80</a:t>
            </a:r>
            <a:endParaRPr lang="en-US" sz="8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REFERENCES (2 OF 3)</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Sources Cited in This Session (continued)</a:t>
            </a:r>
            <a:endParaRPr lang="en-US" sz="2700" dirty="0"/>
          </a:p>
        </p:txBody>
      </p:sp>
      <p:sp>
        <p:nvSpPr>
          <p:cNvPr id="4" name="Text 2"/>
          <p:cNvSpPr/>
          <p:nvPr/>
        </p:nvSpPr>
        <p:spPr>
          <a:xfrm>
            <a:off x="457200" y="1508760"/>
            <a:ext cx="11277295" cy="640080"/>
          </a:xfrm>
          <a:prstGeom prst="rect">
            <a:avLst/>
          </a:prstGeom>
          <a:noFill/>
          <a:ln/>
        </p:spPr>
        <p:txBody>
          <a:bodyPr wrap="square" lIns="0" tIns="0" rIns="0" bIns="0" rtlCol="0" anchor="t"/>
          <a:lstStyle/>
          <a:p>
            <a:pPr marL="0" indent="0">
              <a:lnSpc>
                <a:spcPct val="110000"/>
              </a:lnSpc>
              <a:buNone/>
            </a:pPr>
            <a:r>
              <a:rPr lang="en-US" sz="1100" dirty="0">
                <a:solidFill>
                  <a:srgbClr val="142433"/>
                </a:solidFill>
                <a:latin typeface="Calibri" pitchFamily="34" charset="0"/>
                <a:ea typeface="Calibri" pitchFamily="34" charset="-122"/>
                <a:cs typeface="Calibri" pitchFamily="34" charset="-120"/>
              </a:rPr>
              <a:t>Graunt, J. (1662). Natural and political observations mentioned in a following index, and made upon the bills of mortality. John Martyn. https://en.wikisource.org/wiki/Natural_and_Political_Observations_Made_upon_the_Bills_of_Mortality_(Graunt_1676)</a:t>
            </a:r>
            <a:endParaRPr lang="en-US" sz="1100" dirty="0"/>
          </a:p>
        </p:txBody>
      </p:sp>
      <p:sp>
        <p:nvSpPr>
          <p:cNvPr id="5" name="Text 3"/>
          <p:cNvSpPr/>
          <p:nvPr/>
        </p:nvSpPr>
        <p:spPr>
          <a:xfrm>
            <a:off x="457200" y="2185416"/>
            <a:ext cx="11277295" cy="640080"/>
          </a:xfrm>
          <a:prstGeom prst="rect">
            <a:avLst/>
          </a:prstGeom>
          <a:noFill/>
          <a:ln/>
        </p:spPr>
        <p:txBody>
          <a:bodyPr wrap="square" lIns="0" tIns="0" rIns="0" bIns="0" rtlCol="0" anchor="t"/>
          <a:lstStyle/>
          <a:p>
            <a:pPr marL="0" indent="0">
              <a:lnSpc>
                <a:spcPct val="110000"/>
              </a:lnSpc>
              <a:buNone/>
            </a:pPr>
            <a:r>
              <a:rPr lang="en-US" sz="1100" dirty="0">
                <a:solidFill>
                  <a:srgbClr val="142433"/>
                </a:solidFill>
                <a:latin typeface="Calibri" pitchFamily="34" charset="0"/>
                <a:ea typeface="Calibri" pitchFamily="34" charset="-122"/>
                <a:cs typeface="Calibri" pitchFamily="34" charset="-120"/>
              </a:rPr>
              <a:t>Halley, E. (1693). An estimate of the degrees of the mortality of mankind; drawn from curious tables of the births and funerals at the city of Breslaw; with an attempt to ascertain the price of annuities upon lives. Philosophical Transactions of the Royal Society, 17, 596–610. https://doi.org/10.1098/rstl.1693.0007</a:t>
            </a:r>
            <a:endParaRPr lang="en-US" sz="1100" dirty="0"/>
          </a:p>
        </p:txBody>
      </p:sp>
      <p:sp>
        <p:nvSpPr>
          <p:cNvPr id="6" name="Text 4"/>
          <p:cNvSpPr/>
          <p:nvPr/>
        </p:nvSpPr>
        <p:spPr>
          <a:xfrm>
            <a:off x="457200" y="2862072"/>
            <a:ext cx="11277295" cy="640080"/>
          </a:xfrm>
          <a:prstGeom prst="rect">
            <a:avLst/>
          </a:prstGeom>
          <a:noFill/>
          <a:ln/>
        </p:spPr>
        <p:txBody>
          <a:bodyPr wrap="square" lIns="0" tIns="0" rIns="0" bIns="0" rtlCol="0" anchor="t"/>
          <a:lstStyle/>
          <a:p>
            <a:pPr marL="0" indent="0">
              <a:lnSpc>
                <a:spcPct val="110000"/>
              </a:lnSpc>
              <a:buNone/>
            </a:pPr>
            <a:r>
              <a:rPr lang="en-US" sz="1100" dirty="0">
                <a:solidFill>
                  <a:srgbClr val="142433"/>
                </a:solidFill>
                <a:latin typeface="Calibri" pitchFamily="34" charset="0"/>
                <a:ea typeface="Calibri" pitchFamily="34" charset="-122"/>
                <a:cs typeface="Calibri" pitchFamily="34" charset="-120"/>
              </a:rPr>
              <a:t>Institute for Health Metrics and Evaluation. (n.d.). Global Burden of Disease (GBD). Retrieved August 2026, from https://www.healthdata.org/research-analysis/gbd</a:t>
            </a:r>
            <a:endParaRPr lang="en-US" sz="1100" dirty="0"/>
          </a:p>
        </p:txBody>
      </p:sp>
      <p:sp>
        <p:nvSpPr>
          <p:cNvPr id="7" name="Text 5"/>
          <p:cNvSpPr/>
          <p:nvPr/>
        </p:nvSpPr>
        <p:spPr>
          <a:xfrm>
            <a:off x="457200" y="3538728"/>
            <a:ext cx="11277295" cy="640080"/>
          </a:xfrm>
          <a:prstGeom prst="rect">
            <a:avLst/>
          </a:prstGeom>
          <a:noFill/>
          <a:ln/>
        </p:spPr>
        <p:txBody>
          <a:bodyPr wrap="square" lIns="0" tIns="0" rIns="0" bIns="0" rtlCol="0" anchor="t"/>
          <a:lstStyle/>
          <a:p>
            <a:pPr marL="0" indent="0">
              <a:lnSpc>
                <a:spcPct val="110000"/>
              </a:lnSpc>
              <a:buNone/>
            </a:pPr>
            <a:r>
              <a:rPr lang="en-US" sz="1100" dirty="0">
                <a:solidFill>
                  <a:srgbClr val="142433"/>
                </a:solidFill>
                <a:latin typeface="Calibri" pitchFamily="34" charset="0"/>
                <a:ea typeface="Calibri" pitchFamily="34" charset="-122"/>
                <a:cs typeface="Calibri" pitchFamily="34" charset="-120"/>
              </a:rPr>
              <a:t>Nature. (2023, March 30). How Nature readers are using ChatGPT. Nature. https://www.nature.com/articles/d41586-023-00500-8</a:t>
            </a:r>
            <a:endParaRPr lang="en-US" sz="1100" dirty="0"/>
          </a:p>
        </p:txBody>
      </p:sp>
      <p:sp>
        <p:nvSpPr>
          <p:cNvPr id="8" name="Text 6"/>
          <p:cNvSpPr/>
          <p:nvPr/>
        </p:nvSpPr>
        <p:spPr>
          <a:xfrm>
            <a:off x="457200" y="4215384"/>
            <a:ext cx="11277295" cy="640080"/>
          </a:xfrm>
          <a:prstGeom prst="rect">
            <a:avLst/>
          </a:prstGeom>
          <a:noFill/>
          <a:ln/>
        </p:spPr>
        <p:txBody>
          <a:bodyPr wrap="square" lIns="0" tIns="0" rIns="0" bIns="0" rtlCol="0" anchor="t"/>
          <a:lstStyle/>
          <a:p>
            <a:pPr marL="0" indent="0">
              <a:lnSpc>
                <a:spcPct val="110000"/>
              </a:lnSpc>
              <a:buNone/>
            </a:pPr>
            <a:r>
              <a:rPr lang="en-US" sz="1100" dirty="0">
                <a:solidFill>
                  <a:srgbClr val="142433"/>
                </a:solidFill>
                <a:latin typeface="Calibri" pitchFamily="34" charset="0"/>
                <a:ea typeface="Calibri" pitchFamily="34" charset="-122"/>
                <a:cs typeface="Calibri" pitchFamily="34" charset="-120"/>
              </a:rPr>
              <a:t>Preston, S. H., Heuveline, P., &amp; Guillot, M. (2001). Demography: Measuring and modeling population processes. Blackwell Publishers.</a:t>
            </a:r>
            <a:endParaRPr lang="en-US" sz="1100" dirty="0"/>
          </a:p>
        </p:txBody>
      </p:sp>
      <p:sp>
        <p:nvSpPr>
          <p:cNvPr id="9" name="Text 7"/>
          <p:cNvSpPr/>
          <p:nvPr/>
        </p:nvSpPr>
        <p:spPr>
          <a:xfrm>
            <a:off x="457200" y="4892040"/>
            <a:ext cx="11277295" cy="640080"/>
          </a:xfrm>
          <a:prstGeom prst="rect">
            <a:avLst/>
          </a:prstGeom>
          <a:noFill/>
          <a:ln/>
        </p:spPr>
        <p:txBody>
          <a:bodyPr wrap="square" lIns="0" tIns="0" rIns="0" bIns="0" rtlCol="0" anchor="t"/>
          <a:lstStyle/>
          <a:p>
            <a:pPr marL="0" indent="0">
              <a:lnSpc>
                <a:spcPct val="110000"/>
              </a:lnSpc>
              <a:buNone/>
            </a:pPr>
            <a:r>
              <a:rPr lang="en-US" sz="1100" dirty="0">
                <a:solidFill>
                  <a:srgbClr val="142433"/>
                </a:solidFill>
                <a:latin typeface="Calibri" pitchFamily="34" charset="0"/>
                <a:ea typeface="Calibri" pitchFamily="34" charset="-122"/>
                <a:cs typeface="Calibri" pitchFamily="34" charset="-120"/>
              </a:rPr>
              <a:t>Stack Overflow. (2024, May 29). Developers get by with a little help from AI: Code assistant pulse survey results. Stack Overflow Blog. https://stackoverflow.blog/2024/05/29/developers-get-by-with-a-little-help-from-ai-stack-overflow-knows-code-assistant-pulse-survey-results/</a:t>
            </a:r>
            <a:endParaRPr lang="en-US" sz="1100" dirty="0"/>
          </a:p>
        </p:txBody>
      </p:sp>
      <p:sp>
        <p:nvSpPr>
          <p:cNvPr id="10" name="Text 8"/>
          <p:cNvSpPr/>
          <p:nvPr/>
        </p:nvSpPr>
        <p:spPr>
          <a:xfrm>
            <a:off x="457200" y="5568696"/>
            <a:ext cx="11277295" cy="640080"/>
          </a:xfrm>
          <a:prstGeom prst="rect">
            <a:avLst/>
          </a:prstGeom>
          <a:noFill/>
          <a:ln/>
        </p:spPr>
        <p:txBody>
          <a:bodyPr wrap="square" lIns="0" tIns="0" rIns="0" bIns="0" rtlCol="0" anchor="t"/>
          <a:lstStyle/>
          <a:p>
            <a:pPr marL="0" indent="0">
              <a:lnSpc>
                <a:spcPct val="110000"/>
              </a:lnSpc>
              <a:buNone/>
            </a:pPr>
            <a:r>
              <a:rPr lang="en-US" sz="1100" dirty="0">
                <a:solidFill>
                  <a:srgbClr val="142433"/>
                </a:solidFill>
                <a:latin typeface="Calibri" pitchFamily="34" charset="0"/>
                <a:ea typeface="Calibri" pitchFamily="34" charset="-122"/>
                <a:cs typeface="Calibri" pitchFamily="34" charset="-120"/>
              </a:rPr>
              <a:t>UNESCAP CRVS Regional Hub. (n.d.). Thailand — civil registration and vital statistics. Retrieved 2026, from https://crvs.unescap.org/country/thailand</a:t>
            </a:r>
            <a:endParaRPr lang="en-US" sz="1100" dirty="0"/>
          </a:p>
        </p:txBody>
      </p:sp>
      <p:sp>
        <p:nvSpPr>
          <p:cNvPr id="11" name="Text 9"/>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12" name="Text 10"/>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72 / 80</a:t>
            </a:r>
            <a:endParaRPr lang="en-US" sz="8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REFERENCES (3 OF 3)</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Sources Cited in This Session (continued)</a:t>
            </a:r>
            <a:endParaRPr lang="en-US" sz="2700" dirty="0"/>
          </a:p>
        </p:txBody>
      </p:sp>
      <p:sp>
        <p:nvSpPr>
          <p:cNvPr id="4" name="Text 2"/>
          <p:cNvSpPr/>
          <p:nvPr/>
        </p:nvSpPr>
        <p:spPr>
          <a:xfrm>
            <a:off x="457200" y="1508760"/>
            <a:ext cx="11277295" cy="731520"/>
          </a:xfrm>
          <a:prstGeom prst="rect">
            <a:avLst/>
          </a:prstGeom>
          <a:noFill/>
          <a:ln/>
        </p:spPr>
        <p:txBody>
          <a:bodyPr wrap="square" lIns="0" tIns="0" rIns="0" bIns="0" rtlCol="0" anchor="t"/>
          <a:lstStyle/>
          <a:p>
            <a:pPr marL="0" indent="0">
              <a:lnSpc>
                <a:spcPct val="110000"/>
              </a:lnSpc>
              <a:buNone/>
            </a:pPr>
            <a:r>
              <a:rPr lang="en-US" sz="1100" dirty="0">
                <a:solidFill>
                  <a:srgbClr val="142433"/>
                </a:solidFill>
                <a:latin typeface="Calibri" pitchFamily="34" charset="0"/>
                <a:ea typeface="Calibri" pitchFamily="34" charset="-122"/>
                <a:cs typeface="Calibri" pitchFamily="34" charset="-120"/>
              </a:rPr>
              <a:t>National Statistical Office, Thailand. (2025). Statistical Yearbook Thailand 2025. https://www.nso.go.th/public/e-book/Statistical-Yearbook/SYB-2025_webPage/Page_SYB_EN.html</a:t>
            </a:r>
            <a:endParaRPr lang="en-US" sz="1100" dirty="0"/>
          </a:p>
        </p:txBody>
      </p:sp>
      <p:sp>
        <p:nvSpPr>
          <p:cNvPr id="5" name="Text 3"/>
          <p:cNvSpPr/>
          <p:nvPr/>
        </p:nvSpPr>
        <p:spPr>
          <a:xfrm>
            <a:off x="457200" y="2286000"/>
            <a:ext cx="11277295" cy="731520"/>
          </a:xfrm>
          <a:prstGeom prst="rect">
            <a:avLst/>
          </a:prstGeom>
          <a:noFill/>
          <a:ln/>
        </p:spPr>
        <p:txBody>
          <a:bodyPr wrap="square" lIns="0" tIns="0" rIns="0" bIns="0" rtlCol="0" anchor="t"/>
          <a:lstStyle/>
          <a:p>
            <a:pPr marL="0" indent="0">
              <a:lnSpc>
                <a:spcPct val="110000"/>
              </a:lnSpc>
              <a:buNone/>
            </a:pPr>
            <a:r>
              <a:rPr lang="en-US" sz="1100" dirty="0">
                <a:solidFill>
                  <a:srgbClr val="142433"/>
                </a:solidFill>
                <a:latin typeface="Calibri" pitchFamily="34" charset="0"/>
                <a:ea typeface="Calibri" pitchFamily="34" charset="-122"/>
                <a:cs typeface="Calibri" pitchFamily="34" charset="-120"/>
              </a:rPr>
              <a:t>United Nations. (2015). Transforming our world: The 2030 Agenda for Sustainable Development (A/RES/70/1). https://sdgs.un.org/2030agenda</a:t>
            </a:r>
            <a:endParaRPr lang="en-US" sz="1100" dirty="0"/>
          </a:p>
        </p:txBody>
      </p:sp>
      <p:sp>
        <p:nvSpPr>
          <p:cNvPr id="6" name="Text 4"/>
          <p:cNvSpPr/>
          <p:nvPr/>
        </p:nvSpPr>
        <p:spPr>
          <a:xfrm>
            <a:off x="457200" y="3063240"/>
            <a:ext cx="11277295" cy="731520"/>
          </a:xfrm>
          <a:prstGeom prst="rect">
            <a:avLst/>
          </a:prstGeom>
          <a:noFill/>
          <a:ln/>
        </p:spPr>
        <p:txBody>
          <a:bodyPr wrap="square" lIns="0" tIns="0" rIns="0" bIns="0" rtlCol="0" anchor="t"/>
          <a:lstStyle/>
          <a:p>
            <a:pPr marL="0" indent="0">
              <a:lnSpc>
                <a:spcPct val="110000"/>
              </a:lnSpc>
              <a:buNone/>
            </a:pPr>
            <a:r>
              <a:rPr lang="en-US" sz="1100" dirty="0">
                <a:solidFill>
                  <a:srgbClr val="142433"/>
                </a:solidFill>
                <a:latin typeface="Calibri" pitchFamily="34" charset="0"/>
                <a:ea typeface="Calibri" pitchFamily="34" charset="-122"/>
                <a:cs typeface="Calibri" pitchFamily="34" charset="-120"/>
              </a:rPr>
              <a:t>United Nations, Department of Economic and Social Affairs, Population Division. (2024). World population prospects 2024: Population by 5-year age groups and sex – Thailand, 2024 (medium variant) [Data set]. https://population.un.org/wpp/</a:t>
            </a:r>
            <a:endParaRPr lang="en-US" sz="1100" dirty="0"/>
          </a:p>
        </p:txBody>
      </p:sp>
      <p:sp>
        <p:nvSpPr>
          <p:cNvPr id="7" name="Text 5"/>
          <p:cNvSpPr/>
          <p:nvPr/>
        </p:nvSpPr>
        <p:spPr>
          <a:xfrm>
            <a:off x="457200" y="3840480"/>
            <a:ext cx="11277295" cy="731520"/>
          </a:xfrm>
          <a:prstGeom prst="rect">
            <a:avLst/>
          </a:prstGeom>
          <a:noFill/>
          <a:ln/>
        </p:spPr>
        <p:txBody>
          <a:bodyPr wrap="square" lIns="0" tIns="0" rIns="0" bIns="0" rtlCol="0" anchor="t"/>
          <a:lstStyle/>
          <a:p>
            <a:pPr marL="0" indent="0">
              <a:lnSpc>
                <a:spcPct val="110000"/>
              </a:lnSpc>
              <a:buNone/>
            </a:pPr>
            <a:r>
              <a:rPr lang="en-US" sz="1100" dirty="0">
                <a:solidFill>
                  <a:srgbClr val="142433"/>
                </a:solidFill>
                <a:latin typeface="Calibri" pitchFamily="34" charset="0"/>
                <a:ea typeface="Calibri" pitchFamily="34" charset="-122"/>
                <a:cs typeface="Calibri" pitchFamily="34" charset="-120"/>
              </a:rPr>
              <a:t>United Nations Statistics Division. (2026). SDG indicator metadata: 3.2.1 under-five mortality rate. https://unstats.un.org/sdgs/metadata/files/Metadata-03-02-01.pdf</a:t>
            </a:r>
            <a:endParaRPr lang="en-US" sz="1100" dirty="0"/>
          </a:p>
        </p:txBody>
      </p:sp>
      <p:sp>
        <p:nvSpPr>
          <p:cNvPr id="8" name="Text 6"/>
          <p:cNvSpPr/>
          <p:nvPr/>
        </p:nvSpPr>
        <p:spPr>
          <a:xfrm>
            <a:off x="457200" y="4617720"/>
            <a:ext cx="11277295" cy="731520"/>
          </a:xfrm>
          <a:prstGeom prst="rect">
            <a:avLst/>
          </a:prstGeom>
          <a:noFill/>
          <a:ln/>
        </p:spPr>
        <p:txBody>
          <a:bodyPr wrap="square" lIns="0" tIns="0" rIns="0" bIns="0" rtlCol="0" anchor="t"/>
          <a:lstStyle/>
          <a:p>
            <a:pPr marL="0" indent="0">
              <a:lnSpc>
                <a:spcPct val="110000"/>
              </a:lnSpc>
              <a:buNone/>
            </a:pPr>
            <a:r>
              <a:rPr lang="en-US" sz="1100" dirty="0">
                <a:solidFill>
                  <a:srgbClr val="142433"/>
                </a:solidFill>
                <a:latin typeface="Calibri" pitchFamily="34" charset="0"/>
                <a:ea typeface="Calibri" pitchFamily="34" charset="-122"/>
                <a:cs typeface="Calibri" pitchFamily="34" charset="-120"/>
              </a:rPr>
              <a:t>World Bank. (2024). Life expectancy at birth, total/male/female (years) – Thailand [Data set]. World Bank Open Data. https://data.worldbank.org/indicator/SP.DYN.LE00.IN?locations=TH</a:t>
            </a:r>
            <a:endParaRPr lang="en-US" sz="1100" dirty="0"/>
          </a:p>
        </p:txBody>
      </p:sp>
      <p:sp>
        <p:nvSpPr>
          <p:cNvPr id="9" name="Text 7"/>
          <p:cNvSpPr/>
          <p:nvPr/>
        </p:nvSpPr>
        <p:spPr>
          <a:xfrm>
            <a:off x="457200" y="5394960"/>
            <a:ext cx="11277295" cy="731520"/>
          </a:xfrm>
          <a:prstGeom prst="rect">
            <a:avLst/>
          </a:prstGeom>
          <a:noFill/>
          <a:ln/>
        </p:spPr>
        <p:txBody>
          <a:bodyPr wrap="square" lIns="0" tIns="0" rIns="0" bIns="0" rtlCol="0" anchor="t"/>
          <a:lstStyle/>
          <a:p>
            <a:pPr marL="0" indent="0">
              <a:lnSpc>
                <a:spcPct val="110000"/>
              </a:lnSpc>
              <a:buNone/>
            </a:pPr>
            <a:r>
              <a:rPr lang="en-US" sz="1100" dirty="0">
                <a:solidFill>
                  <a:srgbClr val="142433"/>
                </a:solidFill>
                <a:latin typeface="Calibri" pitchFamily="34" charset="0"/>
                <a:ea typeface="Calibri" pitchFamily="34" charset="-122"/>
                <a:cs typeface="Calibri" pitchFamily="34" charset="-120"/>
              </a:rPr>
              <a:t>World Health Organization. (2024). WHO methods and data sources for life tables 2000–2021. https://www.who.int/publications/m/item/who-methods-and-data-sources-for-life-tables-2000-2021</a:t>
            </a:r>
            <a:endParaRPr lang="en-US" sz="1100" dirty="0"/>
          </a:p>
        </p:txBody>
      </p:sp>
      <p:sp>
        <p:nvSpPr>
          <p:cNvPr id="10" name="Text 8"/>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11" name="Text 9"/>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73 / 80</a:t>
            </a:r>
            <a:endParaRPr lang="en-US" sz="8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CONSOLIDATE TODAY'S LEARNING</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Practice Exercises</a:t>
            </a:r>
            <a:endParaRPr lang="en-US" sz="2700" dirty="0"/>
          </a:p>
        </p:txBody>
      </p:sp>
      <p:sp>
        <p:nvSpPr>
          <p:cNvPr id="4" name="Shape 2"/>
          <p:cNvSpPr/>
          <p:nvPr/>
        </p:nvSpPr>
        <p:spPr>
          <a:xfrm>
            <a:off x="457200" y="1600200"/>
            <a:ext cx="3588410" cy="4297680"/>
          </a:xfrm>
          <a:prstGeom prst="roundRect">
            <a:avLst>
              <a:gd name="adj" fmla="val 1784"/>
            </a:avLst>
          </a:prstGeom>
          <a:solidFill>
            <a:srgbClr val="EEF3F8"/>
          </a:solidFill>
          <a:ln w="9525">
            <a:solidFill>
              <a:srgbClr val="D3E0E9"/>
            </a:solidFill>
            <a:prstDash val="solid"/>
          </a:ln>
        </p:spPr>
      </p:sp>
      <p:sp>
        <p:nvSpPr>
          <p:cNvPr id="5" name="Text 3"/>
          <p:cNvSpPr/>
          <p:nvPr/>
        </p:nvSpPr>
        <p:spPr>
          <a:xfrm>
            <a:off x="694944" y="1911096"/>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A mix of conceptual and computational questions</a:t>
            </a:r>
            <a:endParaRPr lang="en-US" sz="1450" dirty="0"/>
          </a:p>
        </p:txBody>
      </p:sp>
      <p:sp>
        <p:nvSpPr>
          <p:cNvPr id="6" name="Text 4"/>
          <p:cNvSpPr/>
          <p:nvPr/>
        </p:nvSpPr>
        <p:spPr>
          <a:xfrm>
            <a:off x="694944" y="2441448"/>
            <a:ext cx="3112922" cy="3273552"/>
          </a:xfrm>
          <a:prstGeom prst="rect">
            <a:avLst/>
          </a:prstGeom>
          <a:noFill/>
          <a:ln/>
        </p:spPr>
        <p:txBody>
          <a:bodyPr wrap="square" lIns="0" tIns="0" rIns="0" bIns="0" rtlCol="0" anchor="t"/>
          <a:lstStyle/>
          <a:p>
            <a:pPr marL="0" indent="0" algn="l">
              <a:lnSpc>
                <a:spcPct val="112000"/>
              </a:lnSpc>
              <a:buNone/>
            </a:pPr>
            <a:r>
              <a:rPr lang="en-US" sz="1200" dirty="0">
                <a:solidFill>
                  <a:srgbClr val="142433"/>
                </a:solidFill>
                <a:latin typeface="Calibri" pitchFamily="34" charset="0"/>
                <a:ea typeface="Calibri" pitchFamily="34" charset="-122"/>
                <a:cs typeface="Calibri" pitchFamily="34" charset="-120"/>
              </a:rPr>
              <a:t>Short-answer conceptual questions test your understanding of life-table logic; calculation questions require you to actually build or extend a life table.</a:t>
            </a:r>
            <a:endParaRPr lang="en-US" sz="1200" dirty="0"/>
          </a:p>
        </p:txBody>
      </p:sp>
      <p:sp>
        <p:nvSpPr>
          <p:cNvPr id="7" name="Shape 5"/>
          <p:cNvSpPr/>
          <p:nvPr/>
        </p:nvSpPr>
        <p:spPr>
          <a:xfrm>
            <a:off x="4301642" y="1600200"/>
            <a:ext cx="3588410" cy="4297680"/>
          </a:xfrm>
          <a:prstGeom prst="roundRect">
            <a:avLst>
              <a:gd name="adj" fmla="val 1784"/>
            </a:avLst>
          </a:prstGeom>
          <a:solidFill>
            <a:srgbClr val="EEF3F8"/>
          </a:solidFill>
          <a:ln w="9525">
            <a:solidFill>
              <a:srgbClr val="D3E0E9"/>
            </a:solidFill>
            <a:prstDash val="solid"/>
          </a:ln>
        </p:spPr>
      </p:sp>
      <p:sp>
        <p:nvSpPr>
          <p:cNvPr id="8" name="Text 6"/>
          <p:cNvSpPr/>
          <p:nvPr/>
        </p:nvSpPr>
        <p:spPr>
          <a:xfrm>
            <a:off x="4539386" y="1911096"/>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Use the tools from today</a:t>
            </a:r>
            <a:endParaRPr lang="en-US" sz="1450" dirty="0"/>
          </a:p>
        </p:txBody>
      </p:sp>
      <p:sp>
        <p:nvSpPr>
          <p:cNvPr id="9" name="Text 7"/>
          <p:cNvSpPr/>
          <p:nvPr/>
        </p:nvSpPr>
        <p:spPr>
          <a:xfrm>
            <a:off x="4539386" y="2441448"/>
            <a:ext cx="3112922" cy="3273552"/>
          </a:xfrm>
          <a:prstGeom prst="rect">
            <a:avLst/>
          </a:prstGeom>
          <a:noFill/>
          <a:ln/>
        </p:spPr>
        <p:txBody>
          <a:bodyPr wrap="square" lIns="0" tIns="0" rIns="0" bIns="0" rtlCol="0" anchor="t"/>
          <a:lstStyle/>
          <a:p>
            <a:pPr marL="0" indent="0" algn="l">
              <a:lnSpc>
                <a:spcPct val="112000"/>
              </a:lnSpc>
              <a:buNone/>
            </a:pPr>
            <a:r>
              <a:rPr lang="en-US" sz="1200" dirty="0">
                <a:solidFill>
                  <a:srgbClr val="142433"/>
                </a:solidFill>
                <a:latin typeface="Calibri" pitchFamily="34" charset="0"/>
                <a:ea typeface="Calibri" pitchFamily="34" charset="-122"/>
                <a:cs typeface="Calibri" pitchFamily="34" charset="-120"/>
              </a:rPr>
              <a:t>For calculation questions, use a spreadsheet or write your own Python/pandas code — and apply the verification checklist to your own work.</a:t>
            </a:r>
            <a:endParaRPr lang="en-US" sz="1200" dirty="0"/>
          </a:p>
        </p:txBody>
      </p:sp>
      <p:sp>
        <p:nvSpPr>
          <p:cNvPr id="10" name="Shape 8"/>
          <p:cNvSpPr/>
          <p:nvPr/>
        </p:nvSpPr>
        <p:spPr>
          <a:xfrm>
            <a:off x="8146085" y="1600200"/>
            <a:ext cx="3588410" cy="4297680"/>
          </a:xfrm>
          <a:prstGeom prst="roundRect">
            <a:avLst>
              <a:gd name="adj" fmla="val 1784"/>
            </a:avLst>
          </a:prstGeom>
          <a:solidFill>
            <a:srgbClr val="EEF3F8"/>
          </a:solidFill>
          <a:ln w="9525">
            <a:solidFill>
              <a:srgbClr val="D3E0E9"/>
            </a:solidFill>
            <a:prstDash val="solid"/>
          </a:ln>
        </p:spPr>
      </p:sp>
      <p:sp>
        <p:nvSpPr>
          <p:cNvPr id="11" name="Text 9"/>
          <p:cNvSpPr/>
          <p:nvPr/>
        </p:nvSpPr>
        <p:spPr>
          <a:xfrm>
            <a:off x="8383829" y="1911096"/>
            <a:ext cx="3112922" cy="502920"/>
          </a:xfrm>
          <a:prstGeom prst="rect">
            <a:avLst/>
          </a:prstGeom>
          <a:noFill/>
          <a:ln/>
        </p:spPr>
        <p:txBody>
          <a:bodyPr wrap="square" lIns="0" tIns="0" rIns="0" bIns="0" rtlCol="0" anchor="t"/>
          <a:lstStyle/>
          <a:p>
            <a:pPr marL="0" indent="0" algn="l">
              <a:buNone/>
            </a:pPr>
            <a:r>
              <a:rPr lang="en-US" sz="1450" b="1" dirty="0">
                <a:solidFill>
                  <a:srgbClr val="0B3D62"/>
                </a:solidFill>
                <a:latin typeface="Calibri" pitchFamily="34" charset="0"/>
                <a:ea typeface="Calibri" pitchFamily="34" charset="-122"/>
                <a:cs typeface="Calibri" pitchFamily="34" charset="-120"/>
              </a:rPr>
              <a:t>Format</a:t>
            </a:r>
            <a:endParaRPr lang="en-US" sz="1450" dirty="0"/>
          </a:p>
        </p:txBody>
      </p:sp>
      <p:sp>
        <p:nvSpPr>
          <p:cNvPr id="12" name="Text 10"/>
          <p:cNvSpPr/>
          <p:nvPr/>
        </p:nvSpPr>
        <p:spPr>
          <a:xfrm>
            <a:off x="8383829" y="2441448"/>
            <a:ext cx="3112922" cy="3273552"/>
          </a:xfrm>
          <a:prstGeom prst="rect">
            <a:avLst/>
          </a:prstGeom>
          <a:noFill/>
          <a:ln/>
        </p:spPr>
        <p:txBody>
          <a:bodyPr wrap="square" lIns="0" tIns="0" rIns="0" bIns="0" rtlCol="0" anchor="t"/>
          <a:lstStyle/>
          <a:p>
            <a:pPr marL="0" indent="0" algn="l">
              <a:lnSpc>
                <a:spcPct val="112000"/>
              </a:lnSpc>
              <a:buNone/>
            </a:pPr>
            <a:r>
              <a:rPr lang="en-US" sz="1200" dirty="0">
                <a:solidFill>
                  <a:srgbClr val="142433"/>
                </a:solidFill>
                <a:latin typeface="Calibri" pitchFamily="34" charset="0"/>
                <a:ea typeface="Calibri" pitchFamily="34" charset="-122"/>
                <a:cs typeface="Calibri" pitchFamily="34" charset="-120"/>
              </a:rPr>
              <a:t>20 questions across the next five slides, roughly 4 per slide. The companion Excel workbook adds two further full life-table construction exercises and ten additional problems -- complete both before the next session.</a:t>
            </a:r>
            <a:endParaRPr lang="en-US" sz="1200" dirty="0"/>
          </a:p>
        </p:txBody>
      </p:sp>
      <p:sp>
        <p:nvSpPr>
          <p:cNvPr id="13" name="Text 11"/>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14" name="Text 12"/>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74 / 80</a:t>
            </a:r>
            <a:endParaRPr lang="en-US" sz="8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CONCEPTUAL</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Practice Exercises (1 of 5)</a:t>
            </a:r>
            <a:endParaRPr lang="en-US" sz="2700" dirty="0"/>
          </a:p>
        </p:txBody>
      </p:sp>
      <p:sp>
        <p:nvSpPr>
          <p:cNvPr id="4" name="Shape 2"/>
          <p:cNvSpPr/>
          <p:nvPr/>
        </p:nvSpPr>
        <p:spPr>
          <a:xfrm>
            <a:off x="457200" y="1554480"/>
            <a:ext cx="11277295" cy="996696"/>
          </a:xfrm>
          <a:prstGeom prst="roundRect">
            <a:avLst>
              <a:gd name="adj" fmla="val 6422"/>
            </a:avLst>
          </a:prstGeom>
          <a:solidFill>
            <a:srgbClr val="EEF3F8"/>
          </a:solidFill>
          <a:ln w="9525">
            <a:solidFill>
              <a:srgbClr val="D3E0E9"/>
            </a:solidFill>
            <a:prstDash val="solid"/>
          </a:ln>
        </p:spPr>
      </p:sp>
      <p:sp>
        <p:nvSpPr>
          <p:cNvPr id="5" name="Text 3"/>
          <p:cNvSpPr/>
          <p:nvPr/>
        </p:nvSpPr>
        <p:spPr>
          <a:xfrm>
            <a:off x="685800" y="1554480"/>
            <a:ext cx="685800" cy="996696"/>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Q1.</a:t>
            </a:r>
            <a:endParaRPr lang="en-US" sz="1300" dirty="0"/>
          </a:p>
        </p:txBody>
      </p:sp>
      <p:sp>
        <p:nvSpPr>
          <p:cNvPr id="6" name="Text 4"/>
          <p:cNvSpPr/>
          <p:nvPr/>
        </p:nvSpPr>
        <p:spPr>
          <a:xfrm>
            <a:off x="1417320" y="1609344"/>
            <a:ext cx="10042855" cy="886968"/>
          </a:xfrm>
          <a:prstGeom prst="rect">
            <a:avLst/>
          </a:prstGeom>
          <a:noFill/>
          <a:ln/>
        </p:spPr>
        <p:txBody>
          <a:bodyPr wrap="square" lIns="0" tIns="0" rIns="0" bIns="0" rtlCol="0" anchor="ctr"/>
          <a:lstStyle/>
          <a:p>
            <a:pPr marL="0" indent="0">
              <a:lnSpc>
                <a:spcPct val="108000"/>
              </a:lnSpc>
              <a:buNone/>
            </a:pPr>
            <a:r>
              <a:rPr lang="en-US" sz="1200" dirty="0">
                <a:solidFill>
                  <a:srgbClr val="142433"/>
                </a:solidFill>
                <a:latin typeface="Calibri" pitchFamily="34" charset="0"/>
                <a:ea typeface="Calibri" pitchFamily="34" charset="-122"/>
                <a:cs typeface="Calibri" pitchFamily="34" charset="-120"/>
              </a:rPr>
              <a:t>Explain, in your own words, why nqx and nMx are conceptually different quantities even though nqx is calculated from nMx.</a:t>
            </a:r>
            <a:endParaRPr lang="en-US" sz="1200" dirty="0"/>
          </a:p>
        </p:txBody>
      </p:sp>
      <p:sp>
        <p:nvSpPr>
          <p:cNvPr id="7" name="Shape 5"/>
          <p:cNvSpPr/>
          <p:nvPr/>
        </p:nvSpPr>
        <p:spPr>
          <a:xfrm>
            <a:off x="457200" y="2715768"/>
            <a:ext cx="11277295" cy="996696"/>
          </a:xfrm>
          <a:prstGeom prst="roundRect">
            <a:avLst>
              <a:gd name="adj" fmla="val 6422"/>
            </a:avLst>
          </a:prstGeom>
          <a:solidFill>
            <a:srgbClr val="E1EAF2"/>
          </a:solidFill>
          <a:ln w="9525">
            <a:solidFill>
              <a:srgbClr val="D3E0E9"/>
            </a:solidFill>
            <a:prstDash val="solid"/>
          </a:ln>
        </p:spPr>
      </p:sp>
      <p:sp>
        <p:nvSpPr>
          <p:cNvPr id="8" name="Text 6"/>
          <p:cNvSpPr/>
          <p:nvPr/>
        </p:nvSpPr>
        <p:spPr>
          <a:xfrm>
            <a:off x="685800" y="2715768"/>
            <a:ext cx="685800" cy="996696"/>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Q2.</a:t>
            </a:r>
            <a:endParaRPr lang="en-US" sz="1300" dirty="0"/>
          </a:p>
        </p:txBody>
      </p:sp>
      <p:sp>
        <p:nvSpPr>
          <p:cNvPr id="9" name="Text 7"/>
          <p:cNvSpPr/>
          <p:nvPr/>
        </p:nvSpPr>
        <p:spPr>
          <a:xfrm>
            <a:off x="1417320" y="2770632"/>
            <a:ext cx="10042855" cy="886968"/>
          </a:xfrm>
          <a:prstGeom prst="rect">
            <a:avLst/>
          </a:prstGeom>
          <a:noFill/>
          <a:ln/>
        </p:spPr>
        <p:txBody>
          <a:bodyPr wrap="square" lIns="0" tIns="0" rIns="0" bIns="0" rtlCol="0" anchor="ctr"/>
          <a:lstStyle/>
          <a:p>
            <a:pPr marL="0" indent="0">
              <a:lnSpc>
                <a:spcPct val="108000"/>
              </a:lnSpc>
              <a:buNone/>
            </a:pPr>
            <a:r>
              <a:rPr lang="en-US" sz="1200" dirty="0">
                <a:solidFill>
                  <a:srgbClr val="142433"/>
                </a:solidFill>
                <a:latin typeface="Calibri" pitchFamily="34" charset="0"/>
                <a:ea typeface="Calibri" pitchFamily="34" charset="-122"/>
                <a:cs typeface="Calibri" pitchFamily="34" charset="-120"/>
              </a:rPr>
              <a:t>Why does the age-0 interval require a special formula for both nqx (via a0) and nLx, rather than using the general formulas that apply to other age groups?</a:t>
            </a:r>
            <a:endParaRPr lang="en-US" sz="1200" dirty="0"/>
          </a:p>
        </p:txBody>
      </p:sp>
      <p:sp>
        <p:nvSpPr>
          <p:cNvPr id="10" name="Shape 8"/>
          <p:cNvSpPr/>
          <p:nvPr/>
        </p:nvSpPr>
        <p:spPr>
          <a:xfrm>
            <a:off x="457200" y="3877056"/>
            <a:ext cx="11277295" cy="996696"/>
          </a:xfrm>
          <a:prstGeom prst="roundRect">
            <a:avLst>
              <a:gd name="adj" fmla="val 6422"/>
            </a:avLst>
          </a:prstGeom>
          <a:solidFill>
            <a:srgbClr val="EEF3F8"/>
          </a:solidFill>
          <a:ln w="9525">
            <a:solidFill>
              <a:srgbClr val="D3E0E9"/>
            </a:solidFill>
            <a:prstDash val="solid"/>
          </a:ln>
        </p:spPr>
      </p:sp>
      <p:sp>
        <p:nvSpPr>
          <p:cNvPr id="11" name="Text 9"/>
          <p:cNvSpPr/>
          <p:nvPr/>
        </p:nvSpPr>
        <p:spPr>
          <a:xfrm>
            <a:off x="685800" y="3877056"/>
            <a:ext cx="685800" cy="996696"/>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Q3.</a:t>
            </a:r>
            <a:endParaRPr lang="en-US" sz="1300" dirty="0"/>
          </a:p>
        </p:txBody>
      </p:sp>
      <p:sp>
        <p:nvSpPr>
          <p:cNvPr id="12" name="Text 10"/>
          <p:cNvSpPr/>
          <p:nvPr/>
        </p:nvSpPr>
        <p:spPr>
          <a:xfrm>
            <a:off x="1417320" y="3931920"/>
            <a:ext cx="10042855" cy="886968"/>
          </a:xfrm>
          <a:prstGeom prst="rect">
            <a:avLst/>
          </a:prstGeom>
          <a:noFill/>
          <a:ln/>
        </p:spPr>
        <p:txBody>
          <a:bodyPr wrap="square" lIns="0" tIns="0" rIns="0" bIns="0" rtlCol="0" anchor="ctr"/>
          <a:lstStyle/>
          <a:p>
            <a:pPr marL="0" indent="0">
              <a:lnSpc>
                <a:spcPct val="108000"/>
              </a:lnSpc>
              <a:buNone/>
            </a:pPr>
            <a:r>
              <a:rPr lang="en-US" sz="1200" dirty="0">
                <a:solidFill>
                  <a:srgbClr val="142433"/>
                </a:solidFill>
                <a:latin typeface="Calibri" pitchFamily="34" charset="0"/>
                <a:ea typeface="Calibri" pitchFamily="34" charset="-122"/>
                <a:cs typeface="Calibri" pitchFamily="34" charset="-120"/>
              </a:rPr>
              <a:t>A colleague builds a life table and finds that Tx increases with age. What is the most likely error, and how would you locate it in a spreadsheet or code?</a:t>
            </a:r>
            <a:endParaRPr lang="en-US" sz="1200" dirty="0"/>
          </a:p>
        </p:txBody>
      </p:sp>
      <p:sp>
        <p:nvSpPr>
          <p:cNvPr id="13" name="Shape 11"/>
          <p:cNvSpPr/>
          <p:nvPr/>
        </p:nvSpPr>
        <p:spPr>
          <a:xfrm>
            <a:off x="457200" y="5038344"/>
            <a:ext cx="11277295" cy="996696"/>
          </a:xfrm>
          <a:prstGeom prst="roundRect">
            <a:avLst>
              <a:gd name="adj" fmla="val 6422"/>
            </a:avLst>
          </a:prstGeom>
          <a:solidFill>
            <a:srgbClr val="E1EAF2"/>
          </a:solidFill>
          <a:ln w="9525">
            <a:solidFill>
              <a:srgbClr val="D3E0E9"/>
            </a:solidFill>
            <a:prstDash val="solid"/>
          </a:ln>
        </p:spPr>
      </p:sp>
      <p:sp>
        <p:nvSpPr>
          <p:cNvPr id="14" name="Text 12"/>
          <p:cNvSpPr/>
          <p:nvPr/>
        </p:nvSpPr>
        <p:spPr>
          <a:xfrm>
            <a:off x="685800" y="5038344"/>
            <a:ext cx="685800" cy="996696"/>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Q4.</a:t>
            </a:r>
            <a:endParaRPr lang="en-US" sz="1300" dirty="0"/>
          </a:p>
        </p:txBody>
      </p:sp>
      <p:sp>
        <p:nvSpPr>
          <p:cNvPr id="15" name="Text 13"/>
          <p:cNvSpPr/>
          <p:nvPr/>
        </p:nvSpPr>
        <p:spPr>
          <a:xfrm>
            <a:off x="1417320" y="5093208"/>
            <a:ext cx="10042855" cy="886968"/>
          </a:xfrm>
          <a:prstGeom prst="rect">
            <a:avLst/>
          </a:prstGeom>
          <a:noFill/>
          <a:ln/>
        </p:spPr>
        <p:txBody>
          <a:bodyPr wrap="square" lIns="0" tIns="0" rIns="0" bIns="0" rtlCol="0" anchor="ctr"/>
          <a:lstStyle/>
          <a:p>
            <a:pPr marL="0" indent="0">
              <a:lnSpc>
                <a:spcPct val="108000"/>
              </a:lnSpc>
              <a:buNone/>
            </a:pPr>
            <a:r>
              <a:rPr lang="en-US" sz="1200" dirty="0">
                <a:solidFill>
                  <a:srgbClr val="142433"/>
                </a:solidFill>
                <a:latin typeface="Calibri" pitchFamily="34" charset="0"/>
                <a:ea typeface="Calibri" pitchFamily="34" charset="-122"/>
                <a:cs typeface="Calibri" pitchFamily="34" charset="-120"/>
              </a:rPr>
              <a:t>Explain why e1 can be higher than e0 in a population with meaningful infant mortality.</a:t>
            </a:r>
            <a:endParaRPr lang="en-US" sz="1200" dirty="0"/>
          </a:p>
        </p:txBody>
      </p:sp>
      <p:sp>
        <p:nvSpPr>
          <p:cNvPr id="16" name="Text 14"/>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17" name="Text 15"/>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75 / 80</a:t>
            </a:r>
            <a:endParaRPr lang="en-US" sz="8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CALCULATION</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Practice Exercises (2 of 5)</a:t>
            </a:r>
            <a:endParaRPr lang="en-US" sz="2700" dirty="0"/>
          </a:p>
        </p:txBody>
      </p:sp>
      <p:sp>
        <p:nvSpPr>
          <p:cNvPr id="4" name="Shape 2"/>
          <p:cNvSpPr/>
          <p:nvPr/>
        </p:nvSpPr>
        <p:spPr>
          <a:xfrm>
            <a:off x="457200" y="1554480"/>
            <a:ext cx="11277295" cy="996696"/>
          </a:xfrm>
          <a:prstGeom prst="roundRect">
            <a:avLst>
              <a:gd name="adj" fmla="val 6422"/>
            </a:avLst>
          </a:prstGeom>
          <a:solidFill>
            <a:srgbClr val="EEF3F8"/>
          </a:solidFill>
          <a:ln w="9525">
            <a:solidFill>
              <a:srgbClr val="D3E0E9"/>
            </a:solidFill>
            <a:prstDash val="solid"/>
          </a:ln>
        </p:spPr>
        <p:txBody>
          <a:bodyPr/>
          <a:lstStyle/>
          <a:p>
            <a:endParaRPr/>
          </a:p>
        </p:txBody>
      </p:sp>
      <p:sp>
        <p:nvSpPr>
          <p:cNvPr id="5" name="Text 3"/>
          <p:cNvSpPr/>
          <p:nvPr/>
        </p:nvSpPr>
        <p:spPr>
          <a:xfrm>
            <a:off x="685800" y="1554480"/>
            <a:ext cx="685800" cy="996696"/>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Q5.</a:t>
            </a:r>
            <a:endParaRPr lang="en-US" sz="1300" dirty="0"/>
          </a:p>
        </p:txBody>
      </p:sp>
      <p:sp>
        <p:nvSpPr>
          <p:cNvPr id="6" name="Text 4"/>
          <p:cNvSpPr/>
          <p:nvPr/>
        </p:nvSpPr>
        <p:spPr>
          <a:xfrm>
            <a:off x="1417320" y="1609344"/>
            <a:ext cx="10042855" cy="886968"/>
          </a:xfrm>
          <a:prstGeom prst="rect">
            <a:avLst/>
          </a:prstGeom>
          <a:noFill/>
          <a:ln/>
        </p:spPr>
        <p:txBody>
          <a:bodyPr wrap="square" lIns="0" tIns="0" rIns="0" bIns="0" rtlCol="0" anchor="ctr"/>
          <a:lstStyle/>
          <a:p>
            <a:pPr marL="0" indent="0">
              <a:lnSpc>
                <a:spcPct val="108000"/>
              </a:lnSpc>
              <a:buNone/>
            </a:pPr>
            <a:r>
              <a:rPr lang="en-US" sz="1200" dirty="0">
                <a:solidFill>
                  <a:srgbClr val="142433"/>
                </a:solidFill>
                <a:latin typeface="Calibri" pitchFamily="34" charset="0"/>
                <a:ea typeface="Calibri" pitchFamily="34" charset="-122"/>
                <a:cs typeface="Calibri" pitchFamily="34" charset="-120"/>
              </a:rPr>
              <a:t>What is the difference between a cohort life table and a period life table, and why are almost all publicly reported "life expectancy" figures period measures?</a:t>
            </a:r>
            <a:endParaRPr lang="en-US" sz="1200" dirty="0"/>
          </a:p>
        </p:txBody>
      </p:sp>
      <p:sp>
        <p:nvSpPr>
          <p:cNvPr id="7" name="Shape 5"/>
          <p:cNvSpPr/>
          <p:nvPr/>
        </p:nvSpPr>
        <p:spPr>
          <a:xfrm>
            <a:off x="457200" y="2715768"/>
            <a:ext cx="11277295" cy="996696"/>
          </a:xfrm>
          <a:prstGeom prst="roundRect">
            <a:avLst>
              <a:gd name="adj" fmla="val 6422"/>
            </a:avLst>
          </a:prstGeom>
          <a:solidFill>
            <a:srgbClr val="E1EAF2"/>
          </a:solidFill>
          <a:ln w="9525">
            <a:solidFill>
              <a:srgbClr val="D3E0E9"/>
            </a:solidFill>
            <a:prstDash val="solid"/>
          </a:ln>
        </p:spPr>
        <p:txBody>
          <a:bodyPr/>
          <a:lstStyle/>
          <a:p>
            <a:endParaRPr/>
          </a:p>
        </p:txBody>
      </p:sp>
      <p:sp>
        <p:nvSpPr>
          <p:cNvPr id="8" name="Text 6"/>
          <p:cNvSpPr/>
          <p:nvPr/>
        </p:nvSpPr>
        <p:spPr>
          <a:xfrm>
            <a:off x="685800" y="2715768"/>
            <a:ext cx="685800" cy="996696"/>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Q6.</a:t>
            </a:r>
            <a:endParaRPr lang="en-US" sz="1300" dirty="0"/>
          </a:p>
        </p:txBody>
      </p:sp>
      <p:sp>
        <p:nvSpPr>
          <p:cNvPr id="9" name="Text 7"/>
          <p:cNvSpPr/>
          <p:nvPr/>
        </p:nvSpPr>
        <p:spPr>
          <a:xfrm>
            <a:off x="1417320" y="2770632"/>
            <a:ext cx="10042855" cy="886968"/>
          </a:xfrm>
          <a:prstGeom prst="rect">
            <a:avLst/>
          </a:prstGeom>
          <a:noFill/>
          <a:ln/>
        </p:spPr>
        <p:txBody>
          <a:bodyPr wrap="square" lIns="0" tIns="0" rIns="0" bIns="0" rtlCol="0" anchor="ctr"/>
          <a:lstStyle/>
          <a:p>
            <a:pPr marL="0" indent="0">
              <a:lnSpc>
                <a:spcPct val="108000"/>
              </a:lnSpc>
              <a:buNone/>
            </a:pPr>
            <a:r>
              <a:rPr lang="en-US" sz="1200" dirty="0">
                <a:solidFill>
                  <a:srgbClr val="142433"/>
                </a:solidFill>
                <a:latin typeface="Calibri" pitchFamily="34" charset="0"/>
                <a:ea typeface="Calibri" pitchFamily="34" charset="-122"/>
                <a:cs typeface="Calibri" pitchFamily="34" charset="-120"/>
              </a:rPr>
              <a:t>Given l20 = 96,135 and l25 = 95,400 (radix 100,000), calculate 5q20 and 5d20.</a:t>
            </a:r>
            <a:endParaRPr lang="en-US" sz="1200" dirty="0"/>
          </a:p>
        </p:txBody>
      </p:sp>
      <p:sp>
        <p:nvSpPr>
          <p:cNvPr id="10" name="Shape 8"/>
          <p:cNvSpPr/>
          <p:nvPr/>
        </p:nvSpPr>
        <p:spPr>
          <a:xfrm>
            <a:off x="457200" y="3877056"/>
            <a:ext cx="11277295" cy="996696"/>
          </a:xfrm>
          <a:prstGeom prst="roundRect">
            <a:avLst>
              <a:gd name="adj" fmla="val 6422"/>
            </a:avLst>
          </a:prstGeom>
          <a:solidFill>
            <a:srgbClr val="EEF3F8"/>
          </a:solidFill>
          <a:ln w="9525">
            <a:solidFill>
              <a:srgbClr val="D3E0E9"/>
            </a:solidFill>
            <a:prstDash val="solid"/>
          </a:ln>
        </p:spPr>
        <p:txBody>
          <a:bodyPr/>
          <a:lstStyle/>
          <a:p>
            <a:endParaRPr/>
          </a:p>
        </p:txBody>
      </p:sp>
      <p:sp>
        <p:nvSpPr>
          <p:cNvPr id="11" name="Text 9"/>
          <p:cNvSpPr/>
          <p:nvPr/>
        </p:nvSpPr>
        <p:spPr>
          <a:xfrm>
            <a:off x="685800" y="3877056"/>
            <a:ext cx="685800" cy="996696"/>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Q7.</a:t>
            </a:r>
            <a:endParaRPr lang="en-US" sz="1300" dirty="0"/>
          </a:p>
        </p:txBody>
      </p:sp>
      <p:sp>
        <p:nvSpPr>
          <p:cNvPr id="12" name="Text 10"/>
          <p:cNvSpPr/>
          <p:nvPr/>
        </p:nvSpPr>
        <p:spPr>
          <a:xfrm>
            <a:off x="1417320" y="3931920"/>
            <a:ext cx="10042855" cy="886968"/>
          </a:xfrm>
          <a:prstGeom prst="rect">
            <a:avLst/>
          </a:prstGeom>
          <a:noFill/>
          <a:ln/>
        </p:spPr>
        <p:txBody>
          <a:bodyPr wrap="square" lIns="0" tIns="0" rIns="0" bIns="0" rtlCol="0" anchor="ctr"/>
          <a:lstStyle/>
          <a:p>
            <a:pPr marL="0" indent="0">
              <a:lnSpc>
                <a:spcPct val="108000"/>
              </a:lnSpc>
              <a:buNone/>
            </a:pPr>
            <a:r>
              <a:rPr lang="en-US" sz="1200" dirty="0">
                <a:solidFill>
                  <a:srgbClr val="142433"/>
                </a:solidFill>
                <a:latin typeface="Calibri" pitchFamily="34" charset="0"/>
                <a:ea typeface="Calibri" pitchFamily="34" charset="-122"/>
                <a:cs typeface="Calibri" pitchFamily="34" charset="-120"/>
              </a:rPr>
              <a:t>Using the Cohort A worked-example life table (Slide 49), verify by hand that Σ ndx across all six age groups equals the radix (100,000). Show your work.</a:t>
            </a:r>
            <a:endParaRPr lang="en-US" sz="1200" dirty="0"/>
          </a:p>
        </p:txBody>
      </p:sp>
      <p:sp>
        <p:nvSpPr>
          <p:cNvPr id="13" name="Shape 11"/>
          <p:cNvSpPr/>
          <p:nvPr/>
        </p:nvSpPr>
        <p:spPr>
          <a:xfrm>
            <a:off x="457200" y="5038344"/>
            <a:ext cx="11277295" cy="996696"/>
          </a:xfrm>
          <a:prstGeom prst="roundRect">
            <a:avLst>
              <a:gd name="adj" fmla="val 6422"/>
            </a:avLst>
          </a:prstGeom>
          <a:solidFill>
            <a:srgbClr val="E1EAF2"/>
          </a:solidFill>
          <a:ln w="9525">
            <a:solidFill>
              <a:srgbClr val="D3E0E9"/>
            </a:solidFill>
            <a:prstDash val="solid"/>
          </a:ln>
        </p:spPr>
        <p:txBody>
          <a:bodyPr/>
          <a:lstStyle/>
          <a:p>
            <a:endParaRPr/>
          </a:p>
        </p:txBody>
      </p:sp>
      <p:sp>
        <p:nvSpPr>
          <p:cNvPr id="14" name="Text 12"/>
          <p:cNvSpPr/>
          <p:nvPr/>
        </p:nvSpPr>
        <p:spPr>
          <a:xfrm>
            <a:off x="685800" y="5038344"/>
            <a:ext cx="685800" cy="996696"/>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Q8.</a:t>
            </a:r>
            <a:endParaRPr lang="en-US" sz="1300" dirty="0"/>
          </a:p>
        </p:txBody>
      </p:sp>
      <p:sp>
        <p:nvSpPr>
          <p:cNvPr id="15" name="Text 13"/>
          <p:cNvSpPr/>
          <p:nvPr/>
        </p:nvSpPr>
        <p:spPr>
          <a:xfrm>
            <a:off x="1417320" y="5093208"/>
            <a:ext cx="10042855" cy="886968"/>
          </a:xfrm>
          <a:prstGeom prst="rect">
            <a:avLst/>
          </a:prstGeom>
          <a:noFill/>
          <a:ln/>
        </p:spPr>
        <p:txBody>
          <a:bodyPr wrap="square" lIns="0" tIns="0" rIns="0" bIns="0" rtlCol="0" anchor="ctr"/>
          <a:lstStyle/>
          <a:p>
            <a:pPr marL="0" indent="0">
              <a:lnSpc>
                <a:spcPct val="108000"/>
              </a:lnSpc>
              <a:buNone/>
            </a:pPr>
            <a:r>
              <a:rPr lang="en-US" sz="1200" dirty="0">
                <a:solidFill>
                  <a:srgbClr val="142433"/>
                </a:solidFill>
                <a:latin typeface="Calibri" pitchFamily="34" charset="0"/>
                <a:ea typeface="Calibri" pitchFamily="34" charset="-122"/>
                <a:cs typeface="Calibri" pitchFamily="34" charset="-120"/>
              </a:rPr>
              <a:t>A life table reports nM0 = 0.045 and a0 = 0.35. Using n = 1, compute nq0.</a:t>
            </a:r>
            <a:endParaRPr lang="en-US" sz="1200" dirty="0"/>
          </a:p>
        </p:txBody>
      </p:sp>
      <p:sp>
        <p:nvSpPr>
          <p:cNvPr id="16" name="Text 14"/>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17" name="Text 15"/>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76 / 80</a:t>
            </a:r>
            <a:endParaRPr lang="en-US" sz="8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CALCULATION, CONTINUED</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Practice Exercises (3 of 5)</a:t>
            </a:r>
            <a:endParaRPr lang="en-US" sz="2700" dirty="0"/>
          </a:p>
        </p:txBody>
      </p:sp>
      <p:sp>
        <p:nvSpPr>
          <p:cNvPr id="4" name="Shape 2"/>
          <p:cNvSpPr/>
          <p:nvPr/>
        </p:nvSpPr>
        <p:spPr>
          <a:xfrm>
            <a:off x="457200" y="1554480"/>
            <a:ext cx="11277295" cy="996696"/>
          </a:xfrm>
          <a:prstGeom prst="roundRect">
            <a:avLst>
              <a:gd name="adj" fmla="val 6422"/>
            </a:avLst>
          </a:prstGeom>
          <a:solidFill>
            <a:srgbClr val="EEF3F8"/>
          </a:solidFill>
          <a:ln w="9525">
            <a:solidFill>
              <a:srgbClr val="D3E0E9"/>
            </a:solidFill>
            <a:prstDash val="solid"/>
          </a:ln>
        </p:spPr>
        <p:txBody>
          <a:bodyPr/>
          <a:lstStyle/>
          <a:p>
            <a:endParaRPr/>
          </a:p>
        </p:txBody>
      </p:sp>
      <p:sp>
        <p:nvSpPr>
          <p:cNvPr id="5" name="Text 3"/>
          <p:cNvSpPr/>
          <p:nvPr/>
        </p:nvSpPr>
        <p:spPr>
          <a:xfrm>
            <a:off x="685800" y="1554480"/>
            <a:ext cx="685800" cy="996696"/>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Q9.</a:t>
            </a:r>
            <a:endParaRPr lang="en-US" sz="1300" dirty="0"/>
          </a:p>
        </p:txBody>
      </p:sp>
      <p:sp>
        <p:nvSpPr>
          <p:cNvPr id="6" name="Text 4"/>
          <p:cNvSpPr/>
          <p:nvPr/>
        </p:nvSpPr>
        <p:spPr>
          <a:xfrm>
            <a:off x="1417320" y="1609344"/>
            <a:ext cx="10042855" cy="886968"/>
          </a:xfrm>
          <a:prstGeom prst="rect">
            <a:avLst/>
          </a:prstGeom>
          <a:noFill/>
          <a:ln/>
        </p:spPr>
        <p:txBody>
          <a:bodyPr wrap="square" lIns="0" tIns="0" rIns="0" bIns="0" rtlCol="0" anchor="ctr"/>
          <a:lstStyle/>
          <a:p>
            <a:pPr marL="0" indent="0">
              <a:lnSpc>
                <a:spcPct val="108000"/>
              </a:lnSpc>
              <a:buNone/>
            </a:pPr>
            <a:r>
              <a:rPr lang="en-US" sz="1200" dirty="0">
                <a:solidFill>
                  <a:srgbClr val="142433"/>
                </a:solidFill>
                <a:latin typeface="Calibri" pitchFamily="34" charset="0"/>
                <a:ea typeface="Calibri" pitchFamily="34" charset="-122"/>
                <a:cs typeface="Calibri" pitchFamily="34" charset="-120"/>
              </a:rPr>
              <a:t>For an open age interval "75+" with l75 = 40,000 and M75+ = 0.085, compute L75+ and e75.</a:t>
            </a:r>
            <a:endParaRPr lang="en-US" sz="1200" dirty="0"/>
          </a:p>
        </p:txBody>
      </p:sp>
      <p:sp>
        <p:nvSpPr>
          <p:cNvPr id="7" name="Shape 5"/>
          <p:cNvSpPr/>
          <p:nvPr/>
        </p:nvSpPr>
        <p:spPr>
          <a:xfrm>
            <a:off x="457200" y="2715768"/>
            <a:ext cx="11277295" cy="996696"/>
          </a:xfrm>
          <a:prstGeom prst="roundRect">
            <a:avLst>
              <a:gd name="adj" fmla="val 6422"/>
            </a:avLst>
          </a:prstGeom>
          <a:solidFill>
            <a:srgbClr val="E1EAF2"/>
          </a:solidFill>
          <a:ln w="9525">
            <a:solidFill>
              <a:srgbClr val="D3E0E9"/>
            </a:solidFill>
            <a:prstDash val="solid"/>
          </a:ln>
        </p:spPr>
        <p:txBody>
          <a:bodyPr/>
          <a:lstStyle/>
          <a:p>
            <a:endParaRPr/>
          </a:p>
        </p:txBody>
      </p:sp>
      <p:sp>
        <p:nvSpPr>
          <p:cNvPr id="8" name="Text 6"/>
          <p:cNvSpPr/>
          <p:nvPr/>
        </p:nvSpPr>
        <p:spPr>
          <a:xfrm>
            <a:off x="685800" y="2715768"/>
            <a:ext cx="685800" cy="996696"/>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Q10.</a:t>
            </a:r>
            <a:endParaRPr lang="en-US" sz="1300" dirty="0"/>
          </a:p>
        </p:txBody>
      </p:sp>
      <p:sp>
        <p:nvSpPr>
          <p:cNvPr id="9" name="Text 7"/>
          <p:cNvSpPr/>
          <p:nvPr/>
        </p:nvSpPr>
        <p:spPr>
          <a:xfrm>
            <a:off x="1417320" y="2770632"/>
            <a:ext cx="10042855" cy="886968"/>
          </a:xfrm>
          <a:prstGeom prst="rect">
            <a:avLst/>
          </a:prstGeom>
          <a:noFill/>
          <a:ln/>
        </p:spPr>
        <p:txBody>
          <a:bodyPr wrap="square" lIns="0" tIns="0" rIns="0" bIns="0" rtlCol="0" anchor="ctr"/>
          <a:lstStyle/>
          <a:p>
            <a:pPr marL="0" indent="0">
              <a:lnSpc>
                <a:spcPct val="108000"/>
              </a:lnSpc>
              <a:buNone/>
            </a:pPr>
            <a:r>
              <a:rPr lang="en-US" sz="1200" dirty="0">
                <a:solidFill>
                  <a:srgbClr val="142433"/>
                </a:solidFill>
                <a:latin typeface="Calibri" pitchFamily="34" charset="0"/>
                <a:ea typeface="Calibri" pitchFamily="34" charset="-122"/>
                <a:cs typeface="Calibri" pitchFamily="34" charset="-120"/>
              </a:rPr>
              <a:t>Using the Cohort B abridged life table (Slide 54), verify that the two equivalent formulas for ndx (lx − lx+n and lx × nqx) give the same answer for the 5–9 age group. Show both calculations.</a:t>
            </a:r>
            <a:endParaRPr lang="en-US" sz="1200" dirty="0"/>
          </a:p>
        </p:txBody>
      </p:sp>
      <p:sp>
        <p:nvSpPr>
          <p:cNvPr id="10" name="Shape 8"/>
          <p:cNvSpPr/>
          <p:nvPr/>
        </p:nvSpPr>
        <p:spPr>
          <a:xfrm>
            <a:off x="457200" y="3877056"/>
            <a:ext cx="11277295" cy="996696"/>
          </a:xfrm>
          <a:prstGeom prst="roundRect">
            <a:avLst>
              <a:gd name="adj" fmla="val 6422"/>
            </a:avLst>
          </a:prstGeom>
          <a:solidFill>
            <a:srgbClr val="EEF3F8"/>
          </a:solidFill>
          <a:ln w="9525">
            <a:solidFill>
              <a:srgbClr val="D3E0E9"/>
            </a:solidFill>
            <a:prstDash val="solid"/>
          </a:ln>
        </p:spPr>
        <p:txBody>
          <a:bodyPr/>
          <a:lstStyle/>
          <a:p>
            <a:endParaRPr/>
          </a:p>
        </p:txBody>
      </p:sp>
      <p:sp>
        <p:nvSpPr>
          <p:cNvPr id="11" name="Text 9"/>
          <p:cNvSpPr/>
          <p:nvPr/>
        </p:nvSpPr>
        <p:spPr>
          <a:xfrm>
            <a:off x="685800" y="3877056"/>
            <a:ext cx="685800" cy="996696"/>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Q11.</a:t>
            </a:r>
            <a:endParaRPr lang="en-US" sz="1300" dirty="0"/>
          </a:p>
        </p:txBody>
      </p:sp>
      <p:sp>
        <p:nvSpPr>
          <p:cNvPr id="12" name="Text 10"/>
          <p:cNvSpPr/>
          <p:nvPr/>
        </p:nvSpPr>
        <p:spPr>
          <a:xfrm>
            <a:off x="1417320" y="3931920"/>
            <a:ext cx="10042855" cy="886968"/>
          </a:xfrm>
          <a:prstGeom prst="rect">
            <a:avLst/>
          </a:prstGeom>
          <a:noFill/>
          <a:ln/>
        </p:spPr>
        <p:txBody>
          <a:bodyPr wrap="square" lIns="0" tIns="0" rIns="0" bIns="0" rtlCol="0" anchor="ctr"/>
          <a:lstStyle/>
          <a:p>
            <a:pPr marL="0" indent="0">
              <a:lnSpc>
                <a:spcPct val="108000"/>
              </a:lnSpc>
              <a:buNone/>
            </a:pPr>
            <a:r>
              <a:rPr lang="en-US" sz="1200" dirty="0">
                <a:solidFill>
                  <a:srgbClr val="142433"/>
                </a:solidFill>
                <a:latin typeface="Calibri" pitchFamily="34" charset="0"/>
                <a:ea typeface="Calibri" pitchFamily="34" charset="-122"/>
                <a:cs typeface="Calibri" pitchFamily="34" charset="-120"/>
              </a:rPr>
              <a:t>Using Cohort B's inputs (Slide 53), recompute 5q15 if nM(15–19) were 0.0090 instead of 0.0060, holding nax = 2.5. How much does l20 change?</a:t>
            </a:r>
            <a:endParaRPr lang="en-US" sz="1200" dirty="0"/>
          </a:p>
        </p:txBody>
      </p:sp>
      <p:sp>
        <p:nvSpPr>
          <p:cNvPr id="13" name="Shape 11"/>
          <p:cNvSpPr/>
          <p:nvPr/>
        </p:nvSpPr>
        <p:spPr>
          <a:xfrm>
            <a:off x="457200" y="5038344"/>
            <a:ext cx="11277295" cy="996696"/>
          </a:xfrm>
          <a:prstGeom prst="roundRect">
            <a:avLst>
              <a:gd name="adj" fmla="val 6422"/>
            </a:avLst>
          </a:prstGeom>
          <a:solidFill>
            <a:srgbClr val="E1EAF2"/>
          </a:solidFill>
          <a:ln w="9525">
            <a:solidFill>
              <a:srgbClr val="D3E0E9"/>
            </a:solidFill>
            <a:prstDash val="solid"/>
          </a:ln>
        </p:spPr>
        <p:txBody>
          <a:bodyPr/>
          <a:lstStyle/>
          <a:p>
            <a:endParaRPr/>
          </a:p>
        </p:txBody>
      </p:sp>
      <p:sp>
        <p:nvSpPr>
          <p:cNvPr id="14" name="Text 12"/>
          <p:cNvSpPr/>
          <p:nvPr/>
        </p:nvSpPr>
        <p:spPr>
          <a:xfrm>
            <a:off x="685800" y="5038344"/>
            <a:ext cx="685800" cy="996696"/>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Q12.</a:t>
            </a:r>
            <a:endParaRPr lang="en-US" sz="1300" dirty="0"/>
          </a:p>
        </p:txBody>
      </p:sp>
      <p:sp>
        <p:nvSpPr>
          <p:cNvPr id="15" name="Text 13"/>
          <p:cNvSpPr/>
          <p:nvPr/>
        </p:nvSpPr>
        <p:spPr>
          <a:xfrm>
            <a:off x="1417320" y="5093208"/>
            <a:ext cx="10042855" cy="886968"/>
          </a:xfrm>
          <a:prstGeom prst="rect">
            <a:avLst/>
          </a:prstGeom>
          <a:noFill/>
          <a:ln/>
        </p:spPr>
        <p:txBody>
          <a:bodyPr wrap="square" lIns="0" tIns="0" rIns="0" bIns="0" rtlCol="0" anchor="ctr"/>
          <a:lstStyle/>
          <a:p>
            <a:pPr marL="0" indent="0">
              <a:lnSpc>
                <a:spcPct val="108000"/>
              </a:lnSpc>
              <a:buNone/>
            </a:pPr>
            <a:r>
              <a:rPr lang="en-US" sz="1200" dirty="0">
                <a:solidFill>
                  <a:srgbClr val="142433"/>
                </a:solidFill>
                <a:latin typeface="Calibri" pitchFamily="34" charset="0"/>
                <a:ea typeface="Calibri" pitchFamily="34" charset="-122"/>
                <a:cs typeface="Calibri" pitchFamily="34" charset="-120"/>
              </a:rPr>
              <a:t>Using the Session 5 Excel workbook's Thailand 2024 data, explain why nqx for the "100+" open interval is set to 1.0 by definition rather than computed from the general nqx formula.</a:t>
            </a:r>
            <a:endParaRPr lang="en-US" sz="1200" dirty="0"/>
          </a:p>
        </p:txBody>
      </p:sp>
      <p:sp>
        <p:nvSpPr>
          <p:cNvPr id="16" name="Text 14"/>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17" name="Text 15"/>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77 / 80</a:t>
            </a:r>
            <a:endParaRPr lang="en-US" sz="8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APPLIED / AI-VERIFICATION</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Practice Exercises (4 of 5)</a:t>
            </a:r>
            <a:endParaRPr lang="en-US" sz="2700" dirty="0"/>
          </a:p>
        </p:txBody>
      </p:sp>
      <p:sp>
        <p:nvSpPr>
          <p:cNvPr id="4" name="Shape 2"/>
          <p:cNvSpPr/>
          <p:nvPr/>
        </p:nvSpPr>
        <p:spPr>
          <a:xfrm>
            <a:off x="457200" y="1554480"/>
            <a:ext cx="11277295" cy="996696"/>
          </a:xfrm>
          <a:prstGeom prst="roundRect">
            <a:avLst>
              <a:gd name="adj" fmla="val 6422"/>
            </a:avLst>
          </a:prstGeom>
          <a:solidFill>
            <a:srgbClr val="EEF3F8"/>
          </a:solidFill>
          <a:ln w="9525">
            <a:solidFill>
              <a:srgbClr val="D3E0E9"/>
            </a:solidFill>
            <a:prstDash val="solid"/>
          </a:ln>
        </p:spPr>
        <p:txBody>
          <a:bodyPr/>
          <a:lstStyle/>
          <a:p>
            <a:endParaRPr/>
          </a:p>
        </p:txBody>
      </p:sp>
      <p:sp>
        <p:nvSpPr>
          <p:cNvPr id="5" name="Text 3"/>
          <p:cNvSpPr/>
          <p:nvPr/>
        </p:nvSpPr>
        <p:spPr>
          <a:xfrm>
            <a:off x="685800" y="1554480"/>
            <a:ext cx="685800" cy="996696"/>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Q13.</a:t>
            </a:r>
            <a:endParaRPr lang="en-US" sz="1300" dirty="0"/>
          </a:p>
        </p:txBody>
      </p:sp>
      <p:sp>
        <p:nvSpPr>
          <p:cNvPr id="6" name="Text 4"/>
          <p:cNvSpPr/>
          <p:nvPr/>
        </p:nvSpPr>
        <p:spPr>
          <a:xfrm>
            <a:off x="1417320" y="1609344"/>
            <a:ext cx="10042855" cy="886968"/>
          </a:xfrm>
          <a:prstGeom prst="rect">
            <a:avLst/>
          </a:prstGeom>
          <a:noFill/>
          <a:ln/>
        </p:spPr>
        <p:txBody>
          <a:bodyPr wrap="square" lIns="0" tIns="0" rIns="0" bIns="0" rtlCol="0" anchor="ctr"/>
          <a:lstStyle/>
          <a:p>
            <a:pPr marL="0" indent="0">
              <a:lnSpc>
                <a:spcPct val="108000"/>
              </a:lnSpc>
              <a:buNone/>
            </a:pPr>
            <a:r>
              <a:rPr lang="en-US" sz="1200" dirty="0">
                <a:solidFill>
                  <a:srgbClr val="142433"/>
                </a:solidFill>
                <a:latin typeface="Calibri" pitchFamily="34" charset="0"/>
                <a:ea typeface="Calibri" pitchFamily="34" charset="-122"/>
                <a:cs typeface="Calibri" pitchFamily="34" charset="-120"/>
              </a:rPr>
              <a:t>An AI coding assistant returns Python code that computes nLx as n × lx for every age group, including age 0. Identify the error and explain, with reference to the checklist, which slide's formula it violates.</a:t>
            </a:r>
            <a:endParaRPr lang="en-US" sz="1200" dirty="0"/>
          </a:p>
        </p:txBody>
      </p:sp>
      <p:sp>
        <p:nvSpPr>
          <p:cNvPr id="7" name="Shape 5"/>
          <p:cNvSpPr/>
          <p:nvPr/>
        </p:nvSpPr>
        <p:spPr>
          <a:xfrm>
            <a:off x="457200" y="2715768"/>
            <a:ext cx="11277295" cy="996696"/>
          </a:xfrm>
          <a:prstGeom prst="roundRect">
            <a:avLst>
              <a:gd name="adj" fmla="val 6422"/>
            </a:avLst>
          </a:prstGeom>
          <a:solidFill>
            <a:srgbClr val="E1EAF2"/>
          </a:solidFill>
          <a:ln w="9525">
            <a:solidFill>
              <a:srgbClr val="D3E0E9"/>
            </a:solidFill>
            <a:prstDash val="solid"/>
          </a:ln>
        </p:spPr>
        <p:txBody>
          <a:bodyPr/>
          <a:lstStyle/>
          <a:p>
            <a:endParaRPr/>
          </a:p>
        </p:txBody>
      </p:sp>
      <p:sp>
        <p:nvSpPr>
          <p:cNvPr id="8" name="Text 6"/>
          <p:cNvSpPr/>
          <p:nvPr/>
        </p:nvSpPr>
        <p:spPr>
          <a:xfrm>
            <a:off x="685800" y="2715768"/>
            <a:ext cx="685800" cy="996696"/>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Q14.</a:t>
            </a:r>
            <a:endParaRPr lang="en-US" sz="1300" dirty="0"/>
          </a:p>
        </p:txBody>
      </p:sp>
      <p:sp>
        <p:nvSpPr>
          <p:cNvPr id="9" name="Text 7"/>
          <p:cNvSpPr/>
          <p:nvPr/>
        </p:nvSpPr>
        <p:spPr>
          <a:xfrm>
            <a:off x="1417320" y="2770632"/>
            <a:ext cx="10042855" cy="886968"/>
          </a:xfrm>
          <a:prstGeom prst="rect">
            <a:avLst/>
          </a:prstGeom>
          <a:noFill/>
          <a:ln/>
        </p:spPr>
        <p:txBody>
          <a:bodyPr wrap="square" lIns="0" tIns="0" rIns="0" bIns="0" rtlCol="0" anchor="ctr"/>
          <a:lstStyle/>
          <a:p>
            <a:pPr marL="0" indent="0">
              <a:lnSpc>
                <a:spcPct val="108000"/>
              </a:lnSpc>
              <a:buNone/>
            </a:pPr>
            <a:r>
              <a:rPr lang="en-US" sz="1200" dirty="0">
                <a:solidFill>
                  <a:srgbClr val="142433"/>
                </a:solidFill>
                <a:latin typeface="Calibri" pitchFamily="34" charset="0"/>
                <a:ea typeface="Calibri" pitchFamily="34" charset="-122"/>
                <a:cs typeface="Calibri" pitchFamily="34" charset="-120"/>
              </a:rPr>
              <a:t>You ask an AI assistant to build a complete (single-year) life table from 5-year abridged data without specifying an interpolation method. What should you check before trusting its output?</a:t>
            </a:r>
            <a:endParaRPr lang="en-US" sz="1200" dirty="0"/>
          </a:p>
        </p:txBody>
      </p:sp>
      <p:sp>
        <p:nvSpPr>
          <p:cNvPr id="10" name="Shape 8"/>
          <p:cNvSpPr/>
          <p:nvPr/>
        </p:nvSpPr>
        <p:spPr>
          <a:xfrm>
            <a:off x="457200" y="3877056"/>
            <a:ext cx="11277295" cy="996696"/>
          </a:xfrm>
          <a:prstGeom prst="roundRect">
            <a:avLst>
              <a:gd name="adj" fmla="val 6422"/>
            </a:avLst>
          </a:prstGeom>
          <a:solidFill>
            <a:srgbClr val="EEF3F8"/>
          </a:solidFill>
          <a:ln w="9525">
            <a:solidFill>
              <a:srgbClr val="D3E0E9"/>
            </a:solidFill>
            <a:prstDash val="solid"/>
          </a:ln>
        </p:spPr>
        <p:txBody>
          <a:bodyPr/>
          <a:lstStyle/>
          <a:p>
            <a:endParaRPr/>
          </a:p>
        </p:txBody>
      </p:sp>
      <p:sp>
        <p:nvSpPr>
          <p:cNvPr id="11" name="Text 9"/>
          <p:cNvSpPr/>
          <p:nvPr/>
        </p:nvSpPr>
        <p:spPr>
          <a:xfrm>
            <a:off x="685800" y="3877056"/>
            <a:ext cx="685800" cy="996696"/>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Q15.</a:t>
            </a:r>
            <a:endParaRPr lang="en-US" sz="1300" dirty="0"/>
          </a:p>
        </p:txBody>
      </p:sp>
      <p:sp>
        <p:nvSpPr>
          <p:cNvPr id="12" name="Text 10"/>
          <p:cNvSpPr/>
          <p:nvPr/>
        </p:nvSpPr>
        <p:spPr>
          <a:xfrm>
            <a:off x="1417320" y="3931920"/>
            <a:ext cx="10042855" cy="886968"/>
          </a:xfrm>
          <a:prstGeom prst="rect">
            <a:avLst/>
          </a:prstGeom>
          <a:noFill/>
          <a:ln/>
        </p:spPr>
        <p:txBody>
          <a:bodyPr wrap="square" lIns="0" tIns="0" rIns="0" bIns="0" rtlCol="0" anchor="ctr"/>
          <a:lstStyle/>
          <a:p>
            <a:pPr marL="0" indent="0">
              <a:lnSpc>
                <a:spcPct val="108000"/>
              </a:lnSpc>
              <a:buNone/>
            </a:pPr>
            <a:r>
              <a:rPr lang="en-US" sz="1200" dirty="0">
                <a:solidFill>
                  <a:srgbClr val="142433"/>
                </a:solidFill>
                <a:latin typeface="Calibri" pitchFamily="34" charset="0"/>
                <a:ea typeface="Calibri" pitchFamily="34" charset="-122"/>
                <a:cs typeface="Calibri" pitchFamily="34" charset="-120"/>
              </a:rPr>
              <a:t>Design one additional automated sanity check (beyond those on Slide 64) that you could add to a Python life-table function to catch construction errors automatically.</a:t>
            </a:r>
            <a:endParaRPr lang="en-US" sz="1200" dirty="0"/>
          </a:p>
        </p:txBody>
      </p:sp>
      <p:sp>
        <p:nvSpPr>
          <p:cNvPr id="13" name="Shape 11"/>
          <p:cNvSpPr/>
          <p:nvPr/>
        </p:nvSpPr>
        <p:spPr>
          <a:xfrm>
            <a:off x="457200" y="5038344"/>
            <a:ext cx="11277295" cy="996696"/>
          </a:xfrm>
          <a:prstGeom prst="roundRect">
            <a:avLst>
              <a:gd name="adj" fmla="val 6422"/>
            </a:avLst>
          </a:prstGeom>
          <a:solidFill>
            <a:srgbClr val="E1EAF2"/>
          </a:solidFill>
          <a:ln w="9525">
            <a:solidFill>
              <a:srgbClr val="D3E0E9"/>
            </a:solidFill>
            <a:prstDash val="solid"/>
          </a:ln>
        </p:spPr>
        <p:txBody>
          <a:bodyPr/>
          <a:lstStyle/>
          <a:p>
            <a:endParaRPr/>
          </a:p>
        </p:txBody>
      </p:sp>
      <p:sp>
        <p:nvSpPr>
          <p:cNvPr id="14" name="Text 12"/>
          <p:cNvSpPr/>
          <p:nvPr/>
        </p:nvSpPr>
        <p:spPr>
          <a:xfrm>
            <a:off x="685800" y="5038344"/>
            <a:ext cx="685800" cy="996696"/>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Q16.</a:t>
            </a:r>
            <a:endParaRPr lang="en-US" sz="1300" dirty="0"/>
          </a:p>
        </p:txBody>
      </p:sp>
      <p:sp>
        <p:nvSpPr>
          <p:cNvPr id="15" name="Text 13"/>
          <p:cNvSpPr/>
          <p:nvPr/>
        </p:nvSpPr>
        <p:spPr>
          <a:xfrm>
            <a:off x="1417320" y="5093208"/>
            <a:ext cx="10042855" cy="886968"/>
          </a:xfrm>
          <a:prstGeom prst="rect">
            <a:avLst/>
          </a:prstGeom>
          <a:noFill/>
          <a:ln/>
        </p:spPr>
        <p:txBody>
          <a:bodyPr wrap="square" lIns="0" tIns="0" rIns="0" bIns="0" rtlCol="0" anchor="ctr"/>
          <a:lstStyle/>
          <a:p>
            <a:pPr marL="0" indent="0">
              <a:lnSpc>
                <a:spcPct val="108000"/>
              </a:lnSpc>
              <a:buNone/>
            </a:pPr>
            <a:r>
              <a:rPr lang="en-US" sz="1200" dirty="0">
                <a:solidFill>
                  <a:srgbClr val="142433"/>
                </a:solidFill>
                <a:latin typeface="Calibri" pitchFamily="34" charset="0"/>
                <a:ea typeface="Calibri" pitchFamily="34" charset="-122"/>
                <a:cs typeface="Calibri" pitchFamily="34" charset="-120"/>
              </a:rPr>
              <a:t>Using the Thailand example (Slide 34), explain one demographic reason a national life table should be constructed separately by sex rather than pooled.</a:t>
            </a:r>
            <a:endParaRPr lang="en-US" sz="1200" dirty="0"/>
          </a:p>
        </p:txBody>
      </p:sp>
      <p:sp>
        <p:nvSpPr>
          <p:cNvPr id="16" name="Text 14"/>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17" name="Text 15"/>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78 / 80</a:t>
            </a:r>
            <a:endParaRPr lang="en-US" sz="8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4552" cy="274320"/>
          </a:xfrm>
          <a:prstGeom prst="rect">
            <a:avLst/>
          </a:prstGeom>
          <a:noFill/>
          <a:ln/>
        </p:spPr>
        <p:txBody>
          <a:bodyPr wrap="square" lIns="0" tIns="0" rIns="0" bIns="0" rtlCol="0" anchor="ctr"/>
          <a:lstStyle/>
          <a:p>
            <a:pPr marL="0" indent="0" algn="l">
              <a:buNone/>
            </a:pPr>
            <a:r>
              <a:rPr lang="en-US" sz="1100" b="1" kern="0" spc="200" dirty="0">
                <a:solidFill>
                  <a:srgbClr val="1C7293"/>
                </a:solidFill>
                <a:latin typeface="Calibri" pitchFamily="34" charset="0"/>
                <a:ea typeface="Calibri" pitchFamily="34" charset="-122"/>
                <a:cs typeface="Calibri" pitchFamily="34" charset="-120"/>
              </a:rPr>
              <a:t>REAL-WORLD CONSTRUCTION PRACTICE</a:t>
            </a:r>
            <a:endParaRPr lang="en-US" sz="1100" dirty="0"/>
          </a:p>
        </p:txBody>
      </p:sp>
      <p:sp>
        <p:nvSpPr>
          <p:cNvPr id="3" name="Text 1"/>
          <p:cNvSpPr/>
          <p:nvPr/>
        </p:nvSpPr>
        <p:spPr>
          <a:xfrm>
            <a:off x="457200" y="548640"/>
            <a:ext cx="11274552" cy="640080"/>
          </a:xfrm>
          <a:prstGeom prst="rect">
            <a:avLst/>
          </a:prstGeom>
          <a:noFill/>
          <a:ln/>
        </p:spPr>
        <p:txBody>
          <a:bodyPr wrap="square" lIns="0" tIns="0" rIns="0" bIns="0" rtlCol="0" anchor="t"/>
          <a:lstStyle/>
          <a:p>
            <a:pPr marL="0" indent="0" algn="l">
              <a:buNone/>
            </a:pPr>
            <a:r>
              <a:rPr lang="en-US" sz="2700" b="1" dirty="0">
                <a:solidFill>
                  <a:srgbClr val="0B3D62"/>
                </a:solidFill>
                <a:latin typeface="Cambria" pitchFamily="34" charset="0"/>
                <a:ea typeface="Cambria" pitchFamily="34" charset="-122"/>
                <a:cs typeface="Cambria" pitchFamily="34" charset="-120"/>
              </a:rPr>
              <a:t>Practice Exercises (5 of 5)</a:t>
            </a:r>
            <a:endParaRPr lang="en-US" sz="2700" dirty="0"/>
          </a:p>
        </p:txBody>
      </p:sp>
      <p:sp>
        <p:nvSpPr>
          <p:cNvPr id="4" name="Shape 2"/>
          <p:cNvSpPr/>
          <p:nvPr/>
        </p:nvSpPr>
        <p:spPr>
          <a:xfrm>
            <a:off x="457200" y="1554480"/>
            <a:ext cx="11277295" cy="996696"/>
          </a:xfrm>
          <a:prstGeom prst="roundRect">
            <a:avLst>
              <a:gd name="adj" fmla="val 6422"/>
            </a:avLst>
          </a:prstGeom>
          <a:solidFill>
            <a:srgbClr val="EEF3F8"/>
          </a:solidFill>
          <a:ln w="9525">
            <a:solidFill>
              <a:srgbClr val="D3E0E9"/>
            </a:solidFill>
            <a:prstDash val="solid"/>
          </a:ln>
        </p:spPr>
        <p:txBody>
          <a:bodyPr/>
          <a:lstStyle/>
          <a:p>
            <a:endParaRPr/>
          </a:p>
        </p:txBody>
      </p:sp>
      <p:sp>
        <p:nvSpPr>
          <p:cNvPr id="5" name="Text 3"/>
          <p:cNvSpPr/>
          <p:nvPr/>
        </p:nvSpPr>
        <p:spPr>
          <a:xfrm>
            <a:off x="685800" y="1554480"/>
            <a:ext cx="685800" cy="996696"/>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Q17.</a:t>
            </a:r>
            <a:endParaRPr lang="en-US" sz="1300" dirty="0"/>
          </a:p>
        </p:txBody>
      </p:sp>
      <p:sp>
        <p:nvSpPr>
          <p:cNvPr id="6" name="Text 4"/>
          <p:cNvSpPr/>
          <p:nvPr/>
        </p:nvSpPr>
        <p:spPr>
          <a:xfrm>
            <a:off x="1417320" y="1609344"/>
            <a:ext cx="10042855" cy="886968"/>
          </a:xfrm>
          <a:prstGeom prst="rect">
            <a:avLst/>
          </a:prstGeom>
          <a:noFill/>
          <a:ln/>
        </p:spPr>
        <p:txBody>
          <a:bodyPr wrap="square" lIns="0" tIns="0" rIns="0" bIns="0" rtlCol="0" anchor="ctr"/>
          <a:lstStyle/>
          <a:p>
            <a:pPr marL="0" indent="0">
              <a:lnSpc>
                <a:spcPct val="108000"/>
              </a:lnSpc>
              <a:buNone/>
            </a:pPr>
            <a:r>
              <a:rPr lang="en-US" sz="1200" dirty="0">
                <a:solidFill>
                  <a:srgbClr val="142433"/>
                </a:solidFill>
                <a:latin typeface="Calibri" pitchFamily="34" charset="0"/>
                <a:ea typeface="Calibri" pitchFamily="34" charset="-122"/>
                <a:cs typeface="Calibri" pitchFamily="34" charset="-120"/>
              </a:rPr>
              <a:t>Using the CRVS workflow on Slide 37, explain why a life table built from ONLY Ministry of Interior registration data (without the Ministry of Public Health matching step) might understate cause-specific mortality even if the total death count is accurate.</a:t>
            </a:r>
            <a:endParaRPr lang="en-US" sz="1200" dirty="0"/>
          </a:p>
        </p:txBody>
      </p:sp>
      <p:sp>
        <p:nvSpPr>
          <p:cNvPr id="7" name="Shape 5"/>
          <p:cNvSpPr/>
          <p:nvPr/>
        </p:nvSpPr>
        <p:spPr>
          <a:xfrm>
            <a:off x="457200" y="2715768"/>
            <a:ext cx="11277295" cy="996696"/>
          </a:xfrm>
          <a:prstGeom prst="roundRect">
            <a:avLst>
              <a:gd name="adj" fmla="val 6422"/>
            </a:avLst>
          </a:prstGeom>
          <a:solidFill>
            <a:srgbClr val="E1EAF2"/>
          </a:solidFill>
          <a:ln w="9525">
            <a:solidFill>
              <a:srgbClr val="D3E0E9"/>
            </a:solidFill>
            <a:prstDash val="solid"/>
          </a:ln>
        </p:spPr>
        <p:txBody>
          <a:bodyPr/>
          <a:lstStyle/>
          <a:p>
            <a:endParaRPr/>
          </a:p>
        </p:txBody>
      </p:sp>
      <p:sp>
        <p:nvSpPr>
          <p:cNvPr id="8" name="Text 6"/>
          <p:cNvSpPr/>
          <p:nvPr/>
        </p:nvSpPr>
        <p:spPr>
          <a:xfrm>
            <a:off x="685800" y="2715768"/>
            <a:ext cx="685800" cy="996696"/>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Q18.</a:t>
            </a:r>
            <a:endParaRPr lang="en-US" sz="1300" dirty="0"/>
          </a:p>
        </p:txBody>
      </p:sp>
      <p:sp>
        <p:nvSpPr>
          <p:cNvPr id="9" name="Text 7"/>
          <p:cNvSpPr/>
          <p:nvPr/>
        </p:nvSpPr>
        <p:spPr>
          <a:xfrm>
            <a:off x="1417320" y="2770632"/>
            <a:ext cx="10042855" cy="886968"/>
          </a:xfrm>
          <a:prstGeom prst="rect">
            <a:avLst/>
          </a:prstGeom>
          <a:noFill/>
          <a:ln/>
        </p:spPr>
        <p:txBody>
          <a:bodyPr wrap="square" lIns="0" tIns="0" rIns="0" bIns="0" rtlCol="0" anchor="ctr"/>
          <a:lstStyle/>
          <a:p>
            <a:pPr marL="0" indent="0">
              <a:lnSpc>
                <a:spcPct val="108000"/>
              </a:lnSpc>
              <a:buNone/>
            </a:pPr>
            <a:r>
              <a:rPr lang="en-US" sz="1200" dirty="0">
                <a:solidFill>
                  <a:srgbClr val="142433"/>
                </a:solidFill>
                <a:latin typeface="Calibri" pitchFamily="34" charset="0"/>
                <a:ea typeface="Calibri" pitchFamily="34" charset="-122"/>
                <a:cs typeface="Calibri" pitchFamily="34" charset="-120"/>
              </a:rPr>
              <a:t>Why does the US NCHS life table (Slide 41) supplement vital-registration data with Medicare records for ages 66–99? What real-world data problem is this solving, and how does it relate to the "small-number instability" issue from Slide 35?</a:t>
            </a:r>
            <a:endParaRPr lang="en-US" sz="1200" dirty="0"/>
          </a:p>
        </p:txBody>
      </p:sp>
      <p:sp>
        <p:nvSpPr>
          <p:cNvPr id="10" name="Shape 8"/>
          <p:cNvSpPr/>
          <p:nvPr/>
        </p:nvSpPr>
        <p:spPr>
          <a:xfrm>
            <a:off x="457200" y="3877056"/>
            <a:ext cx="11277295" cy="996696"/>
          </a:xfrm>
          <a:prstGeom prst="roundRect">
            <a:avLst>
              <a:gd name="adj" fmla="val 6422"/>
            </a:avLst>
          </a:prstGeom>
          <a:solidFill>
            <a:srgbClr val="EEF3F8"/>
          </a:solidFill>
          <a:ln w="9525">
            <a:solidFill>
              <a:srgbClr val="D3E0E9"/>
            </a:solidFill>
            <a:prstDash val="solid"/>
          </a:ln>
        </p:spPr>
        <p:txBody>
          <a:bodyPr/>
          <a:lstStyle/>
          <a:p>
            <a:endParaRPr/>
          </a:p>
        </p:txBody>
      </p:sp>
      <p:sp>
        <p:nvSpPr>
          <p:cNvPr id="11" name="Text 9"/>
          <p:cNvSpPr/>
          <p:nvPr/>
        </p:nvSpPr>
        <p:spPr>
          <a:xfrm>
            <a:off x="685800" y="3877056"/>
            <a:ext cx="685800" cy="996696"/>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Q19.</a:t>
            </a:r>
            <a:endParaRPr lang="en-US" sz="1300" dirty="0"/>
          </a:p>
        </p:txBody>
      </p:sp>
      <p:sp>
        <p:nvSpPr>
          <p:cNvPr id="12" name="Text 10"/>
          <p:cNvSpPr/>
          <p:nvPr/>
        </p:nvSpPr>
        <p:spPr>
          <a:xfrm>
            <a:off x="1417320" y="3931920"/>
            <a:ext cx="10042855" cy="886968"/>
          </a:xfrm>
          <a:prstGeom prst="rect">
            <a:avLst/>
          </a:prstGeom>
          <a:noFill/>
          <a:ln/>
        </p:spPr>
        <p:txBody>
          <a:bodyPr wrap="square" lIns="0" tIns="0" rIns="0" bIns="0" rtlCol="0" anchor="ctr"/>
          <a:lstStyle/>
          <a:p>
            <a:pPr marL="0" indent="0">
              <a:lnSpc>
                <a:spcPct val="108000"/>
              </a:lnSpc>
              <a:buNone/>
            </a:pPr>
            <a:r>
              <a:rPr lang="en-US" sz="1200" dirty="0">
                <a:solidFill>
                  <a:srgbClr val="142433"/>
                </a:solidFill>
                <a:latin typeface="Calibri" pitchFamily="34" charset="0"/>
                <a:ea typeface="Calibri" pitchFamily="34" charset="-122"/>
                <a:cs typeface="Calibri" pitchFamily="34" charset="-120"/>
              </a:rPr>
              <a:t>A national statistical office revises last year's official life table after this year's census. List two genuine reasons (from Slide 42) this revision might happen, and explain why it does NOT mean last year's table was "wrong."</a:t>
            </a:r>
            <a:endParaRPr lang="en-US" sz="1200" dirty="0"/>
          </a:p>
        </p:txBody>
      </p:sp>
      <p:sp>
        <p:nvSpPr>
          <p:cNvPr id="13" name="Shape 11"/>
          <p:cNvSpPr/>
          <p:nvPr/>
        </p:nvSpPr>
        <p:spPr>
          <a:xfrm>
            <a:off x="457200" y="5038344"/>
            <a:ext cx="11277295" cy="996696"/>
          </a:xfrm>
          <a:prstGeom prst="roundRect">
            <a:avLst>
              <a:gd name="adj" fmla="val 6422"/>
            </a:avLst>
          </a:prstGeom>
          <a:solidFill>
            <a:srgbClr val="E1EAF2"/>
          </a:solidFill>
          <a:ln w="9525">
            <a:solidFill>
              <a:srgbClr val="D3E0E9"/>
            </a:solidFill>
            <a:prstDash val="solid"/>
          </a:ln>
        </p:spPr>
        <p:txBody>
          <a:bodyPr/>
          <a:lstStyle/>
          <a:p>
            <a:endParaRPr/>
          </a:p>
        </p:txBody>
      </p:sp>
      <p:sp>
        <p:nvSpPr>
          <p:cNvPr id="14" name="Text 12"/>
          <p:cNvSpPr/>
          <p:nvPr/>
        </p:nvSpPr>
        <p:spPr>
          <a:xfrm>
            <a:off x="685800" y="5038344"/>
            <a:ext cx="685800" cy="996696"/>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Q20.</a:t>
            </a:r>
            <a:endParaRPr lang="en-US" sz="1300" dirty="0"/>
          </a:p>
        </p:txBody>
      </p:sp>
      <p:sp>
        <p:nvSpPr>
          <p:cNvPr id="15" name="Text 13"/>
          <p:cNvSpPr/>
          <p:nvPr/>
        </p:nvSpPr>
        <p:spPr>
          <a:xfrm>
            <a:off x="1417320" y="5093208"/>
            <a:ext cx="10042855" cy="886968"/>
          </a:xfrm>
          <a:prstGeom prst="rect">
            <a:avLst/>
          </a:prstGeom>
          <a:noFill/>
          <a:ln/>
        </p:spPr>
        <p:txBody>
          <a:bodyPr wrap="square" lIns="0" tIns="0" rIns="0" bIns="0" rtlCol="0" anchor="ctr"/>
          <a:lstStyle/>
          <a:p>
            <a:pPr marL="0" indent="0">
              <a:lnSpc>
                <a:spcPct val="108000"/>
              </a:lnSpc>
              <a:buNone/>
            </a:pPr>
            <a:r>
              <a:rPr lang="en-US" sz="1200" dirty="0">
                <a:solidFill>
                  <a:srgbClr val="142433"/>
                </a:solidFill>
                <a:latin typeface="Calibri" pitchFamily="34" charset="0"/>
                <a:ea typeface="Calibri" pitchFamily="34" charset="-122"/>
                <a:cs typeface="Calibri" pitchFamily="34" charset="-120"/>
              </a:rPr>
              <a:t>Compare the Andreev–Kingkade nax method to the naive n/2 default (Slide 40). In which part of the age range does the choice of method matter most for the resulting e0, and why?</a:t>
            </a:r>
            <a:endParaRPr lang="en-US" sz="1200" dirty="0"/>
          </a:p>
        </p:txBody>
      </p:sp>
      <p:sp>
        <p:nvSpPr>
          <p:cNvPr id="16" name="Text 14"/>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17" name="Text 15"/>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79 / 80</a:t>
            </a:r>
            <a:endParaRPr lang="en-US" sz="8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65">
    <p:bg>
      <p:bgPr>
        <a:solidFill>
          <a:srgbClr val="07213A"/>
        </a:solidFill>
        <a:effectLst/>
      </p:bgPr>
    </p:bg>
    <p:spTree>
      <p:nvGrpSpPr>
        <p:cNvPr id="1" name=""/>
        <p:cNvGrpSpPr/>
        <p:nvPr/>
      </p:nvGrpSpPr>
      <p:grpSpPr>
        <a:xfrm>
          <a:off x="0" y="0"/>
          <a:ext cx="0" cy="0"/>
          <a:chOff x="0" y="0"/>
          <a:chExt cx="0" cy="0"/>
        </a:xfrm>
      </p:grpSpPr>
      <p:sp>
        <p:nvSpPr>
          <p:cNvPr id="2" name="Shape 0"/>
          <p:cNvSpPr/>
          <p:nvPr/>
        </p:nvSpPr>
        <p:spPr>
          <a:xfrm>
            <a:off x="-2286000" y="3200400"/>
            <a:ext cx="5486400" cy="5486400"/>
          </a:xfrm>
          <a:prstGeom prst="ellipse">
            <a:avLst/>
          </a:prstGeom>
          <a:solidFill>
            <a:srgbClr val="0E4A75"/>
          </a:solidFill>
          <a:ln/>
        </p:spPr>
      </p:sp>
      <p:sp>
        <p:nvSpPr>
          <p:cNvPr id="3" name="Shape 1"/>
          <p:cNvSpPr/>
          <p:nvPr/>
        </p:nvSpPr>
        <p:spPr>
          <a:xfrm>
            <a:off x="9601200" y="-2286000"/>
            <a:ext cx="5029200" cy="5029200"/>
          </a:xfrm>
          <a:prstGeom prst="ellipse">
            <a:avLst/>
          </a:prstGeom>
          <a:solidFill>
            <a:srgbClr val="0E5A6F"/>
          </a:solidFill>
          <a:ln/>
        </p:spPr>
      </p:sp>
      <p:sp>
        <p:nvSpPr>
          <p:cNvPr id="4" name="Text 2"/>
          <p:cNvSpPr/>
          <p:nvPr/>
        </p:nvSpPr>
        <p:spPr>
          <a:xfrm>
            <a:off x="457200" y="2468880"/>
            <a:ext cx="10058400" cy="9144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Questions &amp; Discussion</a:t>
            </a:r>
            <a:endParaRPr lang="en-US" sz="4000" dirty="0"/>
          </a:p>
        </p:txBody>
      </p:sp>
      <p:sp>
        <p:nvSpPr>
          <p:cNvPr id="5" name="Shape 3"/>
          <p:cNvSpPr/>
          <p:nvPr/>
        </p:nvSpPr>
        <p:spPr>
          <a:xfrm>
            <a:off x="457200" y="3429000"/>
            <a:ext cx="2926080" cy="0"/>
          </a:xfrm>
          <a:prstGeom prst="line">
            <a:avLst/>
          </a:prstGeom>
          <a:noFill/>
          <a:ln w="31750">
            <a:solidFill>
              <a:srgbClr val="E8A33D"/>
            </a:solidFill>
            <a:prstDash val="solid"/>
          </a:ln>
        </p:spPr>
      </p:sp>
      <p:sp>
        <p:nvSpPr>
          <p:cNvPr id="6" name="Text 4"/>
          <p:cNvSpPr/>
          <p:nvPr/>
        </p:nvSpPr>
        <p:spPr>
          <a:xfrm>
            <a:off x="457200" y="3611880"/>
            <a:ext cx="9144000" cy="457200"/>
          </a:xfrm>
          <a:prstGeom prst="rect">
            <a:avLst/>
          </a:prstGeom>
          <a:noFill/>
          <a:ln/>
        </p:spPr>
        <p:txBody>
          <a:bodyPr wrap="square" lIns="0" tIns="0" rIns="0" bIns="0" rtlCol="0" anchor="ctr"/>
          <a:lstStyle/>
          <a:p>
            <a:pPr marL="0" indent="0">
              <a:buNone/>
            </a:pPr>
            <a:r>
              <a:rPr lang="en-US" sz="1600" i="1" dirty="0">
                <a:solidFill>
                  <a:srgbClr val="CADCEE"/>
                </a:solidFill>
                <a:latin typeface="Calibri" pitchFamily="34" charset="0"/>
                <a:ea typeface="Calibri" pitchFamily="34" charset="-122"/>
                <a:cs typeface="Calibri" pitchFamily="34" charset="-120"/>
              </a:rPr>
              <a:t>Next session: Fertility, Contraception, and Reproductive Health</a:t>
            </a:r>
            <a:endParaRPr lang="en-US" sz="1600" dirty="0"/>
          </a:p>
        </p:txBody>
      </p:sp>
      <p:sp>
        <p:nvSpPr>
          <p:cNvPr id="7" name="Text 5"/>
          <p:cNvSpPr/>
          <p:nvPr/>
        </p:nvSpPr>
        <p:spPr>
          <a:xfrm>
            <a:off x="457200" y="5806440"/>
            <a:ext cx="10058400" cy="457200"/>
          </a:xfrm>
          <a:prstGeom prst="rect">
            <a:avLst/>
          </a:prstGeom>
          <a:noFill/>
          <a:ln/>
        </p:spPr>
        <p:txBody>
          <a:bodyPr wrap="square" lIns="0" tIns="0" rIns="0" bIns="0" rtlCol="0" anchor="ctr"/>
          <a:lstStyle/>
          <a:p>
            <a:pPr marL="0" indent="0">
              <a:buNone/>
            </a:pPr>
            <a:r>
              <a:rPr lang="en-US" sz="1250" dirty="0">
                <a:solidFill>
                  <a:srgbClr val="9FB6CC"/>
                </a:solidFill>
                <a:latin typeface="Calibri" pitchFamily="34" charset="0"/>
                <a:ea typeface="Calibri" pitchFamily="34" charset="-122"/>
                <a:cs typeface="Calibri" pitchFamily="34" charset="-120"/>
              </a:rPr>
              <a:t>ruttiya.bhula-or@chula.ac.th   |   College of Population Studies, Chulalongkorn University</a:t>
            </a:r>
            <a:endParaRPr lang="en-US" sz="1250" dirty="0"/>
          </a:p>
        </p:txBody>
      </p:sp>
      <p:sp>
        <p:nvSpPr>
          <p:cNvPr id="8" name="Text 6"/>
          <p:cNvSpPr/>
          <p:nvPr/>
        </p:nvSpPr>
        <p:spPr>
          <a:xfrm>
            <a:off x="457200" y="6528816"/>
            <a:ext cx="6400800" cy="256032"/>
          </a:xfrm>
          <a:prstGeom prst="rect">
            <a:avLst/>
          </a:prstGeom>
          <a:noFill/>
          <a:ln/>
        </p:spPr>
        <p:txBody>
          <a:bodyPr wrap="square" lIns="0" tIns="0" rIns="0" bIns="0" rtlCol="0" anchor="ctr"/>
          <a:lstStyle/>
          <a:p>
            <a:pPr marL="0" indent="0" algn="l">
              <a:buNone/>
            </a:pPr>
            <a:r>
              <a:rPr lang="en-US" sz="850" dirty="0">
                <a:solidFill>
                  <a:srgbClr val="5B6B79"/>
                </a:solidFill>
                <a:latin typeface="Calibri" pitchFamily="34" charset="0"/>
                <a:ea typeface="Calibri" pitchFamily="34" charset="-122"/>
                <a:cs typeface="Calibri" pitchFamily="34" charset="-120"/>
              </a:rPr>
              <a:t>5140602 Fundamental Demographic Analysis – Session 5</a:t>
            </a:r>
            <a:endParaRPr lang="en-US" sz="850" dirty="0"/>
          </a:p>
        </p:txBody>
      </p:sp>
      <p:sp>
        <p:nvSpPr>
          <p:cNvPr id="9" name="Text 7"/>
          <p:cNvSpPr/>
          <p:nvPr/>
        </p:nvSpPr>
        <p:spPr>
          <a:xfrm>
            <a:off x="9905695" y="6528816"/>
            <a:ext cx="1828800" cy="256032"/>
          </a:xfrm>
          <a:prstGeom prst="rect">
            <a:avLst/>
          </a:prstGeom>
          <a:noFill/>
          <a:ln/>
        </p:spPr>
        <p:txBody>
          <a:bodyPr wrap="square" lIns="0" tIns="0" rIns="0" bIns="0" rtlCol="0" anchor="ctr"/>
          <a:lstStyle/>
          <a:p>
            <a:pPr marL="0" indent="0" algn="r">
              <a:buNone/>
            </a:pPr>
            <a:r>
              <a:rPr lang="en-US" sz="850" dirty="0">
                <a:solidFill>
                  <a:srgbClr val="5B6B79"/>
                </a:solidFill>
                <a:latin typeface="Calibri" pitchFamily="34" charset="0"/>
                <a:ea typeface="Calibri" pitchFamily="34" charset="-122"/>
                <a:cs typeface="Calibri" pitchFamily="34" charset="-120"/>
              </a:rPr>
              <a:t>80 / 80</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191</TotalTime>
  <Words>13056</Words>
  <Application>Microsoft Office PowerPoint</Application>
  <PresentationFormat>Widescreen</PresentationFormat>
  <Paragraphs>1239</Paragraphs>
  <Slides>79</Slides>
  <Notes>58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79</vt:i4>
      </vt:variant>
    </vt:vector>
  </HeadingPairs>
  <TitlesOfParts>
    <vt:vector size="84"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RB</cp:lastModifiedBy>
  <cp:revision>8</cp:revision>
  <dcterms:created xsi:type="dcterms:W3CDTF">2026-08-16T16:56:15Z</dcterms:created>
  <dcterms:modified xsi:type="dcterms:W3CDTF">2026-09-01T05:11:03Z</dcterms:modified>
</cp:coreProperties>
</file>