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2.xml" ContentType="application/vnd.openxmlformats-officedocument.drawingml.chart+xml"/>
  <Override PartName="/ppt/notesSlides/notesSlide32.xml" ContentType="application/vnd.openxmlformats-officedocument.presentationml.notesSlide+xml"/>
  <Override PartName="/ppt/charts/chart3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5" r:id="rId7"/>
    <p:sldId id="317" r:id="rId8"/>
    <p:sldId id="319" r:id="rId9"/>
    <p:sldId id="316" r:id="rId10"/>
    <p:sldId id="261" r:id="rId11"/>
    <p:sldId id="262" r:id="rId12"/>
    <p:sldId id="263" r:id="rId13"/>
    <p:sldId id="264" r:id="rId14"/>
    <p:sldId id="266" r:id="rId15"/>
    <p:sldId id="267" r:id="rId16"/>
    <p:sldId id="269" r:id="rId17"/>
    <p:sldId id="318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13" r:id="rId58"/>
    <p:sldId id="314" r:id="rId59"/>
    <p:sldId id="315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1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36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000000"/>
                </a:solidFill>
                <a:latin typeface="Arial"/>
              </a:rPr>
              <a:t>Stylized sex-ratio-by-age curve (low-mortality population)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 per 100 females</c:v>
                </c:pt>
              </c:strCache>
            </c:strRef>
          </c:tx>
          <c:spPr>
            <a:ln w="38100" cap="flat">
              <a:solidFill>
                <a:srgbClr val="2F62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6259"/>
              </a:solidFill>
              <a:ln w="9525" cap="flat">
                <a:solidFill>
                  <a:srgbClr val="2F625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0-4</c:v>
                </c:pt>
                <c:pt idx="1">
                  <c:v>15-19</c:v>
                </c:pt>
                <c:pt idx="2">
                  <c:v>30-34</c:v>
                </c:pt>
                <c:pt idx="3">
                  <c:v>45-49</c:v>
                </c:pt>
                <c:pt idx="4">
                  <c:v>60-64</c:v>
                </c:pt>
                <c:pt idx="5">
                  <c:v>75-79</c:v>
                </c:pt>
                <c:pt idx="6">
                  <c:v>85+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105</c:v>
                </c:pt>
                <c:pt idx="1">
                  <c:v>103</c:v>
                </c:pt>
                <c:pt idx="2">
                  <c:v>100</c:v>
                </c:pt>
                <c:pt idx="3">
                  <c:v>98</c:v>
                </c:pt>
                <c:pt idx="4">
                  <c:v>93</c:v>
                </c:pt>
                <c:pt idx="5">
                  <c:v>82</c:v>
                </c:pt>
                <c:pt idx="6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2A-4648-9407-9A988EBAC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Males per 100 females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Working-age persons per elderly person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Working-age : elderly ratio</c:v>
                </c:pt>
              </c:strCache>
            </c:strRef>
          </c:tx>
          <c:spPr>
            <a:solidFill>
              <a:srgbClr val="2F62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2020</c:v>
                </c:pt>
                <c:pt idx="1">
                  <c:v>2040 (projected)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3.6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71-4406-9021-5067990437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dependency ratio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9F-4295-A17A-C6A3B66CD983}"/>
              </c:ext>
            </c:extLst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9F-4295-A17A-C6A3B66CD9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Thailand</c:v>
                </c:pt>
                <c:pt idx="1">
                  <c:v>World average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43.7</c:v>
                </c:pt>
                <c:pt idx="1">
                  <c:v>58.4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9F-4295-A17A-C6A3B66CD9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000000"/>
                </a:solidFill>
                <a:latin typeface="Arial"/>
              </a:rPr>
              <a:t>Illustrative total dependency ratio over the transition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dependency ratio</c:v>
                </c:pt>
              </c:strCache>
            </c:strRef>
          </c:tx>
          <c:spPr>
            <a:ln w="381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1970</c:v>
                </c:pt>
                <c:pt idx="1">
                  <c:v>1990</c:v>
                </c:pt>
                <c:pt idx="2">
                  <c:v>2010</c:v>
                </c:pt>
                <c:pt idx="3">
                  <c:v>2025</c:v>
                </c:pt>
                <c:pt idx="4">
                  <c:v>2040</c:v>
                </c:pt>
                <c:pt idx="5">
                  <c:v>2060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65</c:v>
                </c:pt>
                <c:pt idx="2">
                  <c:v>45</c:v>
                </c:pt>
                <c:pt idx="3">
                  <c:v>44</c:v>
                </c:pt>
                <c:pt idx="4">
                  <c:v>60</c:v>
                </c:pt>
                <c:pt idx="5">
                  <c:v>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69-418F-8185-FC1D4182505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78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A707-2568-3F66-74EE-1A59E69A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00E9C-9DED-FA5A-745C-4E9D2EB82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A176D-A220-717C-B228-8FE5DD6A1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E211E-09AE-69C8-5015-8784818E0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30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forum.org/stories/education-and-skills/the-world-population-pyramid-1950-210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pulationpyramid.net/world/2026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5120640"/>
            <a:ext cx="502920" cy="3840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9532620" y="4663440"/>
            <a:ext cx="868680" cy="384048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5" name="Shape 3"/>
          <p:cNvSpPr/>
          <p:nvPr/>
        </p:nvSpPr>
        <p:spPr>
          <a:xfrm>
            <a:off x="9349740" y="4206240"/>
            <a:ext cx="1234440" cy="3840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9166860" y="3749040"/>
            <a:ext cx="1600200" cy="384048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7" name="Shape 5"/>
          <p:cNvSpPr/>
          <p:nvPr/>
        </p:nvSpPr>
        <p:spPr>
          <a:xfrm>
            <a:off x="8983980" y="3291840"/>
            <a:ext cx="1965960" cy="3840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8801100" y="2834640"/>
            <a:ext cx="2331720" cy="384048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5140602 FUNDAMENTAL DEMOGRAPHIC ANALYSIS  ·  SESSION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Composition: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Age–Sex Structure and the Demographic Dividend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pyramids · sex ratios · dependency ratios · the demographic-dividend framework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Population Studies, Chulalongkorn University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Ruttiya Bhula-or
</a:t>
            </a: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session · Revised 2026 syllabus · 60-slide expanded edition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 &amp; read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interpret population pyramids, identifying expansive, constrictive, and stationary shapes — and avoid the common misreadings of each.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4EAE7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6948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imbalance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the sex ratio and sex ratio at birth (SRB), including the global "missing women" phenomenon, with two fully worked numeric examples.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4050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dependency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youth, old-age, and total age-dependency ratios and the aging index from real age-group data for two different countries.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4EA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69480" y="4050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dividend model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46177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first and second demographic dividend framework (Mason &amp; Kinugasa, 2008), work through a growth-contribution calculation, and apply it to Thailand's trajectory.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180-Minute Session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7393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learning objectives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3682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4505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34440" y="2368296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— Age-sex pyramids, sex ratio &amp; the "missing women" problem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2724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— Age-dependency ratios (worked numeric examples, two countries)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FB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7947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7216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37083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34440" y="4288536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— The demographic-dividend framework &amp; Thailand / East Asia case studies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496519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504748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47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34440" y="49651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 &amp; practice exercises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564184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7241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724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34440" y="564184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references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600" b="1" dirty="0">
                <a:solidFill>
                  <a:srgbClr val="2A3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600" dirty="0"/>
          </a:p>
        </p:txBody>
      </p:sp>
      <p:sp>
        <p:nvSpPr>
          <p:cNvPr id="5" name="Text 3"/>
          <p:cNvSpPr/>
          <p:nvPr/>
        </p:nvSpPr>
        <p:spPr>
          <a:xfrm>
            <a:off x="3566160" y="23317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Age–Sex Structure: Pyramids and Sex Ratios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566160" y="3794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population's age and sex composition is measured, visualized, and interpreted — and what a distorted sex ratio at birth reveals about a society.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Population Composition?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of a population across age groups and sex at a point in time — a structural "snapshot" produced by the joint history of fertility, mortality, and migration.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Age–sex structure determines current and future demand for schools, jobs, health services, and pensions — it is the demographic skeleton beneath every economic and social plan.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building block: 5-year age groups (0–4, 5–9, …, 80–84, 85+) cross-tabulated by sex, usually drawn from a census, register, or household survey.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using a population pyramid — two back-to-back horizontal bar charts, males on the left, females on the right, youngest cohort at the base.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80960" y="16916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4EAE7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7" name="Text 5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⛛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863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age-group width used worldwide for pyramid construction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Canonical Pyramid Shapes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5540"/>
            <a:ext cx="3657600" cy="3730752"/>
          </a:xfrm>
          <a:prstGeom prst="roundRect">
            <a:avLst>
              <a:gd name="adj" fmla="val 2000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27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84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base, rapid taper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2974340"/>
            <a:ext cx="1371600" cy="173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" y="2739644"/>
            <a:ext cx="1051560" cy="173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1714500" y="2529332"/>
            <a:ext cx="777240" cy="173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2334260"/>
            <a:ext cx="548640" cy="173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2104136"/>
            <a:ext cx="365760" cy="173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486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fertility, high (falling) mortality. Broad youth cohorts. Typical of pre-transition / early-transition countries.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459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Niger — TFR ≈ 6–7, ~70% of population under 25 (UN/Worldometer, 2024)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145540"/>
            <a:ext cx="3657600" cy="3721608"/>
          </a:xfrm>
          <a:prstGeom prst="roundRect">
            <a:avLst>
              <a:gd name="adj" fmla="val 2000"/>
            </a:avLst>
          </a:prstGeom>
          <a:solidFill>
            <a:srgbClr val="EE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2827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Constrictive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16484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base, bulging middle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20740" y="2059940"/>
            <a:ext cx="50292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33676"/>
            <a:ext cx="68580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2407412"/>
            <a:ext cx="91440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0" y="2581148"/>
            <a:ext cx="82296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0" y="2754884"/>
            <a:ext cx="54864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2928620"/>
            <a:ext cx="274320" cy="14630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2486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sub-replacement fertility with rising longevity. Base narrower than working-age bulge; top is widening.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259072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Thailand, 2025 — median age 41.5 years, a "complete-aged society" (NSO, 2025)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1145540"/>
            <a:ext cx="3657600" cy="3578860"/>
          </a:xfrm>
          <a:prstGeom prst="roundRect">
            <a:avLst>
              <a:gd name="adj" fmla="val 2000"/>
            </a:avLst>
          </a:prstGeom>
          <a:solidFill>
            <a:srgbClr val="EEF1F6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2827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Stationary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458200" y="16484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Near-rectangular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46920" y="2059940"/>
            <a:ext cx="822960" cy="1463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Shape 27"/>
          <p:cNvSpPr/>
          <p:nvPr/>
        </p:nvSpPr>
        <p:spPr>
          <a:xfrm>
            <a:off x="9646920" y="2233676"/>
            <a:ext cx="822960" cy="1463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6920" y="2407412"/>
            <a:ext cx="822960" cy="1463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9780" y="2581148"/>
            <a:ext cx="777240" cy="1463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2" name="Shape 30"/>
          <p:cNvSpPr/>
          <p:nvPr/>
        </p:nvSpPr>
        <p:spPr>
          <a:xfrm>
            <a:off x="9669780" y="2782316"/>
            <a:ext cx="731520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3" name="Shape 31"/>
          <p:cNvSpPr/>
          <p:nvPr/>
        </p:nvSpPr>
        <p:spPr>
          <a:xfrm>
            <a:off x="9624060" y="2928620"/>
            <a:ext cx="845820" cy="1828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32486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stable fertility and mortality over a long period; roughly equal cohort sizes until old age.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46770" y="40812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pattern approached by some Northern/Western European populations (UN WPP, 2024)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820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789920" y="63820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8D0AB7-6D38-1820-4B24-FD16C097CEBA}"/>
              </a:ext>
            </a:extLst>
          </p:cNvPr>
          <p:cNvSpPr txBox="1"/>
          <p:nvPr/>
        </p:nvSpPr>
        <p:spPr>
          <a:xfrm>
            <a:off x="457200" y="4867148"/>
            <a:ext cx="350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Some Policy priorities</a:t>
            </a:r>
            <a:endParaRPr lang="en-US" sz="1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Expand voluntary family planning and maternal healthcare.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Invest in nutrition, education, and child survival.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Create skills pathways and sufficient decent employment.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Prepare to capture the demographic dividend.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886D7-FE59-728D-9B4A-8A2DBF93047A}"/>
              </a:ext>
            </a:extLst>
          </p:cNvPr>
          <p:cNvSpPr txBox="1"/>
          <p:nvPr/>
        </p:nvSpPr>
        <p:spPr>
          <a:xfrm>
            <a:off x="8206740" y="4861560"/>
            <a:ext cx="36804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Some Policy priorities</a:t>
            </a:r>
            <a:endParaRPr lang="en-US" sz="1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Maintain balanced services across all age groups.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Invest in productivity, skills, and preventive healthcare.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Monitor migration and regional population imbalances.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Adapt infrastructure gradually to emerging demographic changes.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314C6A-7E7B-997D-BE59-34DEB8FD0C9E}"/>
              </a:ext>
            </a:extLst>
          </p:cNvPr>
          <p:cNvSpPr txBox="1"/>
          <p:nvPr/>
        </p:nvSpPr>
        <p:spPr>
          <a:xfrm>
            <a:off x="4354830" y="4845471"/>
            <a:ext cx="36118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Some Policy priorities</a:t>
            </a:r>
            <a:endParaRPr lang="en-US" sz="1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Provide affordable childcare and family-friendly employment.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Extend healthy working lives and lifelong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Strengthen pensions, healthcare, and long-term care.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200" dirty="0"/>
              <a:t>Use productivity improvements and well-managed migration.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               ">
            <a:extLst>
              <a:ext uri="{FF2B5EF4-FFF2-40B4-BE49-F238E27FC236}">
                <a16:creationId xmlns:a16="http://schemas.microsoft.com/office/drawing/2014/main" id="{86DBD394-C283-DF09-8182-682ACE4F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664" y="88236"/>
            <a:ext cx="8692472" cy="63887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F6F6F-0EEA-EB32-D55D-EB7FC76946F1}"/>
              </a:ext>
            </a:extLst>
          </p:cNvPr>
          <p:cNvSpPr txBox="1"/>
          <p:nvPr/>
        </p:nvSpPr>
        <p:spPr>
          <a:xfrm>
            <a:off x="266700" y="446858"/>
            <a:ext cx="1282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i="0" dirty="0">
                <a:solidFill>
                  <a:srgbClr val="000000"/>
                </a:solidFill>
                <a:effectLst/>
                <a:latin typeface="AkkuratLLWeb"/>
              </a:rPr>
              <a:t>The Changing World Population Pyramid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6CD2B-92D3-51FA-9908-A48973BFCE3F}"/>
              </a:ext>
            </a:extLst>
          </p:cNvPr>
          <p:cNvSpPr txBox="1"/>
          <p:nvPr/>
        </p:nvSpPr>
        <p:spPr>
          <a:xfrm>
            <a:off x="266700" y="2603135"/>
            <a:ext cx="25879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Desjardins, J. (2019, May 7). </a:t>
            </a:r>
            <a:r>
              <a:rPr lang="en-US" i="1" dirty="0"/>
              <a:t>Longer lifespans are changing the shape of the world’s population pyramid</a:t>
            </a:r>
            <a:r>
              <a:rPr lang="en-US" dirty="0"/>
              <a:t>. World Economic Forum. </a:t>
            </a:r>
            <a:r>
              <a:rPr lang="en-US" dirty="0">
                <a:hlinkClick r:id="rId3"/>
              </a:rPr>
              <a:t>https://www.weforum.org/stories/education-and-skills/the-world-population-pyramid-1950-2100/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59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opulation Pyramid for India: 2004">
            <a:extLst>
              <a:ext uri="{FF2B5EF4-FFF2-40B4-BE49-F238E27FC236}">
                <a16:creationId xmlns:a16="http://schemas.microsoft.com/office/drawing/2014/main" id="{5CE4FE73-3AD1-66A3-99D7-21E4D4820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4686" y="1028700"/>
            <a:ext cx="3385862" cy="4368800"/>
          </a:xfrm>
          <a:prstGeom prst="rect">
            <a:avLst/>
          </a:prstGeom>
          <a:noFill/>
        </p:spPr>
      </p:pic>
      <p:pic>
        <p:nvPicPr>
          <p:cNvPr id="4" name="Picture 5" descr="Population Pyramid for Australia: 2004">
            <a:extLst>
              <a:ext uri="{FF2B5EF4-FFF2-40B4-BE49-F238E27FC236}">
                <a16:creationId xmlns:a16="http://schemas.microsoft.com/office/drawing/2014/main" id="{CED1EB8F-067D-6123-8638-C040C196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2401" y="1028700"/>
            <a:ext cx="4038600" cy="43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Population Pyramid for Austria: 2004">
            <a:extLst>
              <a:ext uri="{FF2B5EF4-FFF2-40B4-BE49-F238E27FC236}">
                <a16:creationId xmlns:a16="http://schemas.microsoft.com/office/drawing/2014/main" id="{1A097227-BBC2-FC8E-E32B-569958C6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586" y="1028700"/>
            <a:ext cx="3708815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4E3E4F9B-9D69-05E6-8EE4-883B5AD1F3DF}"/>
              </a:ext>
            </a:extLst>
          </p:cNvPr>
          <p:cNvSpPr/>
          <p:nvPr/>
        </p:nvSpPr>
        <p:spPr>
          <a:xfrm>
            <a:off x="368300" y="17830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Observe the different transition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8942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49D9-7BBD-F24C-2B47-8901B53C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5BA77F-245B-F996-003A-DF9569E2414E}"/>
              </a:ext>
            </a:extLst>
          </p:cNvPr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Observe the transition</a:t>
            </a:r>
            <a:endParaRPr lang="en-US" sz="4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D0DD9A-C439-B15C-6570-C68B87E5C0B5}"/>
              </a:ext>
            </a:extLst>
          </p:cNvPr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BA6DD21-215B-B41C-C0E9-88713341B649}"/>
              </a:ext>
            </a:extLst>
          </p:cNvPr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48389CF-ABC3-F041-4EA1-437DD53B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55" y="1591056"/>
            <a:ext cx="10816749" cy="361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5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STEP 1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a Pyramid — Data Preparation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the population into 5-year age bands, by sex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675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individual-level records (census or survey microdata) or an age-by-sex tabulation already published by the national statistics office.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every person to one 5-year band: 0–4, 5–9, 10–14, … 80–84, 85+ (open-ended top band).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males and females in separate columns from the start — do not pre-sum them, since the pyramid needs each cell (age × sex) as a distinct count.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totals reconcile: sum of all age-sex cells = the population total reported elsewhere for the same reference date.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242316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data layout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77025"/>
              </p:ext>
            </p:extLst>
          </p:nvPr>
        </p:nvGraphicFramePr>
        <p:xfrm>
          <a:off x="7680960" y="2926080"/>
          <a:ext cx="3840480" cy="24140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2,410,300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2,301,900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2,180,700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2,079,400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STEP 2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a Pyramid — Convert to Percentages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/>
              <a:t>Convert each age–sex group into a percentage of the total population:</a:t>
            </a:r>
          </a:p>
        </p:txBody>
      </p:sp>
      <p:sp>
        <p:nvSpPr>
          <p:cNvPr id="9" name="Shape 7"/>
          <p:cNvSpPr/>
          <p:nvPr/>
        </p:nvSpPr>
        <p:spPr>
          <a:xfrm>
            <a:off x="6489700" y="2453029"/>
            <a:ext cx="5388398" cy="4084679"/>
          </a:xfrm>
          <a:prstGeom prst="roundRect">
            <a:avLst>
              <a:gd name="adj" fmla="val 2909"/>
            </a:avLst>
          </a:prstGeom>
          <a:solidFill>
            <a:srgbClr val="FBEFE4"/>
          </a:solidFill>
          <a:ln/>
        </p:spPr>
      </p:sp>
      <p:sp>
        <p:nvSpPr>
          <p:cNvPr id="11" name="Text 9"/>
          <p:cNvSpPr/>
          <p:nvPr/>
        </p:nvSpPr>
        <p:spPr>
          <a:xfrm>
            <a:off x="6885940" y="2679192"/>
            <a:ext cx="45984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the total population (males + females) — never by the sex-specific subtotal (all males, or all females) — so that bars are comparable across countries of different size and across the male/female sides of the same pyramid.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sex-specific total instead is the single most common student error: it forces both sides of the pyramid to sum to 100% independently, which conceals any true sex imbalance in the population and breaks left–right comparability.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every one of the 2 × 18 age-sex bars in a full pyramid should sum to 100% in total, not 100% on each side.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9A0CB3-F62D-CF5A-AF3A-81473FE4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311" y="2174743"/>
            <a:ext cx="3324689" cy="1124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32742E-CBCD-21C3-771B-3A63B516D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02" y="3483122"/>
            <a:ext cx="5151120" cy="2879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STEP 3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a Pyramid — Plotting Convention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as opposed horizontal bars from a shared central axis</a:t>
            </a:r>
            <a:endParaRPr lang="en-US" sz="2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412E49-4589-1F3C-D411-77873A4F2ADE}"/>
              </a:ext>
            </a:extLst>
          </p:cNvPr>
          <p:cNvGrpSpPr/>
          <p:nvPr/>
        </p:nvGrpSpPr>
        <p:grpSpPr>
          <a:xfrm>
            <a:off x="3794760" y="2240280"/>
            <a:ext cx="4229100" cy="2971800"/>
            <a:chOff x="3794760" y="2240280"/>
            <a:chExt cx="4229100" cy="2971800"/>
          </a:xfrm>
        </p:grpSpPr>
        <p:sp>
          <p:nvSpPr>
            <p:cNvPr id="7" name="Shape 5"/>
            <p:cNvSpPr/>
            <p:nvPr/>
          </p:nvSpPr>
          <p:spPr>
            <a:xfrm>
              <a:off x="5257800" y="2606040"/>
              <a:ext cx="82296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6080760" y="2606040"/>
              <a:ext cx="699516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4892040" y="3026664"/>
              <a:ext cx="118872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080760" y="3026664"/>
              <a:ext cx="1010412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4526280" y="3447288"/>
              <a:ext cx="155448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080760" y="3447288"/>
              <a:ext cx="1321308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4251960" y="3867912"/>
              <a:ext cx="182880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080760" y="3867912"/>
              <a:ext cx="1554480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977640" y="4288536"/>
              <a:ext cx="210312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080760" y="4288536"/>
              <a:ext cx="1787652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3794760" y="4709160"/>
              <a:ext cx="2286000" cy="365760"/>
            </a:xfrm>
            <a:prstGeom prst="rect">
              <a:avLst/>
            </a:prstGeom>
            <a:solidFill>
              <a:srgbClr val="1B2A4A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080760" y="4709160"/>
              <a:ext cx="1943100" cy="365760"/>
            </a:xfrm>
            <a:prstGeom prst="rect">
              <a:avLst/>
            </a:prstGeom>
            <a:solidFill>
              <a:srgbClr val="D9A441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206240" y="2240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males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080760" y="224028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9A5B1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females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80760" y="2560320"/>
              <a:ext cx="0" cy="2651760"/>
            </a:xfrm>
            <a:prstGeom prst="line">
              <a:avLst/>
            </a:prstGeom>
            <a:noFill/>
            <a:ln w="12700">
              <a:solidFill>
                <a:srgbClr val="B8C0CE"/>
              </a:solidFill>
              <a:prstDash val="dash"/>
            </a:ln>
          </p:spPr>
        </p:sp>
      </p:grpSp>
      <p:sp>
        <p:nvSpPr>
          <p:cNvPr id="22" name="Text 20"/>
          <p:cNvSpPr/>
          <p:nvPr/>
        </p:nvSpPr>
        <p:spPr>
          <a:xfrm>
            <a:off x="8138160" y="26060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extend left, females extend right, from a shared vertical axis in the center.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 cohort (0–4) forms the base; oldest (85+) forms the apex — age increases upward.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% of total population in that age-sex band (from Step 2), not the raw count.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consistent age-band height and axis scale across any pyramids you plan to compare side-by-side.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20C9BD2-E35D-3202-75A4-C45972B5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212080"/>
            <a:ext cx="6077798" cy="11907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B3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QUALITY CHECK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Pyramid-Construction Errors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E7E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denominator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the sex-specific subtotal instead of the grand total — breaks left/right comparability (see Step 2).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E7E1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47672"/>
            <a:ext cx="457200" cy="45720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age-band width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5-year bands with a wider open top band without labeling it, or comparing a 5-year-band pyramid to a 10-year-band one.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E7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the reference date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age data from a census year with population totals from a different year — cells then no longer sum correctly.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E7E1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96512"/>
            <a:ext cx="457200" cy="45720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7804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Uncorrected age heaping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46634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single-year ages instead of 5-year groups when heaping is present — produces a jagged, misleading profile (see next slide).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B3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Pyramid Misconceptions — and How to Avoid Them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pyramid is a snapshot of the future."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4825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snapshot of the present age structure. Future shape depends on future fertility, mortality, and migration — a pyramid does not forecast itself without a projection model.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8720" y="28895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bulge always means a baby boom."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2186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bulge can also come from in-migration of working-age adults, or from a past mortality shock that thinned a specific cohort elsewhere — always check the surrounding bands and context.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88720" y="405993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"Symmetry between male and female sides is normal at every age."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Near-symmetry is expected only in youth. Male mortality is higher at nearly every adult age, so a healthy pyramid becomes female-skewed at the top — asymmetry there is not necessarily meaningful.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157216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294376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88720" y="52303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countries with the same total dependency ratio have the same policy problem."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5595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matters as much as the total — a youth-driven and an elderly-driven dependency load require very different policies (see Block 2).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Age–Sex Data Come From — and Their Limits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4EAE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enumeration, typically every 5,  10 years (Eg Thailand: 2020, 2025). Gold standard for age-sex structure but expensive and infrequent.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4EAE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CRVS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recording of births/deaths via civil registration &amp; vital statistics; feeds annual population estimates between censuses.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4EAE7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582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Thailand's Survey of Population Change, Labour Force Survey — smaller samples, more frequent, subject to sampling error.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BEFE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data-quality problem — age heaping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round reported ages to preferred digits (0, 5), distorting single-year age distributions. Demographers work with 5-year age groups specifically to average out this noise (full detection method on the next slide).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FORCE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Also Reshapes Age–Sex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49500"/>
            <a:ext cx="10871200" cy="354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and mortality are not the only forces behind a pyramid's shape — net migration can visibly notch or bulge specific age-sex bands.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migration is typically age- and sex-selective: young working-age adults move for jobs, thinning the sending country's pyramid at those ages and thickening the receiving country's.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is simultaneously a sending and a major receiving country in the Mekong subregion — migrant workers from Myanmar, Cambodia, and Lao PDR partly offset the shrinkage of Thailand's own working-age cohort.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any dependency-ratio or dividend calculation using only births and deaths will misstate the true working-age support base wherever migration is substantial — always check whether data are for the resident (de facto) or citizen (de jure) population.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41D5F-5684-84B4-5095-4E11A54B31DB}"/>
              </a:ext>
            </a:extLst>
          </p:cNvPr>
          <p:cNvSpPr txBox="1"/>
          <p:nvPr/>
        </p:nvSpPr>
        <p:spPr>
          <a:xfrm>
            <a:off x="457200" y="1505965"/>
            <a:ext cx="105156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A population pyramid normally represents all usual residents—nationals and migrants—unless the source specifies a different population definition.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55CABE-E4EE-C99E-9CCE-395086E4EE6E}"/>
              </a:ext>
            </a:extLst>
          </p:cNvPr>
          <p:cNvSpPr txBox="1"/>
          <p:nvPr/>
        </p:nvSpPr>
        <p:spPr>
          <a:xfrm>
            <a:off x="708025" y="778133"/>
            <a:ext cx="8556625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Pairing exercise </a:t>
            </a:r>
          </a:p>
          <a:p>
            <a:r>
              <a:rPr lang="en-US" b="1" dirty="0"/>
              <a:t>Tool: </a:t>
            </a:r>
            <a:r>
              <a:rPr lang="en-US" dirty="0">
                <a:hlinkClick r:id="rId2"/>
              </a:rPr>
              <a:t>https://www.populationpyramid.net/world/2026/</a:t>
            </a: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Choose </a:t>
            </a:r>
            <a:r>
              <a:rPr lang="en-US" b="1" dirty="0"/>
              <a:t>two countries with contrasting population structures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Five-minute task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Select two countries.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Compare their 2026 population pyramids.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Examine changes in 2000, 2026, and 2050.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Agree on major findings and policy implications. </a:t>
            </a:r>
          </a:p>
          <a:p>
            <a:pPr lvl="0"/>
            <a:endParaRPr lang="en-US" dirty="0"/>
          </a:p>
          <a:p>
            <a:pPr>
              <a:buNone/>
            </a:pPr>
            <a:r>
              <a:rPr lang="en-US" b="1" dirty="0"/>
              <a:t>For each country, identify: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overall pyramid form: expansive, stationary, constrictive, or irregular;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population base, working-age population, and older population;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major cohort bulges, gaps, or sex imbalances; and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child and old-age dependency patterns. </a:t>
            </a:r>
          </a:p>
          <a:p>
            <a:pPr>
              <a:buNone/>
            </a:pPr>
            <a:r>
              <a:rPr lang="en-US" b="1" dirty="0" err="1"/>
              <a:t>Analyse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What do the differences suggest about fertility, mortality, longevity, migration, and population momentum?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How did each country’s structure change between 2001 and 2026?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What further changes are projected for 2050?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two priority policy responses</a:t>
            </a:r>
            <a:r>
              <a:rPr lang="en-US" dirty="0"/>
              <a:t> for each country?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3C8C3-1AE1-08E3-1291-709F8E617B57}"/>
              </a:ext>
            </a:extLst>
          </p:cNvPr>
          <p:cNvSpPr txBox="1"/>
          <p:nvPr/>
        </p:nvSpPr>
        <p:spPr>
          <a:xfrm>
            <a:off x="650874" y="316468"/>
            <a:ext cx="8556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Eight-Minute Activity: Compare Two Population Pyramids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684C7-4C3F-76CA-A9E4-AEE5A45A34F8}"/>
              </a:ext>
            </a:extLst>
          </p:cNvPr>
          <p:cNvSpPr txBox="1"/>
          <p:nvPr/>
        </p:nvSpPr>
        <p:spPr>
          <a:xfrm>
            <a:off x="7607300" y="995234"/>
            <a:ext cx="419735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/>
              <a:t>Data note:</a:t>
            </a:r>
            <a:r>
              <a:rPr lang="en-US" sz="1800" dirty="0"/>
              <a:t> PopulationPyramid.net uses the UN </a:t>
            </a:r>
            <a:r>
              <a:rPr lang="en-US" sz="1800" i="1" dirty="0"/>
              <a:t>World Population Prospects 2024 Revision</a:t>
            </a:r>
            <a:r>
              <a:rPr lang="en-US" sz="1800" dirty="0"/>
              <a:t>, medium variant. Figures for 2050 are projections based on assumptions about fertility, mortality, and migration.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49F2B-98AB-9759-EE21-53A3AD238583}"/>
              </a:ext>
            </a:extLst>
          </p:cNvPr>
          <p:cNvSpPr txBox="1"/>
          <p:nvPr/>
        </p:nvSpPr>
        <p:spPr>
          <a:xfrm>
            <a:off x="7607300" y="2570690"/>
            <a:ext cx="419735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Three-minute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72119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Sex Ratio: Definition and Variants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 = (Males ÷ Females) × 100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sex ratio (SR)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SRB = (Male births ÷ Female births) × 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7249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 at birth (SRB)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40232"/>
            <a:ext cx="11247120" cy="177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as "males per 100 females." Can be computed for the total population or for any age group.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baseline ≈ 104–106 boys per 100 girls, remarkably stable across populations absent intervention.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population's overall sex ratio reflects sex differences at birth, sex-differential mortality across the life course, and net migration by sex. A sustained SRB above ~106 is strong evidence of sex-selective practices, not biology.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UNFPA (2012). Sex Imbalances at Birth. unfpa.org/sites/default/files/pub-pdf/Sex Imbalances at Birth. PDF UNFPA APRO publication 2012.pdf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ILLUSTRATIVE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a Sex Ratio at Birth,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A — one year of births</a:t>
            </a:r>
            <a:endParaRPr lang="en-US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4663440" cy="1371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live births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live births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live births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1,021,200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calculation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42062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 inputs: Male births = 523,400; Female births = 497,800
Step 2 — Apply the formula: SRB = (523,400 ÷ 497,800) × 100
Step 3 — Compute the ratio: 523,400 ÷ 497,800 = 1.0514
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Multiply by 100: SRB = 105.1 boys per 100 girls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5897880" cy="4251960"/>
          </a:xfrm>
          <a:prstGeom prst="roundRect">
            <a:avLst>
              <a:gd name="adj" fmla="val 1720"/>
            </a:avLst>
          </a:prstGeom>
          <a:solidFill>
            <a:srgbClr val="E4EAE7"/>
          </a:solidFill>
          <a:ln/>
        </p:spPr>
      </p:sp>
      <p:sp>
        <p:nvSpPr>
          <p:cNvPr id="10" name="Shape 7"/>
          <p:cNvSpPr/>
          <p:nvPr/>
        </p:nvSpPr>
        <p:spPr>
          <a:xfrm>
            <a:off x="6080760" y="2011680"/>
            <a:ext cx="1097280" cy="109728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40664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406640" y="2468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105.1 falls squarely within the biological baseline of 104–106 boys per 100 girls, so this hypothetical country shows no evidence of sex-selective practices in this year's births.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80760" y="42976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to Example 2 ("missing women," next block) where sustained SRBs of 111–121 signal a very different pattern.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REAL DATA, 2023–2024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SRB Example: Vietnam's Persistent Imbalance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General Statistics Office (GSO) reported an SRB of 112 boys per 100 girls in 2023, easing slightly to 110.7 in 2024 — still well above the 104–106 biological baseline.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policy sets a national target of bringing the SRB below 109 by 2030 under Vietnam's population strategy.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EE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931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the underlying counts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female births in a region = 100,000, and SRB = 112:
Male births = SRB ÷ 100 × Female births = 1.12 × 100,000 = 112,000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births = 212,000 → of which 52.8% are boys, 47.2% girls.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7E7E1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0" y="2011680"/>
            <a:ext cx="1005840" cy="100584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0" y="21031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per 100 girls, Vietnam 2023 (GSO)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3200400"/>
            <a:ext cx="4709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an SRB this far above baseline, sustained over years, is one of the clearest quantitative fingerprints of sex-selective abortion linked to strong son preference — a pattern also seen historically in China and India (next slides).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Vietnam General Statistics Office (GSO), reported in Xinhua (2024), "Vietnam's sex ratio at birth remains high," english.news.cn/20240105; national census on civil status (2024) reporting 110.7 for 2024.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BIRTH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Sex Ratio Changes Across the Life Course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00120908"/>
              </p:ext>
            </p:extLst>
          </p:nvPr>
        </p:nvGraphicFramePr>
        <p:xfrm>
          <a:off x="457200" y="1645920"/>
          <a:ext cx="6126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720840" y="17373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excess at birth (~105) is progressively eroded by higher male mortality at every subsequent age — accidents and cardiovascular disease in mid-life, then general frailty differences at older ages.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oldest ages, women greatly outnumber men in most populations — with direct implications for widowhood, solo living, and elder-care demand.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an overall sex ratio can look "balanced" even when the SRB is distorted — mortality only slowly erases an early imbalance.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shape is a stylized composite typical of low-mortality populations, for teaching purposes; exact values vary by country and cohort.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3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Sex-Ratio Misconceptions — and How to Avoid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national SR near 100 means no sex-selection problem."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4825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overall SR can coexist with a distorted SRB — mortality differences across a whole lifespan can mask a birth-level imbalance (previous slide).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8720" y="28895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SRB above 105 is proof of sex selection."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2186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year-to-year fluctuations around 104–106 are normal statistical noise, especially in small populations. It is a sustained, large deviation (110+) over multiple years that signals intervention.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88720" y="405993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high SRB is only a women's-health issue."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reshapes marriage markets, elevates involuntary bachelorhood, and has downstream effects on household formation, migration for marriage, and elder-care systems for everyone.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157216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294376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88720" y="52303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"SRB problems are confined to one or two countries."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5595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SRBs have been documented across parts of East and South Asia, and in parts of the Caucasus — it is a regional pattern tied to son preference, not a single-country anomaly.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· REAL DATA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"Missing Women": When Sex Ratios Signal Discrimination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Amartya Sen (1990) first framed this as "missing women" — a demographic fingerprint of gender discrimination via sex-selective abortion, female infanticide, and neglect.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narrowed its SRB from 121.2 (2010) to 111.3 (2020) through legal enforcement, public education, and welfare incentives for daughters — but 8 provinces still showed abnormally high ratios in 2020.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compound over decades: skewed marriage markets, elevated bachelorhood, and downstream effects on household formation and elder care.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452360" y="16916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7E7E1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783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3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418320" y="18288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estimated "missing" worldwide from prenatal sex selection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30632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7E7E1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31546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3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418320" y="32004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are missing in Asia alone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44348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7E7E1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4526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3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121→</a:t>
            </a:r>
            <a:endParaRPr lang="th-TH" sz="3600" b="1" dirty="0">
              <a:solidFill>
                <a:srgbClr val="B3492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B3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418320" y="45720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SRB per 100 girls, 2010 → 2020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Anadolu Agency (2025), citing UNFPA, "'Missing' girls of Asia," aa.com.tr/en/asia-pacific; UNFPA China (2023). China's Practices to Address Its Skewed Sex Ratio at Birth. china.unfpa.org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Age–Sex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945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saw only a population pyramid (no labels), what clues would tell you the country recently experienced a war, a baby boom, or heavy out-migration of young adults?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4EAE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08760" y="34747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SRB is close to the biological baseline. What social and economic factors might explain why Thailand did not develop the SRB distortion seen in China or Vietnam?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E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5212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08760" y="49834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limits of using national-level pyramids when sub-national (rural/urban, regional) age structures differ sharply — as in Thailand's North vs. Central regions?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6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566160" y="23317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Age-Dependency Ratios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66160" y="3794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 age structure into a single indicator of the economic "load" the working-age population supports.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FORMULAS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Youth, Old-Age, and Total Dependency Ratios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0–14 ÷ Pop 15–64) × 100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82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Dependency Ratio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9392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4462272" y="184708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65+ ÷ Pop 15–64) × 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62272" y="3182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Old-Age Dependency Ratio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01584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84708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Youth DR + Old-Age DR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84464" y="3182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Dependency Ratio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as a share of the working-age population.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70832" y="33375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persons as a share of the working-age population.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93024" y="33375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"dependent-age" persons per 100 working-age persons.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EE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348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working age is defined as 15–64 in these formulas (UN standard). Some national statistics offices, incl. Thailand's NSO in places, use 15–59 with 60+ as "elderly" — always state which convention you use.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METRIC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Aging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65+ ÷ Pop 0–14) × 100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Index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persons per 100 children. A value above 100 means elders now outnumber children.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73736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E4EAE7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011680"/>
            <a:ext cx="1051560" cy="10515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23760" y="21031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 lecture's Thailand 2025 figures: Aging Index = (16.0 ÷ 14.4) × 100 ≈ 111.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32004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above 100 confirms what the NSO count already showed: 13.6 million Thais aged 60+ versus 9.5 million children under 15 — elders outnumber children nationally.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dependency ratio, the aging index says nothing about the size of the working-age base — the two metrics are complementary, not substitutes.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DATA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Thailand's 2025 Dependency Ratios —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783080"/>
            <a:ext cx="8686800" cy="2743200"/>
          </a:xfrm>
          <a:prstGeom prst="roundRect">
            <a:avLst>
              <a:gd name="adj" fmla="val 2667"/>
            </a:avLst>
          </a:prstGeom>
          <a:solidFill>
            <a:srgbClr val="EEF1F6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2011680"/>
          <a:ext cx="8138160" cy="2194560"/>
        </p:xfrm>
        <a:graphic>
          <a:graphicData uri="http://schemas.openxmlformats.org/drawingml/2006/table">
            <a:tbl>
              <a:tblPr/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total population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 years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15–64 years (working age)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 years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737360" y="4709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calculating anything, confirm the three shares sum to 100% (14.4 + 69.6 + 16.0 = 100.0) — a quick sanity check that catches transcription errors.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use the UN 15–64 working-age convention introduced two slides ago.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CALCULATION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Thailand's 2025 Dependency Ratios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 DR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66160" y="1783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(14.4 ÷ 69.6) × 100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1783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20.7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E4EA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54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Old-Age DR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31546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(16.0 ÷ 69.6) × 100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3154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23.0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26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4526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20.7 + 23.0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4526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43.7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INTERPRETATION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Thailand's 2025 Dependency Ratios — Interpretation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100 Thais of working age, there are about 44 dependents — 21 children and 23 older persons.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old-age component (23.0) now exceeds the youth component (20.7) — a crossover that occurred within the past decade and is the clearest quantitative signal of Thailand's aging transition.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contrast: the World Bank reports Thailand's total dependency ratio (43.7%) is still below the 2025 world average (58.4%) — but it is rising fast while the global average falls.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173736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4EAE7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0" y="2057400"/>
            <a:ext cx="1051560" cy="10515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0574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2025 total dependency ratio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09560" y="3977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23.0 elderly-driven vs. 20.7 youth-driven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/ UN Population Division age-structure estimates for Thailand, 2025, via Trading Economics, tradingeconomics.com/thailand/age-dependency-ratio-percent-of-working-age-population-wb-data.html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WORKED EXAMPLE · REAL DATA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Dependency-Ratio Example: The Philippines, 2024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783080"/>
            <a:ext cx="9601200" cy="2743200"/>
          </a:xfrm>
          <a:prstGeom prst="roundRect">
            <a:avLst>
              <a:gd name="adj" fmla="val 2667"/>
            </a:avLst>
          </a:prstGeom>
          <a:solidFill>
            <a:srgbClr val="EEF1F6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2011680"/>
          <a:ext cx="9052560" cy="2194560"/>
        </p:xfrm>
        <a:graphic>
          <a:graphicData uri="http://schemas.openxmlformats.org/drawingml/2006/table">
            <a:tbl>
              <a:tblPr/>
              <a:tblGrid>
                <a:gridCol w="452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2024 Census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 years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29.98 million (26.7%)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15–64 years (working age)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74.95 million (66.7% approx.)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population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~112.3 million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4663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 is still a young, growing population — under-15 share (26.7%) is roughly double Thailand's (14.4%).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 Statistics Authority (PSA) reports the overall dependency ratio fell to 50 dependents per 100 working-age persons in 2024, down from 57 in 2020 — the country is mid-transition, still youth-dominated.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Philippine Statistics Authority (2024). Age and Sex Distribution in the Philippine Population (2024 Census of Population). psa.gov.ph/content/age-and-sex-distribution-philippine-population-2024-census-population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WORKED EXAMPLE · CALCULATION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Philippines, 2024 — Step-by-Step Calculation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0–14 years = 29.98 million;  15–64 years = 74.95 million;  65+ years = total − (0–14) − (15–64) ≈ 112.3 − 29.98 − 74.95 = 7.37 million (≈ 6.6%).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 DR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2331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(29.98 ÷ 74.95) × 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2331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40.0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4EAE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118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Old-Age DR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611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(7.37 ÷ 74.95) × 100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3611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9.8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92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892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40.0 + 9.8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49.8 (≈ PSA's reported 50)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WORKED EXAMPLE · INTERPRETATION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Philippines vs. Thailand: Same Metric, Opposite Drivers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577840" cy="2834640"/>
        </p:xfrm>
        <a:graphic>
          <a:graphicData uri="http://schemas.openxmlformats.org/drawingml/2006/table">
            <a:tbl>
              <a:tblPr/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Thailand, 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Philippines, 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 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Old-Age 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driver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dependency loads are similar in magnitude (43.7 vs. 49.8) — but the composition is almost a mirror image.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Philippines' burden is youth-driven: today's dependents become tomorrow's workers, a potential future dividend window.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burden is elderly-driven: today's dependents will not become tomorrow's workers, and the burden is structurally rising, not falling.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never compare total dependency ratios without also comparing their youth/old-age composition.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 · REAL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Thailand's Dependency Burden Is Set to Double by 2040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394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E4EAE7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43.2M → 36.5M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550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working-age population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32918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E4EAE7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34290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20.2% → 31.4%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55080" y="4069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aged 60+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48920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implication: Thailand's support ratio (workers per elder) will halve in twenty years — squeezing pension financing, health budgets, and family caregiving simultaneously.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United Nations Thailand (2024/2025). Thailand Economic Focus: Demographic change in Thailand. thailand.un.org/en/96303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 vs. the World: Total Dependency Ratio, 2025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3736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dependency ratio is currently below the world average — but the composition is what matters.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world's dependency burden is still youth-driven (many countries remain mid-transition, like the Philippines). Thailand's is now majority elderly-driven and rising fast.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headline number can mask a harder policy problem: youth dependents become tomorrow's workers; elderly dependents require pensions and health financing with no offsetting future labor supply.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age-dependency-ratio estimates via Trading Economics (2025). tradingeconomics.com/thailand/age-dependency-ratio-percent-of-working-age-population-wb-data.html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COMPARISON · REAL DATA, 2024–2025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Countries, Four Stages of Age-Structure Transition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Under-15 / 65+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indicator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Early-mid transition (young)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 / ~6.6%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27.7 yrs; total DR 50 (PSA, 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transition (aging fast)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 / 16.0%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41.5 yrs; total DR 43.7 (NSO/WB, 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Korea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Super-aged (2024 milestone)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20.0%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TFR 0.75–0.80, world's lowest (2024–25)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Super-aged, most advanced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29.3%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36.25M aged 65+, record share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countries sit at different points on the same transition path Thailand has already traveled — the Philippines is roughly where Thailand was decades ago; Japan shows where Thailand may be headed.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PSA (2024) psa.gov.ph; NSO/World Bank Thailand (2025) tradingeconomics.com; Korea Times/CNN (Dec 2024) on Korea's super-aged status; Japan Times/Al Jazeera (2024) on Japan's 65+ share.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It: Compute a Dependency Ratio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X — hypothetical age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0–14 years: 6.0 million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15–64 years: 12.0 million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years: 3.0 million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population: 21.0 million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(5 minutes): compute the youth, old-age, and total dependency ratios, then compare with Thailand's and the Philippines' figures from this block. Which population is "younger"? Which faces a heavier total burden?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4EAE7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DR = (6.0 ÷ 12.0) × 100 = 50.0
Old-Age DR = (3.0 ÷ 12.0) × 100 = 25.0
</a:t>
            </a: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 = 50.0 + 25.0 = 75.0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36118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X (total DR = 75) carries a much heavier load than Thailand (43.7) or the Philippines (49.8) — and like the Philippines, its burden is youth-driven, not elderly-driven. Same-direction metric, very different policy problem than Thailand's.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1488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3566160" y="23317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Demographic Dividend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66160" y="3794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temporary window in a country's age structure can translate into accelerated economic growth — and why that window eventually closes.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Demographic Dividend?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demographic dividend is the potential boost to economic growth that can occur when a falling dependency ratio increases the share of the population in working ages relative to dependents.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automatic — it is a window of opportunity that requires complementary policy (education, employment, health, financial systems) to be realized.</a:t>
            </a:r>
            <a:endParaRPr lang="en-US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framework, built on East Asia's post-war "economic miracle," distinguishes two distinct mechanisms operating at different points in the transition.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80960" y="16916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4EAE7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7" name="Text 5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863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 &amp; Kinugasa's foundational Journal of Asian Economics article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Mason, A., &amp; Kinugasa, T. (2008). East Asian economic development: Two demographic dividends. Journal of Asian Economics, 19(5–6), 389–399.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and Second Demographic Dividends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Dividend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fertility falls, the share of the population in working ages (15–64) rises mechanically relative to dependents.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workers per dependent → higher output per capita, even with no change in productivity.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Transitory: it fades and reverses as the same large cohorts age into the 65+ bracket.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4EAE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Dividend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longevity rises, working-age adults facing longer retirements have stronger incentives to accumulate assets and human capital (savings, pensions, skills).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capital deepening raises output per worker and can persist well after the first dividend fades — IF institutions channel savings productively.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Mason, A., &amp; Kinugasa, T. (2008). East Asian economic development: Two demographic dividends. Journal of Asian Economics, 19(5–6), 389–399. pmc.ncbi.nlm.nih.gov/articles/PMC2634856/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Demographic-Dividend Misconceptions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falling dependency ratio automatically produces growth."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88720" y="204825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dividend is only a window of opportunity — realizing it requires jobs, education, and functioning financial/health systems for the larger working-age cohort. Many countries have missed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895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dividend is a one-time event."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32186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(at least) two distinct dividends at different points in the transition, and researchers now discuss a possible "third dividend" from productive aging (see later slide).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05993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"Once the window closes, growth must collapse."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 &amp; Kinugasa (2008) show the second dividend — driven by savings and capital deepening — can sustain growth well after the first dividend fades, if institutions are strong.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157216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294376"/>
            <a:ext cx="365760" cy="36576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2303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country experiences the dividend at the same calendar time."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88720" y="555955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depends on each country's own fertility decline — the Philippines, Thailand, and Japan are at three different points on the same underlying curve (Block 2).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· SETUP · 1 OF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First Dividend's Growth Contribution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dividend's contribution to per-capita output growth can be approximated by the growth rate of the "support ratio" — the share of the population that is working-age.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output per worker constant, growth in GDP per capita ≈ growth rate of (working-age population ÷ total population).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scenario: a country's working-age share rises from 60% to 70% of the total population over 30 years (a typical mid-transition shift).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709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Growth-accounting relationship used here: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 per capita growth  ≈  GDP per worker growth  +  growth of (working-age share of population)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· CALCULATION · 2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First Dividend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Working the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Support ratio in year 0: 60% (0.60)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Support ratio in year 30: 70% (0.70)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Total proportional change: 0.70 ÷ 0.60 = 1.1667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Convert to an annualized (compound) growth rate over 30 years:
     annual growth = (1.1667)^(1/30) − 1 = 0.00514 → 0.51% per year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Interpretation: holding productivity (output per worker) fixed, the changing age structure alone adds about 0.5 percentage points to per-capita income growth every year for 30 years — this is the first dividend, purely mechanical.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growth-accounting exercise for teaching purposes, following the logic of Mason &amp; Kinugasa (2008); not a Thailand-specific estimate.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Dividend Window: A Stylized Trajectory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7373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falls as fertility declines — the dividend window opens (roughly 1990–2010 here).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bottoms out and flattens as the large working-age cohorts are still young.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rises again as those cohorts retire — the window closes. Thailand is entering this closing phase now.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stylized curve for teaching purposes, shaped to match Thailand's known dependency-ratio milestones (see Blocks 1–2).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 · KEY STUDY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 Asia's Two Dividends (Mason &amp; Kinugasa, 2008)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National Transfer Accounts data for Japan, Korea, Taiwan, and other East Asian economies, Mason &amp; Kinugasa decompose per-capita output growth into first- and second-dividend components.</a:t>
            </a:r>
            <a:endParaRPr lang="en-US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the first dividend contributed strongly to growth from roughly the 1960s–1990s as dependency ratios fell sharply across the region.</a:t>
            </a:r>
            <a:endParaRPr lang="en-US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as populations aged, the second dividend — driven by life-cycle saving and capital deepening — became the dominant growth engine, helping explain why growth did not collapse even as the first dividend faded.</a:t>
            </a:r>
            <a:endParaRPr lang="en-US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</a:t>
            </a:r>
          </a:p>
          <a:p>
            <a:pPr marL="635000" lvl="1" indent="-1778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lesson for Thailand: sustaining a "second dividend" requires strong pension and financial-market institutions that convert longer lifespans into productive savings, rather than into unfunded old-age dependency.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Mason, A., &amp; Kinugasa, T. (2008). East Asian economic development: Two demographic dividends. Journal of Asian Economics, 19(5–6), 389–399. pmc.ncbi.nlm.nih.gov/articles/PMC2634856/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 · REAL DATA, 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Thailand's Window Is Closing — What Comes Next?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November 2025, UNFPA Thailand convened a multi-stakeholder dialogue on "Thailand's Demographic Resilience," framing aging as both a fiscal risk and a call to invest in a possible third demographic dividend.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working-age:elderly support ratio is projected to fall from 3.6 (2020) to 1.8 (2040) — the classic signature of a closing dividend window (see Block 2, Example 4).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UNFPA's framing for Thailand's 14th National Economic &amp; Social Development Plan stresses: evidence-based policymaking, intergenerational investment, gender equality, and a responsive long-term-care system.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"third dividend" concept (extending Mason &amp; Kinugasa) explores whether productivity gains among older workers can partly offset the closing window — an active research question for Thailand today.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UNFPA Thailand (2025). Multi-Stakeholder Dialogue on Thailand's Demographic Resilience. thailand.unfpa.org/en/Stakeholder-Meeting-Nov-2025; UNFPA Thailand, Population Trends &amp; Demographic Dividend.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 · REAL DATA, DECEMBER 2024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Korea's Super-Aged Milestone: A Preview of a Fully Closed Window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23 December 2024, South Korea's Ministry of Interior and Safety confirmed the country had officially become a "super-aged" society — the UN threshold of 20% of the population aged 65+.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10.24 million Koreans were aged 65+ out of a total population of 51.22 million. It took just 7 years and 4 months to move from "aged" (14%+, reached in 2017) to "super-aged" (20%+) — one of the fastest transitions ever recorded.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sits alongside the world's lowest total fertility rate: 0.75 in 2024, edging up slightly to about 0.80 in 2025, but still far below the replacement level of ~2.1.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for Thailand: Korea shows what a fully closed dividend window looks like in practice — shrinking workforce, rising pension and long-term-care costs, and a policy pivot toward the "silver economy" agenda (next slide).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Korea Times (24 Dec 2024), "Korea becomes 'super-aged' society as 20% of Koreans are 65 or older," koreatimes.co.kr/southkorea/society/20241224; CNN (24 Dec 2024); TIME (2024), "South Korea's World-Lowest Fertility Rate," time.com/6488894.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Thailand's Dividend Window Already Closed?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945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Thailand's old-age dependency ratio now exceeds its youth dependency ratio, would you say the first dividend has ended? What evidence would you need to be sure?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4EAE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4747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institutional conditions (pensions, capital markets, health financing) would Thailand need to strengthen to capture a "second dividend"?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E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5212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9834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Thailand, the Philippines, and South Korea (this session's data). What different dividend-related policy priorities does each face right now?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88136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6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Demographic Dividend to "Silver Economy"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dividend window closes, policy attention shifts from maximizing the working-age share to maximizing productivity and participation at every age — the "silver economy" agenda.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include: extending healthy working lives, reskilling older workers, redesigning workplaces and pension systems, and expanding long-term-care systems that free younger caregivers (often women) for paid work.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Thailand's aging-society readiness stresses that policy and innovation systems are not yet matched to the speed of demographic change.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live area of applied demographic analysis — exactly the evidence base national planners (e.g., Thailand's 14th National Economic &amp; Social Development Plan) now request from demographers.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6916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4EAE7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7" name="Text 5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863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pool of active, skilled older workers policy must now engage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Thailand's Aging Society: Reconsidering Policy and Innovation Readiness for Elderly Care. PMC. pmc.ncbi.nlm.nih.gov/articles/PMC13111867/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1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Formulas at a Glance — Pyramids &amp; Sex Ratios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in age-sex group = (Pop in group ÷ Total pop) × 100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706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bar percentage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47088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 = (Males ÷ Females) × 100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6520" y="27706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47288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SRB = (Male births ÷ Female births) × 100  [baseline ≈ 104–106]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708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 at Birth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447288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3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(Σ ages ending 0/5, 23–62 ÷ 1/5 × Σ all ages 23–62) × 100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3708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Whipple's Index (age heaping)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2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Formulas at a Glance — Dependency &amp; Dividend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0–14 ÷ Pop 15–64) × 100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Dependency Ratio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4708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2F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65+ ÷ Pop 15–64) × 100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6520" y="26334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Old-Age Dependency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101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Youth DR + Old-Age DR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96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Dependency Ratio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3101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B3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(Pop 65+ ÷ Pop 0–14) × 100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6520" y="4096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Index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006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dividend: growth of the working-age support ratio (mechanical, transitory).  Second dividend: capital deepening from longevity-driven saving (can persist).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 —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pyramids translate age–sex structure into a visual diagnostic — expansive, constrictive, and stationary shapes each imply different policy priorities.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sex ratio (and especially the SRB) is a sensitive indicator of gender-based discrimination; sustained deviations from the ~104–106 biological baseline signal sex-selective practices, as documented in China and Vietnam.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ratios convert age structure into an economic "load" measure; Thailand's total dependency ratio (43.7% in 2025) is now driven more by elders than children — a historic crossover, in contrast to the still youth-driven Philippines.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demographic-dividend framework (Mason &amp; Kinugasa, 2008) explains how falling dependency can boost growth (first dividend) and how longevity-driven saving can sustain it (second dividend) — but the window closes, as Thailand is now managing and South Korea has already reached.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16916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4EAE7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2F6259"/>
          </a:solidFill>
          <a:ln/>
        </p:spPr>
      </p:sp>
      <p:sp>
        <p:nvSpPr>
          <p:cNvPr id="7" name="Text 5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863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from this session: pyramid, SRB, dependency ratio, dividend window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 of 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Anadolu Agency. (2025). 'Missing' girls of Asia: Generation lost to prenatal gender selection. https://www.aa.com.tr/en/asia-pacific/-missing-girls-of-asia-generation-lost-to-prenatal-gender-selection/3731714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Mason, A., &amp; Kinugasa, T. (2008). East Asian economic development: Two demographic dividends. Journal of Asian Economics, 19(5–6), 389–399. https://pmc.ncbi.nlm.nih.gov/articles/PMC2634856/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Statistical Office of Thailand. (2025). Preliminary results of the 2025 Population and Housing Census. Reported in Nation Thailand. https://www.nationthailand.com/news/general/40061744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 Thailand. (2025). Thailand's elderly population surges past children, GISTDA reveals. https://www.nationthailand.com/news/general/40054741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Population Fund (UNFPA). (2012). Sex imbalances at birth: Current trends, consequences and policy implications. UNFPA Asia and the Pacific Regional Office. https://www.unfpa.org/sites/default/files/pub-pdf/Sex%20Imbalances%20at%20Birth.%20PDF%20UNFPA%20APRO%20publication%202012.pdf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 China. (2023). China's practices to address its skewed sex ratio at birth. https://china.unfpa.org/sites/default/files/pub-pdf/chinas_practices_to_address_its_skewed_sex_ratio_at_birth20230802.pdf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Xinhua. (2024, January 5). Vietnam's sex ratio at birth remains high. https://english.news.cn/20240105/3ddc34c0694344b49903538aa10c3bb7/c.html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n-US" sz="9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4D76EA8-A018-2917-2095-B987F2A5C198}"/>
              </a:ext>
            </a:extLst>
          </p:cNvPr>
          <p:cNvSpPr/>
          <p:nvPr/>
        </p:nvSpPr>
        <p:spPr>
          <a:xfrm>
            <a:off x="457200" y="3705224"/>
            <a:ext cx="11247120" cy="2668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Economics. (2025). Thailand — Age dependency ratio (% of working-age population), World Bank data. https://tradingeconomics.com/thailand/age-dependency-ratio-percent-of-working-age-population-wb-data.html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Thailand. (2024). Thailand Economic Focus: Demographic change in Thailand — How planners can prepare for the future. https://thailand.un.org/en/96303-thailand-economic-focus-demographic-change-thailand-how-planners-can-prepare-future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 Thailand. (2025). UNFPA in Thailand convened multi-stakeholder dialogue to recognise achievements and co-create the future towards Thailand's demographic resilience. https://thailand.unfpa.org/en/Stakeholder-Meeting-Nov-2025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 Thailand. (2025). Population trends &amp; demographic dividend. https://thailand.unfpa.org/en/topics/population-trends-demographic-dividend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Worldometer. (2024). Niger demographics 2024. https://www.worldometers.info/demographics/niger-demographics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Statistics Authority. (2024). Age and sex distribution in the Philippine population (2024 Census of Population). https://psa.gov.ph/content/age-and-sex-distribution-philippine-population-2024-census-population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Times / Al Jazeera. (2024, September 16–17). Japan's elderly population rises to record 36.25 million. https://www.japantimes.co.jp/news/2025/09/16/japan/society/japans-elderly-population/; https://www.aljazeera.com/economy/2024/9/16/japans-elderly-population-rises-to-record-36-25-million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 of 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3900" y="1572006"/>
            <a:ext cx="1124712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Times. (2024, December 24). Korea becomes 'super-aged' society as 20% of Koreans are 65 or older. https://www.koreatimes.co.kr/www/nation/2024/12/281_389077.html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CNN. (2024, December 24). South Korea becomes 'super-aged' society, new data shows. https://www.cnn.com/2024/12/24/asia/south-korea-super-aged-society-intl-hnk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 (2024). South Korea's world-lowest fertility rate set to fall further. https://time.com/6488894/south-korea-low-fertility-rate-trend-decline/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Aging Society: Reconsidering Policy and Innovation Readiness for Elderly Care. PMC. https://pmc.ncbi.nlm.nih.gov/articles/PMC13111867/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Sen, A. (1990, December 20). More than 100 million women are missing. The New York Review of Books.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(assign as homework)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23317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66160" y="3794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questions spanning conceptual understanding and hands-on calculation — mix of pyramid interpretation, sex-ratio, dependency-ratio, and dividend-framework problems.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1–5: Concepts &amp; Pyramids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"population composition" and explain why it is described as a demographic "snapshot."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(in words) the difference between an expansive and a constrictive population pyramid, and name one country example of each.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population-pyramid percentages be calculated against the total population rather than the sex-specific subtotal? What error would result otherwise?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 has 40% of people under age 15 and a TFR of 6.2. What pyramid shape would you expect, and why?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why Thailand's National Statistical Office now classifies the country as a "Complete-Aged Society." What two statistics from this lecture support that classification?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6–10: Sex Ratios &amp; Dependency Calculations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records 515,000 male births and 490,000 female births in one year. Calculate the SRB and state whether it falls within the expected biological range.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two possible causes (one demographic, one social) of a persistently elevated sex ratio at birth.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Y has 8.4 million aged 0–14, 15.6 million aged 15–64, and 2.6 million aged 65+. Calculate the youth, old-age, and total dependency ratios.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answer to Q8, is Population Y's dependency burden mainly youth-driven or elderly-driven? What stage of the demographic transition does this suggest?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old-age dependency ratio (23.0) now exceeds its youth dependency ratio (20.7). Calculate the year-2040 old-age dependency ratio implied by a working-age:elderly support ratio of 1.8 (assume working-age = 100).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11–15: The Demographic Dividend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first and second demographic dividend in your own words. Which is transitory and which can persist?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Mason and Kinugasa (2008) argue East Asia's growth did not collapse once the first dividend faded?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policy conditions are necessary (but not sufficient) for a falling dependency ratio to translate into a realized economic dividend?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Thailand's projected support-ratio decline (3.6 in 2020 to 1.8 in 2040), argue for or against the claim that "Thailand's demographic dividend window has closed."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one policy Thailand could adopt to pursue a "second" or "third" demographic dividend, and identify one risk or trade-off it would carry.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865876" y="5120640"/>
            <a:ext cx="457200" cy="32918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5102352"/>
            <a:ext cx="822960" cy="32918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5" name="Shape 3"/>
          <p:cNvSpPr/>
          <p:nvPr/>
        </p:nvSpPr>
        <p:spPr>
          <a:xfrm>
            <a:off x="5500116" y="5084064"/>
            <a:ext cx="1188720" cy="32918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5317236" y="5065776"/>
            <a:ext cx="1554480" cy="329184"/>
          </a:xfrm>
          <a:prstGeom prst="rect">
            <a:avLst/>
          </a:prstGeom>
          <a:solidFill>
            <a:srgbClr val="2F6259"/>
          </a:solidFill>
          <a:ln/>
        </p:spPr>
      </p:sp>
      <p:sp>
        <p:nvSpPr>
          <p:cNvPr id="7" name="Shape 5"/>
          <p:cNvSpPr/>
          <p:nvPr/>
        </p:nvSpPr>
        <p:spPr>
          <a:xfrm>
            <a:off x="5134356" y="5047488"/>
            <a:ext cx="1920240" cy="32918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5140602 Fundamental Demographic Analysis · College of Population Studies, Chulalongkorn University · Asst. Prof. Dr. Ruttiya Bhula-or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Age–Sex Structure &amp; the Demographic Dividend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8593</Words>
  <Application>Microsoft Office PowerPoint</Application>
  <PresentationFormat>Widescreen</PresentationFormat>
  <Paragraphs>772</Paragraphs>
  <Slides>59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AkkuratLLWeb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RB</cp:lastModifiedBy>
  <cp:revision>45</cp:revision>
  <dcterms:created xsi:type="dcterms:W3CDTF">2026-08-16T10:15:16Z</dcterms:created>
  <dcterms:modified xsi:type="dcterms:W3CDTF">2026-08-18T05:12:19Z</dcterms:modified>
</cp:coreProperties>
</file>